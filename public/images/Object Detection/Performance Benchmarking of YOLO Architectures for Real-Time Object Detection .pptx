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  <p:sldId id="269" r:id="rId14"/>
    <p:sldId id="270" r:id="rId15"/>
    <p:sldId id="282" r:id="rId16"/>
    <p:sldId id="271" r:id="rId17"/>
    <p:sldId id="283" r:id="rId18"/>
    <p:sldId id="272" r:id="rId19"/>
    <p:sldId id="284" r:id="rId20"/>
    <p:sldId id="273" r:id="rId21"/>
    <p:sldId id="274" r:id="rId22"/>
    <p:sldId id="275" r:id="rId23"/>
    <p:sldId id="285" r:id="rId24"/>
    <p:sldId id="286" r:id="rId25"/>
    <p:sldId id="288" r:id="rId26"/>
    <p:sldId id="277" r:id="rId27"/>
    <p:sldId id="278" r:id="rId28"/>
    <p:sldId id="280" r:id="rId29"/>
    <p:sldId id="281" r:id="rId30"/>
    <p:sldId id="287" r:id="rId31"/>
  </p:sldIdLst>
  <p:sldSz cx="12204700" cy="6870700"/>
  <p:notesSz cx="12204700" cy="68707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4641" autoAdjust="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7963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13563" y="0"/>
            <a:ext cx="5287962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D34B45-3033-408F-90CF-39E38146551F}" type="datetimeFigureOut">
              <a:rPr lang="tr-TR" smtClean="0"/>
              <a:t>2.01.2026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41775" y="858838"/>
            <a:ext cx="4121150" cy="23193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20788" y="3306763"/>
            <a:ext cx="9763125" cy="2705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26213"/>
            <a:ext cx="5287963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13563" y="6526213"/>
            <a:ext cx="5287962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D9A55C-8E24-4E4F-AFCB-3EEA02A4ED7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41858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D9A55C-8E24-4E4F-AFCB-3EEA02A4ED7A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461326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5352" y="2129917"/>
            <a:ext cx="10373995" cy="14428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30705" y="3847592"/>
            <a:ext cx="8543290" cy="1717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rgbClr val="9CA2AF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130"/>
              </a:lnSpc>
            </a:pPr>
            <a:r>
              <a:rPr spc="-100" dirty="0"/>
              <a:t>Real-</a:t>
            </a:r>
            <a:r>
              <a:rPr spc="-55" dirty="0"/>
              <a:t>Time</a:t>
            </a:r>
            <a:r>
              <a:rPr spc="-20" dirty="0"/>
              <a:t> </a:t>
            </a:r>
            <a:r>
              <a:rPr spc="-60" dirty="0"/>
              <a:t>Object</a:t>
            </a:r>
            <a:r>
              <a:rPr spc="-20" dirty="0"/>
              <a:t> </a:t>
            </a:r>
            <a:r>
              <a:rPr spc="-50" dirty="0"/>
              <a:t>Detection</a:t>
            </a:r>
            <a:r>
              <a:rPr spc="-15" dirty="0"/>
              <a:t> </a:t>
            </a:r>
            <a:r>
              <a:rPr spc="-25" dirty="0"/>
              <a:t>Project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rgbClr val="FFD600"/>
                </a:solidFill>
                <a:latin typeface="Roboto Lt"/>
                <a:cs typeface="Roboto Lt"/>
              </a:defRPr>
            </a:lvl1pPr>
          </a:lstStyle>
          <a:p>
            <a:pPr marL="12700">
              <a:lnSpc>
                <a:spcPts val="1010"/>
              </a:lnSpc>
            </a:pPr>
            <a:r>
              <a:rPr spc="-60" dirty="0"/>
              <a:t>Slide</a:t>
            </a:r>
            <a:r>
              <a:rPr spc="-10" dirty="0"/>
              <a:t> </a:t>
            </a:r>
            <a:fld id="{81D60167-4931-47E6-BA6A-407CBD079E47}" type="slidenum">
              <a:rPr spc="-70" dirty="0"/>
              <a:t>‹#›</a:t>
            </a:fld>
            <a:r>
              <a:rPr spc="-10" dirty="0"/>
              <a:t> </a:t>
            </a:r>
            <a:r>
              <a:rPr spc="-45" dirty="0"/>
              <a:t>of</a:t>
            </a:r>
            <a:r>
              <a:rPr spc="-10" dirty="0"/>
              <a:t> </a:t>
            </a:r>
            <a:r>
              <a:rPr spc="-25" dirty="0"/>
              <a:t>25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rgbClr val="9CA2AF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130"/>
              </a:lnSpc>
            </a:pPr>
            <a:r>
              <a:rPr spc="-100" dirty="0"/>
              <a:t>Real-</a:t>
            </a:r>
            <a:r>
              <a:rPr spc="-55" dirty="0"/>
              <a:t>Time</a:t>
            </a:r>
            <a:r>
              <a:rPr spc="-20" dirty="0"/>
              <a:t> </a:t>
            </a:r>
            <a:r>
              <a:rPr spc="-60" dirty="0"/>
              <a:t>Object</a:t>
            </a:r>
            <a:r>
              <a:rPr spc="-20" dirty="0"/>
              <a:t> </a:t>
            </a:r>
            <a:r>
              <a:rPr spc="-50" dirty="0"/>
              <a:t>Detection</a:t>
            </a:r>
            <a:r>
              <a:rPr spc="-15" dirty="0"/>
              <a:t> </a:t>
            </a:r>
            <a:r>
              <a:rPr spc="-25" dirty="0"/>
              <a:t>Project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rgbClr val="FFD600"/>
                </a:solidFill>
                <a:latin typeface="Roboto Lt"/>
                <a:cs typeface="Roboto Lt"/>
              </a:defRPr>
            </a:lvl1pPr>
          </a:lstStyle>
          <a:p>
            <a:pPr marL="12700">
              <a:lnSpc>
                <a:spcPts val="1010"/>
              </a:lnSpc>
            </a:pPr>
            <a:r>
              <a:rPr spc="-60" dirty="0"/>
              <a:t>Slide</a:t>
            </a:r>
            <a:r>
              <a:rPr spc="-10" dirty="0"/>
              <a:t> </a:t>
            </a:r>
            <a:fld id="{81D60167-4931-47E6-BA6A-407CBD079E47}" type="slidenum">
              <a:rPr spc="-70" dirty="0"/>
              <a:t>‹#›</a:t>
            </a:fld>
            <a:r>
              <a:rPr spc="-10" dirty="0"/>
              <a:t> </a:t>
            </a:r>
            <a:r>
              <a:rPr spc="-45" dirty="0"/>
              <a:t>of</a:t>
            </a:r>
            <a:r>
              <a:rPr spc="-10" dirty="0"/>
              <a:t> </a:t>
            </a:r>
            <a:r>
              <a:rPr spc="-25" dirty="0"/>
              <a:t>25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10235" y="1580261"/>
            <a:ext cx="5309044" cy="45346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85420" y="1580261"/>
            <a:ext cx="5309044" cy="45346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rgbClr val="9CA2AF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130"/>
              </a:lnSpc>
            </a:pPr>
            <a:r>
              <a:rPr spc="-100" dirty="0"/>
              <a:t>Real-</a:t>
            </a:r>
            <a:r>
              <a:rPr spc="-55" dirty="0"/>
              <a:t>Time</a:t>
            </a:r>
            <a:r>
              <a:rPr spc="-20" dirty="0"/>
              <a:t> </a:t>
            </a:r>
            <a:r>
              <a:rPr spc="-60" dirty="0"/>
              <a:t>Object</a:t>
            </a:r>
            <a:r>
              <a:rPr spc="-20" dirty="0"/>
              <a:t> </a:t>
            </a:r>
            <a:r>
              <a:rPr spc="-50" dirty="0"/>
              <a:t>Detection</a:t>
            </a:r>
            <a:r>
              <a:rPr spc="-15" dirty="0"/>
              <a:t> </a:t>
            </a:r>
            <a:r>
              <a:rPr spc="-25" dirty="0"/>
              <a:t>Project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rgbClr val="FFD600"/>
                </a:solidFill>
                <a:latin typeface="Roboto Lt"/>
                <a:cs typeface="Roboto Lt"/>
              </a:defRPr>
            </a:lvl1pPr>
          </a:lstStyle>
          <a:p>
            <a:pPr marL="12700">
              <a:lnSpc>
                <a:spcPts val="1010"/>
              </a:lnSpc>
            </a:pPr>
            <a:r>
              <a:rPr spc="-60" dirty="0"/>
              <a:t>Slide</a:t>
            </a:r>
            <a:r>
              <a:rPr spc="-10" dirty="0"/>
              <a:t> </a:t>
            </a:r>
            <a:fld id="{81D60167-4931-47E6-BA6A-407CBD079E47}" type="slidenum">
              <a:rPr spc="-70" dirty="0"/>
              <a:t>‹#›</a:t>
            </a:fld>
            <a:r>
              <a:rPr spc="-10" dirty="0"/>
              <a:t> </a:t>
            </a:r>
            <a:r>
              <a:rPr spc="-45" dirty="0"/>
              <a:t>of</a:t>
            </a:r>
            <a:r>
              <a:rPr spc="-10" dirty="0"/>
              <a:t> </a:t>
            </a:r>
            <a:r>
              <a:rPr spc="-25" dirty="0"/>
              <a:t>25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rgbClr val="9CA2AF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130"/>
              </a:lnSpc>
            </a:pPr>
            <a:r>
              <a:rPr spc="-100" dirty="0"/>
              <a:t>Real-</a:t>
            </a:r>
            <a:r>
              <a:rPr spc="-55" dirty="0"/>
              <a:t>Time</a:t>
            </a:r>
            <a:r>
              <a:rPr spc="-20" dirty="0"/>
              <a:t> </a:t>
            </a:r>
            <a:r>
              <a:rPr spc="-60" dirty="0"/>
              <a:t>Object</a:t>
            </a:r>
            <a:r>
              <a:rPr spc="-20" dirty="0"/>
              <a:t> </a:t>
            </a:r>
            <a:r>
              <a:rPr spc="-50" dirty="0"/>
              <a:t>Detection</a:t>
            </a:r>
            <a:r>
              <a:rPr spc="-15" dirty="0"/>
              <a:t> </a:t>
            </a:r>
            <a:r>
              <a:rPr spc="-25" dirty="0"/>
              <a:t>Project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rgbClr val="FFD600"/>
                </a:solidFill>
                <a:latin typeface="Roboto Lt"/>
                <a:cs typeface="Roboto Lt"/>
              </a:defRPr>
            </a:lvl1pPr>
          </a:lstStyle>
          <a:p>
            <a:pPr marL="12700">
              <a:lnSpc>
                <a:spcPts val="1010"/>
              </a:lnSpc>
            </a:pPr>
            <a:r>
              <a:rPr spc="-60" dirty="0"/>
              <a:t>Slide</a:t>
            </a:r>
            <a:r>
              <a:rPr spc="-10" dirty="0"/>
              <a:t> </a:t>
            </a:r>
            <a:fld id="{81D60167-4931-47E6-BA6A-407CBD079E47}" type="slidenum">
              <a:rPr spc="-70" dirty="0"/>
              <a:t>‹#›</a:t>
            </a:fld>
            <a:r>
              <a:rPr spc="-10" dirty="0"/>
              <a:t> </a:t>
            </a:r>
            <a:r>
              <a:rPr spc="-45" dirty="0"/>
              <a:t>of</a:t>
            </a:r>
            <a:r>
              <a:rPr spc="-10" dirty="0"/>
              <a:t> </a:t>
            </a:r>
            <a:r>
              <a:rPr spc="-25" dirty="0"/>
              <a:t>25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rgbClr val="9CA2AF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130"/>
              </a:lnSpc>
            </a:pPr>
            <a:r>
              <a:rPr spc="-100" dirty="0"/>
              <a:t>Real-</a:t>
            </a:r>
            <a:r>
              <a:rPr spc="-55" dirty="0"/>
              <a:t>Time</a:t>
            </a:r>
            <a:r>
              <a:rPr spc="-20" dirty="0"/>
              <a:t> </a:t>
            </a:r>
            <a:r>
              <a:rPr spc="-60" dirty="0"/>
              <a:t>Object</a:t>
            </a:r>
            <a:r>
              <a:rPr spc="-20" dirty="0"/>
              <a:t> </a:t>
            </a:r>
            <a:r>
              <a:rPr spc="-50" dirty="0"/>
              <a:t>Detection</a:t>
            </a:r>
            <a:r>
              <a:rPr spc="-15" dirty="0"/>
              <a:t> </a:t>
            </a:r>
            <a:r>
              <a:rPr spc="-25" dirty="0"/>
              <a:t>Project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rgbClr val="FFD600"/>
                </a:solidFill>
                <a:latin typeface="Roboto Lt"/>
                <a:cs typeface="Roboto Lt"/>
              </a:defRPr>
            </a:lvl1pPr>
          </a:lstStyle>
          <a:p>
            <a:pPr marL="12700">
              <a:lnSpc>
                <a:spcPts val="1010"/>
              </a:lnSpc>
            </a:pPr>
            <a:r>
              <a:rPr spc="-60" dirty="0"/>
              <a:t>Slide</a:t>
            </a:r>
            <a:r>
              <a:rPr spc="-10" dirty="0"/>
              <a:t> </a:t>
            </a:r>
            <a:fld id="{81D60167-4931-47E6-BA6A-407CBD079E47}" type="slidenum">
              <a:rPr spc="-70" dirty="0"/>
              <a:t>‹#›</a:t>
            </a:fld>
            <a:r>
              <a:rPr spc="-10" dirty="0"/>
              <a:t> </a:t>
            </a:r>
            <a:r>
              <a:rPr spc="-45" dirty="0"/>
              <a:t>of</a:t>
            </a:r>
            <a:r>
              <a:rPr spc="-10" dirty="0"/>
              <a:t> </a:t>
            </a:r>
            <a:r>
              <a:rPr spc="-25" dirty="0"/>
              <a:t>25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524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0932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9524" y="790574"/>
            <a:ext cx="12192000" cy="19050"/>
          </a:xfrm>
          <a:custGeom>
            <a:avLst/>
            <a:gdLst/>
            <a:ahLst/>
            <a:cxnLst/>
            <a:rect l="l" t="t" r="r" b="b"/>
            <a:pathLst>
              <a:path w="12192000" h="19050">
                <a:moveTo>
                  <a:pt x="12191999" y="19049"/>
                </a:moveTo>
                <a:lnTo>
                  <a:pt x="0" y="1904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19049"/>
                </a:lnTo>
                <a:close/>
              </a:path>
            </a:pathLst>
          </a:custGeom>
          <a:solidFill>
            <a:srgbClr val="FFD600">
              <a:alpha val="3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75873" y="75936"/>
            <a:ext cx="11052953" cy="5276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85460" y="1186748"/>
            <a:ext cx="5758180" cy="4025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06424" y="6469062"/>
            <a:ext cx="2090420" cy="1543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50" b="0" i="0">
                <a:solidFill>
                  <a:srgbClr val="9CA2AF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130"/>
              </a:lnSpc>
            </a:pPr>
            <a:r>
              <a:rPr spc="-100" dirty="0"/>
              <a:t>Real-</a:t>
            </a:r>
            <a:r>
              <a:rPr spc="-55" dirty="0"/>
              <a:t>Time</a:t>
            </a:r>
            <a:r>
              <a:rPr spc="-20" dirty="0"/>
              <a:t> </a:t>
            </a:r>
            <a:r>
              <a:rPr spc="-60" dirty="0"/>
              <a:t>Object</a:t>
            </a:r>
            <a:r>
              <a:rPr spc="-20" dirty="0"/>
              <a:t> </a:t>
            </a:r>
            <a:r>
              <a:rPr spc="-50" dirty="0"/>
              <a:t>Detection</a:t>
            </a:r>
            <a:r>
              <a:rPr spc="-15" dirty="0"/>
              <a:t> </a:t>
            </a:r>
            <a:r>
              <a:rPr spc="-25" dirty="0"/>
              <a:t>Project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10235" y="6389751"/>
            <a:ext cx="2807081" cy="343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758585" y="6467694"/>
            <a:ext cx="846454" cy="128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50" b="0" i="0">
                <a:solidFill>
                  <a:srgbClr val="FFD600"/>
                </a:solidFill>
                <a:latin typeface="Roboto Lt"/>
                <a:cs typeface="Roboto Lt"/>
              </a:defRPr>
            </a:lvl1pPr>
          </a:lstStyle>
          <a:p>
            <a:pPr marL="12700">
              <a:lnSpc>
                <a:spcPts val="1010"/>
              </a:lnSpc>
            </a:pPr>
            <a:r>
              <a:rPr spc="-60" dirty="0"/>
              <a:t>Slide</a:t>
            </a:r>
            <a:r>
              <a:rPr spc="-10" dirty="0"/>
              <a:t> </a:t>
            </a:r>
            <a:fld id="{81D60167-4931-47E6-BA6A-407CBD079E47}" type="slidenum">
              <a:rPr spc="-70" dirty="0"/>
              <a:t>‹#›</a:t>
            </a:fld>
            <a:r>
              <a:rPr spc="-10" dirty="0"/>
              <a:t> </a:t>
            </a:r>
            <a:r>
              <a:rPr spc="-45" dirty="0"/>
              <a:t>of</a:t>
            </a:r>
            <a:r>
              <a:rPr spc="-10" dirty="0"/>
              <a:t> </a:t>
            </a:r>
            <a:r>
              <a:rPr spc="-25" dirty="0"/>
              <a:t>25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jp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5.png"/><Relationship Id="rId7" Type="http://schemas.openxmlformats.org/officeDocument/2006/relationships/image" Target="../media/image68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67.png"/><Relationship Id="rId10" Type="http://schemas.openxmlformats.org/officeDocument/2006/relationships/image" Target="../media/image71.png"/><Relationship Id="rId4" Type="http://schemas.openxmlformats.org/officeDocument/2006/relationships/image" Target="../media/image66.png"/><Relationship Id="rId9" Type="http://schemas.openxmlformats.org/officeDocument/2006/relationships/image" Target="../media/image7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7" Type="http://schemas.openxmlformats.org/officeDocument/2006/relationships/image" Target="../media/image76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2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jpg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jp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.jpg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jp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jpg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jp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96.png"/><Relationship Id="rId7" Type="http://schemas.openxmlformats.org/officeDocument/2006/relationships/image" Target="../media/image99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98.png"/><Relationship Id="rId4" Type="http://schemas.openxmlformats.org/officeDocument/2006/relationships/image" Target="../media/image97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13" Type="http://schemas.openxmlformats.org/officeDocument/2006/relationships/image" Target="../media/image112.png"/><Relationship Id="rId18" Type="http://schemas.openxmlformats.org/officeDocument/2006/relationships/image" Target="../media/image117.png"/><Relationship Id="rId3" Type="http://schemas.openxmlformats.org/officeDocument/2006/relationships/image" Target="../media/image102.png"/><Relationship Id="rId7" Type="http://schemas.openxmlformats.org/officeDocument/2006/relationships/image" Target="../media/image106.png"/><Relationship Id="rId12" Type="http://schemas.openxmlformats.org/officeDocument/2006/relationships/image" Target="../media/image111.png"/><Relationship Id="rId17" Type="http://schemas.openxmlformats.org/officeDocument/2006/relationships/image" Target="../media/image116.png"/><Relationship Id="rId2" Type="http://schemas.openxmlformats.org/officeDocument/2006/relationships/image" Target="../media/image101.png"/><Relationship Id="rId16" Type="http://schemas.openxmlformats.org/officeDocument/2006/relationships/image" Target="../media/image1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5.png"/><Relationship Id="rId11" Type="http://schemas.openxmlformats.org/officeDocument/2006/relationships/image" Target="../media/image110.png"/><Relationship Id="rId5" Type="http://schemas.openxmlformats.org/officeDocument/2006/relationships/image" Target="../media/image104.png"/><Relationship Id="rId15" Type="http://schemas.openxmlformats.org/officeDocument/2006/relationships/image" Target="../media/image114.png"/><Relationship Id="rId10" Type="http://schemas.openxmlformats.org/officeDocument/2006/relationships/image" Target="../media/image109.png"/><Relationship Id="rId4" Type="http://schemas.openxmlformats.org/officeDocument/2006/relationships/image" Target="../media/image103.png"/><Relationship Id="rId9" Type="http://schemas.openxmlformats.org/officeDocument/2006/relationships/image" Target="../media/image108.png"/><Relationship Id="rId14" Type="http://schemas.openxmlformats.org/officeDocument/2006/relationships/image" Target="../media/image11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jp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png"/><Relationship Id="rId3" Type="http://schemas.openxmlformats.org/officeDocument/2006/relationships/image" Target="../media/image124.png"/><Relationship Id="rId7" Type="http://schemas.openxmlformats.org/officeDocument/2006/relationships/image" Target="../media/image128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7.png"/><Relationship Id="rId5" Type="http://schemas.openxmlformats.org/officeDocument/2006/relationships/image" Target="../media/image126.png"/><Relationship Id="rId10" Type="http://schemas.openxmlformats.org/officeDocument/2006/relationships/image" Target="../media/image131.png"/><Relationship Id="rId4" Type="http://schemas.openxmlformats.org/officeDocument/2006/relationships/image" Target="../media/image125.png"/><Relationship Id="rId9" Type="http://schemas.openxmlformats.org/officeDocument/2006/relationships/image" Target="../media/image130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png"/><Relationship Id="rId13" Type="http://schemas.openxmlformats.org/officeDocument/2006/relationships/image" Target="../media/image142.png"/><Relationship Id="rId3" Type="http://schemas.openxmlformats.org/officeDocument/2006/relationships/image" Target="../media/image133.png"/><Relationship Id="rId7" Type="http://schemas.openxmlformats.org/officeDocument/2006/relationships/image" Target="../media/image136.png"/><Relationship Id="rId12" Type="http://schemas.openxmlformats.org/officeDocument/2006/relationships/image" Target="../media/image141.pn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5.png"/><Relationship Id="rId11" Type="http://schemas.openxmlformats.org/officeDocument/2006/relationships/image" Target="../media/image140.png"/><Relationship Id="rId5" Type="http://schemas.openxmlformats.org/officeDocument/2006/relationships/image" Target="../media/image134.png"/><Relationship Id="rId10" Type="http://schemas.openxmlformats.org/officeDocument/2006/relationships/image" Target="../media/image139.png"/><Relationship Id="rId4" Type="http://schemas.openxmlformats.org/officeDocument/2006/relationships/image" Target="../media/image35.png"/><Relationship Id="rId9" Type="http://schemas.openxmlformats.org/officeDocument/2006/relationships/image" Target="../media/image138.png"/><Relationship Id="rId14" Type="http://schemas.openxmlformats.org/officeDocument/2006/relationships/image" Target="../media/image143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png"/><Relationship Id="rId3" Type="http://schemas.openxmlformats.org/officeDocument/2006/relationships/image" Target="../media/image145.png"/><Relationship Id="rId7" Type="http://schemas.openxmlformats.org/officeDocument/2006/relationships/image" Target="../media/image149.png"/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8.png"/><Relationship Id="rId11" Type="http://schemas.openxmlformats.org/officeDocument/2006/relationships/image" Target="../media/image153.png"/><Relationship Id="rId5" Type="http://schemas.openxmlformats.org/officeDocument/2006/relationships/image" Target="../media/image147.png"/><Relationship Id="rId10" Type="http://schemas.openxmlformats.org/officeDocument/2006/relationships/image" Target="../media/image152.png"/><Relationship Id="rId4" Type="http://schemas.openxmlformats.org/officeDocument/2006/relationships/image" Target="../media/image146.png"/><Relationship Id="rId9" Type="http://schemas.openxmlformats.org/officeDocument/2006/relationships/image" Target="../media/image151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png"/><Relationship Id="rId3" Type="http://schemas.openxmlformats.org/officeDocument/2006/relationships/image" Target="../media/image155.png"/><Relationship Id="rId7" Type="http://schemas.openxmlformats.org/officeDocument/2006/relationships/image" Target="../media/image159.png"/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8.png"/><Relationship Id="rId11" Type="http://schemas.openxmlformats.org/officeDocument/2006/relationships/image" Target="../media/image163.png"/><Relationship Id="rId5" Type="http://schemas.openxmlformats.org/officeDocument/2006/relationships/image" Target="../media/image157.png"/><Relationship Id="rId10" Type="http://schemas.openxmlformats.org/officeDocument/2006/relationships/image" Target="../media/image162.png"/><Relationship Id="rId4" Type="http://schemas.openxmlformats.org/officeDocument/2006/relationships/image" Target="../media/image156.png"/><Relationship Id="rId9" Type="http://schemas.openxmlformats.org/officeDocument/2006/relationships/image" Target="../media/image16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5.png"/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object 2">
            <a:extLst>
              <a:ext uri="{FF2B5EF4-FFF2-40B4-BE49-F238E27FC236}">
                <a16:creationId xmlns:a16="http://schemas.microsoft.com/office/drawing/2014/main" id="{FD8CD273-3B2A-CF1E-8A19-5B19358A92C4}"/>
              </a:ext>
            </a:extLst>
          </p:cNvPr>
          <p:cNvSpPr/>
          <p:nvPr/>
        </p:nvSpPr>
        <p:spPr>
          <a:xfrm>
            <a:off x="0" y="-1024"/>
            <a:ext cx="12204700" cy="6867525"/>
          </a:xfrm>
          <a:custGeom>
            <a:avLst/>
            <a:gdLst/>
            <a:ahLst/>
            <a:cxnLst/>
            <a:rect l="l" t="t" r="r" b="b"/>
            <a:pathLst>
              <a:path w="12192000" h="6867525">
                <a:moveTo>
                  <a:pt x="12191999" y="6867524"/>
                </a:moveTo>
                <a:lnTo>
                  <a:pt x="0" y="6867524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67524"/>
                </a:lnTo>
                <a:close/>
              </a:path>
            </a:pathLst>
          </a:custGeom>
          <a:solidFill>
            <a:srgbClr val="09325D"/>
          </a:solidFill>
        </p:spPr>
        <p:txBody>
          <a:bodyPr wrap="square" lIns="0" tIns="0" rIns="0" bIns="0" rtlCol="0"/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tr-TR" dirty="0">
              <a:latin typeface="Roboto Lt"/>
              <a:cs typeface="Roboto L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767012" y="3522455"/>
            <a:ext cx="6670675" cy="34624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1600200" algn="l"/>
                <a:tab pos="4953635" algn="l"/>
              </a:tabLst>
            </a:pPr>
            <a:r>
              <a:rPr lang="tr-TR" sz="2150" spc="-10" dirty="0">
                <a:solidFill>
                  <a:srgbClr val="FFFFFF"/>
                </a:solidFill>
                <a:latin typeface="Roboto Lt"/>
                <a:cs typeface="Roboto Lt"/>
              </a:rPr>
              <a:t>A </a:t>
            </a:r>
            <a:r>
              <a:rPr lang="tr-TR" sz="2150" spc="-10" dirty="0" err="1">
                <a:solidFill>
                  <a:srgbClr val="FFFFFF"/>
                </a:solidFill>
                <a:latin typeface="Roboto Lt"/>
                <a:cs typeface="Roboto Lt"/>
              </a:rPr>
              <a:t>Comparative</a:t>
            </a:r>
            <a:r>
              <a:rPr lang="tr-TR" sz="2150" spc="-10" dirty="0">
                <a:solidFill>
                  <a:srgbClr val="FFFFFF"/>
                </a:solidFill>
                <a:latin typeface="Roboto Lt"/>
                <a:cs typeface="Roboto Lt"/>
              </a:rPr>
              <a:t> </a:t>
            </a:r>
            <a:r>
              <a:rPr lang="tr-TR" sz="2150" spc="-10" dirty="0" err="1">
                <a:solidFill>
                  <a:srgbClr val="FFFFFF"/>
                </a:solidFill>
                <a:latin typeface="Roboto Lt"/>
                <a:cs typeface="Roboto Lt"/>
              </a:rPr>
              <a:t>Study</a:t>
            </a:r>
            <a:r>
              <a:rPr lang="tr-TR" sz="2150" spc="-10" dirty="0">
                <a:solidFill>
                  <a:srgbClr val="FFFFFF"/>
                </a:solidFill>
                <a:latin typeface="Roboto Lt"/>
                <a:cs typeface="Roboto Lt"/>
              </a:rPr>
              <a:t> of </a:t>
            </a:r>
            <a:r>
              <a:rPr sz="2100" b="1" spc="-35" dirty="0">
                <a:solidFill>
                  <a:srgbClr val="FFC000"/>
                </a:solidFill>
                <a:latin typeface="Roboto"/>
                <a:cs typeface="Roboto"/>
              </a:rPr>
              <a:t>YOLOv5</a:t>
            </a:r>
            <a:r>
              <a:rPr lang="tr-TR" sz="2100" b="1" spc="-35" dirty="0">
                <a:solidFill>
                  <a:srgbClr val="FFC000"/>
                </a:solidFill>
                <a:latin typeface="Roboto"/>
                <a:cs typeface="Roboto"/>
              </a:rPr>
              <a:t>,</a:t>
            </a:r>
            <a:r>
              <a:rPr sz="2100" b="1" spc="229" dirty="0">
                <a:solidFill>
                  <a:srgbClr val="FFC000"/>
                </a:solidFill>
                <a:latin typeface="Roboto"/>
                <a:cs typeface="Roboto"/>
              </a:rPr>
              <a:t> </a:t>
            </a:r>
            <a:r>
              <a:rPr sz="2100" b="1" spc="-10" dirty="0">
                <a:solidFill>
                  <a:srgbClr val="FFC000"/>
                </a:solidFill>
                <a:latin typeface="Roboto"/>
                <a:cs typeface="Roboto"/>
              </a:rPr>
              <a:t>YOLOv8</a:t>
            </a:r>
            <a:r>
              <a:rPr lang="tr-TR" sz="2100" b="1" dirty="0">
                <a:solidFill>
                  <a:srgbClr val="FFC000"/>
                </a:solidFill>
                <a:latin typeface="Roboto"/>
                <a:cs typeface="Roboto"/>
              </a:rPr>
              <a:t> </a:t>
            </a:r>
            <a:r>
              <a:rPr lang="tr-TR" sz="2100" b="1" dirty="0" err="1">
                <a:solidFill>
                  <a:srgbClr val="FFC000"/>
                </a:solidFill>
                <a:latin typeface="Roboto"/>
                <a:cs typeface="Roboto"/>
              </a:rPr>
              <a:t>and</a:t>
            </a:r>
            <a:r>
              <a:rPr lang="tr-TR" sz="2100" b="1" dirty="0">
                <a:solidFill>
                  <a:srgbClr val="FFC000"/>
                </a:solidFill>
                <a:latin typeface="Roboto"/>
                <a:cs typeface="Roboto"/>
              </a:rPr>
              <a:t> </a:t>
            </a:r>
            <a:r>
              <a:rPr sz="2100" b="1" spc="-70" dirty="0">
                <a:solidFill>
                  <a:srgbClr val="FFC000"/>
                </a:solidFill>
                <a:latin typeface="Roboto"/>
                <a:cs typeface="Roboto"/>
              </a:rPr>
              <a:t>YOLOv11</a:t>
            </a:r>
            <a:endParaRPr sz="2100" dirty="0">
              <a:solidFill>
                <a:srgbClr val="FFC000"/>
              </a:solidFill>
              <a:latin typeface="Roboto"/>
              <a:cs typeface="Roboto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225800" y="4901961"/>
            <a:ext cx="2546845" cy="1449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0" dirty="0">
                <a:solidFill>
                  <a:srgbClr val="FFC000"/>
                </a:solidFill>
                <a:latin typeface="Roboto Lt"/>
                <a:cs typeface="Roboto Lt"/>
              </a:rPr>
              <a:t>Team</a:t>
            </a:r>
            <a:r>
              <a:rPr spc="-10" dirty="0">
                <a:solidFill>
                  <a:srgbClr val="FFC000"/>
                </a:solidFill>
                <a:latin typeface="Roboto Lt"/>
                <a:cs typeface="Roboto Lt"/>
              </a:rPr>
              <a:t> </a:t>
            </a:r>
            <a:r>
              <a:rPr spc="-80" dirty="0">
                <a:solidFill>
                  <a:srgbClr val="FFC000"/>
                </a:solidFill>
                <a:latin typeface="Roboto Lt"/>
                <a:cs typeface="Roboto Lt"/>
              </a:rPr>
              <a:t>Members</a:t>
            </a:r>
            <a:endParaRPr lang="tr-TR" spc="-80" dirty="0">
              <a:solidFill>
                <a:srgbClr val="FFC000"/>
              </a:solidFill>
              <a:latin typeface="Roboto Lt"/>
              <a:cs typeface="Roboto Lt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tr-TR" spc="-80" dirty="0">
              <a:solidFill>
                <a:srgbClr val="D0D5DA"/>
              </a:solidFill>
              <a:latin typeface="Roboto Lt"/>
              <a:cs typeface="Roboto Lt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tr-TR" spc="-80" dirty="0">
                <a:solidFill>
                  <a:srgbClr val="D0D5DA"/>
                </a:solidFill>
                <a:latin typeface="Roboto Lt"/>
                <a:cs typeface="Roboto Lt"/>
              </a:rPr>
              <a:t>Beyza GÜLER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tr-TR" spc="-80" dirty="0">
                <a:solidFill>
                  <a:srgbClr val="D0D5DA"/>
                </a:solidFill>
                <a:latin typeface="Roboto Lt"/>
                <a:cs typeface="Roboto Lt"/>
              </a:rPr>
              <a:t>Ramazan YILDIZ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tr-TR" spc="-80" dirty="0" err="1">
                <a:solidFill>
                  <a:srgbClr val="D0D5DA"/>
                </a:solidFill>
                <a:latin typeface="Roboto Lt"/>
                <a:cs typeface="Roboto Lt"/>
              </a:rPr>
              <a:t>Abldelrahman</a:t>
            </a:r>
            <a:r>
              <a:rPr lang="tr-TR" spc="-80" dirty="0">
                <a:solidFill>
                  <a:srgbClr val="D0D5DA"/>
                </a:solidFill>
                <a:latin typeface="Roboto Lt"/>
                <a:cs typeface="Roboto Lt"/>
              </a:rPr>
              <a:t> MOHAMED</a:t>
            </a:r>
            <a:endParaRPr dirty="0">
              <a:latin typeface="Roboto Lt"/>
              <a:cs typeface="Roboto Lt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219824" y="5143499"/>
            <a:ext cx="9525" cy="609600"/>
          </a:xfrm>
          <a:custGeom>
            <a:avLst/>
            <a:gdLst/>
            <a:ahLst/>
            <a:cxnLst/>
            <a:rect l="l" t="t" r="r" b="b"/>
            <a:pathLst>
              <a:path w="9525" h="609600">
                <a:moveTo>
                  <a:pt x="9524" y="609599"/>
                </a:moveTo>
                <a:lnTo>
                  <a:pt x="0" y="609599"/>
                </a:lnTo>
                <a:lnTo>
                  <a:pt x="0" y="0"/>
                </a:lnTo>
                <a:lnTo>
                  <a:pt x="9524" y="0"/>
                </a:lnTo>
                <a:lnTo>
                  <a:pt x="9524" y="609599"/>
                </a:lnTo>
                <a:close/>
              </a:path>
            </a:pathLst>
          </a:custGeom>
          <a:solidFill>
            <a:srgbClr val="4A54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6676527" y="4997211"/>
            <a:ext cx="2309217" cy="97462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590"/>
              </a:lnSpc>
              <a:spcBef>
                <a:spcPts val="100"/>
              </a:spcBef>
            </a:pPr>
            <a:r>
              <a:rPr spc="-10" dirty="0">
                <a:solidFill>
                  <a:srgbClr val="FFC000"/>
                </a:solidFill>
                <a:latin typeface="Roboto Lt"/>
                <a:cs typeface="Roboto Lt"/>
              </a:rPr>
              <a:t>Department</a:t>
            </a:r>
            <a:endParaRPr lang="tr-TR" spc="-10" dirty="0">
              <a:solidFill>
                <a:srgbClr val="FFC000"/>
              </a:solidFill>
              <a:latin typeface="Roboto Lt"/>
              <a:cs typeface="Roboto Lt"/>
            </a:endParaRPr>
          </a:p>
          <a:p>
            <a:pPr marL="12700">
              <a:lnSpc>
                <a:spcPts val="1590"/>
              </a:lnSpc>
              <a:spcBef>
                <a:spcPts val="100"/>
              </a:spcBef>
            </a:pPr>
            <a:endParaRPr lang="tr-TR" spc="-10" dirty="0">
              <a:solidFill>
                <a:srgbClr val="D0D5DA"/>
              </a:solidFill>
              <a:latin typeface="Roboto Lt"/>
              <a:cs typeface="Arial MT"/>
            </a:endParaRPr>
          </a:p>
          <a:p>
            <a:pPr marL="12700">
              <a:lnSpc>
                <a:spcPts val="1590"/>
              </a:lnSpc>
              <a:spcBef>
                <a:spcPts val="100"/>
              </a:spcBef>
            </a:pPr>
            <a:r>
              <a:rPr lang="tr-TR" spc="-10" dirty="0" err="1">
                <a:solidFill>
                  <a:srgbClr val="D0D5DA"/>
                </a:solidFill>
                <a:latin typeface="Roboto Lt"/>
                <a:cs typeface="Arial MT"/>
              </a:rPr>
              <a:t>Computer</a:t>
            </a:r>
            <a:r>
              <a:rPr lang="tr-TR" spc="-10" dirty="0">
                <a:solidFill>
                  <a:srgbClr val="D0D5DA"/>
                </a:solidFill>
                <a:latin typeface="Roboto Lt"/>
                <a:cs typeface="Arial MT"/>
              </a:rPr>
              <a:t> </a:t>
            </a:r>
            <a:r>
              <a:rPr lang="tr-TR" spc="-10" dirty="0" err="1">
                <a:solidFill>
                  <a:srgbClr val="D0D5DA"/>
                </a:solidFill>
                <a:latin typeface="Roboto Lt"/>
                <a:cs typeface="Arial MT"/>
              </a:rPr>
              <a:t>Engineering</a:t>
            </a:r>
            <a:endParaRPr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sz="1500" spc="-80" dirty="0">
                <a:solidFill>
                  <a:srgbClr val="D0D5DA"/>
                </a:solidFill>
                <a:latin typeface="Roboto Lt"/>
                <a:cs typeface="Roboto Lt"/>
              </a:rPr>
              <a:t>Ataturk</a:t>
            </a:r>
            <a:r>
              <a:rPr sz="1500" spc="-25" dirty="0">
                <a:solidFill>
                  <a:srgbClr val="D0D5DA"/>
                </a:solidFill>
                <a:latin typeface="Roboto Lt"/>
                <a:cs typeface="Roboto Lt"/>
              </a:rPr>
              <a:t> </a:t>
            </a:r>
            <a:r>
              <a:rPr sz="1500" spc="-114" dirty="0">
                <a:solidFill>
                  <a:srgbClr val="D0D5DA"/>
                </a:solidFill>
                <a:latin typeface="Roboto Lt"/>
                <a:cs typeface="Roboto Lt"/>
              </a:rPr>
              <a:t>University</a:t>
            </a:r>
            <a:endParaRPr sz="1500" dirty="0">
              <a:latin typeface="Roboto Lt"/>
              <a:cs typeface="Roboto Lt"/>
            </a:endParaRPr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A0F2DEEF-0EB4-B687-67F9-0CA2681E9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6154" y="1302717"/>
            <a:ext cx="8266501" cy="1661993"/>
          </a:xfrm>
        </p:spPr>
        <p:txBody>
          <a:bodyPr/>
          <a:lstStyle/>
          <a:p>
            <a:pPr algn="ctr"/>
            <a:r>
              <a:rPr lang="tr-TR" sz="3600" dirty="0" err="1"/>
              <a:t>Performance</a:t>
            </a:r>
            <a:r>
              <a:rPr lang="tr-TR" sz="3600" dirty="0"/>
              <a:t> Benchmarking of </a:t>
            </a:r>
            <a:br>
              <a:rPr lang="tr-TR" sz="3600" dirty="0"/>
            </a:br>
            <a:r>
              <a:rPr lang="tr-TR" sz="3600" dirty="0"/>
              <a:t>YOLO </a:t>
            </a:r>
            <a:r>
              <a:rPr lang="tr-TR" sz="3600" dirty="0" err="1"/>
              <a:t>Architectures</a:t>
            </a:r>
            <a:r>
              <a:rPr lang="tr-TR" sz="3600" dirty="0"/>
              <a:t> </a:t>
            </a:r>
            <a:r>
              <a:rPr lang="tr-TR" sz="3600" dirty="0" err="1"/>
              <a:t>for</a:t>
            </a:r>
            <a:br>
              <a:rPr lang="tr-TR" sz="3600" dirty="0"/>
            </a:br>
            <a:r>
              <a:rPr lang="tr-TR" sz="3600" dirty="0"/>
              <a:t>Real-Time Object </a:t>
            </a:r>
            <a:r>
              <a:rPr lang="tr-TR" sz="3600" dirty="0" err="1"/>
              <a:t>Detection</a:t>
            </a:r>
            <a:endParaRPr lang="tr-TR" sz="3600" dirty="0"/>
          </a:p>
        </p:txBody>
      </p:sp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BA60F1AE-6EA8-5EC5-2A0E-ADEFA6A1900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40075" y="5000924"/>
            <a:ext cx="228594" cy="177164"/>
          </a:xfrm>
          <a:prstGeom prst="rect">
            <a:avLst/>
          </a:prstGeom>
        </p:spPr>
      </p:pic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D8DECC86-3CEA-2D4C-80E5-5D6D78A6B05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07279" y="440645"/>
            <a:ext cx="685782" cy="520473"/>
          </a:xfrm>
          <a:prstGeom prst="rect">
            <a:avLst/>
          </a:prstGeom>
        </p:spPr>
      </p:pic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37A26D27-30B6-D8F0-93A7-CE96E6C6490E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5486902" y="551450"/>
            <a:ext cx="571485" cy="297909"/>
          </a:xfrm>
          <a:prstGeom prst="rect">
            <a:avLst/>
          </a:prstGeom>
        </p:spPr>
      </p:pic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C76940B3-1AD9-8171-AD50-FA3BC74BD66C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52228" y="462816"/>
            <a:ext cx="685782" cy="44087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201524" cy="6867525"/>
          </a:xfrm>
          <a:custGeom>
            <a:avLst/>
            <a:gdLst/>
            <a:ahLst/>
            <a:cxnLst/>
            <a:rect l="l" t="t" r="r" b="b"/>
            <a:pathLst>
              <a:path w="12192000" h="6867525">
                <a:moveTo>
                  <a:pt x="12191999" y="6867524"/>
                </a:moveTo>
                <a:lnTo>
                  <a:pt x="0" y="6867524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67524"/>
                </a:lnTo>
                <a:close/>
              </a:path>
            </a:pathLst>
          </a:custGeom>
          <a:solidFill>
            <a:srgbClr val="09325D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9524" y="790574"/>
            <a:ext cx="12192000" cy="19050"/>
          </a:xfrm>
          <a:custGeom>
            <a:avLst/>
            <a:gdLst/>
            <a:ahLst/>
            <a:cxnLst/>
            <a:rect l="l" t="t" r="r" b="b"/>
            <a:pathLst>
              <a:path w="12192000" h="19050">
                <a:moveTo>
                  <a:pt x="12191999" y="19049"/>
                </a:moveTo>
                <a:lnTo>
                  <a:pt x="0" y="1904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19049"/>
                </a:lnTo>
                <a:close/>
              </a:path>
            </a:pathLst>
          </a:custGeom>
          <a:solidFill>
            <a:srgbClr val="FFD600">
              <a:alpha val="3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75873" y="75936"/>
            <a:ext cx="11052953" cy="52193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43180">
              <a:lnSpc>
                <a:spcPct val="100000"/>
              </a:lnSpc>
              <a:spcBef>
                <a:spcPts val="110"/>
              </a:spcBef>
            </a:pPr>
            <a:r>
              <a:rPr lang="tr-TR" sz="3300" spc="-300" dirty="0"/>
              <a:t>Presentation </a:t>
            </a:r>
            <a:r>
              <a:rPr lang="tr-TR" sz="3300" spc="-300" dirty="0" err="1"/>
              <a:t>Outline</a:t>
            </a:r>
            <a:endParaRPr sz="3300" dirty="0"/>
          </a:p>
        </p:txBody>
      </p:sp>
      <p:sp>
        <p:nvSpPr>
          <p:cNvPr id="5" name="object 5"/>
          <p:cNvSpPr/>
          <p:nvPr/>
        </p:nvSpPr>
        <p:spPr>
          <a:xfrm>
            <a:off x="619124" y="130492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36086" y="457199"/>
                </a:moveTo>
                <a:lnTo>
                  <a:pt x="221113" y="457199"/>
                </a:lnTo>
                <a:lnTo>
                  <a:pt x="213644" y="456832"/>
                </a:lnTo>
                <a:lnTo>
                  <a:pt x="169405" y="449529"/>
                </a:lnTo>
                <a:lnTo>
                  <a:pt x="127441" y="433736"/>
                </a:lnTo>
                <a:lnTo>
                  <a:pt x="89365" y="410059"/>
                </a:lnTo>
                <a:lnTo>
                  <a:pt x="56639" y="379409"/>
                </a:lnTo>
                <a:lnTo>
                  <a:pt x="30522" y="342964"/>
                </a:lnTo>
                <a:lnTo>
                  <a:pt x="12016" y="302123"/>
                </a:lnTo>
                <a:lnTo>
                  <a:pt x="1834" y="258457"/>
                </a:lnTo>
                <a:lnTo>
                  <a:pt x="0" y="236086"/>
                </a:lnTo>
                <a:lnTo>
                  <a:pt x="0" y="221113"/>
                </a:lnTo>
                <a:lnTo>
                  <a:pt x="5853" y="176659"/>
                </a:lnTo>
                <a:lnTo>
                  <a:pt x="20266" y="134201"/>
                </a:lnTo>
                <a:lnTo>
                  <a:pt x="42685" y="95371"/>
                </a:lnTo>
                <a:lnTo>
                  <a:pt x="72249" y="61661"/>
                </a:lnTo>
                <a:lnTo>
                  <a:pt x="107821" y="34366"/>
                </a:lnTo>
                <a:lnTo>
                  <a:pt x="148035" y="14535"/>
                </a:lnTo>
                <a:lnTo>
                  <a:pt x="191345" y="2931"/>
                </a:lnTo>
                <a:lnTo>
                  <a:pt x="221113" y="0"/>
                </a:lnTo>
                <a:lnTo>
                  <a:pt x="236086" y="0"/>
                </a:lnTo>
                <a:lnTo>
                  <a:pt x="280540" y="5852"/>
                </a:lnTo>
                <a:lnTo>
                  <a:pt x="322998" y="20266"/>
                </a:lnTo>
                <a:lnTo>
                  <a:pt x="361828" y="42685"/>
                </a:lnTo>
                <a:lnTo>
                  <a:pt x="395538" y="72249"/>
                </a:lnTo>
                <a:lnTo>
                  <a:pt x="422833" y="107821"/>
                </a:lnTo>
                <a:lnTo>
                  <a:pt x="442663" y="148035"/>
                </a:lnTo>
                <a:lnTo>
                  <a:pt x="454268" y="191345"/>
                </a:lnTo>
                <a:lnTo>
                  <a:pt x="457200" y="221113"/>
                </a:lnTo>
                <a:lnTo>
                  <a:pt x="457199" y="228599"/>
                </a:lnTo>
                <a:lnTo>
                  <a:pt x="457200" y="236086"/>
                </a:lnTo>
                <a:lnTo>
                  <a:pt x="451346" y="280540"/>
                </a:lnTo>
                <a:lnTo>
                  <a:pt x="436933" y="322998"/>
                </a:lnTo>
                <a:lnTo>
                  <a:pt x="414514" y="361828"/>
                </a:lnTo>
                <a:lnTo>
                  <a:pt x="384950" y="395538"/>
                </a:lnTo>
                <a:lnTo>
                  <a:pt x="349378" y="422833"/>
                </a:lnTo>
                <a:lnTo>
                  <a:pt x="309164" y="442663"/>
                </a:lnTo>
                <a:lnTo>
                  <a:pt x="265854" y="454268"/>
                </a:lnTo>
                <a:lnTo>
                  <a:pt x="243555" y="456832"/>
                </a:lnTo>
                <a:lnTo>
                  <a:pt x="236086" y="457199"/>
                </a:lnTo>
                <a:close/>
              </a:path>
            </a:pathLst>
          </a:custGeom>
          <a:solidFill>
            <a:srgbClr val="FFD600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80256" y="1381915"/>
            <a:ext cx="135255" cy="2724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600" b="1" spc="-50" dirty="0">
                <a:solidFill>
                  <a:srgbClr val="FFD600"/>
                </a:solidFill>
                <a:latin typeface="Gadugi"/>
                <a:cs typeface="Gadugi"/>
              </a:rPr>
              <a:t>1</a:t>
            </a:r>
            <a:endParaRPr sz="1600">
              <a:latin typeface="Gadugi"/>
              <a:cs typeface="Gadug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16024" y="1242178"/>
            <a:ext cx="1995805" cy="8051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90"/>
              </a:spcBef>
            </a:pPr>
            <a:r>
              <a:rPr sz="1650" spc="-50" dirty="0">
                <a:solidFill>
                  <a:srgbClr val="FFFFFF"/>
                </a:solidFill>
                <a:latin typeface="Arial MT"/>
                <a:cs typeface="Arial MT"/>
              </a:rPr>
              <a:t>Introduction </a:t>
            </a:r>
            <a:r>
              <a:rPr sz="1650" spc="-150" dirty="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165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50" spc="-70" dirty="0">
                <a:solidFill>
                  <a:srgbClr val="FFFFFF"/>
                </a:solidFill>
                <a:latin typeface="Arial MT"/>
                <a:cs typeface="Arial MT"/>
              </a:rPr>
              <a:t>Problem </a:t>
            </a:r>
            <a:r>
              <a:rPr sz="1650" spc="-10" dirty="0">
                <a:solidFill>
                  <a:srgbClr val="FFFFFF"/>
                </a:solidFill>
                <a:latin typeface="Arial MT"/>
                <a:cs typeface="Arial MT"/>
              </a:rPr>
              <a:t>Statement</a:t>
            </a:r>
            <a:endParaRPr sz="16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1300" spc="-30" dirty="0">
                <a:solidFill>
                  <a:srgbClr val="9CA2AF"/>
                </a:solidFill>
                <a:latin typeface="Arial MT"/>
                <a:cs typeface="Arial MT"/>
              </a:rPr>
              <a:t>Motivation</a:t>
            </a:r>
            <a:r>
              <a:rPr sz="1300" spc="-40" dirty="0">
                <a:solidFill>
                  <a:srgbClr val="9CA2AF"/>
                </a:solidFill>
                <a:latin typeface="Arial MT"/>
                <a:cs typeface="Arial MT"/>
              </a:rPr>
              <a:t> </a:t>
            </a:r>
            <a:r>
              <a:rPr sz="1300" spc="-65" dirty="0">
                <a:solidFill>
                  <a:srgbClr val="9CA2AF"/>
                </a:solidFill>
                <a:latin typeface="Arial MT"/>
                <a:cs typeface="Arial MT"/>
              </a:rPr>
              <a:t>and</a:t>
            </a:r>
            <a:r>
              <a:rPr sz="1300" spc="-35" dirty="0">
                <a:solidFill>
                  <a:srgbClr val="9CA2AF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9CA2AF"/>
                </a:solidFill>
                <a:latin typeface="Arial MT"/>
                <a:cs typeface="Arial MT"/>
              </a:rPr>
              <a:t>objectives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352925" y="130492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36086" y="457199"/>
                </a:moveTo>
                <a:lnTo>
                  <a:pt x="221112" y="457199"/>
                </a:lnTo>
                <a:lnTo>
                  <a:pt x="213644" y="456832"/>
                </a:lnTo>
                <a:lnTo>
                  <a:pt x="169405" y="449529"/>
                </a:lnTo>
                <a:lnTo>
                  <a:pt x="127441" y="433736"/>
                </a:lnTo>
                <a:lnTo>
                  <a:pt x="89364" y="410059"/>
                </a:lnTo>
                <a:lnTo>
                  <a:pt x="56639" y="379409"/>
                </a:lnTo>
                <a:lnTo>
                  <a:pt x="30521" y="342964"/>
                </a:lnTo>
                <a:lnTo>
                  <a:pt x="12016" y="302123"/>
                </a:lnTo>
                <a:lnTo>
                  <a:pt x="1834" y="258457"/>
                </a:lnTo>
                <a:lnTo>
                  <a:pt x="0" y="236086"/>
                </a:lnTo>
                <a:lnTo>
                  <a:pt x="0" y="221113"/>
                </a:lnTo>
                <a:lnTo>
                  <a:pt x="5852" y="176659"/>
                </a:lnTo>
                <a:lnTo>
                  <a:pt x="20265" y="134201"/>
                </a:lnTo>
                <a:lnTo>
                  <a:pt x="42685" y="95371"/>
                </a:lnTo>
                <a:lnTo>
                  <a:pt x="72249" y="61661"/>
                </a:lnTo>
                <a:lnTo>
                  <a:pt x="107821" y="34366"/>
                </a:lnTo>
                <a:lnTo>
                  <a:pt x="148035" y="14535"/>
                </a:lnTo>
                <a:lnTo>
                  <a:pt x="191345" y="2931"/>
                </a:lnTo>
                <a:lnTo>
                  <a:pt x="221112" y="0"/>
                </a:lnTo>
                <a:lnTo>
                  <a:pt x="236086" y="0"/>
                </a:lnTo>
                <a:lnTo>
                  <a:pt x="280539" y="5852"/>
                </a:lnTo>
                <a:lnTo>
                  <a:pt x="322997" y="20266"/>
                </a:lnTo>
                <a:lnTo>
                  <a:pt x="361828" y="42685"/>
                </a:lnTo>
                <a:lnTo>
                  <a:pt x="395538" y="72249"/>
                </a:lnTo>
                <a:lnTo>
                  <a:pt x="422832" y="107821"/>
                </a:lnTo>
                <a:lnTo>
                  <a:pt x="442663" y="148035"/>
                </a:lnTo>
                <a:lnTo>
                  <a:pt x="454267" y="191345"/>
                </a:lnTo>
                <a:lnTo>
                  <a:pt x="457199" y="221113"/>
                </a:lnTo>
                <a:lnTo>
                  <a:pt x="457199" y="228599"/>
                </a:lnTo>
                <a:lnTo>
                  <a:pt x="457199" y="236086"/>
                </a:lnTo>
                <a:lnTo>
                  <a:pt x="451346" y="280540"/>
                </a:lnTo>
                <a:lnTo>
                  <a:pt x="436933" y="322998"/>
                </a:lnTo>
                <a:lnTo>
                  <a:pt x="414513" y="361828"/>
                </a:lnTo>
                <a:lnTo>
                  <a:pt x="384949" y="395538"/>
                </a:lnTo>
                <a:lnTo>
                  <a:pt x="349377" y="422833"/>
                </a:lnTo>
                <a:lnTo>
                  <a:pt x="309163" y="442663"/>
                </a:lnTo>
                <a:lnTo>
                  <a:pt x="265854" y="454268"/>
                </a:lnTo>
                <a:lnTo>
                  <a:pt x="243555" y="456832"/>
                </a:lnTo>
                <a:lnTo>
                  <a:pt x="236086" y="457199"/>
                </a:lnTo>
                <a:close/>
              </a:path>
            </a:pathLst>
          </a:custGeom>
          <a:solidFill>
            <a:srgbClr val="FFD600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514056" y="1381915"/>
            <a:ext cx="135255" cy="2724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600" b="1" spc="-50" dirty="0">
                <a:solidFill>
                  <a:srgbClr val="FFD600"/>
                </a:solidFill>
                <a:latin typeface="Gadugi"/>
                <a:cs typeface="Gadugi"/>
              </a:rPr>
              <a:t>2</a:t>
            </a:r>
            <a:endParaRPr sz="1600">
              <a:latin typeface="Gadugi"/>
              <a:cs typeface="Gadug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49824" y="1173714"/>
            <a:ext cx="2110740" cy="607060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1650" spc="-90" dirty="0">
                <a:solidFill>
                  <a:srgbClr val="FFFFFF"/>
                </a:solidFill>
                <a:latin typeface="Arial MT"/>
                <a:cs typeface="Arial MT"/>
              </a:rPr>
              <a:t>Background</a:t>
            </a:r>
            <a:r>
              <a:rPr sz="165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50" spc="-10" dirty="0">
                <a:solidFill>
                  <a:srgbClr val="FFFFFF"/>
                </a:solidFill>
                <a:latin typeface="Arial MT"/>
                <a:cs typeface="Arial MT"/>
              </a:rPr>
              <a:t>Concepts</a:t>
            </a:r>
            <a:endParaRPr sz="16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1300" spc="-60" dirty="0">
                <a:solidFill>
                  <a:srgbClr val="9CA2AF"/>
                </a:solidFill>
                <a:latin typeface="Arial MT"/>
                <a:cs typeface="Arial MT"/>
              </a:rPr>
              <a:t>Object</a:t>
            </a:r>
            <a:r>
              <a:rPr sz="1300" spc="-35" dirty="0">
                <a:solidFill>
                  <a:srgbClr val="9CA2AF"/>
                </a:solidFill>
                <a:latin typeface="Arial MT"/>
                <a:cs typeface="Arial MT"/>
              </a:rPr>
              <a:t> detection </a:t>
            </a:r>
            <a:r>
              <a:rPr sz="1300" spc="-40" dirty="0">
                <a:solidFill>
                  <a:srgbClr val="9CA2AF"/>
                </a:solidFill>
                <a:latin typeface="Arial MT"/>
                <a:cs typeface="Arial MT"/>
              </a:rPr>
              <a:t>fundamentals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19124" y="23336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36086" y="457199"/>
                </a:moveTo>
                <a:lnTo>
                  <a:pt x="221113" y="457199"/>
                </a:lnTo>
                <a:lnTo>
                  <a:pt x="213644" y="456832"/>
                </a:lnTo>
                <a:lnTo>
                  <a:pt x="169405" y="449529"/>
                </a:lnTo>
                <a:lnTo>
                  <a:pt x="127441" y="433736"/>
                </a:lnTo>
                <a:lnTo>
                  <a:pt x="89365" y="410059"/>
                </a:lnTo>
                <a:lnTo>
                  <a:pt x="56639" y="379409"/>
                </a:lnTo>
                <a:lnTo>
                  <a:pt x="30522" y="342963"/>
                </a:lnTo>
                <a:lnTo>
                  <a:pt x="12016" y="302123"/>
                </a:lnTo>
                <a:lnTo>
                  <a:pt x="1834" y="258457"/>
                </a:lnTo>
                <a:lnTo>
                  <a:pt x="0" y="236086"/>
                </a:lnTo>
                <a:lnTo>
                  <a:pt x="0" y="221113"/>
                </a:lnTo>
                <a:lnTo>
                  <a:pt x="5853" y="176659"/>
                </a:lnTo>
                <a:lnTo>
                  <a:pt x="20266" y="134200"/>
                </a:lnTo>
                <a:lnTo>
                  <a:pt x="42685" y="95370"/>
                </a:lnTo>
                <a:lnTo>
                  <a:pt x="72249" y="61661"/>
                </a:lnTo>
                <a:lnTo>
                  <a:pt x="107821" y="34366"/>
                </a:lnTo>
                <a:lnTo>
                  <a:pt x="148035" y="14535"/>
                </a:lnTo>
                <a:lnTo>
                  <a:pt x="191345" y="2931"/>
                </a:lnTo>
                <a:lnTo>
                  <a:pt x="221113" y="0"/>
                </a:lnTo>
                <a:lnTo>
                  <a:pt x="236086" y="0"/>
                </a:lnTo>
                <a:lnTo>
                  <a:pt x="280540" y="5853"/>
                </a:lnTo>
                <a:lnTo>
                  <a:pt x="322998" y="20265"/>
                </a:lnTo>
                <a:lnTo>
                  <a:pt x="361828" y="42685"/>
                </a:lnTo>
                <a:lnTo>
                  <a:pt x="395538" y="72249"/>
                </a:lnTo>
                <a:lnTo>
                  <a:pt x="422833" y="107821"/>
                </a:lnTo>
                <a:lnTo>
                  <a:pt x="442663" y="148034"/>
                </a:lnTo>
                <a:lnTo>
                  <a:pt x="454268" y="191345"/>
                </a:lnTo>
                <a:lnTo>
                  <a:pt x="457200" y="221113"/>
                </a:lnTo>
                <a:lnTo>
                  <a:pt x="457199" y="228599"/>
                </a:lnTo>
                <a:lnTo>
                  <a:pt x="457200" y="236086"/>
                </a:lnTo>
                <a:lnTo>
                  <a:pt x="451346" y="280540"/>
                </a:lnTo>
                <a:lnTo>
                  <a:pt x="436933" y="322997"/>
                </a:lnTo>
                <a:lnTo>
                  <a:pt x="414514" y="361828"/>
                </a:lnTo>
                <a:lnTo>
                  <a:pt x="384950" y="395538"/>
                </a:lnTo>
                <a:lnTo>
                  <a:pt x="349378" y="422833"/>
                </a:lnTo>
                <a:lnTo>
                  <a:pt x="309164" y="442663"/>
                </a:lnTo>
                <a:lnTo>
                  <a:pt x="265854" y="454267"/>
                </a:lnTo>
                <a:lnTo>
                  <a:pt x="243555" y="456832"/>
                </a:lnTo>
                <a:lnTo>
                  <a:pt x="236086" y="457199"/>
                </a:lnTo>
                <a:close/>
              </a:path>
            </a:pathLst>
          </a:custGeom>
          <a:solidFill>
            <a:srgbClr val="FFD600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80256" y="2410615"/>
            <a:ext cx="135255" cy="2724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600" b="1" spc="-50" dirty="0">
                <a:solidFill>
                  <a:srgbClr val="FFD600"/>
                </a:solidFill>
                <a:latin typeface="Gadugi"/>
                <a:cs typeface="Gadugi"/>
              </a:rPr>
              <a:t>3</a:t>
            </a:r>
            <a:endParaRPr sz="1600">
              <a:latin typeface="Gadugi"/>
              <a:cs typeface="Gadug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16024" y="2270878"/>
            <a:ext cx="2142490" cy="8051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383540">
              <a:lnSpc>
                <a:spcPts val="2100"/>
              </a:lnSpc>
              <a:spcBef>
                <a:spcPts val="90"/>
              </a:spcBef>
            </a:pPr>
            <a:r>
              <a:rPr sz="1650" spc="-225" dirty="0">
                <a:solidFill>
                  <a:srgbClr val="FFFFFF"/>
                </a:solidFill>
                <a:latin typeface="Arial MT"/>
                <a:cs typeface="Arial MT"/>
              </a:rPr>
              <a:t>YOLO</a:t>
            </a:r>
            <a:r>
              <a:rPr sz="165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50" spc="-55" dirty="0">
                <a:solidFill>
                  <a:srgbClr val="FFFFFF"/>
                </a:solidFill>
                <a:latin typeface="Arial MT"/>
                <a:cs typeface="Arial MT"/>
              </a:rPr>
              <a:t>Architecture</a:t>
            </a:r>
            <a:r>
              <a:rPr sz="165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50" spc="-80" dirty="0">
                <a:solidFill>
                  <a:srgbClr val="FFFFFF"/>
                </a:solidFill>
                <a:latin typeface="Arial MT"/>
                <a:cs typeface="Arial MT"/>
              </a:rPr>
              <a:t>&amp; </a:t>
            </a:r>
            <a:r>
              <a:rPr sz="1650" spc="-10" dirty="0">
                <a:solidFill>
                  <a:srgbClr val="FFFFFF"/>
                </a:solidFill>
                <a:latin typeface="Arial MT"/>
                <a:cs typeface="Arial MT"/>
              </a:rPr>
              <a:t>Selection</a:t>
            </a:r>
            <a:endParaRPr sz="16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1300" spc="-45" dirty="0">
                <a:solidFill>
                  <a:srgbClr val="9CA2AF"/>
                </a:solidFill>
                <a:latin typeface="Arial MT"/>
                <a:cs typeface="Arial MT"/>
              </a:rPr>
              <a:t>Model</a:t>
            </a:r>
            <a:r>
              <a:rPr sz="1300" spc="-40" dirty="0">
                <a:solidFill>
                  <a:srgbClr val="9CA2AF"/>
                </a:solidFill>
                <a:latin typeface="Arial MT"/>
                <a:cs typeface="Arial MT"/>
              </a:rPr>
              <a:t> </a:t>
            </a:r>
            <a:r>
              <a:rPr sz="1300" spc="-45" dirty="0">
                <a:solidFill>
                  <a:srgbClr val="9CA2AF"/>
                </a:solidFill>
                <a:latin typeface="Arial MT"/>
                <a:cs typeface="Arial MT"/>
              </a:rPr>
              <a:t>variants</a:t>
            </a:r>
            <a:r>
              <a:rPr sz="1300" spc="-35" dirty="0">
                <a:solidFill>
                  <a:srgbClr val="9CA2AF"/>
                </a:solidFill>
                <a:latin typeface="Arial MT"/>
                <a:cs typeface="Arial MT"/>
              </a:rPr>
              <a:t> </a:t>
            </a:r>
            <a:r>
              <a:rPr sz="1300" spc="-65" dirty="0">
                <a:solidFill>
                  <a:srgbClr val="9CA2AF"/>
                </a:solidFill>
                <a:latin typeface="Arial MT"/>
                <a:cs typeface="Arial MT"/>
              </a:rPr>
              <a:t>and</a:t>
            </a:r>
            <a:r>
              <a:rPr sz="1300" spc="-35" dirty="0">
                <a:solidFill>
                  <a:srgbClr val="9CA2AF"/>
                </a:solidFill>
                <a:latin typeface="Arial MT"/>
                <a:cs typeface="Arial MT"/>
              </a:rPr>
              <a:t> </a:t>
            </a:r>
            <a:r>
              <a:rPr sz="1300" spc="-60" dirty="0">
                <a:solidFill>
                  <a:srgbClr val="9CA2AF"/>
                </a:solidFill>
                <a:latin typeface="Arial MT"/>
                <a:cs typeface="Arial MT"/>
              </a:rPr>
              <a:t>advantages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352925" y="23336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36086" y="457199"/>
                </a:moveTo>
                <a:lnTo>
                  <a:pt x="221112" y="457199"/>
                </a:lnTo>
                <a:lnTo>
                  <a:pt x="213644" y="456832"/>
                </a:lnTo>
                <a:lnTo>
                  <a:pt x="169405" y="449529"/>
                </a:lnTo>
                <a:lnTo>
                  <a:pt x="127441" y="433736"/>
                </a:lnTo>
                <a:lnTo>
                  <a:pt x="89364" y="410059"/>
                </a:lnTo>
                <a:lnTo>
                  <a:pt x="56639" y="379409"/>
                </a:lnTo>
                <a:lnTo>
                  <a:pt x="30521" y="342963"/>
                </a:lnTo>
                <a:lnTo>
                  <a:pt x="12016" y="302123"/>
                </a:lnTo>
                <a:lnTo>
                  <a:pt x="1834" y="258457"/>
                </a:lnTo>
                <a:lnTo>
                  <a:pt x="0" y="236086"/>
                </a:lnTo>
                <a:lnTo>
                  <a:pt x="0" y="221113"/>
                </a:lnTo>
                <a:lnTo>
                  <a:pt x="5852" y="176659"/>
                </a:lnTo>
                <a:lnTo>
                  <a:pt x="20265" y="134200"/>
                </a:lnTo>
                <a:lnTo>
                  <a:pt x="42685" y="95370"/>
                </a:lnTo>
                <a:lnTo>
                  <a:pt x="72249" y="61661"/>
                </a:lnTo>
                <a:lnTo>
                  <a:pt x="107821" y="34366"/>
                </a:lnTo>
                <a:lnTo>
                  <a:pt x="148035" y="14535"/>
                </a:lnTo>
                <a:lnTo>
                  <a:pt x="191345" y="2931"/>
                </a:lnTo>
                <a:lnTo>
                  <a:pt x="221112" y="0"/>
                </a:lnTo>
                <a:lnTo>
                  <a:pt x="236086" y="0"/>
                </a:lnTo>
                <a:lnTo>
                  <a:pt x="280539" y="5853"/>
                </a:lnTo>
                <a:lnTo>
                  <a:pt x="322997" y="20265"/>
                </a:lnTo>
                <a:lnTo>
                  <a:pt x="361828" y="42685"/>
                </a:lnTo>
                <a:lnTo>
                  <a:pt x="395538" y="72249"/>
                </a:lnTo>
                <a:lnTo>
                  <a:pt x="422832" y="107821"/>
                </a:lnTo>
                <a:lnTo>
                  <a:pt x="442663" y="148034"/>
                </a:lnTo>
                <a:lnTo>
                  <a:pt x="454267" y="191345"/>
                </a:lnTo>
                <a:lnTo>
                  <a:pt x="457199" y="221113"/>
                </a:lnTo>
                <a:lnTo>
                  <a:pt x="457199" y="228599"/>
                </a:lnTo>
                <a:lnTo>
                  <a:pt x="457199" y="236086"/>
                </a:lnTo>
                <a:lnTo>
                  <a:pt x="451346" y="280540"/>
                </a:lnTo>
                <a:lnTo>
                  <a:pt x="436933" y="322997"/>
                </a:lnTo>
                <a:lnTo>
                  <a:pt x="414513" y="361828"/>
                </a:lnTo>
                <a:lnTo>
                  <a:pt x="384949" y="395538"/>
                </a:lnTo>
                <a:lnTo>
                  <a:pt x="349377" y="422833"/>
                </a:lnTo>
                <a:lnTo>
                  <a:pt x="309163" y="442663"/>
                </a:lnTo>
                <a:lnTo>
                  <a:pt x="265854" y="454267"/>
                </a:lnTo>
                <a:lnTo>
                  <a:pt x="243555" y="456832"/>
                </a:lnTo>
                <a:lnTo>
                  <a:pt x="236086" y="457199"/>
                </a:lnTo>
                <a:close/>
              </a:path>
            </a:pathLst>
          </a:custGeom>
          <a:solidFill>
            <a:srgbClr val="FFD600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514056" y="2410615"/>
            <a:ext cx="135255" cy="2724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600" b="1" spc="-50" dirty="0">
                <a:solidFill>
                  <a:srgbClr val="FFD600"/>
                </a:solidFill>
                <a:latin typeface="Gadugi"/>
                <a:cs typeface="Gadugi"/>
              </a:rPr>
              <a:t>4</a:t>
            </a:r>
            <a:endParaRPr sz="1600">
              <a:latin typeface="Gadugi"/>
              <a:cs typeface="Gadug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949824" y="2202414"/>
            <a:ext cx="2494280" cy="607060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1650" spc="-80" dirty="0">
                <a:solidFill>
                  <a:srgbClr val="FFFFFF"/>
                </a:solidFill>
                <a:latin typeface="Arial MT"/>
                <a:cs typeface="Arial MT"/>
              </a:rPr>
              <a:t>Dataset</a:t>
            </a:r>
            <a:r>
              <a:rPr sz="165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50" spc="-150" dirty="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165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50" spc="-60" dirty="0">
                <a:solidFill>
                  <a:srgbClr val="FFFFFF"/>
                </a:solidFill>
                <a:latin typeface="Arial MT"/>
                <a:cs typeface="Arial MT"/>
              </a:rPr>
              <a:t>Annotation</a:t>
            </a:r>
            <a:r>
              <a:rPr sz="165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50" spc="-45" dirty="0">
                <a:solidFill>
                  <a:srgbClr val="FFFFFF"/>
                </a:solidFill>
                <a:latin typeface="Arial MT"/>
                <a:cs typeface="Arial MT"/>
              </a:rPr>
              <a:t>Format</a:t>
            </a:r>
            <a:endParaRPr sz="16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1300" spc="-50" dirty="0">
                <a:solidFill>
                  <a:srgbClr val="9CA2AF"/>
                </a:solidFill>
                <a:latin typeface="Arial MT"/>
                <a:cs typeface="Arial MT"/>
              </a:rPr>
              <a:t>Roboflow</a:t>
            </a:r>
            <a:r>
              <a:rPr sz="1300" spc="-40" dirty="0">
                <a:solidFill>
                  <a:srgbClr val="9CA2AF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9CA2AF"/>
                </a:solidFill>
                <a:latin typeface="Arial MT"/>
                <a:cs typeface="Arial MT"/>
              </a:rPr>
              <a:t>fruits</a:t>
            </a:r>
            <a:r>
              <a:rPr sz="1300" spc="-35" dirty="0">
                <a:solidFill>
                  <a:srgbClr val="9CA2AF"/>
                </a:solidFill>
                <a:latin typeface="Arial MT"/>
                <a:cs typeface="Arial MT"/>
              </a:rPr>
              <a:t> detection </a:t>
            </a:r>
            <a:r>
              <a:rPr sz="1300" spc="-10" dirty="0">
                <a:solidFill>
                  <a:srgbClr val="9CA2AF"/>
                </a:solidFill>
                <a:latin typeface="Arial MT"/>
                <a:cs typeface="Arial MT"/>
              </a:rPr>
              <a:t>dataset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19124" y="336232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36086" y="457199"/>
                </a:moveTo>
                <a:lnTo>
                  <a:pt x="221113" y="457199"/>
                </a:lnTo>
                <a:lnTo>
                  <a:pt x="213644" y="456833"/>
                </a:lnTo>
                <a:lnTo>
                  <a:pt x="169405" y="449530"/>
                </a:lnTo>
                <a:lnTo>
                  <a:pt x="127441" y="433735"/>
                </a:lnTo>
                <a:lnTo>
                  <a:pt x="89365" y="410059"/>
                </a:lnTo>
                <a:lnTo>
                  <a:pt x="56639" y="379409"/>
                </a:lnTo>
                <a:lnTo>
                  <a:pt x="30522" y="342963"/>
                </a:lnTo>
                <a:lnTo>
                  <a:pt x="12016" y="302123"/>
                </a:lnTo>
                <a:lnTo>
                  <a:pt x="1834" y="258457"/>
                </a:lnTo>
                <a:lnTo>
                  <a:pt x="0" y="236087"/>
                </a:lnTo>
                <a:lnTo>
                  <a:pt x="0" y="221112"/>
                </a:lnTo>
                <a:lnTo>
                  <a:pt x="5853" y="176659"/>
                </a:lnTo>
                <a:lnTo>
                  <a:pt x="20266" y="134201"/>
                </a:lnTo>
                <a:lnTo>
                  <a:pt x="42685" y="95370"/>
                </a:lnTo>
                <a:lnTo>
                  <a:pt x="72249" y="61661"/>
                </a:lnTo>
                <a:lnTo>
                  <a:pt x="107821" y="34366"/>
                </a:lnTo>
                <a:lnTo>
                  <a:pt x="148035" y="14536"/>
                </a:lnTo>
                <a:lnTo>
                  <a:pt x="191345" y="2931"/>
                </a:lnTo>
                <a:lnTo>
                  <a:pt x="221113" y="0"/>
                </a:lnTo>
                <a:lnTo>
                  <a:pt x="236086" y="0"/>
                </a:lnTo>
                <a:lnTo>
                  <a:pt x="280540" y="5853"/>
                </a:lnTo>
                <a:lnTo>
                  <a:pt x="322998" y="20265"/>
                </a:lnTo>
                <a:lnTo>
                  <a:pt x="361828" y="42685"/>
                </a:lnTo>
                <a:lnTo>
                  <a:pt x="395538" y="72249"/>
                </a:lnTo>
                <a:lnTo>
                  <a:pt x="422833" y="107821"/>
                </a:lnTo>
                <a:lnTo>
                  <a:pt x="442663" y="148035"/>
                </a:lnTo>
                <a:lnTo>
                  <a:pt x="454268" y="191345"/>
                </a:lnTo>
                <a:lnTo>
                  <a:pt x="457200" y="221112"/>
                </a:lnTo>
                <a:lnTo>
                  <a:pt x="457199" y="228599"/>
                </a:lnTo>
                <a:lnTo>
                  <a:pt x="457200" y="236087"/>
                </a:lnTo>
                <a:lnTo>
                  <a:pt x="451346" y="280540"/>
                </a:lnTo>
                <a:lnTo>
                  <a:pt x="436933" y="322997"/>
                </a:lnTo>
                <a:lnTo>
                  <a:pt x="414514" y="361828"/>
                </a:lnTo>
                <a:lnTo>
                  <a:pt x="384950" y="395538"/>
                </a:lnTo>
                <a:lnTo>
                  <a:pt x="349378" y="422833"/>
                </a:lnTo>
                <a:lnTo>
                  <a:pt x="309164" y="442663"/>
                </a:lnTo>
                <a:lnTo>
                  <a:pt x="265854" y="454268"/>
                </a:lnTo>
                <a:lnTo>
                  <a:pt x="243555" y="456833"/>
                </a:lnTo>
                <a:lnTo>
                  <a:pt x="236086" y="457199"/>
                </a:lnTo>
                <a:close/>
              </a:path>
            </a:pathLst>
          </a:custGeom>
          <a:solidFill>
            <a:srgbClr val="FFD600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780256" y="3439314"/>
            <a:ext cx="135255" cy="2724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600" b="1" spc="-50" dirty="0">
                <a:solidFill>
                  <a:srgbClr val="FFD600"/>
                </a:solidFill>
                <a:latin typeface="Gadugi"/>
                <a:cs typeface="Gadugi"/>
              </a:rPr>
              <a:t>5</a:t>
            </a:r>
            <a:endParaRPr sz="1600">
              <a:latin typeface="Gadugi"/>
              <a:cs typeface="Gadug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16024" y="3299578"/>
            <a:ext cx="2316480" cy="8051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270510">
              <a:lnSpc>
                <a:spcPts val="2100"/>
              </a:lnSpc>
              <a:spcBef>
                <a:spcPts val="90"/>
              </a:spcBef>
            </a:pPr>
            <a:r>
              <a:rPr sz="1650" spc="-70" dirty="0">
                <a:solidFill>
                  <a:srgbClr val="FFFFFF"/>
                </a:solidFill>
                <a:latin typeface="Arial MT"/>
                <a:cs typeface="Arial MT"/>
              </a:rPr>
              <a:t>Methodology</a:t>
            </a:r>
            <a:r>
              <a:rPr sz="165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50" spc="-150" dirty="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1650" spc="-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50" spc="-60" dirty="0">
                <a:solidFill>
                  <a:srgbClr val="FFFFFF"/>
                </a:solidFill>
                <a:latin typeface="Arial MT"/>
                <a:cs typeface="Arial MT"/>
              </a:rPr>
              <a:t>Training </a:t>
            </a:r>
            <a:r>
              <a:rPr sz="1650" spc="-10" dirty="0">
                <a:solidFill>
                  <a:srgbClr val="FFFFFF"/>
                </a:solidFill>
                <a:latin typeface="Arial MT"/>
                <a:cs typeface="Arial MT"/>
              </a:rPr>
              <a:t>Pipeline</a:t>
            </a:r>
            <a:endParaRPr sz="16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1300" spc="-40" dirty="0">
                <a:solidFill>
                  <a:srgbClr val="9CA2AF"/>
                </a:solidFill>
                <a:latin typeface="Arial MT"/>
                <a:cs typeface="Arial MT"/>
              </a:rPr>
              <a:t>Implementation</a:t>
            </a:r>
            <a:r>
              <a:rPr sz="1300" spc="-25" dirty="0">
                <a:solidFill>
                  <a:srgbClr val="9CA2AF"/>
                </a:solidFill>
                <a:latin typeface="Arial MT"/>
                <a:cs typeface="Arial MT"/>
              </a:rPr>
              <a:t> </a:t>
            </a:r>
            <a:r>
              <a:rPr sz="1300" spc="-65" dirty="0">
                <a:solidFill>
                  <a:srgbClr val="9CA2AF"/>
                </a:solidFill>
                <a:latin typeface="Arial MT"/>
                <a:cs typeface="Arial MT"/>
              </a:rPr>
              <a:t>and</a:t>
            </a:r>
            <a:r>
              <a:rPr sz="1300" spc="-20" dirty="0">
                <a:solidFill>
                  <a:srgbClr val="9CA2AF"/>
                </a:solidFill>
                <a:latin typeface="Arial MT"/>
                <a:cs typeface="Arial MT"/>
              </a:rPr>
              <a:t> </a:t>
            </a:r>
            <a:r>
              <a:rPr sz="1300" spc="-35" dirty="0">
                <a:solidFill>
                  <a:srgbClr val="9CA2AF"/>
                </a:solidFill>
                <a:latin typeface="Arial MT"/>
                <a:cs typeface="Arial MT"/>
              </a:rPr>
              <a:t>configuration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352925" y="336232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36086" y="457199"/>
                </a:moveTo>
                <a:lnTo>
                  <a:pt x="221112" y="457199"/>
                </a:lnTo>
                <a:lnTo>
                  <a:pt x="213644" y="456833"/>
                </a:lnTo>
                <a:lnTo>
                  <a:pt x="169405" y="449530"/>
                </a:lnTo>
                <a:lnTo>
                  <a:pt x="127441" y="433735"/>
                </a:lnTo>
                <a:lnTo>
                  <a:pt x="89364" y="410059"/>
                </a:lnTo>
                <a:lnTo>
                  <a:pt x="56639" y="379409"/>
                </a:lnTo>
                <a:lnTo>
                  <a:pt x="30521" y="342963"/>
                </a:lnTo>
                <a:lnTo>
                  <a:pt x="12016" y="302123"/>
                </a:lnTo>
                <a:lnTo>
                  <a:pt x="1834" y="258457"/>
                </a:lnTo>
                <a:lnTo>
                  <a:pt x="0" y="236087"/>
                </a:lnTo>
                <a:lnTo>
                  <a:pt x="0" y="221112"/>
                </a:lnTo>
                <a:lnTo>
                  <a:pt x="5852" y="176659"/>
                </a:lnTo>
                <a:lnTo>
                  <a:pt x="20265" y="134201"/>
                </a:lnTo>
                <a:lnTo>
                  <a:pt x="42685" y="95370"/>
                </a:lnTo>
                <a:lnTo>
                  <a:pt x="72249" y="61661"/>
                </a:lnTo>
                <a:lnTo>
                  <a:pt x="107821" y="34366"/>
                </a:lnTo>
                <a:lnTo>
                  <a:pt x="148035" y="14536"/>
                </a:lnTo>
                <a:lnTo>
                  <a:pt x="191345" y="2931"/>
                </a:lnTo>
                <a:lnTo>
                  <a:pt x="221112" y="0"/>
                </a:lnTo>
                <a:lnTo>
                  <a:pt x="236086" y="0"/>
                </a:lnTo>
                <a:lnTo>
                  <a:pt x="280539" y="5853"/>
                </a:lnTo>
                <a:lnTo>
                  <a:pt x="322997" y="20265"/>
                </a:lnTo>
                <a:lnTo>
                  <a:pt x="361828" y="42685"/>
                </a:lnTo>
                <a:lnTo>
                  <a:pt x="395538" y="72249"/>
                </a:lnTo>
                <a:lnTo>
                  <a:pt x="422832" y="107821"/>
                </a:lnTo>
                <a:lnTo>
                  <a:pt x="442663" y="148035"/>
                </a:lnTo>
                <a:lnTo>
                  <a:pt x="454267" y="191345"/>
                </a:lnTo>
                <a:lnTo>
                  <a:pt x="457199" y="221112"/>
                </a:lnTo>
                <a:lnTo>
                  <a:pt x="457199" y="228599"/>
                </a:lnTo>
                <a:lnTo>
                  <a:pt x="457199" y="236087"/>
                </a:lnTo>
                <a:lnTo>
                  <a:pt x="451346" y="280540"/>
                </a:lnTo>
                <a:lnTo>
                  <a:pt x="436933" y="322997"/>
                </a:lnTo>
                <a:lnTo>
                  <a:pt x="414513" y="361828"/>
                </a:lnTo>
                <a:lnTo>
                  <a:pt x="384949" y="395538"/>
                </a:lnTo>
                <a:lnTo>
                  <a:pt x="349377" y="422833"/>
                </a:lnTo>
                <a:lnTo>
                  <a:pt x="309163" y="442663"/>
                </a:lnTo>
                <a:lnTo>
                  <a:pt x="265854" y="454268"/>
                </a:lnTo>
                <a:lnTo>
                  <a:pt x="243555" y="456833"/>
                </a:lnTo>
                <a:lnTo>
                  <a:pt x="236086" y="457199"/>
                </a:lnTo>
                <a:close/>
              </a:path>
            </a:pathLst>
          </a:custGeom>
          <a:solidFill>
            <a:srgbClr val="FFD600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514056" y="3439314"/>
            <a:ext cx="135255" cy="2724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600" b="1" spc="-50" dirty="0">
                <a:solidFill>
                  <a:srgbClr val="FFD600"/>
                </a:solidFill>
                <a:latin typeface="Gadugi"/>
                <a:cs typeface="Gadugi"/>
              </a:rPr>
              <a:t>6</a:t>
            </a:r>
            <a:endParaRPr sz="1600">
              <a:latin typeface="Gadugi"/>
              <a:cs typeface="Gadug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949824" y="3231114"/>
            <a:ext cx="1854200" cy="835660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1650" spc="-80" dirty="0">
                <a:solidFill>
                  <a:srgbClr val="FFFFFF"/>
                </a:solidFill>
                <a:latin typeface="Arial MT"/>
                <a:cs typeface="Arial MT"/>
              </a:rPr>
              <a:t>Experimental</a:t>
            </a:r>
            <a:r>
              <a:rPr sz="16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50" spc="-25" dirty="0">
                <a:solidFill>
                  <a:srgbClr val="FFFFFF"/>
                </a:solidFill>
                <a:latin typeface="Arial MT"/>
                <a:cs typeface="Arial MT"/>
              </a:rPr>
              <a:t>Results</a:t>
            </a:r>
            <a:endParaRPr sz="16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1300" spc="-135" dirty="0">
                <a:solidFill>
                  <a:srgbClr val="9CA2AF"/>
                </a:solidFill>
                <a:latin typeface="Arial MT"/>
                <a:cs typeface="Arial MT"/>
              </a:rPr>
              <a:t>YOLOv5,</a:t>
            </a:r>
            <a:r>
              <a:rPr sz="1300" spc="-40" dirty="0">
                <a:solidFill>
                  <a:srgbClr val="9CA2AF"/>
                </a:solidFill>
                <a:latin typeface="Arial MT"/>
                <a:cs typeface="Arial MT"/>
              </a:rPr>
              <a:t> </a:t>
            </a:r>
            <a:r>
              <a:rPr sz="1300" spc="-135" dirty="0">
                <a:solidFill>
                  <a:srgbClr val="9CA2AF"/>
                </a:solidFill>
                <a:latin typeface="Arial MT"/>
                <a:cs typeface="Arial MT"/>
              </a:rPr>
              <a:t>YOLOv8,</a:t>
            </a:r>
            <a:r>
              <a:rPr sz="1300" spc="-35" dirty="0">
                <a:solidFill>
                  <a:srgbClr val="9CA2AF"/>
                </a:solidFill>
                <a:latin typeface="Arial MT"/>
                <a:cs typeface="Arial MT"/>
              </a:rPr>
              <a:t> </a:t>
            </a:r>
            <a:r>
              <a:rPr sz="1300" spc="-110" dirty="0">
                <a:solidFill>
                  <a:srgbClr val="9CA2AF"/>
                </a:solidFill>
                <a:latin typeface="Arial MT"/>
                <a:cs typeface="Arial MT"/>
              </a:rPr>
              <a:t>YOLOv11</a:t>
            </a:r>
            <a:endParaRPr sz="1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300" spc="-10" dirty="0">
                <a:solidFill>
                  <a:srgbClr val="9CA2AF"/>
                </a:solidFill>
                <a:latin typeface="Arial MT"/>
                <a:cs typeface="Arial MT"/>
              </a:rPr>
              <a:t>performance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19124" y="43910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36086" y="457199"/>
                </a:moveTo>
                <a:lnTo>
                  <a:pt x="221113" y="457199"/>
                </a:lnTo>
                <a:lnTo>
                  <a:pt x="213644" y="456832"/>
                </a:lnTo>
                <a:lnTo>
                  <a:pt x="169405" y="449529"/>
                </a:lnTo>
                <a:lnTo>
                  <a:pt x="127441" y="433735"/>
                </a:lnTo>
                <a:lnTo>
                  <a:pt x="89365" y="410059"/>
                </a:lnTo>
                <a:lnTo>
                  <a:pt x="56639" y="379409"/>
                </a:lnTo>
                <a:lnTo>
                  <a:pt x="30522" y="342963"/>
                </a:lnTo>
                <a:lnTo>
                  <a:pt x="12016" y="302122"/>
                </a:lnTo>
                <a:lnTo>
                  <a:pt x="1834" y="258457"/>
                </a:lnTo>
                <a:lnTo>
                  <a:pt x="0" y="236086"/>
                </a:lnTo>
                <a:lnTo>
                  <a:pt x="0" y="221112"/>
                </a:lnTo>
                <a:lnTo>
                  <a:pt x="5853" y="176658"/>
                </a:lnTo>
                <a:lnTo>
                  <a:pt x="20266" y="134201"/>
                </a:lnTo>
                <a:lnTo>
                  <a:pt x="42685" y="95370"/>
                </a:lnTo>
                <a:lnTo>
                  <a:pt x="72249" y="61660"/>
                </a:lnTo>
                <a:lnTo>
                  <a:pt x="107821" y="34365"/>
                </a:lnTo>
                <a:lnTo>
                  <a:pt x="148035" y="14535"/>
                </a:lnTo>
                <a:lnTo>
                  <a:pt x="191345" y="2931"/>
                </a:lnTo>
                <a:lnTo>
                  <a:pt x="221113" y="0"/>
                </a:lnTo>
                <a:lnTo>
                  <a:pt x="236086" y="0"/>
                </a:lnTo>
                <a:lnTo>
                  <a:pt x="280540" y="5852"/>
                </a:lnTo>
                <a:lnTo>
                  <a:pt x="322998" y="20265"/>
                </a:lnTo>
                <a:lnTo>
                  <a:pt x="361828" y="42684"/>
                </a:lnTo>
                <a:lnTo>
                  <a:pt x="395538" y="72248"/>
                </a:lnTo>
                <a:lnTo>
                  <a:pt x="422833" y="107821"/>
                </a:lnTo>
                <a:lnTo>
                  <a:pt x="442663" y="148035"/>
                </a:lnTo>
                <a:lnTo>
                  <a:pt x="454268" y="191344"/>
                </a:lnTo>
                <a:lnTo>
                  <a:pt x="457200" y="221112"/>
                </a:lnTo>
                <a:lnTo>
                  <a:pt x="457199" y="228599"/>
                </a:lnTo>
                <a:lnTo>
                  <a:pt x="457200" y="236086"/>
                </a:lnTo>
                <a:lnTo>
                  <a:pt x="451346" y="280540"/>
                </a:lnTo>
                <a:lnTo>
                  <a:pt x="436933" y="322997"/>
                </a:lnTo>
                <a:lnTo>
                  <a:pt x="414514" y="361828"/>
                </a:lnTo>
                <a:lnTo>
                  <a:pt x="384950" y="395538"/>
                </a:lnTo>
                <a:lnTo>
                  <a:pt x="349378" y="422832"/>
                </a:lnTo>
                <a:lnTo>
                  <a:pt x="309164" y="442663"/>
                </a:lnTo>
                <a:lnTo>
                  <a:pt x="265854" y="454267"/>
                </a:lnTo>
                <a:lnTo>
                  <a:pt x="243555" y="456832"/>
                </a:lnTo>
                <a:lnTo>
                  <a:pt x="236086" y="457199"/>
                </a:lnTo>
                <a:close/>
              </a:path>
            </a:pathLst>
          </a:custGeom>
          <a:solidFill>
            <a:srgbClr val="FFD600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780256" y="4468014"/>
            <a:ext cx="135255" cy="2724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600" b="1" spc="-50" dirty="0">
                <a:solidFill>
                  <a:srgbClr val="FFD600"/>
                </a:solidFill>
                <a:latin typeface="Gadugi"/>
                <a:cs typeface="Gadugi"/>
              </a:rPr>
              <a:t>7</a:t>
            </a:r>
            <a:endParaRPr sz="1600">
              <a:latin typeface="Gadugi"/>
              <a:cs typeface="Gadug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216024" y="4328278"/>
            <a:ext cx="1864995" cy="8051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8419">
              <a:lnSpc>
                <a:spcPts val="2100"/>
              </a:lnSpc>
              <a:spcBef>
                <a:spcPts val="90"/>
              </a:spcBef>
            </a:pPr>
            <a:r>
              <a:rPr sz="1650" spc="-70" dirty="0">
                <a:solidFill>
                  <a:srgbClr val="FFFFFF"/>
                </a:solidFill>
                <a:latin typeface="Arial MT"/>
                <a:cs typeface="Arial MT"/>
              </a:rPr>
              <a:t>Model</a:t>
            </a:r>
            <a:r>
              <a:rPr sz="165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50" spc="-85" dirty="0">
                <a:solidFill>
                  <a:srgbClr val="FFFFFF"/>
                </a:solidFill>
                <a:latin typeface="Arial MT"/>
                <a:cs typeface="Arial MT"/>
              </a:rPr>
              <a:t>Comparison</a:t>
            </a:r>
            <a:r>
              <a:rPr sz="165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50" spc="-50" dirty="0">
                <a:solidFill>
                  <a:srgbClr val="FFFFFF"/>
                </a:solidFill>
                <a:latin typeface="Arial MT"/>
                <a:cs typeface="Arial MT"/>
              </a:rPr>
              <a:t>&amp; </a:t>
            </a:r>
            <a:r>
              <a:rPr sz="1650" spc="-10" dirty="0">
                <a:solidFill>
                  <a:srgbClr val="FFFFFF"/>
                </a:solidFill>
                <a:latin typeface="Arial MT"/>
                <a:cs typeface="Arial MT"/>
              </a:rPr>
              <a:t>Analysis</a:t>
            </a:r>
            <a:endParaRPr sz="16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1300" spc="-60" dirty="0">
                <a:solidFill>
                  <a:srgbClr val="9CA2AF"/>
                </a:solidFill>
                <a:latin typeface="Arial MT"/>
                <a:cs typeface="Arial MT"/>
              </a:rPr>
              <a:t>Benchmarking</a:t>
            </a:r>
            <a:r>
              <a:rPr sz="1300" spc="-15" dirty="0">
                <a:solidFill>
                  <a:srgbClr val="9CA2AF"/>
                </a:solidFill>
                <a:latin typeface="Arial MT"/>
                <a:cs typeface="Arial MT"/>
              </a:rPr>
              <a:t> </a:t>
            </a:r>
            <a:r>
              <a:rPr sz="1300" spc="-65" dirty="0">
                <a:solidFill>
                  <a:srgbClr val="9CA2AF"/>
                </a:solidFill>
                <a:latin typeface="Arial MT"/>
                <a:cs typeface="Arial MT"/>
              </a:rPr>
              <a:t>and</a:t>
            </a:r>
            <a:r>
              <a:rPr sz="1300" spc="-10" dirty="0">
                <a:solidFill>
                  <a:srgbClr val="9CA2AF"/>
                </a:solidFill>
                <a:latin typeface="Arial MT"/>
                <a:cs typeface="Arial MT"/>
              </a:rPr>
              <a:t> </a:t>
            </a:r>
            <a:r>
              <a:rPr sz="1300" spc="-30" dirty="0">
                <a:solidFill>
                  <a:srgbClr val="9CA2AF"/>
                </a:solidFill>
                <a:latin typeface="Arial MT"/>
                <a:cs typeface="Arial MT"/>
              </a:rPr>
              <a:t>insights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352925" y="43910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36086" y="457199"/>
                </a:moveTo>
                <a:lnTo>
                  <a:pt x="221112" y="457199"/>
                </a:lnTo>
                <a:lnTo>
                  <a:pt x="213644" y="456832"/>
                </a:lnTo>
                <a:lnTo>
                  <a:pt x="169405" y="449529"/>
                </a:lnTo>
                <a:lnTo>
                  <a:pt x="127441" y="433735"/>
                </a:lnTo>
                <a:lnTo>
                  <a:pt x="89364" y="410059"/>
                </a:lnTo>
                <a:lnTo>
                  <a:pt x="56639" y="379409"/>
                </a:lnTo>
                <a:lnTo>
                  <a:pt x="30521" y="342963"/>
                </a:lnTo>
                <a:lnTo>
                  <a:pt x="12016" y="302122"/>
                </a:lnTo>
                <a:lnTo>
                  <a:pt x="1834" y="258457"/>
                </a:lnTo>
                <a:lnTo>
                  <a:pt x="0" y="236086"/>
                </a:lnTo>
                <a:lnTo>
                  <a:pt x="0" y="221112"/>
                </a:lnTo>
                <a:lnTo>
                  <a:pt x="5852" y="176658"/>
                </a:lnTo>
                <a:lnTo>
                  <a:pt x="20265" y="134201"/>
                </a:lnTo>
                <a:lnTo>
                  <a:pt x="42685" y="95370"/>
                </a:lnTo>
                <a:lnTo>
                  <a:pt x="72249" y="61660"/>
                </a:lnTo>
                <a:lnTo>
                  <a:pt x="107821" y="34365"/>
                </a:lnTo>
                <a:lnTo>
                  <a:pt x="148035" y="14535"/>
                </a:lnTo>
                <a:lnTo>
                  <a:pt x="191345" y="2931"/>
                </a:lnTo>
                <a:lnTo>
                  <a:pt x="221112" y="0"/>
                </a:lnTo>
                <a:lnTo>
                  <a:pt x="236086" y="0"/>
                </a:lnTo>
                <a:lnTo>
                  <a:pt x="280539" y="5852"/>
                </a:lnTo>
                <a:lnTo>
                  <a:pt x="322997" y="20265"/>
                </a:lnTo>
                <a:lnTo>
                  <a:pt x="361828" y="42684"/>
                </a:lnTo>
                <a:lnTo>
                  <a:pt x="395538" y="72248"/>
                </a:lnTo>
                <a:lnTo>
                  <a:pt x="422832" y="107821"/>
                </a:lnTo>
                <a:lnTo>
                  <a:pt x="442663" y="148035"/>
                </a:lnTo>
                <a:lnTo>
                  <a:pt x="454267" y="191344"/>
                </a:lnTo>
                <a:lnTo>
                  <a:pt x="457199" y="221112"/>
                </a:lnTo>
                <a:lnTo>
                  <a:pt x="457199" y="228599"/>
                </a:lnTo>
                <a:lnTo>
                  <a:pt x="457199" y="236086"/>
                </a:lnTo>
                <a:lnTo>
                  <a:pt x="451346" y="280540"/>
                </a:lnTo>
                <a:lnTo>
                  <a:pt x="436933" y="322997"/>
                </a:lnTo>
                <a:lnTo>
                  <a:pt x="414513" y="361828"/>
                </a:lnTo>
                <a:lnTo>
                  <a:pt x="384949" y="395538"/>
                </a:lnTo>
                <a:lnTo>
                  <a:pt x="349377" y="422832"/>
                </a:lnTo>
                <a:lnTo>
                  <a:pt x="309163" y="442663"/>
                </a:lnTo>
                <a:lnTo>
                  <a:pt x="265854" y="454267"/>
                </a:lnTo>
                <a:lnTo>
                  <a:pt x="243555" y="456832"/>
                </a:lnTo>
                <a:lnTo>
                  <a:pt x="236086" y="457199"/>
                </a:lnTo>
                <a:close/>
              </a:path>
            </a:pathLst>
          </a:custGeom>
          <a:solidFill>
            <a:srgbClr val="FFD600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4514056" y="4468014"/>
            <a:ext cx="135255" cy="2724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600" b="1" spc="-50" dirty="0">
                <a:solidFill>
                  <a:srgbClr val="FFD600"/>
                </a:solidFill>
                <a:latin typeface="Gadugi"/>
                <a:cs typeface="Gadugi"/>
              </a:rPr>
              <a:t>8</a:t>
            </a:r>
            <a:endParaRPr sz="1600">
              <a:latin typeface="Gadugi"/>
              <a:cs typeface="Gadug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949824" y="4328278"/>
            <a:ext cx="1732280" cy="8051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101600">
              <a:lnSpc>
                <a:spcPts val="2100"/>
              </a:lnSpc>
              <a:spcBef>
                <a:spcPts val="90"/>
              </a:spcBef>
            </a:pPr>
            <a:r>
              <a:rPr sz="1650" spc="-90" dirty="0">
                <a:solidFill>
                  <a:srgbClr val="FFFFFF"/>
                </a:solidFill>
                <a:latin typeface="Arial MT"/>
                <a:cs typeface="Arial MT"/>
              </a:rPr>
              <a:t>Deployment</a:t>
            </a:r>
            <a:r>
              <a:rPr sz="165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50" spc="-150" dirty="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165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50" spc="-140" dirty="0">
                <a:solidFill>
                  <a:srgbClr val="FFFFFF"/>
                </a:solidFill>
                <a:latin typeface="Arial MT"/>
                <a:cs typeface="Arial MT"/>
              </a:rPr>
              <a:t>Web </a:t>
            </a:r>
            <a:r>
              <a:rPr sz="1650" spc="-10" dirty="0">
                <a:solidFill>
                  <a:srgbClr val="FFFFFF"/>
                </a:solidFill>
                <a:latin typeface="Arial MT"/>
                <a:cs typeface="Arial MT"/>
              </a:rPr>
              <a:t>Application</a:t>
            </a:r>
            <a:endParaRPr sz="16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1300" spc="-50" dirty="0">
                <a:solidFill>
                  <a:srgbClr val="9CA2AF"/>
                </a:solidFill>
                <a:latin typeface="Arial MT"/>
                <a:cs typeface="Arial MT"/>
              </a:rPr>
              <a:t>Streamlit-</a:t>
            </a:r>
            <a:r>
              <a:rPr sz="1300" spc="-60" dirty="0">
                <a:solidFill>
                  <a:srgbClr val="9CA2AF"/>
                </a:solidFill>
                <a:latin typeface="Arial MT"/>
                <a:cs typeface="Arial MT"/>
              </a:rPr>
              <a:t>based</a:t>
            </a:r>
            <a:r>
              <a:rPr sz="1300" spc="10" dirty="0">
                <a:solidFill>
                  <a:srgbClr val="9CA2AF"/>
                </a:solidFill>
                <a:latin typeface="Arial MT"/>
                <a:cs typeface="Arial MT"/>
              </a:rPr>
              <a:t> </a:t>
            </a:r>
            <a:r>
              <a:rPr sz="1300" spc="-30" dirty="0">
                <a:solidFill>
                  <a:srgbClr val="9CA2AF"/>
                </a:solidFill>
                <a:latin typeface="Arial MT"/>
                <a:cs typeface="Arial MT"/>
              </a:rPr>
              <a:t>interface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619124" y="549592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36086" y="457199"/>
                </a:moveTo>
                <a:lnTo>
                  <a:pt x="221113" y="457199"/>
                </a:lnTo>
                <a:lnTo>
                  <a:pt x="213644" y="456833"/>
                </a:lnTo>
                <a:lnTo>
                  <a:pt x="169405" y="449530"/>
                </a:lnTo>
                <a:lnTo>
                  <a:pt x="127441" y="433736"/>
                </a:lnTo>
                <a:lnTo>
                  <a:pt x="89365" y="410059"/>
                </a:lnTo>
                <a:lnTo>
                  <a:pt x="56639" y="379409"/>
                </a:lnTo>
                <a:lnTo>
                  <a:pt x="30522" y="342963"/>
                </a:lnTo>
                <a:lnTo>
                  <a:pt x="12016" y="302122"/>
                </a:lnTo>
                <a:lnTo>
                  <a:pt x="1834" y="258456"/>
                </a:lnTo>
                <a:lnTo>
                  <a:pt x="0" y="236086"/>
                </a:lnTo>
                <a:lnTo>
                  <a:pt x="0" y="221113"/>
                </a:lnTo>
                <a:lnTo>
                  <a:pt x="5853" y="176658"/>
                </a:lnTo>
                <a:lnTo>
                  <a:pt x="20266" y="134201"/>
                </a:lnTo>
                <a:lnTo>
                  <a:pt x="42685" y="95371"/>
                </a:lnTo>
                <a:lnTo>
                  <a:pt x="72249" y="61661"/>
                </a:lnTo>
                <a:lnTo>
                  <a:pt x="107821" y="34366"/>
                </a:lnTo>
                <a:lnTo>
                  <a:pt x="148035" y="14536"/>
                </a:lnTo>
                <a:lnTo>
                  <a:pt x="191345" y="2931"/>
                </a:lnTo>
                <a:lnTo>
                  <a:pt x="221113" y="0"/>
                </a:lnTo>
                <a:lnTo>
                  <a:pt x="236086" y="0"/>
                </a:lnTo>
                <a:lnTo>
                  <a:pt x="280540" y="5853"/>
                </a:lnTo>
                <a:lnTo>
                  <a:pt x="322998" y="20266"/>
                </a:lnTo>
                <a:lnTo>
                  <a:pt x="361828" y="42685"/>
                </a:lnTo>
                <a:lnTo>
                  <a:pt x="395538" y="72249"/>
                </a:lnTo>
                <a:lnTo>
                  <a:pt x="422833" y="107821"/>
                </a:lnTo>
                <a:lnTo>
                  <a:pt x="442663" y="148035"/>
                </a:lnTo>
                <a:lnTo>
                  <a:pt x="454268" y="191344"/>
                </a:lnTo>
                <a:lnTo>
                  <a:pt x="457200" y="221113"/>
                </a:lnTo>
                <a:lnTo>
                  <a:pt x="457199" y="228599"/>
                </a:lnTo>
                <a:lnTo>
                  <a:pt x="457200" y="236086"/>
                </a:lnTo>
                <a:lnTo>
                  <a:pt x="451346" y="280540"/>
                </a:lnTo>
                <a:lnTo>
                  <a:pt x="436933" y="322997"/>
                </a:lnTo>
                <a:lnTo>
                  <a:pt x="414514" y="361828"/>
                </a:lnTo>
                <a:lnTo>
                  <a:pt x="384950" y="395538"/>
                </a:lnTo>
                <a:lnTo>
                  <a:pt x="349378" y="422832"/>
                </a:lnTo>
                <a:lnTo>
                  <a:pt x="309164" y="442664"/>
                </a:lnTo>
                <a:lnTo>
                  <a:pt x="265854" y="454268"/>
                </a:lnTo>
                <a:lnTo>
                  <a:pt x="243555" y="456833"/>
                </a:lnTo>
                <a:lnTo>
                  <a:pt x="236086" y="457199"/>
                </a:lnTo>
                <a:close/>
              </a:path>
            </a:pathLst>
          </a:custGeom>
          <a:solidFill>
            <a:srgbClr val="FFD600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780256" y="5572914"/>
            <a:ext cx="135255" cy="2724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600" b="1" spc="-50" dirty="0">
                <a:solidFill>
                  <a:srgbClr val="FFD600"/>
                </a:solidFill>
                <a:latin typeface="Gadugi"/>
                <a:cs typeface="Gadugi"/>
              </a:rPr>
              <a:t>9</a:t>
            </a:r>
            <a:endParaRPr sz="1600">
              <a:latin typeface="Gadugi"/>
              <a:cs typeface="Gadug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216024" y="5364714"/>
            <a:ext cx="2348865" cy="607060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1650" spc="-95" dirty="0">
                <a:solidFill>
                  <a:srgbClr val="FFFFFF"/>
                </a:solidFill>
                <a:latin typeface="Arial MT"/>
                <a:cs typeface="Arial MT"/>
              </a:rPr>
              <a:t>Challenges</a:t>
            </a:r>
            <a:r>
              <a:rPr sz="165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50" spc="-150" dirty="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165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50" spc="-85" dirty="0">
                <a:solidFill>
                  <a:srgbClr val="FFFFFF"/>
                </a:solidFill>
                <a:latin typeface="Arial MT"/>
                <a:cs typeface="Arial MT"/>
              </a:rPr>
              <a:t>Future</a:t>
            </a:r>
            <a:r>
              <a:rPr sz="165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50" spc="-20" dirty="0">
                <a:solidFill>
                  <a:srgbClr val="FFFFFF"/>
                </a:solidFill>
                <a:latin typeface="Arial MT"/>
                <a:cs typeface="Arial MT"/>
              </a:rPr>
              <a:t>Work</a:t>
            </a:r>
            <a:endParaRPr sz="16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1300" spc="-25" dirty="0">
                <a:solidFill>
                  <a:srgbClr val="9CA2AF"/>
                </a:solidFill>
                <a:latin typeface="Arial MT"/>
                <a:cs typeface="Arial MT"/>
              </a:rPr>
              <a:t>Limitations</a:t>
            </a:r>
            <a:r>
              <a:rPr sz="1300" spc="-40" dirty="0">
                <a:solidFill>
                  <a:srgbClr val="9CA2AF"/>
                </a:solidFill>
                <a:latin typeface="Arial MT"/>
                <a:cs typeface="Arial MT"/>
              </a:rPr>
              <a:t> </a:t>
            </a:r>
            <a:r>
              <a:rPr sz="1300" spc="-65" dirty="0">
                <a:solidFill>
                  <a:srgbClr val="9CA2AF"/>
                </a:solidFill>
                <a:latin typeface="Arial MT"/>
                <a:cs typeface="Arial MT"/>
              </a:rPr>
              <a:t>and</a:t>
            </a:r>
            <a:r>
              <a:rPr sz="1300" spc="-35" dirty="0">
                <a:solidFill>
                  <a:srgbClr val="9CA2AF"/>
                </a:solidFill>
                <a:latin typeface="Arial MT"/>
                <a:cs typeface="Arial MT"/>
              </a:rPr>
              <a:t> </a:t>
            </a:r>
            <a:r>
              <a:rPr sz="1300" spc="-50" dirty="0">
                <a:solidFill>
                  <a:srgbClr val="9CA2AF"/>
                </a:solidFill>
                <a:latin typeface="Arial MT"/>
                <a:cs typeface="Arial MT"/>
              </a:rPr>
              <a:t>recommendations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164339" y="4130722"/>
            <a:ext cx="119761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0" marR="5080" indent="-273685">
              <a:lnSpc>
                <a:spcPct val="116700"/>
              </a:lnSpc>
              <a:spcBef>
                <a:spcPts val="100"/>
              </a:spcBef>
            </a:pPr>
            <a:r>
              <a:rPr sz="1500" spc="-105" dirty="0">
                <a:solidFill>
                  <a:srgbClr val="FFFFFF"/>
                </a:solidFill>
                <a:latin typeface="Roboto Lt"/>
                <a:cs typeface="Roboto Lt"/>
              </a:rPr>
              <a:t>Comprehensive </a:t>
            </a:r>
            <a:r>
              <a:rPr sz="1500" spc="-10" dirty="0">
                <a:solidFill>
                  <a:srgbClr val="FFFFFF"/>
                </a:solidFill>
                <a:latin typeface="Roboto Lt"/>
                <a:cs typeface="Roboto Lt"/>
              </a:rPr>
              <a:t>Analysis</a:t>
            </a:r>
            <a:endParaRPr sz="1500">
              <a:latin typeface="Roboto Lt"/>
              <a:cs typeface="Roboto Lt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7265641" y="709902"/>
            <a:ext cx="4939030" cy="5075555"/>
            <a:chOff x="7265641" y="709902"/>
            <a:chExt cx="4939030" cy="5075555"/>
          </a:xfrm>
        </p:grpSpPr>
        <p:pic>
          <p:nvPicPr>
            <p:cNvPr id="34" name="object 3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65641" y="709902"/>
              <a:ext cx="4938550" cy="5075484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61474" y="2717799"/>
              <a:ext cx="1003300" cy="10033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6424" y="100342"/>
            <a:ext cx="2689860" cy="530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300" spc="-170" dirty="0">
                <a:latin typeface="Tahoma"/>
                <a:cs typeface="Tahoma"/>
              </a:rPr>
              <a:t>Team</a:t>
            </a:r>
            <a:r>
              <a:rPr sz="3300" spc="-100" dirty="0">
                <a:latin typeface="Tahoma"/>
                <a:cs typeface="Tahoma"/>
              </a:rPr>
              <a:t> </a:t>
            </a:r>
            <a:r>
              <a:rPr sz="3300" spc="-415" dirty="0">
                <a:latin typeface="Tahoma"/>
                <a:cs typeface="Tahoma"/>
              </a:rPr>
              <a:t>&amp;</a:t>
            </a:r>
            <a:r>
              <a:rPr sz="3300" spc="-100" dirty="0">
                <a:latin typeface="Tahoma"/>
                <a:cs typeface="Tahoma"/>
              </a:rPr>
              <a:t> </a:t>
            </a:r>
            <a:r>
              <a:rPr sz="3300" spc="-85" dirty="0">
                <a:latin typeface="Tahoma"/>
                <a:cs typeface="Tahoma"/>
              </a:rPr>
              <a:t>Roles</a:t>
            </a:r>
            <a:endParaRPr sz="3300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19124" y="1790699"/>
            <a:ext cx="3505200" cy="3667125"/>
            <a:chOff x="619124" y="1790699"/>
            <a:chExt cx="3505200" cy="3667125"/>
          </a:xfrm>
        </p:grpSpPr>
        <p:sp>
          <p:nvSpPr>
            <p:cNvPr id="4" name="object 4"/>
            <p:cNvSpPr/>
            <p:nvPr/>
          </p:nvSpPr>
          <p:spPr>
            <a:xfrm>
              <a:off x="619124" y="1790699"/>
              <a:ext cx="3505200" cy="3667125"/>
            </a:xfrm>
            <a:custGeom>
              <a:avLst/>
              <a:gdLst/>
              <a:ahLst/>
              <a:cxnLst/>
              <a:rect l="l" t="t" r="r" b="b"/>
              <a:pathLst>
                <a:path w="3505200" h="3667125">
                  <a:moveTo>
                    <a:pt x="3390899" y="3667124"/>
                  </a:moveTo>
                  <a:lnTo>
                    <a:pt x="114299" y="3667124"/>
                  </a:lnTo>
                  <a:lnTo>
                    <a:pt x="103040" y="3666580"/>
                  </a:lnTo>
                  <a:lnTo>
                    <a:pt x="60364" y="3653612"/>
                  </a:lnTo>
                  <a:lnTo>
                    <a:pt x="25900" y="3625300"/>
                  </a:lnTo>
                  <a:lnTo>
                    <a:pt x="4894" y="3585954"/>
                  </a:lnTo>
                  <a:lnTo>
                    <a:pt x="0" y="3552824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3390899" y="0"/>
                  </a:lnTo>
                  <a:lnTo>
                    <a:pt x="3434639" y="8700"/>
                  </a:lnTo>
                  <a:lnTo>
                    <a:pt x="3471721" y="33477"/>
                  </a:lnTo>
                  <a:lnTo>
                    <a:pt x="3496498" y="70559"/>
                  </a:lnTo>
                  <a:lnTo>
                    <a:pt x="3505199" y="114299"/>
                  </a:lnTo>
                  <a:lnTo>
                    <a:pt x="3505199" y="3552824"/>
                  </a:lnTo>
                  <a:lnTo>
                    <a:pt x="3496498" y="3596565"/>
                  </a:lnTo>
                  <a:lnTo>
                    <a:pt x="3471721" y="3633646"/>
                  </a:lnTo>
                  <a:lnTo>
                    <a:pt x="3434639" y="3658423"/>
                  </a:lnTo>
                  <a:lnTo>
                    <a:pt x="3390899" y="3667124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19124" y="1790699"/>
              <a:ext cx="3505200" cy="3667125"/>
            </a:xfrm>
            <a:custGeom>
              <a:avLst/>
              <a:gdLst/>
              <a:ahLst/>
              <a:cxnLst/>
              <a:rect l="l" t="t" r="r" b="b"/>
              <a:pathLst>
                <a:path w="3505200" h="3667125">
                  <a:moveTo>
                    <a:pt x="3390899" y="3667124"/>
                  </a:moveTo>
                  <a:lnTo>
                    <a:pt x="114299" y="3667124"/>
                  </a:lnTo>
                  <a:lnTo>
                    <a:pt x="103040" y="3666580"/>
                  </a:lnTo>
                  <a:lnTo>
                    <a:pt x="60364" y="3653612"/>
                  </a:lnTo>
                  <a:lnTo>
                    <a:pt x="25900" y="3625300"/>
                  </a:lnTo>
                  <a:lnTo>
                    <a:pt x="4894" y="3585954"/>
                  </a:lnTo>
                  <a:lnTo>
                    <a:pt x="0" y="3552824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3390899" y="0"/>
                  </a:lnTo>
                  <a:lnTo>
                    <a:pt x="3434639" y="8700"/>
                  </a:lnTo>
                  <a:lnTo>
                    <a:pt x="3454086" y="19049"/>
                  </a:lnTo>
                  <a:lnTo>
                    <a:pt x="108045" y="19049"/>
                  </a:lnTo>
                  <a:lnTo>
                    <a:pt x="101851" y="19660"/>
                  </a:lnTo>
                  <a:lnTo>
                    <a:pt x="56181" y="38577"/>
                  </a:lnTo>
                  <a:lnTo>
                    <a:pt x="28693" y="72071"/>
                  </a:lnTo>
                  <a:lnTo>
                    <a:pt x="19049" y="108045"/>
                  </a:lnTo>
                  <a:lnTo>
                    <a:pt x="19049" y="3559078"/>
                  </a:lnTo>
                  <a:lnTo>
                    <a:pt x="31627" y="3600542"/>
                  </a:lnTo>
                  <a:lnTo>
                    <a:pt x="66582" y="3635496"/>
                  </a:lnTo>
                  <a:lnTo>
                    <a:pt x="108045" y="3648074"/>
                  </a:lnTo>
                  <a:lnTo>
                    <a:pt x="3454086" y="3648074"/>
                  </a:lnTo>
                  <a:lnTo>
                    <a:pt x="3444834" y="3653612"/>
                  </a:lnTo>
                  <a:lnTo>
                    <a:pt x="3434639" y="3658424"/>
                  </a:lnTo>
                  <a:lnTo>
                    <a:pt x="3424029" y="3662230"/>
                  </a:lnTo>
                  <a:lnTo>
                    <a:pt x="3413202" y="3664949"/>
                  </a:lnTo>
                  <a:lnTo>
                    <a:pt x="3402159" y="3666580"/>
                  </a:lnTo>
                  <a:lnTo>
                    <a:pt x="3390899" y="3667124"/>
                  </a:lnTo>
                  <a:close/>
                </a:path>
                <a:path w="3505200" h="3667125">
                  <a:moveTo>
                    <a:pt x="3454086" y="3648074"/>
                  </a:moveTo>
                  <a:lnTo>
                    <a:pt x="3397154" y="3648074"/>
                  </a:lnTo>
                  <a:lnTo>
                    <a:pt x="3403348" y="3647464"/>
                  </a:lnTo>
                  <a:lnTo>
                    <a:pt x="3415615" y="3645024"/>
                  </a:lnTo>
                  <a:lnTo>
                    <a:pt x="3453828" y="3624598"/>
                  </a:lnTo>
                  <a:lnTo>
                    <a:pt x="3481292" y="3583496"/>
                  </a:lnTo>
                  <a:lnTo>
                    <a:pt x="3486149" y="3559078"/>
                  </a:lnTo>
                  <a:lnTo>
                    <a:pt x="3486149" y="108045"/>
                  </a:lnTo>
                  <a:lnTo>
                    <a:pt x="3485656" y="103040"/>
                  </a:lnTo>
                  <a:lnTo>
                    <a:pt x="3485539" y="101851"/>
                  </a:lnTo>
                  <a:lnTo>
                    <a:pt x="3466622" y="56181"/>
                  </a:lnTo>
                  <a:lnTo>
                    <a:pt x="3433128" y="28693"/>
                  </a:lnTo>
                  <a:lnTo>
                    <a:pt x="3397154" y="19049"/>
                  </a:lnTo>
                  <a:lnTo>
                    <a:pt x="3454086" y="19049"/>
                  </a:lnTo>
                  <a:lnTo>
                    <a:pt x="3485954" y="50786"/>
                  </a:lnTo>
                  <a:lnTo>
                    <a:pt x="3503024" y="91996"/>
                  </a:lnTo>
                  <a:lnTo>
                    <a:pt x="3505199" y="3552824"/>
                  </a:lnTo>
                  <a:lnTo>
                    <a:pt x="3504655" y="3564084"/>
                  </a:lnTo>
                  <a:lnTo>
                    <a:pt x="3491687" y="3606759"/>
                  </a:lnTo>
                  <a:lnTo>
                    <a:pt x="3463375" y="3641223"/>
                  </a:lnTo>
                  <a:lnTo>
                    <a:pt x="3454412" y="3647879"/>
                  </a:lnTo>
                  <a:lnTo>
                    <a:pt x="3454086" y="3648074"/>
                  </a:lnTo>
                  <a:close/>
                </a:path>
              </a:pathLst>
            </a:custGeom>
            <a:solidFill>
              <a:srgbClr val="FFD600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7099" y="2174874"/>
              <a:ext cx="260350" cy="26035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349374" y="1973357"/>
            <a:ext cx="2199640" cy="57848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sz="2000" b="1" spc="-185" dirty="0">
                <a:solidFill>
                  <a:srgbClr val="FFFFFF"/>
                </a:solidFill>
                <a:latin typeface="Arial"/>
                <a:cs typeface="Arial"/>
              </a:rPr>
              <a:t>Beyza</a:t>
            </a:r>
            <a:r>
              <a:rPr sz="2000" b="1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320" dirty="0">
                <a:solidFill>
                  <a:srgbClr val="FFFFFF"/>
                </a:solidFill>
                <a:latin typeface="Arial"/>
                <a:cs typeface="Arial"/>
              </a:rPr>
              <a:t>GÜLER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1300" spc="-85" dirty="0">
                <a:solidFill>
                  <a:srgbClr val="FFD600"/>
                </a:solidFill>
                <a:latin typeface="Roboto Lt"/>
                <a:cs typeface="Roboto Lt"/>
              </a:rPr>
              <a:t>YOLOv11</a:t>
            </a:r>
            <a:r>
              <a:rPr sz="1300" spc="-10" dirty="0">
                <a:solidFill>
                  <a:srgbClr val="FFD600"/>
                </a:solidFill>
                <a:latin typeface="Roboto Lt"/>
                <a:cs typeface="Roboto Lt"/>
              </a:rPr>
              <a:t> </a:t>
            </a:r>
            <a:r>
              <a:rPr sz="1300" spc="-55" dirty="0">
                <a:solidFill>
                  <a:srgbClr val="FFD600"/>
                </a:solidFill>
                <a:latin typeface="Roboto Lt"/>
                <a:cs typeface="Roboto Lt"/>
              </a:rPr>
              <a:t>Specialist</a:t>
            </a:r>
            <a:r>
              <a:rPr sz="1300" spc="-10" dirty="0">
                <a:solidFill>
                  <a:srgbClr val="FFD600"/>
                </a:solidFill>
                <a:latin typeface="Roboto Lt"/>
                <a:cs typeface="Roboto Lt"/>
              </a:rPr>
              <a:t> </a:t>
            </a:r>
            <a:r>
              <a:rPr sz="1300" spc="-60" dirty="0">
                <a:solidFill>
                  <a:srgbClr val="FFD600"/>
                </a:solidFill>
                <a:latin typeface="Roboto Lt"/>
                <a:cs typeface="Roboto Lt"/>
              </a:rPr>
              <a:t>&amp;</a:t>
            </a:r>
            <a:r>
              <a:rPr sz="1300" spc="-10" dirty="0">
                <a:solidFill>
                  <a:srgbClr val="FFD600"/>
                </a:solidFill>
                <a:latin typeface="Roboto Lt"/>
                <a:cs typeface="Roboto Lt"/>
              </a:rPr>
              <a:t> </a:t>
            </a:r>
            <a:r>
              <a:rPr sz="1300" spc="-40" dirty="0">
                <a:solidFill>
                  <a:srgbClr val="FFD600"/>
                </a:solidFill>
                <a:latin typeface="Roboto Lt"/>
                <a:cs typeface="Roboto Lt"/>
              </a:rPr>
              <a:t>Reporting</a:t>
            </a:r>
            <a:endParaRPr sz="1300">
              <a:latin typeface="Roboto Lt"/>
              <a:cs typeface="Roboto L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66774" y="2778124"/>
            <a:ext cx="3009900" cy="2089150"/>
            <a:chOff x="866774" y="2778124"/>
            <a:chExt cx="3009900" cy="208915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2649" y="2778124"/>
              <a:ext cx="158750" cy="15875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2649" y="3159124"/>
              <a:ext cx="158750" cy="15875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2649" y="3540124"/>
              <a:ext cx="158750" cy="15875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2649" y="3921124"/>
              <a:ext cx="158750" cy="15875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866774" y="4857749"/>
              <a:ext cx="3009900" cy="9525"/>
            </a:xfrm>
            <a:custGeom>
              <a:avLst/>
              <a:gdLst/>
              <a:ahLst/>
              <a:cxnLst/>
              <a:rect l="l" t="t" r="r" b="b"/>
              <a:pathLst>
                <a:path w="3009900" h="9525">
                  <a:moveTo>
                    <a:pt x="30098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3009899" y="0"/>
                  </a:lnTo>
                  <a:lnTo>
                    <a:pt x="3009899" y="9524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120775" y="2711211"/>
            <a:ext cx="185547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90" dirty="0">
                <a:solidFill>
                  <a:srgbClr val="D0D5DA"/>
                </a:solidFill>
                <a:latin typeface="Tahoma"/>
                <a:cs typeface="Tahoma"/>
              </a:rPr>
              <a:t>Trained</a:t>
            </a:r>
            <a:r>
              <a:rPr sz="1500" spc="-80" dirty="0">
                <a:solidFill>
                  <a:srgbClr val="D0D5DA"/>
                </a:solidFill>
                <a:latin typeface="Tahoma"/>
                <a:cs typeface="Tahoma"/>
              </a:rPr>
              <a:t> </a:t>
            </a:r>
            <a:r>
              <a:rPr sz="1500" spc="-100" dirty="0">
                <a:solidFill>
                  <a:srgbClr val="D0D5DA"/>
                </a:solidFill>
                <a:latin typeface="Tahoma"/>
                <a:cs typeface="Tahoma"/>
              </a:rPr>
              <a:t>YOLOv11</a:t>
            </a:r>
            <a:r>
              <a:rPr sz="1500" spc="-80" dirty="0">
                <a:solidFill>
                  <a:srgbClr val="D0D5DA"/>
                </a:solidFill>
                <a:latin typeface="Tahoma"/>
                <a:cs typeface="Tahoma"/>
              </a:rPr>
              <a:t> </a:t>
            </a:r>
            <a:r>
              <a:rPr sz="1500" spc="-40" dirty="0">
                <a:solidFill>
                  <a:srgbClr val="D0D5DA"/>
                </a:solidFill>
                <a:latin typeface="Tahoma"/>
                <a:cs typeface="Tahoma"/>
              </a:rPr>
              <a:t>model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20775" y="3092211"/>
            <a:ext cx="255016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70" dirty="0">
                <a:solidFill>
                  <a:srgbClr val="D0D5DA"/>
                </a:solidFill>
                <a:latin typeface="Tahoma"/>
                <a:cs typeface="Tahoma"/>
              </a:rPr>
              <a:t>Analyzed</a:t>
            </a:r>
            <a:r>
              <a:rPr sz="1500" spc="-85" dirty="0">
                <a:solidFill>
                  <a:srgbClr val="D0D5DA"/>
                </a:solidFill>
                <a:latin typeface="Tahoma"/>
                <a:cs typeface="Tahoma"/>
              </a:rPr>
              <a:t> </a:t>
            </a:r>
            <a:r>
              <a:rPr sz="1500" spc="-100" dirty="0">
                <a:solidFill>
                  <a:srgbClr val="D0D5DA"/>
                </a:solidFill>
                <a:latin typeface="Tahoma"/>
                <a:cs typeface="Tahoma"/>
              </a:rPr>
              <a:t>YOLOv11</a:t>
            </a:r>
            <a:r>
              <a:rPr sz="1500" spc="-80" dirty="0">
                <a:solidFill>
                  <a:srgbClr val="D0D5DA"/>
                </a:solidFill>
                <a:latin typeface="Tahoma"/>
                <a:cs typeface="Tahoma"/>
              </a:rPr>
              <a:t> </a:t>
            </a:r>
            <a:r>
              <a:rPr sz="1500" spc="-60" dirty="0">
                <a:solidFill>
                  <a:srgbClr val="D0D5DA"/>
                </a:solidFill>
                <a:latin typeface="Tahoma"/>
                <a:cs typeface="Tahoma"/>
              </a:rPr>
              <a:t>metric</a:t>
            </a:r>
            <a:r>
              <a:rPr sz="1500" spc="-85" dirty="0">
                <a:solidFill>
                  <a:srgbClr val="D0D5DA"/>
                </a:solidFill>
                <a:latin typeface="Tahoma"/>
                <a:cs typeface="Tahoma"/>
              </a:rPr>
              <a:t> </a:t>
            </a:r>
            <a:r>
              <a:rPr sz="1500" spc="-25" dirty="0">
                <a:solidFill>
                  <a:srgbClr val="D0D5DA"/>
                </a:solidFill>
                <a:latin typeface="Tahoma"/>
                <a:cs typeface="Tahoma"/>
              </a:rPr>
              <a:t>results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20775" y="3473211"/>
            <a:ext cx="195262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60" dirty="0">
                <a:solidFill>
                  <a:srgbClr val="D0D5DA"/>
                </a:solidFill>
                <a:latin typeface="Tahoma"/>
                <a:cs typeface="Tahoma"/>
              </a:rPr>
              <a:t>Technical</a:t>
            </a:r>
            <a:r>
              <a:rPr sz="1500" spc="-90" dirty="0">
                <a:solidFill>
                  <a:srgbClr val="D0D5DA"/>
                </a:solidFill>
                <a:latin typeface="Tahoma"/>
                <a:cs typeface="Tahoma"/>
              </a:rPr>
              <a:t> </a:t>
            </a:r>
            <a:r>
              <a:rPr sz="1500" spc="-55" dirty="0">
                <a:solidFill>
                  <a:srgbClr val="D0D5DA"/>
                </a:solidFill>
                <a:latin typeface="Tahoma"/>
                <a:cs typeface="Tahoma"/>
              </a:rPr>
              <a:t>documentation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20775" y="3854211"/>
            <a:ext cx="175958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80" dirty="0">
                <a:solidFill>
                  <a:srgbClr val="D0D5DA"/>
                </a:solidFill>
                <a:latin typeface="Tahoma"/>
                <a:cs typeface="Tahoma"/>
              </a:rPr>
              <a:t>Reporting </a:t>
            </a:r>
            <a:r>
              <a:rPr sz="1500" spc="-85" dirty="0">
                <a:solidFill>
                  <a:srgbClr val="D0D5DA"/>
                </a:solidFill>
                <a:latin typeface="Tahoma"/>
                <a:cs typeface="Tahoma"/>
              </a:rPr>
              <a:t>and</a:t>
            </a:r>
            <a:r>
              <a:rPr sz="1500" spc="-80" dirty="0">
                <a:solidFill>
                  <a:srgbClr val="D0D5DA"/>
                </a:solidFill>
                <a:latin typeface="Tahoma"/>
                <a:cs typeface="Tahoma"/>
              </a:rPr>
              <a:t> </a:t>
            </a:r>
            <a:r>
              <a:rPr sz="1500" spc="-25" dirty="0">
                <a:solidFill>
                  <a:srgbClr val="D0D5DA"/>
                </a:solidFill>
                <a:latin typeface="Tahoma"/>
                <a:cs typeface="Tahoma"/>
              </a:rPr>
              <a:t>analysis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54075" y="4996932"/>
            <a:ext cx="2580005" cy="2089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i="1" spc="-95" dirty="0">
                <a:solidFill>
                  <a:srgbClr val="9CA2AF"/>
                </a:solidFill>
                <a:latin typeface="Arial"/>
                <a:cs typeface="Arial"/>
              </a:rPr>
              <a:t>Focus:</a:t>
            </a:r>
            <a:r>
              <a:rPr sz="1200" i="1" spc="-35" dirty="0">
                <a:solidFill>
                  <a:srgbClr val="9CA2AF"/>
                </a:solidFill>
                <a:latin typeface="Arial"/>
                <a:cs typeface="Arial"/>
              </a:rPr>
              <a:t> </a:t>
            </a:r>
            <a:r>
              <a:rPr sz="1200" i="1" spc="-80" dirty="0">
                <a:solidFill>
                  <a:srgbClr val="9CA2AF"/>
                </a:solidFill>
                <a:latin typeface="Arial"/>
                <a:cs typeface="Arial"/>
              </a:rPr>
              <a:t>Model</a:t>
            </a:r>
            <a:r>
              <a:rPr sz="1200" i="1" spc="-30" dirty="0">
                <a:solidFill>
                  <a:srgbClr val="9CA2AF"/>
                </a:solidFill>
                <a:latin typeface="Arial"/>
                <a:cs typeface="Arial"/>
              </a:rPr>
              <a:t> </a:t>
            </a:r>
            <a:r>
              <a:rPr sz="1200" i="1" spc="-80" dirty="0">
                <a:solidFill>
                  <a:srgbClr val="9CA2AF"/>
                </a:solidFill>
                <a:latin typeface="Arial"/>
                <a:cs typeface="Arial"/>
              </a:rPr>
              <a:t>evaluation</a:t>
            </a:r>
            <a:r>
              <a:rPr sz="1200" i="1" spc="-30" dirty="0">
                <a:solidFill>
                  <a:srgbClr val="9CA2AF"/>
                </a:solidFill>
                <a:latin typeface="Arial"/>
                <a:cs typeface="Arial"/>
              </a:rPr>
              <a:t> </a:t>
            </a:r>
            <a:r>
              <a:rPr sz="1200" i="1" spc="-160" dirty="0">
                <a:solidFill>
                  <a:srgbClr val="9CA2AF"/>
                </a:solidFill>
                <a:latin typeface="Arial"/>
                <a:cs typeface="Arial"/>
              </a:rPr>
              <a:t>&amp;</a:t>
            </a:r>
            <a:r>
              <a:rPr sz="1200" i="1" spc="-30" dirty="0">
                <a:solidFill>
                  <a:srgbClr val="9CA2AF"/>
                </a:solidFill>
                <a:latin typeface="Arial"/>
                <a:cs typeface="Arial"/>
              </a:rPr>
              <a:t> </a:t>
            </a:r>
            <a:r>
              <a:rPr sz="1200" i="1" spc="-60" dirty="0">
                <a:solidFill>
                  <a:srgbClr val="9CA2AF"/>
                </a:solidFill>
                <a:latin typeface="Arial"/>
                <a:cs typeface="Arial"/>
              </a:rPr>
              <a:t>metrics</a:t>
            </a:r>
            <a:r>
              <a:rPr sz="1200" i="1" spc="-35" dirty="0">
                <a:solidFill>
                  <a:srgbClr val="9CA2AF"/>
                </a:solidFill>
                <a:latin typeface="Arial"/>
                <a:cs typeface="Arial"/>
              </a:rPr>
              <a:t> analysis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352924" y="1790699"/>
            <a:ext cx="3505200" cy="3667125"/>
            <a:chOff x="4352924" y="1790699"/>
            <a:chExt cx="3505200" cy="3667125"/>
          </a:xfrm>
        </p:grpSpPr>
        <p:sp>
          <p:nvSpPr>
            <p:cNvPr id="20" name="object 20"/>
            <p:cNvSpPr/>
            <p:nvPr/>
          </p:nvSpPr>
          <p:spPr>
            <a:xfrm>
              <a:off x="4352924" y="1790699"/>
              <a:ext cx="3505200" cy="3667125"/>
            </a:xfrm>
            <a:custGeom>
              <a:avLst/>
              <a:gdLst/>
              <a:ahLst/>
              <a:cxnLst/>
              <a:rect l="l" t="t" r="r" b="b"/>
              <a:pathLst>
                <a:path w="3505200" h="3667125">
                  <a:moveTo>
                    <a:pt x="3390899" y="3667124"/>
                  </a:moveTo>
                  <a:lnTo>
                    <a:pt x="114299" y="3667124"/>
                  </a:lnTo>
                  <a:lnTo>
                    <a:pt x="103040" y="3666580"/>
                  </a:lnTo>
                  <a:lnTo>
                    <a:pt x="60364" y="3653612"/>
                  </a:lnTo>
                  <a:lnTo>
                    <a:pt x="25900" y="3625300"/>
                  </a:lnTo>
                  <a:lnTo>
                    <a:pt x="4893" y="3585954"/>
                  </a:lnTo>
                  <a:lnTo>
                    <a:pt x="0" y="3552824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3390899" y="0"/>
                  </a:lnTo>
                  <a:lnTo>
                    <a:pt x="3434639" y="8700"/>
                  </a:lnTo>
                  <a:lnTo>
                    <a:pt x="3471721" y="33477"/>
                  </a:lnTo>
                  <a:lnTo>
                    <a:pt x="3496498" y="70559"/>
                  </a:lnTo>
                  <a:lnTo>
                    <a:pt x="3505199" y="114299"/>
                  </a:lnTo>
                  <a:lnTo>
                    <a:pt x="3505199" y="3552824"/>
                  </a:lnTo>
                  <a:lnTo>
                    <a:pt x="3496498" y="3596565"/>
                  </a:lnTo>
                  <a:lnTo>
                    <a:pt x="3471721" y="3633646"/>
                  </a:lnTo>
                  <a:lnTo>
                    <a:pt x="3434639" y="3658423"/>
                  </a:lnTo>
                  <a:lnTo>
                    <a:pt x="3390899" y="3667124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352924" y="1790699"/>
              <a:ext cx="3505200" cy="3667125"/>
            </a:xfrm>
            <a:custGeom>
              <a:avLst/>
              <a:gdLst/>
              <a:ahLst/>
              <a:cxnLst/>
              <a:rect l="l" t="t" r="r" b="b"/>
              <a:pathLst>
                <a:path w="3505200" h="3667125">
                  <a:moveTo>
                    <a:pt x="3390899" y="3667124"/>
                  </a:moveTo>
                  <a:lnTo>
                    <a:pt x="114299" y="3667124"/>
                  </a:lnTo>
                  <a:lnTo>
                    <a:pt x="103040" y="3666580"/>
                  </a:lnTo>
                  <a:lnTo>
                    <a:pt x="60364" y="3653612"/>
                  </a:lnTo>
                  <a:lnTo>
                    <a:pt x="25900" y="3625300"/>
                  </a:lnTo>
                  <a:lnTo>
                    <a:pt x="4893" y="3585954"/>
                  </a:lnTo>
                  <a:lnTo>
                    <a:pt x="0" y="3552824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3390899" y="0"/>
                  </a:lnTo>
                  <a:lnTo>
                    <a:pt x="3434639" y="8700"/>
                  </a:lnTo>
                  <a:lnTo>
                    <a:pt x="3454087" y="19049"/>
                  </a:lnTo>
                  <a:lnTo>
                    <a:pt x="108045" y="19049"/>
                  </a:lnTo>
                  <a:lnTo>
                    <a:pt x="101851" y="19660"/>
                  </a:lnTo>
                  <a:lnTo>
                    <a:pt x="56181" y="38577"/>
                  </a:lnTo>
                  <a:lnTo>
                    <a:pt x="28693" y="72071"/>
                  </a:lnTo>
                  <a:lnTo>
                    <a:pt x="19049" y="108045"/>
                  </a:lnTo>
                  <a:lnTo>
                    <a:pt x="19049" y="3559078"/>
                  </a:lnTo>
                  <a:lnTo>
                    <a:pt x="31627" y="3600542"/>
                  </a:lnTo>
                  <a:lnTo>
                    <a:pt x="66582" y="3635496"/>
                  </a:lnTo>
                  <a:lnTo>
                    <a:pt x="108045" y="3648074"/>
                  </a:lnTo>
                  <a:lnTo>
                    <a:pt x="3454086" y="3648074"/>
                  </a:lnTo>
                  <a:lnTo>
                    <a:pt x="3444834" y="3653612"/>
                  </a:lnTo>
                  <a:lnTo>
                    <a:pt x="3434639" y="3658424"/>
                  </a:lnTo>
                  <a:lnTo>
                    <a:pt x="3424029" y="3662230"/>
                  </a:lnTo>
                  <a:lnTo>
                    <a:pt x="3413202" y="3664949"/>
                  </a:lnTo>
                  <a:lnTo>
                    <a:pt x="3402159" y="3666580"/>
                  </a:lnTo>
                  <a:lnTo>
                    <a:pt x="3390899" y="3667124"/>
                  </a:lnTo>
                  <a:close/>
                </a:path>
                <a:path w="3505200" h="3667125">
                  <a:moveTo>
                    <a:pt x="3454086" y="3648074"/>
                  </a:moveTo>
                  <a:lnTo>
                    <a:pt x="3397153" y="3648074"/>
                  </a:lnTo>
                  <a:lnTo>
                    <a:pt x="3403348" y="3647464"/>
                  </a:lnTo>
                  <a:lnTo>
                    <a:pt x="3415615" y="3645024"/>
                  </a:lnTo>
                  <a:lnTo>
                    <a:pt x="3453828" y="3624598"/>
                  </a:lnTo>
                  <a:lnTo>
                    <a:pt x="3481292" y="3583496"/>
                  </a:lnTo>
                  <a:lnTo>
                    <a:pt x="3486149" y="3559078"/>
                  </a:lnTo>
                  <a:lnTo>
                    <a:pt x="3486149" y="108045"/>
                  </a:lnTo>
                  <a:lnTo>
                    <a:pt x="3485656" y="103040"/>
                  </a:lnTo>
                  <a:lnTo>
                    <a:pt x="3485539" y="101851"/>
                  </a:lnTo>
                  <a:lnTo>
                    <a:pt x="3466622" y="56181"/>
                  </a:lnTo>
                  <a:lnTo>
                    <a:pt x="3433127" y="28693"/>
                  </a:lnTo>
                  <a:lnTo>
                    <a:pt x="3397153" y="19049"/>
                  </a:lnTo>
                  <a:lnTo>
                    <a:pt x="3454087" y="19049"/>
                  </a:lnTo>
                  <a:lnTo>
                    <a:pt x="3485954" y="50786"/>
                  </a:lnTo>
                  <a:lnTo>
                    <a:pt x="3503024" y="91996"/>
                  </a:lnTo>
                  <a:lnTo>
                    <a:pt x="3505199" y="3552824"/>
                  </a:lnTo>
                  <a:lnTo>
                    <a:pt x="3504655" y="3564084"/>
                  </a:lnTo>
                  <a:lnTo>
                    <a:pt x="3491687" y="3606759"/>
                  </a:lnTo>
                  <a:lnTo>
                    <a:pt x="3463375" y="3641223"/>
                  </a:lnTo>
                  <a:lnTo>
                    <a:pt x="3454413" y="3647879"/>
                  </a:lnTo>
                  <a:lnTo>
                    <a:pt x="3454086" y="3648074"/>
                  </a:lnTo>
                  <a:close/>
                </a:path>
              </a:pathLst>
            </a:custGeom>
            <a:solidFill>
              <a:srgbClr val="60A5FA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60899" y="2174874"/>
              <a:ext cx="260350" cy="260350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5083174" y="1973357"/>
            <a:ext cx="2139315" cy="57848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sz="2000" b="1" spc="-190" dirty="0">
                <a:solidFill>
                  <a:srgbClr val="FFFFFF"/>
                </a:solidFill>
                <a:latin typeface="Arial"/>
                <a:cs typeface="Arial"/>
              </a:rPr>
              <a:t>Ramazan</a:t>
            </a:r>
            <a:r>
              <a:rPr sz="20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YILDIZ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1300" spc="-30" dirty="0">
                <a:solidFill>
                  <a:srgbClr val="60A5FA"/>
                </a:solidFill>
                <a:latin typeface="Roboto Lt"/>
                <a:cs typeface="Roboto Lt"/>
              </a:rPr>
              <a:t>AI</a:t>
            </a:r>
            <a:r>
              <a:rPr sz="1300" dirty="0">
                <a:solidFill>
                  <a:srgbClr val="60A5FA"/>
                </a:solidFill>
                <a:latin typeface="Roboto Lt"/>
                <a:cs typeface="Roboto Lt"/>
              </a:rPr>
              <a:t> </a:t>
            </a:r>
            <a:r>
              <a:rPr sz="1300" spc="-60" dirty="0">
                <a:solidFill>
                  <a:srgbClr val="60A5FA"/>
                </a:solidFill>
                <a:latin typeface="Roboto Lt"/>
                <a:cs typeface="Roboto Lt"/>
              </a:rPr>
              <a:t>Project</a:t>
            </a:r>
            <a:r>
              <a:rPr sz="1300" dirty="0">
                <a:solidFill>
                  <a:srgbClr val="60A5FA"/>
                </a:solidFill>
                <a:latin typeface="Roboto Lt"/>
                <a:cs typeface="Roboto Lt"/>
              </a:rPr>
              <a:t> </a:t>
            </a:r>
            <a:r>
              <a:rPr sz="1300" spc="-65" dirty="0">
                <a:solidFill>
                  <a:srgbClr val="60A5FA"/>
                </a:solidFill>
                <a:latin typeface="Roboto Lt"/>
                <a:cs typeface="Roboto Lt"/>
              </a:rPr>
              <a:t>Planning</a:t>
            </a:r>
            <a:r>
              <a:rPr sz="1300" dirty="0">
                <a:solidFill>
                  <a:srgbClr val="60A5FA"/>
                </a:solidFill>
                <a:latin typeface="Roboto Lt"/>
                <a:cs typeface="Roboto Lt"/>
              </a:rPr>
              <a:t> </a:t>
            </a:r>
            <a:r>
              <a:rPr sz="1300" spc="-60" dirty="0">
                <a:solidFill>
                  <a:srgbClr val="60A5FA"/>
                </a:solidFill>
                <a:latin typeface="Roboto Lt"/>
                <a:cs typeface="Roboto Lt"/>
              </a:rPr>
              <a:t>&amp;</a:t>
            </a:r>
            <a:r>
              <a:rPr sz="1300" dirty="0">
                <a:solidFill>
                  <a:srgbClr val="60A5FA"/>
                </a:solidFill>
                <a:latin typeface="Roboto Lt"/>
                <a:cs typeface="Roboto Lt"/>
              </a:rPr>
              <a:t> </a:t>
            </a:r>
            <a:r>
              <a:rPr sz="1300" spc="-50" dirty="0">
                <a:solidFill>
                  <a:srgbClr val="60A5FA"/>
                </a:solidFill>
                <a:latin typeface="Roboto Lt"/>
                <a:cs typeface="Roboto Lt"/>
              </a:rPr>
              <a:t>Research</a:t>
            </a:r>
            <a:endParaRPr sz="1300">
              <a:latin typeface="Roboto Lt"/>
              <a:cs typeface="Roboto L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600574" y="2778124"/>
            <a:ext cx="3009900" cy="1898650"/>
            <a:chOff x="4600574" y="2778124"/>
            <a:chExt cx="3009900" cy="1898650"/>
          </a:xfrm>
        </p:grpSpPr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16449" y="2778124"/>
              <a:ext cx="158750" cy="15875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16449" y="3159124"/>
              <a:ext cx="158750" cy="15875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16449" y="3540124"/>
              <a:ext cx="158750" cy="15875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16449" y="4187824"/>
              <a:ext cx="158750" cy="15875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4600574" y="4667249"/>
              <a:ext cx="3009900" cy="9525"/>
            </a:xfrm>
            <a:custGeom>
              <a:avLst/>
              <a:gdLst/>
              <a:ahLst/>
              <a:cxnLst/>
              <a:rect l="l" t="t" r="r" b="b"/>
              <a:pathLst>
                <a:path w="3009900" h="9525">
                  <a:moveTo>
                    <a:pt x="30098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3009899" y="0"/>
                  </a:lnTo>
                  <a:lnTo>
                    <a:pt x="3009899" y="9524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4854574" y="2711211"/>
            <a:ext cx="259270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60" dirty="0">
                <a:solidFill>
                  <a:srgbClr val="D0D5DA"/>
                </a:solidFill>
                <a:latin typeface="Tahoma"/>
                <a:cs typeface="Tahoma"/>
              </a:rPr>
              <a:t>Project</a:t>
            </a:r>
            <a:r>
              <a:rPr sz="1500" spc="-90" dirty="0">
                <a:solidFill>
                  <a:srgbClr val="D0D5DA"/>
                </a:solidFill>
                <a:latin typeface="Tahoma"/>
                <a:cs typeface="Tahoma"/>
              </a:rPr>
              <a:t> </a:t>
            </a:r>
            <a:r>
              <a:rPr sz="1500" spc="-50" dirty="0">
                <a:solidFill>
                  <a:srgbClr val="D0D5DA"/>
                </a:solidFill>
                <a:latin typeface="Tahoma"/>
                <a:cs typeface="Tahoma"/>
              </a:rPr>
              <a:t>initialization</a:t>
            </a:r>
            <a:r>
              <a:rPr sz="1500" spc="-85" dirty="0">
                <a:solidFill>
                  <a:srgbClr val="D0D5DA"/>
                </a:solidFill>
                <a:latin typeface="Tahoma"/>
                <a:cs typeface="Tahoma"/>
              </a:rPr>
              <a:t> </a:t>
            </a:r>
            <a:r>
              <a:rPr sz="1500" spc="-190" dirty="0">
                <a:solidFill>
                  <a:srgbClr val="D0D5DA"/>
                </a:solidFill>
                <a:latin typeface="Tahoma"/>
                <a:cs typeface="Tahoma"/>
              </a:rPr>
              <a:t>&amp;</a:t>
            </a:r>
            <a:r>
              <a:rPr sz="1500" spc="-85" dirty="0">
                <a:solidFill>
                  <a:srgbClr val="D0D5DA"/>
                </a:solidFill>
                <a:latin typeface="Tahoma"/>
                <a:cs typeface="Tahoma"/>
              </a:rPr>
              <a:t> </a:t>
            </a:r>
            <a:r>
              <a:rPr sz="1500" spc="-55" dirty="0">
                <a:solidFill>
                  <a:srgbClr val="D0D5DA"/>
                </a:solidFill>
                <a:latin typeface="Tahoma"/>
                <a:cs typeface="Tahoma"/>
              </a:rPr>
              <a:t>preparation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854574" y="3092211"/>
            <a:ext cx="241617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70" dirty="0">
                <a:solidFill>
                  <a:srgbClr val="D0D5DA"/>
                </a:solidFill>
                <a:latin typeface="Tahoma"/>
                <a:cs typeface="Tahoma"/>
              </a:rPr>
              <a:t>Research</a:t>
            </a:r>
            <a:r>
              <a:rPr sz="1500" spc="-95" dirty="0">
                <a:solidFill>
                  <a:srgbClr val="D0D5DA"/>
                </a:solidFill>
                <a:latin typeface="Tahoma"/>
                <a:cs typeface="Tahoma"/>
              </a:rPr>
              <a:t> </a:t>
            </a:r>
            <a:r>
              <a:rPr sz="1500" spc="-190" dirty="0">
                <a:solidFill>
                  <a:srgbClr val="D0D5DA"/>
                </a:solidFill>
                <a:latin typeface="Tahoma"/>
                <a:cs typeface="Tahoma"/>
              </a:rPr>
              <a:t>&amp;</a:t>
            </a:r>
            <a:r>
              <a:rPr sz="1500" spc="-90" dirty="0">
                <a:solidFill>
                  <a:srgbClr val="D0D5DA"/>
                </a:solidFill>
                <a:latin typeface="Tahoma"/>
                <a:cs typeface="Tahoma"/>
              </a:rPr>
              <a:t> </a:t>
            </a:r>
            <a:r>
              <a:rPr sz="1500" spc="-60" dirty="0">
                <a:solidFill>
                  <a:srgbClr val="D0D5DA"/>
                </a:solidFill>
                <a:latin typeface="Tahoma"/>
                <a:cs typeface="Tahoma"/>
              </a:rPr>
              <a:t>dataset</a:t>
            </a:r>
            <a:r>
              <a:rPr sz="1500" spc="-90" dirty="0">
                <a:solidFill>
                  <a:srgbClr val="D0D5DA"/>
                </a:solidFill>
                <a:latin typeface="Tahoma"/>
                <a:cs typeface="Tahoma"/>
              </a:rPr>
              <a:t> </a:t>
            </a:r>
            <a:r>
              <a:rPr sz="1500" spc="-60" dirty="0">
                <a:solidFill>
                  <a:srgbClr val="D0D5DA"/>
                </a:solidFill>
                <a:latin typeface="Tahoma"/>
                <a:cs typeface="Tahoma"/>
              </a:rPr>
              <a:t>preparation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854574" y="3435397"/>
            <a:ext cx="227838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sz="1500" spc="-90" dirty="0">
                <a:solidFill>
                  <a:srgbClr val="D0D5DA"/>
                </a:solidFill>
                <a:latin typeface="Tahoma"/>
                <a:cs typeface="Tahoma"/>
              </a:rPr>
              <a:t>Trained</a:t>
            </a:r>
            <a:r>
              <a:rPr sz="1500" spc="-95" dirty="0">
                <a:solidFill>
                  <a:srgbClr val="D0D5DA"/>
                </a:solidFill>
                <a:latin typeface="Tahoma"/>
                <a:cs typeface="Tahoma"/>
              </a:rPr>
              <a:t> </a:t>
            </a:r>
            <a:r>
              <a:rPr sz="1500" spc="-105" dirty="0">
                <a:solidFill>
                  <a:srgbClr val="D0D5DA"/>
                </a:solidFill>
                <a:latin typeface="Tahoma"/>
                <a:cs typeface="Tahoma"/>
              </a:rPr>
              <a:t>YOLOv8m</a:t>
            </a:r>
            <a:r>
              <a:rPr sz="1500" spc="-90" dirty="0">
                <a:solidFill>
                  <a:srgbClr val="D0D5DA"/>
                </a:solidFill>
                <a:latin typeface="Tahoma"/>
                <a:cs typeface="Tahoma"/>
              </a:rPr>
              <a:t> </a:t>
            </a:r>
            <a:r>
              <a:rPr sz="1500" spc="-190" dirty="0">
                <a:solidFill>
                  <a:srgbClr val="D0D5DA"/>
                </a:solidFill>
                <a:latin typeface="Tahoma"/>
                <a:cs typeface="Tahoma"/>
              </a:rPr>
              <a:t>&amp;</a:t>
            </a:r>
            <a:r>
              <a:rPr sz="1500" spc="-90" dirty="0">
                <a:solidFill>
                  <a:srgbClr val="D0D5DA"/>
                </a:solidFill>
                <a:latin typeface="Tahoma"/>
                <a:cs typeface="Tahoma"/>
              </a:rPr>
              <a:t> </a:t>
            </a:r>
            <a:r>
              <a:rPr sz="1500" spc="-95" dirty="0">
                <a:solidFill>
                  <a:srgbClr val="D0D5DA"/>
                </a:solidFill>
                <a:latin typeface="Tahoma"/>
                <a:cs typeface="Tahoma"/>
              </a:rPr>
              <a:t>YOLOv8n </a:t>
            </a:r>
            <a:r>
              <a:rPr sz="1500" spc="-10" dirty="0">
                <a:solidFill>
                  <a:srgbClr val="D0D5DA"/>
                </a:solidFill>
                <a:latin typeface="Tahoma"/>
                <a:cs typeface="Tahoma"/>
              </a:rPr>
              <a:t>models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854574" y="4120911"/>
            <a:ext cx="211836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0" dirty="0">
                <a:solidFill>
                  <a:srgbClr val="D0D5DA"/>
                </a:solidFill>
                <a:latin typeface="Tahoma"/>
                <a:cs typeface="Tahoma"/>
              </a:rPr>
              <a:t>Model</a:t>
            </a:r>
            <a:r>
              <a:rPr sz="1500" spc="-70" dirty="0">
                <a:solidFill>
                  <a:srgbClr val="D0D5DA"/>
                </a:solidFill>
                <a:latin typeface="Tahoma"/>
                <a:cs typeface="Tahoma"/>
              </a:rPr>
              <a:t> </a:t>
            </a:r>
            <a:r>
              <a:rPr sz="1500" spc="-60" dirty="0">
                <a:solidFill>
                  <a:srgbClr val="D0D5DA"/>
                </a:solidFill>
                <a:latin typeface="Tahoma"/>
                <a:cs typeface="Tahoma"/>
              </a:rPr>
              <a:t>comparison</a:t>
            </a:r>
            <a:r>
              <a:rPr sz="1500" spc="-70" dirty="0">
                <a:solidFill>
                  <a:srgbClr val="D0D5DA"/>
                </a:solidFill>
                <a:latin typeface="Tahoma"/>
                <a:cs typeface="Tahoma"/>
              </a:rPr>
              <a:t> </a:t>
            </a:r>
            <a:r>
              <a:rPr sz="1500" spc="-20" dirty="0">
                <a:solidFill>
                  <a:srgbClr val="D0D5DA"/>
                </a:solidFill>
                <a:latin typeface="Tahoma"/>
                <a:cs typeface="Tahoma"/>
              </a:rPr>
              <a:t>analysis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587875" y="4806432"/>
            <a:ext cx="2170430" cy="399415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5080">
              <a:lnSpc>
                <a:spcPct val="104200"/>
              </a:lnSpc>
              <a:spcBef>
                <a:spcPts val="40"/>
              </a:spcBef>
            </a:pPr>
            <a:r>
              <a:rPr sz="1200" i="1" spc="-95" dirty="0">
                <a:solidFill>
                  <a:srgbClr val="9CA2AF"/>
                </a:solidFill>
                <a:latin typeface="Arial"/>
                <a:cs typeface="Arial"/>
              </a:rPr>
              <a:t>Focus:</a:t>
            </a:r>
            <a:r>
              <a:rPr sz="1200" i="1" spc="-40" dirty="0">
                <a:solidFill>
                  <a:srgbClr val="9CA2AF"/>
                </a:solidFill>
                <a:latin typeface="Arial"/>
                <a:cs typeface="Arial"/>
              </a:rPr>
              <a:t> </a:t>
            </a:r>
            <a:r>
              <a:rPr sz="1200" i="1" spc="-70" dirty="0">
                <a:solidFill>
                  <a:srgbClr val="9CA2AF"/>
                </a:solidFill>
                <a:latin typeface="Arial"/>
                <a:cs typeface="Arial"/>
              </a:rPr>
              <a:t>Project</a:t>
            </a:r>
            <a:r>
              <a:rPr sz="1200" i="1" spc="-40" dirty="0">
                <a:solidFill>
                  <a:srgbClr val="9CA2AF"/>
                </a:solidFill>
                <a:latin typeface="Arial"/>
                <a:cs typeface="Arial"/>
              </a:rPr>
              <a:t> </a:t>
            </a:r>
            <a:r>
              <a:rPr sz="1200" i="1" spc="-65" dirty="0">
                <a:solidFill>
                  <a:srgbClr val="9CA2AF"/>
                </a:solidFill>
                <a:latin typeface="Arial"/>
                <a:cs typeface="Arial"/>
              </a:rPr>
              <a:t>coordination</a:t>
            </a:r>
            <a:r>
              <a:rPr sz="1200" i="1" spc="-35" dirty="0">
                <a:solidFill>
                  <a:srgbClr val="9CA2AF"/>
                </a:solidFill>
                <a:latin typeface="Arial"/>
                <a:cs typeface="Arial"/>
              </a:rPr>
              <a:t> </a:t>
            </a:r>
            <a:r>
              <a:rPr sz="1200" i="1" spc="-160" dirty="0">
                <a:solidFill>
                  <a:srgbClr val="9CA2AF"/>
                </a:solidFill>
                <a:latin typeface="Arial"/>
                <a:cs typeface="Arial"/>
              </a:rPr>
              <a:t>&amp;</a:t>
            </a:r>
            <a:r>
              <a:rPr sz="1200" i="1" spc="-40" dirty="0">
                <a:solidFill>
                  <a:srgbClr val="9CA2AF"/>
                </a:solidFill>
                <a:latin typeface="Arial"/>
                <a:cs typeface="Arial"/>
              </a:rPr>
              <a:t> </a:t>
            </a:r>
            <a:r>
              <a:rPr sz="1200" i="1" spc="-50" dirty="0">
                <a:solidFill>
                  <a:srgbClr val="9CA2AF"/>
                </a:solidFill>
                <a:latin typeface="Arial"/>
                <a:cs typeface="Arial"/>
              </a:rPr>
              <a:t>model </a:t>
            </a:r>
            <a:r>
              <a:rPr sz="1200" i="1" spc="-10" dirty="0">
                <a:solidFill>
                  <a:srgbClr val="9CA2AF"/>
                </a:solidFill>
                <a:latin typeface="Arial"/>
                <a:cs typeface="Arial"/>
              </a:rPr>
              <a:t>benchmarking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8086724" y="1790699"/>
            <a:ext cx="3505200" cy="3667125"/>
            <a:chOff x="8086724" y="1790699"/>
            <a:chExt cx="3505200" cy="3667125"/>
          </a:xfrm>
        </p:grpSpPr>
        <p:sp>
          <p:nvSpPr>
            <p:cNvPr id="36" name="object 36"/>
            <p:cNvSpPr/>
            <p:nvPr/>
          </p:nvSpPr>
          <p:spPr>
            <a:xfrm>
              <a:off x="8086724" y="1790699"/>
              <a:ext cx="3505200" cy="3667125"/>
            </a:xfrm>
            <a:custGeom>
              <a:avLst/>
              <a:gdLst/>
              <a:ahLst/>
              <a:cxnLst/>
              <a:rect l="l" t="t" r="r" b="b"/>
              <a:pathLst>
                <a:path w="3505200" h="3667125">
                  <a:moveTo>
                    <a:pt x="3390899" y="3667124"/>
                  </a:moveTo>
                  <a:lnTo>
                    <a:pt x="114299" y="3667124"/>
                  </a:lnTo>
                  <a:lnTo>
                    <a:pt x="103040" y="3666580"/>
                  </a:lnTo>
                  <a:lnTo>
                    <a:pt x="60363" y="3653612"/>
                  </a:lnTo>
                  <a:lnTo>
                    <a:pt x="25899" y="3625300"/>
                  </a:lnTo>
                  <a:lnTo>
                    <a:pt x="4892" y="3585954"/>
                  </a:lnTo>
                  <a:lnTo>
                    <a:pt x="0" y="3552824"/>
                  </a:lnTo>
                  <a:lnTo>
                    <a:pt x="0" y="114299"/>
                  </a:lnTo>
                  <a:lnTo>
                    <a:pt x="8698" y="70559"/>
                  </a:lnTo>
                  <a:lnTo>
                    <a:pt x="33476" y="33477"/>
                  </a:lnTo>
                  <a:lnTo>
                    <a:pt x="70557" y="8700"/>
                  </a:lnTo>
                  <a:lnTo>
                    <a:pt x="114299" y="0"/>
                  </a:lnTo>
                  <a:lnTo>
                    <a:pt x="3390899" y="0"/>
                  </a:lnTo>
                  <a:lnTo>
                    <a:pt x="3434638" y="8700"/>
                  </a:lnTo>
                  <a:lnTo>
                    <a:pt x="3471720" y="33477"/>
                  </a:lnTo>
                  <a:lnTo>
                    <a:pt x="3496497" y="70559"/>
                  </a:lnTo>
                  <a:lnTo>
                    <a:pt x="3505199" y="114299"/>
                  </a:lnTo>
                  <a:lnTo>
                    <a:pt x="3505199" y="3552824"/>
                  </a:lnTo>
                  <a:lnTo>
                    <a:pt x="3496497" y="3596565"/>
                  </a:lnTo>
                  <a:lnTo>
                    <a:pt x="3471720" y="3633646"/>
                  </a:lnTo>
                  <a:lnTo>
                    <a:pt x="3434638" y="3658423"/>
                  </a:lnTo>
                  <a:lnTo>
                    <a:pt x="3390899" y="3667124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8086724" y="1790699"/>
              <a:ext cx="3505200" cy="3667125"/>
            </a:xfrm>
            <a:custGeom>
              <a:avLst/>
              <a:gdLst/>
              <a:ahLst/>
              <a:cxnLst/>
              <a:rect l="l" t="t" r="r" b="b"/>
              <a:pathLst>
                <a:path w="3505200" h="3667125">
                  <a:moveTo>
                    <a:pt x="3390899" y="3667124"/>
                  </a:moveTo>
                  <a:lnTo>
                    <a:pt x="114299" y="3667124"/>
                  </a:lnTo>
                  <a:lnTo>
                    <a:pt x="103040" y="3666580"/>
                  </a:lnTo>
                  <a:lnTo>
                    <a:pt x="60363" y="3653612"/>
                  </a:lnTo>
                  <a:lnTo>
                    <a:pt x="25899" y="3625300"/>
                  </a:lnTo>
                  <a:lnTo>
                    <a:pt x="4892" y="3585954"/>
                  </a:lnTo>
                  <a:lnTo>
                    <a:pt x="0" y="3552824"/>
                  </a:lnTo>
                  <a:lnTo>
                    <a:pt x="0" y="114299"/>
                  </a:lnTo>
                  <a:lnTo>
                    <a:pt x="8698" y="70559"/>
                  </a:lnTo>
                  <a:lnTo>
                    <a:pt x="33476" y="33477"/>
                  </a:lnTo>
                  <a:lnTo>
                    <a:pt x="70557" y="8700"/>
                  </a:lnTo>
                  <a:lnTo>
                    <a:pt x="114299" y="0"/>
                  </a:lnTo>
                  <a:lnTo>
                    <a:pt x="3390899" y="0"/>
                  </a:lnTo>
                  <a:lnTo>
                    <a:pt x="3434638" y="8700"/>
                  </a:lnTo>
                  <a:lnTo>
                    <a:pt x="3454086" y="19049"/>
                  </a:lnTo>
                  <a:lnTo>
                    <a:pt x="108045" y="19049"/>
                  </a:lnTo>
                  <a:lnTo>
                    <a:pt x="101851" y="19660"/>
                  </a:lnTo>
                  <a:lnTo>
                    <a:pt x="56181" y="38577"/>
                  </a:lnTo>
                  <a:lnTo>
                    <a:pt x="28693" y="72071"/>
                  </a:lnTo>
                  <a:lnTo>
                    <a:pt x="19049" y="108045"/>
                  </a:lnTo>
                  <a:lnTo>
                    <a:pt x="19049" y="3559078"/>
                  </a:lnTo>
                  <a:lnTo>
                    <a:pt x="31627" y="3600542"/>
                  </a:lnTo>
                  <a:lnTo>
                    <a:pt x="66581" y="3635496"/>
                  </a:lnTo>
                  <a:lnTo>
                    <a:pt x="108045" y="3648074"/>
                  </a:lnTo>
                  <a:lnTo>
                    <a:pt x="3454085" y="3648074"/>
                  </a:lnTo>
                  <a:lnTo>
                    <a:pt x="3444833" y="3653612"/>
                  </a:lnTo>
                  <a:lnTo>
                    <a:pt x="3434639" y="3658424"/>
                  </a:lnTo>
                  <a:lnTo>
                    <a:pt x="3424028" y="3662230"/>
                  </a:lnTo>
                  <a:lnTo>
                    <a:pt x="3413201" y="3664949"/>
                  </a:lnTo>
                  <a:lnTo>
                    <a:pt x="3402158" y="3666580"/>
                  </a:lnTo>
                  <a:lnTo>
                    <a:pt x="3390899" y="3667124"/>
                  </a:lnTo>
                  <a:close/>
                </a:path>
                <a:path w="3505200" h="3667125">
                  <a:moveTo>
                    <a:pt x="3454085" y="3648074"/>
                  </a:moveTo>
                  <a:lnTo>
                    <a:pt x="3397153" y="3648074"/>
                  </a:lnTo>
                  <a:lnTo>
                    <a:pt x="3403348" y="3647464"/>
                  </a:lnTo>
                  <a:lnTo>
                    <a:pt x="3415615" y="3645024"/>
                  </a:lnTo>
                  <a:lnTo>
                    <a:pt x="3453828" y="3624598"/>
                  </a:lnTo>
                  <a:lnTo>
                    <a:pt x="3481292" y="3583496"/>
                  </a:lnTo>
                  <a:lnTo>
                    <a:pt x="3486149" y="3559078"/>
                  </a:lnTo>
                  <a:lnTo>
                    <a:pt x="3486149" y="108045"/>
                  </a:lnTo>
                  <a:lnTo>
                    <a:pt x="3485656" y="103040"/>
                  </a:lnTo>
                  <a:lnTo>
                    <a:pt x="3485539" y="101851"/>
                  </a:lnTo>
                  <a:lnTo>
                    <a:pt x="3466622" y="56181"/>
                  </a:lnTo>
                  <a:lnTo>
                    <a:pt x="3433127" y="28693"/>
                  </a:lnTo>
                  <a:lnTo>
                    <a:pt x="3397153" y="19049"/>
                  </a:lnTo>
                  <a:lnTo>
                    <a:pt x="3454086" y="19049"/>
                  </a:lnTo>
                  <a:lnTo>
                    <a:pt x="3485953" y="50786"/>
                  </a:lnTo>
                  <a:lnTo>
                    <a:pt x="3503023" y="91996"/>
                  </a:lnTo>
                  <a:lnTo>
                    <a:pt x="3505199" y="3552824"/>
                  </a:lnTo>
                  <a:lnTo>
                    <a:pt x="3504655" y="3564084"/>
                  </a:lnTo>
                  <a:lnTo>
                    <a:pt x="3491686" y="3606759"/>
                  </a:lnTo>
                  <a:lnTo>
                    <a:pt x="3463374" y="3641223"/>
                  </a:lnTo>
                  <a:lnTo>
                    <a:pt x="3454412" y="3647879"/>
                  </a:lnTo>
                  <a:lnTo>
                    <a:pt x="3454085" y="3648074"/>
                  </a:lnTo>
                  <a:close/>
                </a:path>
              </a:pathLst>
            </a:custGeom>
            <a:solidFill>
              <a:srgbClr val="BF83FB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394699" y="2327274"/>
              <a:ext cx="260350" cy="260350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8816975" y="1999932"/>
            <a:ext cx="2464435" cy="856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69975">
              <a:lnSpc>
                <a:spcPct val="100000"/>
              </a:lnSpc>
              <a:spcBef>
                <a:spcPts val="100"/>
              </a:spcBef>
            </a:pPr>
            <a:r>
              <a:rPr sz="2000" b="1" spc="-190" dirty="0">
                <a:solidFill>
                  <a:srgbClr val="FFFFFF"/>
                </a:solidFill>
                <a:latin typeface="Arial"/>
                <a:cs typeface="Arial"/>
              </a:rPr>
              <a:t>Abdelrahman </a:t>
            </a:r>
            <a:r>
              <a:rPr sz="2000" b="1" spc="-85" dirty="0">
                <a:solidFill>
                  <a:srgbClr val="FFFFFF"/>
                </a:solidFill>
                <a:latin typeface="Arial"/>
                <a:cs typeface="Arial"/>
              </a:rPr>
              <a:t>MOHAMED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1300" spc="-95" dirty="0">
                <a:solidFill>
                  <a:srgbClr val="BF83FB"/>
                </a:solidFill>
                <a:latin typeface="Roboto Lt"/>
                <a:cs typeface="Roboto Lt"/>
              </a:rPr>
              <a:t>YOLOv5</a:t>
            </a:r>
            <a:r>
              <a:rPr sz="1300" spc="-5" dirty="0">
                <a:solidFill>
                  <a:srgbClr val="BF83FB"/>
                </a:solidFill>
                <a:latin typeface="Roboto Lt"/>
                <a:cs typeface="Roboto Lt"/>
              </a:rPr>
              <a:t> </a:t>
            </a:r>
            <a:r>
              <a:rPr sz="1300" spc="-55" dirty="0">
                <a:solidFill>
                  <a:srgbClr val="BF83FB"/>
                </a:solidFill>
                <a:latin typeface="Roboto Lt"/>
                <a:cs typeface="Roboto Lt"/>
              </a:rPr>
              <a:t>Specialist</a:t>
            </a:r>
            <a:r>
              <a:rPr sz="1300" dirty="0">
                <a:solidFill>
                  <a:srgbClr val="BF83FB"/>
                </a:solidFill>
                <a:latin typeface="Roboto Lt"/>
                <a:cs typeface="Roboto Lt"/>
              </a:rPr>
              <a:t> </a:t>
            </a:r>
            <a:r>
              <a:rPr sz="1300" spc="-60" dirty="0">
                <a:solidFill>
                  <a:srgbClr val="BF83FB"/>
                </a:solidFill>
                <a:latin typeface="Roboto Lt"/>
                <a:cs typeface="Roboto Lt"/>
              </a:rPr>
              <a:t>&amp;</a:t>
            </a:r>
            <a:r>
              <a:rPr sz="1300" dirty="0">
                <a:solidFill>
                  <a:srgbClr val="BF83FB"/>
                </a:solidFill>
                <a:latin typeface="Roboto Lt"/>
                <a:cs typeface="Roboto Lt"/>
              </a:rPr>
              <a:t> </a:t>
            </a:r>
            <a:r>
              <a:rPr sz="1300" spc="-70" dirty="0">
                <a:solidFill>
                  <a:srgbClr val="BF83FB"/>
                </a:solidFill>
                <a:latin typeface="Roboto Lt"/>
                <a:cs typeface="Roboto Lt"/>
              </a:rPr>
              <a:t>Web</a:t>
            </a:r>
            <a:r>
              <a:rPr sz="1300" spc="-5" dirty="0">
                <a:solidFill>
                  <a:srgbClr val="BF83FB"/>
                </a:solidFill>
                <a:latin typeface="Roboto Lt"/>
                <a:cs typeface="Roboto Lt"/>
              </a:rPr>
              <a:t> </a:t>
            </a:r>
            <a:r>
              <a:rPr sz="1300" spc="-40" dirty="0">
                <a:solidFill>
                  <a:srgbClr val="BF83FB"/>
                </a:solidFill>
                <a:latin typeface="Roboto Lt"/>
                <a:cs typeface="Roboto Lt"/>
              </a:rPr>
              <a:t>Developer</a:t>
            </a:r>
            <a:endParaRPr sz="1300">
              <a:latin typeface="Roboto Lt"/>
              <a:cs typeface="Roboto Lt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8334374" y="3082924"/>
            <a:ext cx="3009900" cy="1784350"/>
            <a:chOff x="8334374" y="3082924"/>
            <a:chExt cx="3009900" cy="1784350"/>
          </a:xfrm>
        </p:grpSpPr>
        <p:pic>
          <p:nvPicPr>
            <p:cNvPr id="41" name="object 4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350249" y="3082924"/>
              <a:ext cx="158750" cy="158750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350249" y="3463924"/>
              <a:ext cx="158750" cy="158750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350249" y="3844924"/>
              <a:ext cx="158750" cy="158750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350249" y="4225924"/>
              <a:ext cx="158750" cy="158750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8334374" y="4857749"/>
              <a:ext cx="3009900" cy="9525"/>
            </a:xfrm>
            <a:custGeom>
              <a:avLst/>
              <a:gdLst/>
              <a:ahLst/>
              <a:cxnLst/>
              <a:rect l="l" t="t" r="r" b="b"/>
              <a:pathLst>
                <a:path w="3009900" h="9525">
                  <a:moveTo>
                    <a:pt x="30098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3009899" y="0"/>
                  </a:lnTo>
                  <a:lnTo>
                    <a:pt x="3009899" y="9524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8588375" y="3016011"/>
            <a:ext cx="175895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90" dirty="0">
                <a:solidFill>
                  <a:srgbClr val="D0D5DA"/>
                </a:solidFill>
                <a:latin typeface="Tahoma"/>
                <a:cs typeface="Tahoma"/>
              </a:rPr>
              <a:t>Trained</a:t>
            </a:r>
            <a:r>
              <a:rPr sz="1500" spc="-85" dirty="0">
                <a:solidFill>
                  <a:srgbClr val="D0D5DA"/>
                </a:solidFill>
                <a:latin typeface="Tahoma"/>
                <a:cs typeface="Tahoma"/>
              </a:rPr>
              <a:t> </a:t>
            </a:r>
            <a:r>
              <a:rPr sz="1500" spc="-105" dirty="0">
                <a:solidFill>
                  <a:srgbClr val="D0D5DA"/>
                </a:solidFill>
                <a:latin typeface="Tahoma"/>
                <a:cs typeface="Tahoma"/>
              </a:rPr>
              <a:t>YOLOv5</a:t>
            </a:r>
            <a:r>
              <a:rPr sz="1500" spc="-80" dirty="0">
                <a:solidFill>
                  <a:srgbClr val="D0D5DA"/>
                </a:solidFill>
                <a:latin typeface="Tahoma"/>
                <a:cs typeface="Tahoma"/>
              </a:rPr>
              <a:t> </a:t>
            </a:r>
            <a:r>
              <a:rPr sz="1500" spc="-40" dirty="0">
                <a:solidFill>
                  <a:srgbClr val="D0D5DA"/>
                </a:solidFill>
                <a:latin typeface="Tahoma"/>
                <a:cs typeface="Tahoma"/>
              </a:rPr>
              <a:t>model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8588375" y="3397012"/>
            <a:ext cx="198310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70" dirty="0">
                <a:solidFill>
                  <a:srgbClr val="D0D5DA"/>
                </a:solidFill>
                <a:latin typeface="Tahoma"/>
                <a:cs typeface="Tahoma"/>
              </a:rPr>
              <a:t>Analyzed</a:t>
            </a:r>
            <a:r>
              <a:rPr sz="1500" spc="-75" dirty="0">
                <a:solidFill>
                  <a:srgbClr val="D0D5DA"/>
                </a:solidFill>
                <a:latin typeface="Tahoma"/>
                <a:cs typeface="Tahoma"/>
              </a:rPr>
              <a:t> </a:t>
            </a:r>
            <a:r>
              <a:rPr sz="1500" spc="-105" dirty="0">
                <a:solidFill>
                  <a:srgbClr val="D0D5DA"/>
                </a:solidFill>
                <a:latin typeface="Tahoma"/>
                <a:cs typeface="Tahoma"/>
              </a:rPr>
              <a:t>YOLOv5</a:t>
            </a:r>
            <a:r>
              <a:rPr sz="1500" spc="-75" dirty="0">
                <a:solidFill>
                  <a:srgbClr val="D0D5DA"/>
                </a:solidFill>
                <a:latin typeface="Tahoma"/>
                <a:cs typeface="Tahoma"/>
              </a:rPr>
              <a:t> </a:t>
            </a:r>
            <a:r>
              <a:rPr sz="1500" spc="-25" dirty="0">
                <a:solidFill>
                  <a:srgbClr val="D0D5DA"/>
                </a:solidFill>
                <a:latin typeface="Tahoma"/>
                <a:cs typeface="Tahoma"/>
              </a:rPr>
              <a:t>metrics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8588375" y="3778011"/>
            <a:ext cx="190182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85" dirty="0">
                <a:solidFill>
                  <a:srgbClr val="D0D5DA"/>
                </a:solidFill>
                <a:latin typeface="Tahoma"/>
                <a:cs typeface="Tahoma"/>
              </a:rPr>
              <a:t>Developed</a:t>
            </a:r>
            <a:r>
              <a:rPr sz="1500" spc="-105" dirty="0">
                <a:solidFill>
                  <a:srgbClr val="D0D5DA"/>
                </a:solidFill>
                <a:latin typeface="Tahoma"/>
                <a:cs typeface="Tahoma"/>
              </a:rPr>
              <a:t> </a:t>
            </a:r>
            <a:r>
              <a:rPr sz="1500" spc="-95" dirty="0">
                <a:solidFill>
                  <a:srgbClr val="D0D5DA"/>
                </a:solidFill>
                <a:latin typeface="Tahoma"/>
                <a:cs typeface="Tahoma"/>
              </a:rPr>
              <a:t>web</a:t>
            </a:r>
            <a:r>
              <a:rPr sz="1500" spc="-100" dirty="0">
                <a:solidFill>
                  <a:srgbClr val="D0D5DA"/>
                </a:solidFill>
                <a:latin typeface="Tahoma"/>
                <a:cs typeface="Tahoma"/>
              </a:rPr>
              <a:t> </a:t>
            </a:r>
            <a:r>
              <a:rPr sz="1500" spc="-35" dirty="0">
                <a:solidFill>
                  <a:srgbClr val="D0D5DA"/>
                </a:solidFill>
                <a:latin typeface="Tahoma"/>
                <a:cs typeface="Tahoma"/>
              </a:rPr>
              <a:t>interface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8588375" y="4121197"/>
            <a:ext cx="192214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sz="1500" spc="-85" dirty="0">
                <a:solidFill>
                  <a:srgbClr val="D0D5DA"/>
                </a:solidFill>
                <a:latin typeface="Tahoma"/>
                <a:cs typeface="Tahoma"/>
              </a:rPr>
              <a:t>OpenCV</a:t>
            </a:r>
            <a:r>
              <a:rPr sz="1500" spc="-45" dirty="0">
                <a:solidFill>
                  <a:srgbClr val="D0D5DA"/>
                </a:solidFill>
                <a:latin typeface="Tahoma"/>
                <a:cs typeface="Tahoma"/>
              </a:rPr>
              <a:t> </a:t>
            </a:r>
            <a:r>
              <a:rPr sz="1500" spc="-65" dirty="0">
                <a:solidFill>
                  <a:srgbClr val="D0D5DA"/>
                </a:solidFill>
                <a:latin typeface="Tahoma"/>
                <a:cs typeface="Tahoma"/>
              </a:rPr>
              <a:t>preprocessing</a:t>
            </a:r>
            <a:r>
              <a:rPr sz="1500" spc="-40" dirty="0">
                <a:solidFill>
                  <a:srgbClr val="D0D5DA"/>
                </a:solidFill>
                <a:latin typeface="Tahoma"/>
                <a:cs typeface="Tahoma"/>
              </a:rPr>
              <a:t> </a:t>
            </a:r>
            <a:r>
              <a:rPr sz="1500" spc="-100" dirty="0">
                <a:solidFill>
                  <a:srgbClr val="D0D5DA"/>
                </a:solidFill>
                <a:latin typeface="Tahoma"/>
                <a:cs typeface="Tahoma"/>
              </a:rPr>
              <a:t>&amp; </a:t>
            </a:r>
            <a:r>
              <a:rPr sz="1500" spc="-10" dirty="0">
                <a:solidFill>
                  <a:srgbClr val="D0D5DA"/>
                </a:solidFill>
                <a:latin typeface="Tahoma"/>
                <a:cs typeface="Tahoma"/>
              </a:rPr>
              <a:t>visualization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8321675" y="4996932"/>
            <a:ext cx="2693035" cy="2089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i="1" spc="-95" dirty="0">
                <a:solidFill>
                  <a:srgbClr val="9CA2AF"/>
                </a:solidFill>
                <a:latin typeface="Arial"/>
                <a:cs typeface="Arial"/>
              </a:rPr>
              <a:t>Focus:</a:t>
            </a:r>
            <a:r>
              <a:rPr sz="1200" i="1" spc="-40" dirty="0">
                <a:solidFill>
                  <a:srgbClr val="9CA2AF"/>
                </a:solidFill>
                <a:latin typeface="Arial"/>
                <a:cs typeface="Arial"/>
              </a:rPr>
              <a:t> </a:t>
            </a:r>
            <a:r>
              <a:rPr sz="1200" i="1" spc="-150" dirty="0">
                <a:solidFill>
                  <a:srgbClr val="9CA2AF"/>
                </a:solidFill>
                <a:latin typeface="Arial"/>
                <a:cs typeface="Arial"/>
              </a:rPr>
              <a:t>Web</a:t>
            </a:r>
            <a:r>
              <a:rPr sz="1200" i="1" spc="-40" dirty="0">
                <a:solidFill>
                  <a:srgbClr val="9CA2AF"/>
                </a:solidFill>
                <a:latin typeface="Arial"/>
                <a:cs typeface="Arial"/>
              </a:rPr>
              <a:t> </a:t>
            </a:r>
            <a:r>
              <a:rPr sz="1200" i="1" spc="-85" dirty="0">
                <a:solidFill>
                  <a:srgbClr val="9CA2AF"/>
                </a:solidFill>
                <a:latin typeface="Arial"/>
                <a:cs typeface="Arial"/>
              </a:rPr>
              <a:t>deployment</a:t>
            </a:r>
            <a:r>
              <a:rPr sz="1200" i="1" spc="-35" dirty="0">
                <a:solidFill>
                  <a:srgbClr val="9CA2AF"/>
                </a:solidFill>
                <a:latin typeface="Arial"/>
                <a:cs typeface="Arial"/>
              </a:rPr>
              <a:t> </a:t>
            </a:r>
            <a:r>
              <a:rPr sz="1200" i="1" spc="-160" dirty="0">
                <a:solidFill>
                  <a:srgbClr val="9CA2AF"/>
                </a:solidFill>
                <a:latin typeface="Arial"/>
                <a:cs typeface="Arial"/>
              </a:rPr>
              <a:t>&amp;</a:t>
            </a:r>
            <a:r>
              <a:rPr sz="1200" i="1" spc="-40" dirty="0">
                <a:solidFill>
                  <a:srgbClr val="9CA2AF"/>
                </a:solidFill>
                <a:latin typeface="Arial"/>
                <a:cs typeface="Arial"/>
              </a:rPr>
              <a:t> </a:t>
            </a:r>
            <a:r>
              <a:rPr sz="1200" i="1" spc="-75" dirty="0">
                <a:solidFill>
                  <a:srgbClr val="9CA2AF"/>
                </a:solidFill>
                <a:latin typeface="Arial"/>
                <a:cs typeface="Arial"/>
              </a:rPr>
              <a:t>system</a:t>
            </a:r>
            <a:r>
              <a:rPr sz="1200" i="1" spc="-35" dirty="0">
                <a:solidFill>
                  <a:srgbClr val="9CA2AF"/>
                </a:solidFill>
                <a:latin typeface="Arial"/>
                <a:cs typeface="Arial"/>
              </a:rPr>
              <a:t> </a:t>
            </a:r>
            <a:r>
              <a:rPr sz="1200" i="1" spc="-40" dirty="0">
                <a:solidFill>
                  <a:srgbClr val="9CA2AF"/>
                </a:solidFill>
                <a:latin typeface="Arial"/>
                <a:cs typeface="Arial"/>
              </a:rPr>
              <a:t>integration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145244D7-92E7-0510-AD6B-BFC321ACBCB3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34950" y="365454"/>
            <a:ext cx="285742" cy="1574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02" y="0"/>
            <a:ext cx="12195498" cy="6856095"/>
          </a:xfrm>
          <a:custGeom>
            <a:avLst/>
            <a:gdLst/>
            <a:ahLst/>
            <a:cxnLst/>
            <a:rect l="l" t="t" r="r" b="b"/>
            <a:pathLst>
              <a:path w="11779250" h="6856095">
                <a:moveTo>
                  <a:pt x="11779154" y="6855835"/>
                </a:moveTo>
                <a:lnTo>
                  <a:pt x="0" y="6855835"/>
                </a:lnTo>
                <a:lnTo>
                  <a:pt x="0" y="0"/>
                </a:lnTo>
                <a:lnTo>
                  <a:pt x="11779154" y="0"/>
                </a:lnTo>
                <a:lnTo>
                  <a:pt x="11779154" y="6855835"/>
                </a:lnTo>
                <a:close/>
              </a:path>
            </a:pathLst>
          </a:custGeom>
          <a:solidFill>
            <a:srgbClr val="0932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202" y="763804"/>
            <a:ext cx="11779250" cy="18415"/>
          </a:xfrm>
          <a:custGeom>
            <a:avLst/>
            <a:gdLst/>
            <a:ahLst/>
            <a:cxnLst/>
            <a:rect l="l" t="t" r="r" b="b"/>
            <a:pathLst>
              <a:path w="11779250" h="18415">
                <a:moveTo>
                  <a:pt x="11779154" y="18404"/>
                </a:moveTo>
                <a:lnTo>
                  <a:pt x="0" y="18404"/>
                </a:lnTo>
                <a:lnTo>
                  <a:pt x="0" y="0"/>
                </a:lnTo>
                <a:lnTo>
                  <a:pt x="11779154" y="0"/>
                </a:lnTo>
                <a:lnTo>
                  <a:pt x="11779154" y="18404"/>
                </a:lnTo>
                <a:close/>
              </a:path>
            </a:pathLst>
          </a:custGeom>
          <a:solidFill>
            <a:srgbClr val="FFD600">
              <a:alpha val="3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95"/>
              </a:spcBef>
            </a:pPr>
            <a:r>
              <a:rPr sz="3200" spc="-70" dirty="0">
                <a:latin typeface="Tahoma"/>
                <a:cs typeface="Tahoma"/>
              </a:rPr>
              <a:t>Abstract</a:t>
            </a:r>
            <a:endParaRPr sz="32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5785" y="3282598"/>
            <a:ext cx="200024" cy="2254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3085" y="4018795"/>
            <a:ext cx="225424" cy="2254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0385" y="4767692"/>
            <a:ext cx="250824" cy="200024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3900"/>
              </a:lnSpc>
              <a:spcBef>
                <a:spcPts val="95"/>
              </a:spcBef>
            </a:pPr>
            <a:r>
              <a:rPr spc="-75" dirty="0"/>
              <a:t>This </a:t>
            </a:r>
            <a:r>
              <a:rPr spc="-60" dirty="0"/>
              <a:t>project</a:t>
            </a:r>
            <a:r>
              <a:rPr spc="-70" dirty="0"/>
              <a:t> </a:t>
            </a:r>
            <a:r>
              <a:rPr spc="-85" dirty="0"/>
              <a:t>presents</a:t>
            </a:r>
            <a:r>
              <a:rPr spc="-70" dirty="0"/>
              <a:t> </a:t>
            </a:r>
            <a:r>
              <a:rPr spc="-125" dirty="0"/>
              <a:t>a</a:t>
            </a:r>
            <a:r>
              <a:rPr spc="-70" dirty="0"/>
              <a:t> </a:t>
            </a:r>
            <a:r>
              <a:rPr spc="-95" dirty="0"/>
              <a:t>comprehensive</a:t>
            </a:r>
            <a:r>
              <a:rPr spc="-70" dirty="0"/>
              <a:t> </a:t>
            </a:r>
            <a:r>
              <a:rPr b="1" spc="-90" dirty="0">
                <a:solidFill>
                  <a:srgbClr val="FFD600"/>
                </a:solidFill>
                <a:latin typeface="Arial"/>
                <a:cs typeface="Arial"/>
              </a:rPr>
              <a:t>real-</a:t>
            </a:r>
            <a:r>
              <a:rPr b="1" spc="-110" dirty="0">
                <a:solidFill>
                  <a:srgbClr val="FFD600"/>
                </a:solidFill>
                <a:latin typeface="Arial"/>
                <a:cs typeface="Arial"/>
              </a:rPr>
              <a:t>time</a:t>
            </a:r>
            <a:r>
              <a:rPr b="1" spc="-70" dirty="0">
                <a:solidFill>
                  <a:srgbClr val="FFD600"/>
                </a:solidFill>
                <a:latin typeface="Arial"/>
                <a:cs typeface="Arial"/>
              </a:rPr>
              <a:t> </a:t>
            </a:r>
            <a:r>
              <a:rPr b="1" spc="-10" dirty="0">
                <a:solidFill>
                  <a:srgbClr val="FFD600"/>
                </a:solidFill>
                <a:latin typeface="Arial"/>
                <a:cs typeface="Arial"/>
              </a:rPr>
              <a:t>object </a:t>
            </a:r>
            <a:r>
              <a:rPr b="1" spc="-130" dirty="0">
                <a:solidFill>
                  <a:srgbClr val="FFD600"/>
                </a:solidFill>
                <a:latin typeface="Arial"/>
                <a:cs typeface="Arial"/>
              </a:rPr>
              <a:t>detection</a:t>
            </a:r>
            <a:r>
              <a:rPr b="1" spc="-70" dirty="0">
                <a:solidFill>
                  <a:srgbClr val="FFD600"/>
                </a:solidFill>
                <a:latin typeface="Arial"/>
                <a:cs typeface="Arial"/>
              </a:rPr>
              <a:t> </a:t>
            </a:r>
            <a:r>
              <a:rPr b="1" spc="-150" dirty="0">
                <a:solidFill>
                  <a:srgbClr val="FFD600"/>
                </a:solidFill>
                <a:latin typeface="Arial"/>
                <a:cs typeface="Arial"/>
              </a:rPr>
              <a:t>system</a:t>
            </a:r>
            <a:r>
              <a:rPr b="1" spc="-70" dirty="0">
                <a:solidFill>
                  <a:srgbClr val="FFD600"/>
                </a:solidFill>
                <a:latin typeface="Arial"/>
                <a:cs typeface="Arial"/>
              </a:rPr>
              <a:t> </a:t>
            </a:r>
            <a:r>
              <a:rPr spc="-110" dirty="0"/>
              <a:t>based</a:t>
            </a:r>
            <a:r>
              <a:rPr spc="-70" dirty="0"/>
              <a:t> </a:t>
            </a:r>
            <a:r>
              <a:rPr spc="-100" dirty="0"/>
              <a:t>on</a:t>
            </a:r>
            <a:r>
              <a:rPr spc="-65" dirty="0"/>
              <a:t> </a:t>
            </a:r>
            <a:r>
              <a:rPr spc="-260" dirty="0"/>
              <a:t>YOLO</a:t>
            </a:r>
            <a:r>
              <a:rPr spc="-70" dirty="0"/>
              <a:t> </a:t>
            </a:r>
            <a:r>
              <a:rPr spc="-80" dirty="0"/>
              <a:t>architectures,</a:t>
            </a:r>
            <a:r>
              <a:rPr spc="-70" dirty="0"/>
              <a:t> </a:t>
            </a:r>
            <a:r>
              <a:rPr spc="-35" dirty="0"/>
              <a:t>with</a:t>
            </a:r>
            <a:r>
              <a:rPr spc="-65" dirty="0"/>
              <a:t> </a:t>
            </a:r>
            <a:r>
              <a:rPr spc="-10" dirty="0"/>
              <a:t>focus </a:t>
            </a:r>
            <a:r>
              <a:rPr spc="-100" dirty="0"/>
              <a:t>on</a:t>
            </a:r>
            <a:r>
              <a:rPr spc="-65" dirty="0"/>
              <a:t> </a:t>
            </a:r>
            <a:r>
              <a:rPr spc="-80" dirty="0"/>
              <a:t>performance</a:t>
            </a:r>
            <a:r>
              <a:rPr spc="-65" dirty="0"/>
              <a:t> </a:t>
            </a:r>
            <a:r>
              <a:rPr spc="-90" dirty="0"/>
              <a:t>benchmarking</a:t>
            </a:r>
            <a:r>
              <a:rPr spc="-60" dirty="0"/>
              <a:t> </a:t>
            </a:r>
            <a:r>
              <a:rPr spc="-70" dirty="0"/>
              <a:t>across</a:t>
            </a:r>
            <a:r>
              <a:rPr spc="-65" dirty="0"/>
              <a:t> </a:t>
            </a:r>
            <a:r>
              <a:rPr spc="-50" dirty="0"/>
              <a:t>multiple</a:t>
            </a:r>
            <a:r>
              <a:rPr spc="-65" dirty="0"/>
              <a:t> </a:t>
            </a:r>
            <a:r>
              <a:rPr spc="-10" dirty="0"/>
              <a:t>model generations.</a:t>
            </a:r>
          </a:p>
          <a:p>
            <a:pPr>
              <a:lnSpc>
                <a:spcPct val="100000"/>
              </a:lnSpc>
            </a:pPr>
            <a:endParaRPr sz="1700" dirty="0"/>
          </a:p>
          <a:p>
            <a:pPr>
              <a:lnSpc>
                <a:spcPct val="100000"/>
              </a:lnSpc>
              <a:spcBef>
                <a:spcPts val="555"/>
              </a:spcBef>
            </a:pPr>
            <a:endParaRPr sz="1700" dirty="0"/>
          </a:p>
          <a:p>
            <a:pPr marL="454025">
              <a:lnSpc>
                <a:spcPct val="100000"/>
              </a:lnSpc>
            </a:pPr>
            <a:r>
              <a:rPr sz="1600" b="1" spc="-125" dirty="0">
                <a:latin typeface="Arial"/>
                <a:cs typeface="Arial"/>
              </a:rPr>
              <a:t>Three</a:t>
            </a:r>
            <a:r>
              <a:rPr sz="1600" b="1" spc="-70" dirty="0">
                <a:latin typeface="Arial"/>
                <a:cs typeface="Arial"/>
              </a:rPr>
              <a:t> </a:t>
            </a:r>
            <a:r>
              <a:rPr sz="1600" b="1" spc="-120" dirty="0">
                <a:latin typeface="Arial"/>
                <a:cs typeface="Arial"/>
              </a:rPr>
              <a:t>Model</a:t>
            </a:r>
            <a:r>
              <a:rPr sz="1600" b="1" spc="-70" dirty="0">
                <a:latin typeface="Arial"/>
                <a:cs typeface="Arial"/>
              </a:rPr>
              <a:t> </a:t>
            </a:r>
            <a:r>
              <a:rPr sz="1600" b="1" spc="-50" dirty="0">
                <a:latin typeface="Arial"/>
                <a:cs typeface="Arial"/>
              </a:rPr>
              <a:t>Architectures</a:t>
            </a:r>
            <a:endParaRPr sz="1600" dirty="0">
              <a:latin typeface="Arial"/>
              <a:cs typeface="Arial"/>
            </a:endParaRPr>
          </a:p>
          <a:p>
            <a:pPr marL="454025">
              <a:lnSpc>
                <a:spcPct val="100000"/>
              </a:lnSpc>
              <a:spcBef>
                <a:spcPts val="480"/>
              </a:spcBef>
            </a:pPr>
            <a:r>
              <a:rPr sz="1450" spc="-85" dirty="0">
                <a:solidFill>
                  <a:srgbClr val="D0D5DA"/>
                </a:solidFill>
              </a:rPr>
              <a:t>Benchmarking</a:t>
            </a:r>
            <a:r>
              <a:rPr sz="1450" spc="-55" dirty="0">
                <a:solidFill>
                  <a:srgbClr val="D0D5DA"/>
                </a:solidFill>
              </a:rPr>
              <a:t> </a:t>
            </a:r>
            <a:r>
              <a:rPr sz="1450" spc="-170" dirty="0">
                <a:solidFill>
                  <a:srgbClr val="D0D5DA"/>
                </a:solidFill>
              </a:rPr>
              <a:t>YOLOv5,</a:t>
            </a:r>
            <a:r>
              <a:rPr sz="1450" spc="-50" dirty="0">
                <a:solidFill>
                  <a:srgbClr val="D0D5DA"/>
                </a:solidFill>
              </a:rPr>
              <a:t> </a:t>
            </a:r>
            <a:r>
              <a:rPr sz="1450" spc="-170" dirty="0">
                <a:solidFill>
                  <a:srgbClr val="D0D5DA"/>
                </a:solidFill>
              </a:rPr>
              <a:t>YOLOv8,</a:t>
            </a:r>
            <a:r>
              <a:rPr sz="1450" spc="-50" dirty="0">
                <a:solidFill>
                  <a:srgbClr val="D0D5DA"/>
                </a:solidFill>
              </a:rPr>
              <a:t> </a:t>
            </a:r>
            <a:r>
              <a:rPr sz="1450" spc="-95" dirty="0">
                <a:solidFill>
                  <a:srgbClr val="D0D5DA"/>
                </a:solidFill>
              </a:rPr>
              <a:t>and</a:t>
            </a:r>
            <a:r>
              <a:rPr sz="1450" spc="-50" dirty="0">
                <a:solidFill>
                  <a:srgbClr val="D0D5DA"/>
                </a:solidFill>
              </a:rPr>
              <a:t> </a:t>
            </a:r>
            <a:r>
              <a:rPr sz="1450" spc="-160" dirty="0">
                <a:solidFill>
                  <a:srgbClr val="D0D5DA"/>
                </a:solidFill>
              </a:rPr>
              <a:t>YOLOv11</a:t>
            </a:r>
            <a:r>
              <a:rPr sz="1450" spc="-50" dirty="0">
                <a:solidFill>
                  <a:srgbClr val="D0D5DA"/>
                </a:solidFill>
              </a:rPr>
              <a:t> </a:t>
            </a:r>
            <a:r>
              <a:rPr sz="1450" spc="-10" dirty="0">
                <a:solidFill>
                  <a:srgbClr val="D0D5DA"/>
                </a:solidFill>
              </a:rPr>
              <a:t>variants</a:t>
            </a:r>
            <a:endParaRPr sz="1450" dirty="0"/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1300" dirty="0"/>
          </a:p>
          <a:p>
            <a:pPr marL="454025">
              <a:lnSpc>
                <a:spcPct val="100000"/>
              </a:lnSpc>
            </a:pPr>
            <a:r>
              <a:rPr sz="1600" b="1" spc="-160" dirty="0">
                <a:latin typeface="Arial"/>
                <a:cs typeface="Arial"/>
              </a:rPr>
              <a:t>Custom</a:t>
            </a:r>
            <a:r>
              <a:rPr sz="1600" b="1" spc="-35" dirty="0">
                <a:latin typeface="Arial"/>
                <a:cs typeface="Arial"/>
              </a:rPr>
              <a:t> </a:t>
            </a:r>
            <a:r>
              <a:rPr sz="1600" b="1" spc="-110" dirty="0">
                <a:latin typeface="Arial"/>
                <a:cs typeface="Arial"/>
              </a:rPr>
              <a:t>Fine-</a:t>
            </a:r>
            <a:r>
              <a:rPr sz="1600" b="1" spc="-10" dirty="0">
                <a:latin typeface="Arial"/>
                <a:cs typeface="Arial"/>
              </a:rPr>
              <a:t>Tuning</a:t>
            </a:r>
            <a:endParaRPr sz="1600" dirty="0">
              <a:latin typeface="Arial"/>
              <a:cs typeface="Arial"/>
            </a:endParaRPr>
          </a:p>
          <a:p>
            <a:pPr marL="454025">
              <a:lnSpc>
                <a:spcPct val="100000"/>
              </a:lnSpc>
              <a:spcBef>
                <a:spcPts val="475"/>
              </a:spcBef>
            </a:pPr>
            <a:r>
              <a:rPr sz="1450" spc="-125" dirty="0">
                <a:solidFill>
                  <a:srgbClr val="D0D5DA"/>
                </a:solidFill>
              </a:rPr>
              <a:t>Pre-</a:t>
            </a:r>
            <a:r>
              <a:rPr sz="1450" spc="-70" dirty="0">
                <a:solidFill>
                  <a:srgbClr val="D0D5DA"/>
                </a:solidFill>
              </a:rPr>
              <a:t>trained</a:t>
            </a:r>
            <a:r>
              <a:rPr sz="1450" spc="-60" dirty="0">
                <a:solidFill>
                  <a:srgbClr val="D0D5DA"/>
                </a:solidFill>
              </a:rPr>
              <a:t> </a:t>
            </a:r>
            <a:r>
              <a:rPr sz="1450" spc="-65" dirty="0">
                <a:solidFill>
                  <a:srgbClr val="D0D5DA"/>
                </a:solidFill>
              </a:rPr>
              <a:t>weights</a:t>
            </a:r>
            <a:r>
              <a:rPr sz="1450" spc="-45" dirty="0">
                <a:solidFill>
                  <a:srgbClr val="D0D5DA"/>
                </a:solidFill>
              </a:rPr>
              <a:t> </a:t>
            </a:r>
            <a:r>
              <a:rPr sz="1450" spc="-85" dirty="0">
                <a:solidFill>
                  <a:srgbClr val="D0D5DA"/>
                </a:solidFill>
              </a:rPr>
              <a:t>adapted</a:t>
            </a:r>
            <a:r>
              <a:rPr sz="1450" spc="-50" dirty="0">
                <a:solidFill>
                  <a:srgbClr val="D0D5DA"/>
                </a:solidFill>
              </a:rPr>
              <a:t> </a:t>
            </a:r>
            <a:r>
              <a:rPr sz="1450" spc="-40" dirty="0">
                <a:solidFill>
                  <a:srgbClr val="D0D5DA"/>
                </a:solidFill>
              </a:rPr>
              <a:t>to</a:t>
            </a:r>
            <a:r>
              <a:rPr sz="1450" spc="-45" dirty="0">
                <a:solidFill>
                  <a:srgbClr val="D0D5DA"/>
                </a:solidFill>
              </a:rPr>
              <a:t> </a:t>
            </a:r>
            <a:r>
              <a:rPr sz="1450" spc="-80" dirty="0">
                <a:solidFill>
                  <a:srgbClr val="D0D5DA"/>
                </a:solidFill>
              </a:rPr>
              <a:t>Roboflow</a:t>
            </a:r>
            <a:r>
              <a:rPr sz="1450" spc="-50" dirty="0">
                <a:solidFill>
                  <a:srgbClr val="D0D5DA"/>
                </a:solidFill>
              </a:rPr>
              <a:t> </a:t>
            </a:r>
            <a:r>
              <a:rPr sz="1450" spc="-20" dirty="0">
                <a:solidFill>
                  <a:srgbClr val="D0D5DA"/>
                </a:solidFill>
              </a:rPr>
              <a:t>fruit</a:t>
            </a:r>
            <a:r>
              <a:rPr sz="1450" spc="-45" dirty="0">
                <a:solidFill>
                  <a:srgbClr val="D0D5DA"/>
                </a:solidFill>
              </a:rPr>
              <a:t> </a:t>
            </a:r>
            <a:r>
              <a:rPr sz="1450" spc="-10" dirty="0">
                <a:solidFill>
                  <a:srgbClr val="D0D5DA"/>
                </a:solidFill>
              </a:rPr>
              <a:t>dataset</a:t>
            </a:r>
            <a:endParaRPr sz="1450" dirty="0"/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1300" dirty="0"/>
          </a:p>
          <a:p>
            <a:pPr marL="454025">
              <a:lnSpc>
                <a:spcPct val="100000"/>
              </a:lnSpc>
            </a:pPr>
            <a:r>
              <a:rPr sz="1600" b="1" spc="-105" dirty="0">
                <a:latin typeface="Arial"/>
                <a:cs typeface="Arial"/>
              </a:rPr>
              <a:t>Streamlit</a:t>
            </a:r>
            <a:r>
              <a:rPr sz="1600" b="1" spc="-55" dirty="0">
                <a:latin typeface="Arial"/>
                <a:cs typeface="Arial"/>
              </a:rPr>
              <a:t> </a:t>
            </a:r>
            <a:r>
              <a:rPr sz="1600" b="1" spc="-50" dirty="0">
                <a:latin typeface="Arial"/>
                <a:cs typeface="Arial"/>
              </a:rPr>
              <a:t>Deployment</a:t>
            </a:r>
            <a:endParaRPr sz="1600" dirty="0">
              <a:latin typeface="Arial"/>
              <a:cs typeface="Arial"/>
            </a:endParaRPr>
          </a:p>
          <a:p>
            <a:pPr marL="454025">
              <a:lnSpc>
                <a:spcPct val="100000"/>
              </a:lnSpc>
              <a:spcBef>
                <a:spcPts val="475"/>
              </a:spcBef>
            </a:pPr>
            <a:r>
              <a:rPr sz="1450" spc="-70" dirty="0">
                <a:solidFill>
                  <a:srgbClr val="D0D5DA"/>
                </a:solidFill>
              </a:rPr>
              <a:t>Interactive</a:t>
            </a:r>
            <a:r>
              <a:rPr sz="1450" spc="-55" dirty="0">
                <a:solidFill>
                  <a:srgbClr val="D0D5DA"/>
                </a:solidFill>
              </a:rPr>
              <a:t> </a:t>
            </a:r>
            <a:r>
              <a:rPr sz="1450" spc="-95" dirty="0">
                <a:solidFill>
                  <a:srgbClr val="D0D5DA"/>
                </a:solidFill>
              </a:rPr>
              <a:t>web</a:t>
            </a:r>
            <a:r>
              <a:rPr sz="1450" spc="-55" dirty="0">
                <a:solidFill>
                  <a:srgbClr val="D0D5DA"/>
                </a:solidFill>
              </a:rPr>
              <a:t> interface </a:t>
            </a:r>
            <a:r>
              <a:rPr sz="1450" spc="-25" dirty="0">
                <a:solidFill>
                  <a:srgbClr val="D0D5DA"/>
                </a:solidFill>
              </a:rPr>
              <a:t>for</a:t>
            </a:r>
            <a:r>
              <a:rPr sz="1450" spc="-55" dirty="0">
                <a:solidFill>
                  <a:srgbClr val="D0D5DA"/>
                </a:solidFill>
              </a:rPr>
              <a:t> </a:t>
            </a:r>
            <a:r>
              <a:rPr sz="1450" spc="-60" dirty="0">
                <a:solidFill>
                  <a:srgbClr val="D0D5DA"/>
                </a:solidFill>
              </a:rPr>
              <a:t>live</a:t>
            </a:r>
            <a:r>
              <a:rPr sz="1450" spc="-55" dirty="0">
                <a:solidFill>
                  <a:srgbClr val="D0D5DA"/>
                </a:solidFill>
              </a:rPr>
              <a:t> </a:t>
            </a:r>
            <a:r>
              <a:rPr sz="1450" spc="-10" dirty="0">
                <a:solidFill>
                  <a:srgbClr val="D0D5DA"/>
                </a:solidFill>
              </a:rPr>
              <a:t>detection</a:t>
            </a:r>
            <a:endParaRPr sz="1450" dirty="0"/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33085" y="5491190"/>
            <a:ext cx="225424" cy="22542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027178" y="5332177"/>
            <a:ext cx="4835525" cy="616585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1600" b="1" spc="-195" dirty="0">
                <a:solidFill>
                  <a:srgbClr val="FFFFFF"/>
                </a:solidFill>
                <a:latin typeface="Arial"/>
                <a:cs typeface="Arial"/>
              </a:rPr>
              <a:t>Key</a:t>
            </a:r>
            <a:r>
              <a:rPr sz="16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Arial"/>
                <a:cs typeface="Arial"/>
              </a:rPr>
              <a:t>Metrics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1450" spc="-85" dirty="0">
                <a:solidFill>
                  <a:srgbClr val="D0D5DA"/>
                </a:solidFill>
                <a:latin typeface="Arial MT"/>
                <a:cs typeface="Arial MT"/>
              </a:rPr>
              <a:t>Accuracy</a:t>
            </a:r>
            <a:r>
              <a:rPr sz="1450" spc="-4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450" spc="-95" dirty="0">
                <a:solidFill>
                  <a:srgbClr val="D0D5DA"/>
                </a:solidFill>
                <a:latin typeface="Arial MT"/>
                <a:cs typeface="Arial MT"/>
              </a:rPr>
              <a:t>(mAP),</a:t>
            </a:r>
            <a:r>
              <a:rPr sz="1450" spc="-4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450" spc="-80" dirty="0">
                <a:solidFill>
                  <a:srgbClr val="D0D5DA"/>
                </a:solidFill>
                <a:latin typeface="Arial MT"/>
                <a:cs typeface="Arial MT"/>
              </a:rPr>
              <a:t>Processing</a:t>
            </a:r>
            <a:r>
              <a:rPr sz="1450" spc="-4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450" spc="-125" dirty="0">
                <a:solidFill>
                  <a:srgbClr val="D0D5DA"/>
                </a:solidFill>
                <a:latin typeface="Arial MT"/>
                <a:cs typeface="Arial MT"/>
              </a:rPr>
              <a:t>Speed</a:t>
            </a:r>
            <a:r>
              <a:rPr sz="1450" spc="-4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450" spc="-130" dirty="0">
                <a:solidFill>
                  <a:srgbClr val="D0D5DA"/>
                </a:solidFill>
                <a:latin typeface="Arial MT"/>
                <a:cs typeface="Arial MT"/>
              </a:rPr>
              <a:t>(FPS),</a:t>
            </a:r>
            <a:r>
              <a:rPr sz="1450" spc="-4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450" spc="-130" dirty="0">
                <a:solidFill>
                  <a:srgbClr val="D0D5DA"/>
                </a:solidFill>
                <a:latin typeface="Arial MT"/>
                <a:cs typeface="Arial MT"/>
              </a:rPr>
              <a:t>Real-</a:t>
            </a:r>
            <a:r>
              <a:rPr sz="1450" spc="-50" dirty="0">
                <a:solidFill>
                  <a:srgbClr val="D0D5DA"/>
                </a:solidFill>
                <a:latin typeface="Arial MT"/>
                <a:cs typeface="Arial MT"/>
              </a:rPr>
              <a:t>time</a:t>
            </a:r>
            <a:r>
              <a:rPr sz="1450" spc="-4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450" spc="-60" dirty="0">
                <a:solidFill>
                  <a:srgbClr val="D0D5DA"/>
                </a:solidFill>
                <a:latin typeface="Arial MT"/>
                <a:cs typeface="Arial MT"/>
              </a:rPr>
              <a:t>Performance</a:t>
            </a:r>
            <a:endParaRPr sz="145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117627" y="122073"/>
            <a:ext cx="5937158" cy="6683957"/>
            <a:chOff x="5851294" y="117791"/>
            <a:chExt cx="5939790" cy="6752590"/>
          </a:xfrm>
        </p:grpSpPr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51294" y="117791"/>
              <a:ext cx="5939638" cy="67523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419639" y="915829"/>
              <a:ext cx="5318760" cy="5860415"/>
            </a:xfrm>
            <a:custGeom>
              <a:avLst/>
              <a:gdLst/>
              <a:ahLst/>
              <a:cxnLst/>
              <a:rect l="l" t="t" r="r" b="b"/>
              <a:pathLst>
                <a:path w="5318759" h="5860415">
                  <a:moveTo>
                    <a:pt x="5318288" y="5860129"/>
                  </a:moveTo>
                  <a:lnTo>
                    <a:pt x="0" y="5860129"/>
                  </a:lnTo>
                  <a:lnTo>
                    <a:pt x="0" y="0"/>
                  </a:lnTo>
                  <a:lnTo>
                    <a:pt x="5318288" y="0"/>
                  </a:lnTo>
                  <a:lnTo>
                    <a:pt x="5318288" y="308098"/>
                  </a:lnTo>
                  <a:lnTo>
                    <a:pt x="647853" y="308098"/>
                  </a:lnTo>
                  <a:lnTo>
                    <a:pt x="636974" y="308623"/>
                  </a:lnTo>
                  <a:lnTo>
                    <a:pt x="595743" y="321152"/>
                  </a:lnTo>
                  <a:lnTo>
                    <a:pt x="562446" y="348506"/>
                  </a:lnTo>
                  <a:lnTo>
                    <a:pt x="542151" y="386519"/>
                  </a:lnTo>
                  <a:lnTo>
                    <a:pt x="537423" y="418528"/>
                  </a:lnTo>
                  <a:lnTo>
                    <a:pt x="537423" y="4982950"/>
                  </a:lnTo>
                  <a:lnTo>
                    <a:pt x="545828" y="5025208"/>
                  </a:lnTo>
                  <a:lnTo>
                    <a:pt x="569767" y="5061035"/>
                  </a:lnTo>
                  <a:lnTo>
                    <a:pt x="605593" y="5084973"/>
                  </a:lnTo>
                  <a:lnTo>
                    <a:pt x="647853" y="5093379"/>
                  </a:lnTo>
                  <a:lnTo>
                    <a:pt x="5318288" y="5093379"/>
                  </a:lnTo>
                  <a:lnTo>
                    <a:pt x="5318288" y="5860129"/>
                  </a:lnTo>
                  <a:close/>
                </a:path>
                <a:path w="5318759" h="5860415">
                  <a:moveTo>
                    <a:pt x="5318288" y="5093379"/>
                  </a:moveTo>
                  <a:lnTo>
                    <a:pt x="4669330" y="5093379"/>
                  </a:lnTo>
                  <a:lnTo>
                    <a:pt x="4680207" y="5092854"/>
                  </a:lnTo>
                  <a:lnTo>
                    <a:pt x="4690876" y="5091277"/>
                  </a:lnTo>
                  <a:lnTo>
                    <a:pt x="4730691" y="5074785"/>
                  </a:lnTo>
                  <a:lnTo>
                    <a:pt x="4761165" y="5044312"/>
                  </a:lnTo>
                  <a:lnTo>
                    <a:pt x="4777657" y="5004497"/>
                  </a:lnTo>
                  <a:lnTo>
                    <a:pt x="4779759" y="4982950"/>
                  </a:lnTo>
                  <a:lnTo>
                    <a:pt x="4779759" y="418528"/>
                  </a:lnTo>
                  <a:lnTo>
                    <a:pt x="4771351" y="376268"/>
                  </a:lnTo>
                  <a:lnTo>
                    <a:pt x="4747414" y="340442"/>
                  </a:lnTo>
                  <a:lnTo>
                    <a:pt x="4711588" y="316504"/>
                  </a:lnTo>
                  <a:lnTo>
                    <a:pt x="4669330" y="308098"/>
                  </a:lnTo>
                  <a:lnTo>
                    <a:pt x="5318288" y="308098"/>
                  </a:lnTo>
                  <a:lnTo>
                    <a:pt x="5318288" y="5093379"/>
                  </a:lnTo>
                  <a:close/>
                </a:path>
              </a:pathLst>
            </a:custGeom>
            <a:solidFill>
              <a:srgbClr val="000000">
                <a:alpha val="2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957062" y="1223927"/>
              <a:ext cx="4242336" cy="4785281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7104302" y="5530680"/>
              <a:ext cx="3948429" cy="331470"/>
            </a:xfrm>
            <a:custGeom>
              <a:avLst/>
              <a:gdLst/>
              <a:ahLst/>
              <a:cxnLst/>
              <a:rect l="l" t="t" r="r" b="b"/>
              <a:pathLst>
                <a:path w="3948429" h="331470">
                  <a:moveTo>
                    <a:pt x="3879070" y="331288"/>
                  </a:moveTo>
                  <a:lnTo>
                    <a:pt x="68785" y="331288"/>
                  </a:lnTo>
                  <a:lnTo>
                    <a:pt x="63997" y="330816"/>
                  </a:lnTo>
                  <a:lnTo>
                    <a:pt x="28699" y="316194"/>
                  </a:lnTo>
                  <a:lnTo>
                    <a:pt x="3753" y="281375"/>
                  </a:lnTo>
                  <a:lnTo>
                    <a:pt x="0" y="262502"/>
                  </a:lnTo>
                  <a:lnTo>
                    <a:pt x="0" y="257668"/>
                  </a:lnTo>
                  <a:lnTo>
                    <a:pt x="0" y="68785"/>
                  </a:lnTo>
                  <a:lnTo>
                    <a:pt x="15092" y="28699"/>
                  </a:lnTo>
                  <a:lnTo>
                    <a:pt x="49911" y="3754"/>
                  </a:lnTo>
                  <a:lnTo>
                    <a:pt x="68785" y="0"/>
                  </a:lnTo>
                  <a:lnTo>
                    <a:pt x="3879070" y="0"/>
                  </a:lnTo>
                  <a:lnTo>
                    <a:pt x="3919154" y="15092"/>
                  </a:lnTo>
                  <a:lnTo>
                    <a:pt x="3944101" y="49912"/>
                  </a:lnTo>
                  <a:lnTo>
                    <a:pt x="3947857" y="68785"/>
                  </a:lnTo>
                  <a:lnTo>
                    <a:pt x="3947857" y="262502"/>
                  </a:lnTo>
                  <a:lnTo>
                    <a:pt x="3932763" y="302587"/>
                  </a:lnTo>
                  <a:lnTo>
                    <a:pt x="3897943" y="327533"/>
                  </a:lnTo>
                  <a:lnTo>
                    <a:pt x="3883856" y="330816"/>
                  </a:lnTo>
                  <a:lnTo>
                    <a:pt x="3879070" y="331288"/>
                  </a:lnTo>
                  <a:close/>
                </a:path>
              </a:pathLst>
            </a:custGeom>
            <a:solidFill>
              <a:srgbClr val="000000">
                <a:alpha val="7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240567" y="5586309"/>
            <a:ext cx="237299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-70" dirty="0">
                <a:solidFill>
                  <a:srgbClr val="FFFFFF"/>
                </a:solidFill>
                <a:latin typeface="Arial MT"/>
                <a:cs typeface="Arial MT"/>
              </a:rPr>
              <a:t>Real-</a:t>
            </a:r>
            <a:r>
              <a:rPr sz="1100" spc="-20" dirty="0">
                <a:solidFill>
                  <a:srgbClr val="FFFFFF"/>
                </a:solidFill>
                <a:latin typeface="Arial MT"/>
                <a:cs typeface="Arial MT"/>
              </a:rPr>
              <a:t>time</a:t>
            </a:r>
            <a:r>
              <a:rPr sz="11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Arial MT"/>
                <a:cs typeface="Arial MT"/>
              </a:rPr>
              <a:t>detection</a:t>
            </a:r>
            <a:r>
              <a:rPr sz="11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 MT"/>
                <a:cs typeface="Arial MT"/>
              </a:rPr>
              <a:t>with</a:t>
            </a:r>
            <a:r>
              <a:rPr sz="11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spc="-35" dirty="0">
                <a:solidFill>
                  <a:srgbClr val="FFFFFF"/>
                </a:solidFill>
                <a:latin typeface="Arial MT"/>
                <a:cs typeface="Arial MT"/>
              </a:rPr>
              <a:t>bounding</a:t>
            </a:r>
            <a:r>
              <a:rPr sz="11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spc="-45" dirty="0">
                <a:solidFill>
                  <a:srgbClr val="FFFFFF"/>
                </a:solidFill>
                <a:latin typeface="Arial MT"/>
                <a:cs typeface="Arial MT"/>
              </a:rPr>
              <a:t>boxes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43180">
              <a:lnSpc>
                <a:spcPct val="100000"/>
              </a:lnSpc>
              <a:spcBef>
                <a:spcPts val="110"/>
              </a:spcBef>
            </a:pPr>
            <a:r>
              <a:rPr sz="3300" spc="-70" dirty="0">
                <a:latin typeface="Tahoma"/>
                <a:cs typeface="Tahoma"/>
              </a:rPr>
              <a:t>Problem</a:t>
            </a:r>
            <a:r>
              <a:rPr sz="3300" spc="-120" dirty="0">
                <a:latin typeface="Tahoma"/>
                <a:cs typeface="Tahoma"/>
              </a:rPr>
              <a:t> </a:t>
            </a:r>
            <a:r>
              <a:rPr sz="3300" spc="-80" dirty="0">
                <a:latin typeface="Tahoma"/>
                <a:cs typeface="Tahoma"/>
              </a:rPr>
              <a:t>Statement</a:t>
            </a:r>
            <a:endParaRPr sz="3300">
              <a:latin typeface="Tahoma"/>
              <a:cs typeface="Tahom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19124" y="1857374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914399" y="38099"/>
                </a:moveTo>
                <a:lnTo>
                  <a:pt x="0" y="38099"/>
                </a:lnTo>
                <a:lnTo>
                  <a:pt x="0" y="0"/>
                </a:lnTo>
                <a:lnTo>
                  <a:pt x="914399" y="0"/>
                </a:lnTo>
                <a:lnTo>
                  <a:pt x="914399" y="38099"/>
                </a:lnTo>
                <a:close/>
              </a:path>
            </a:pathLst>
          </a:custGeom>
          <a:solidFill>
            <a:srgbClr val="FFD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7699" y="2257424"/>
            <a:ext cx="285750" cy="23177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01725" y="2054301"/>
            <a:ext cx="5090160" cy="782320"/>
          </a:xfrm>
          <a:prstGeom prst="rect">
            <a:avLst/>
          </a:prstGeom>
        </p:spPr>
        <p:txBody>
          <a:bodyPr vert="horz" wrap="square" lIns="0" tIns="1206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sz="2000" b="1" spc="-195" dirty="0">
                <a:solidFill>
                  <a:srgbClr val="FFFFFF"/>
                </a:solidFill>
                <a:latin typeface="Arial"/>
                <a:cs typeface="Arial"/>
              </a:rPr>
              <a:t>Speed</a:t>
            </a:r>
            <a:r>
              <a:rPr sz="20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200" dirty="0">
                <a:solidFill>
                  <a:srgbClr val="FFFFFF"/>
                </a:solidFill>
                <a:latin typeface="Arial"/>
                <a:cs typeface="Arial"/>
              </a:rPr>
              <a:t>vs</a:t>
            </a:r>
            <a:r>
              <a:rPr sz="20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200" dirty="0">
                <a:solidFill>
                  <a:srgbClr val="FFFFFF"/>
                </a:solidFill>
                <a:latin typeface="Arial"/>
                <a:cs typeface="Arial"/>
              </a:rPr>
              <a:t>Accuracy</a:t>
            </a:r>
            <a:r>
              <a:rPr sz="2000" b="1" spc="-1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Tradeoff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sz="1650" spc="-90" dirty="0">
                <a:solidFill>
                  <a:srgbClr val="D0D5DA"/>
                </a:solidFill>
                <a:latin typeface="Arial MT"/>
                <a:cs typeface="Arial MT"/>
              </a:rPr>
              <a:t>High</a:t>
            </a:r>
            <a:r>
              <a:rPr sz="1650" spc="-6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650" spc="-85" dirty="0">
                <a:solidFill>
                  <a:srgbClr val="D0D5DA"/>
                </a:solidFill>
                <a:latin typeface="Arial MT"/>
                <a:cs typeface="Arial MT"/>
              </a:rPr>
              <a:t>accuracy</a:t>
            </a:r>
            <a:r>
              <a:rPr sz="1650" spc="-6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650" spc="-75" dirty="0">
                <a:solidFill>
                  <a:srgbClr val="D0D5DA"/>
                </a:solidFill>
                <a:latin typeface="Arial MT"/>
                <a:cs typeface="Arial MT"/>
              </a:rPr>
              <a:t>models</a:t>
            </a:r>
            <a:r>
              <a:rPr sz="1650" spc="-6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650" spc="-40" dirty="0">
                <a:solidFill>
                  <a:srgbClr val="D0D5DA"/>
                </a:solidFill>
                <a:latin typeface="Arial MT"/>
                <a:cs typeface="Arial MT"/>
              </a:rPr>
              <a:t>often</a:t>
            </a:r>
            <a:r>
              <a:rPr sz="1650" spc="-5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650" spc="-50" dirty="0">
                <a:solidFill>
                  <a:srgbClr val="D0D5DA"/>
                </a:solidFill>
                <a:latin typeface="Arial MT"/>
                <a:cs typeface="Arial MT"/>
              </a:rPr>
              <a:t>sacrifice</a:t>
            </a:r>
            <a:r>
              <a:rPr sz="1650" spc="-6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650" spc="-95" dirty="0">
                <a:solidFill>
                  <a:srgbClr val="D0D5DA"/>
                </a:solidFill>
                <a:latin typeface="Arial MT"/>
                <a:cs typeface="Arial MT"/>
              </a:rPr>
              <a:t>real-</a:t>
            </a:r>
            <a:r>
              <a:rPr sz="1650" spc="-45" dirty="0">
                <a:solidFill>
                  <a:srgbClr val="D0D5DA"/>
                </a:solidFill>
                <a:latin typeface="Arial MT"/>
                <a:cs typeface="Arial MT"/>
              </a:rPr>
              <a:t>time</a:t>
            </a:r>
            <a:r>
              <a:rPr sz="1650" spc="-6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650" spc="-35" dirty="0">
                <a:solidFill>
                  <a:srgbClr val="D0D5DA"/>
                </a:solidFill>
                <a:latin typeface="Arial MT"/>
                <a:cs typeface="Arial MT"/>
              </a:rPr>
              <a:t>performance</a:t>
            </a:r>
            <a:endParaRPr sz="165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7699" y="3130549"/>
            <a:ext cx="285750" cy="23495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101725" y="2930601"/>
            <a:ext cx="3994785" cy="782320"/>
          </a:xfrm>
          <a:prstGeom prst="rect">
            <a:avLst/>
          </a:prstGeom>
        </p:spPr>
        <p:txBody>
          <a:bodyPr vert="horz" wrap="square" lIns="0" tIns="1206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sz="2000" b="1" spc="-160" dirty="0">
                <a:solidFill>
                  <a:srgbClr val="FFFFFF"/>
                </a:solidFill>
                <a:latin typeface="Arial"/>
                <a:cs typeface="Arial"/>
              </a:rPr>
              <a:t>Limited</a:t>
            </a:r>
            <a:r>
              <a:rPr sz="20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75" dirty="0">
                <a:solidFill>
                  <a:srgbClr val="FFFFFF"/>
                </a:solidFill>
                <a:latin typeface="Arial"/>
                <a:cs typeface="Arial"/>
              </a:rPr>
              <a:t>Accessibility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sz="1650" spc="-100" dirty="0">
                <a:solidFill>
                  <a:srgbClr val="D0D5DA"/>
                </a:solidFill>
                <a:latin typeface="Arial MT"/>
                <a:cs typeface="Arial MT"/>
              </a:rPr>
              <a:t>Complex</a:t>
            </a:r>
            <a:r>
              <a:rPr sz="1650" spc="-6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650" spc="-80" dirty="0">
                <a:solidFill>
                  <a:srgbClr val="D0D5DA"/>
                </a:solidFill>
                <a:latin typeface="Arial MT"/>
                <a:cs typeface="Arial MT"/>
              </a:rPr>
              <a:t>deployment</a:t>
            </a:r>
            <a:r>
              <a:rPr sz="1650" spc="-6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650" spc="-70" dirty="0">
                <a:solidFill>
                  <a:srgbClr val="D0D5DA"/>
                </a:solidFill>
                <a:latin typeface="Arial MT"/>
                <a:cs typeface="Arial MT"/>
              </a:rPr>
              <a:t>pipelines</a:t>
            </a:r>
            <a:r>
              <a:rPr sz="1650" spc="-6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650" spc="-80" dirty="0">
                <a:solidFill>
                  <a:srgbClr val="D0D5DA"/>
                </a:solidFill>
                <a:latin typeface="Arial MT"/>
                <a:cs typeface="Arial MT"/>
              </a:rPr>
              <a:t>hinder</a:t>
            </a:r>
            <a:r>
              <a:rPr sz="1650" spc="-6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650" spc="-10" dirty="0">
                <a:solidFill>
                  <a:srgbClr val="D0D5DA"/>
                </a:solidFill>
                <a:latin typeface="Arial MT"/>
                <a:cs typeface="Arial MT"/>
              </a:rPr>
              <a:t>adoption</a:t>
            </a:r>
            <a:endParaRPr sz="1650">
              <a:latin typeface="Arial MT"/>
              <a:cs typeface="Arial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9124" y="4006850"/>
            <a:ext cx="342900" cy="23495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101725" y="3914457"/>
            <a:ext cx="225933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80" dirty="0">
                <a:solidFill>
                  <a:srgbClr val="FFFFFF"/>
                </a:solidFill>
                <a:latin typeface="Arial"/>
                <a:cs typeface="Arial"/>
              </a:rPr>
              <a:t>Hardware</a:t>
            </a:r>
            <a:r>
              <a:rPr sz="20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55" dirty="0">
                <a:solidFill>
                  <a:srgbClr val="FFFFFF"/>
                </a:solidFill>
                <a:latin typeface="Arial"/>
                <a:cs typeface="Arial"/>
              </a:rPr>
              <a:t>Constraints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01725" y="4309268"/>
            <a:ext cx="4087495" cy="2800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650" spc="-225" dirty="0">
                <a:solidFill>
                  <a:srgbClr val="D0D5DA"/>
                </a:solidFill>
                <a:latin typeface="Arial MT"/>
                <a:cs typeface="Arial MT"/>
              </a:rPr>
              <a:t>GPU</a:t>
            </a:r>
            <a:r>
              <a:rPr sz="1650" spc="-5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650" spc="-60" dirty="0">
                <a:solidFill>
                  <a:srgbClr val="D0D5DA"/>
                </a:solidFill>
                <a:latin typeface="Arial MT"/>
                <a:cs typeface="Arial MT"/>
              </a:rPr>
              <a:t>availability</a:t>
            </a:r>
            <a:r>
              <a:rPr sz="1650" spc="-5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650" spc="-105" dirty="0">
                <a:solidFill>
                  <a:srgbClr val="D0D5DA"/>
                </a:solidFill>
                <a:latin typeface="Arial MT"/>
                <a:cs typeface="Arial MT"/>
              </a:rPr>
              <a:t>and</a:t>
            </a:r>
            <a:r>
              <a:rPr sz="1650" spc="-5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650" spc="-60" dirty="0">
                <a:solidFill>
                  <a:srgbClr val="D0D5DA"/>
                </a:solidFill>
                <a:latin typeface="Arial MT"/>
                <a:cs typeface="Arial MT"/>
              </a:rPr>
              <a:t>computational</a:t>
            </a:r>
            <a:r>
              <a:rPr sz="1650" spc="-5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650" spc="-35" dirty="0">
                <a:solidFill>
                  <a:srgbClr val="D0D5DA"/>
                </a:solidFill>
                <a:latin typeface="Arial MT"/>
                <a:cs typeface="Arial MT"/>
              </a:rPr>
              <a:t>cost</a:t>
            </a:r>
            <a:r>
              <a:rPr sz="1650" spc="-5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650" spc="-25" dirty="0">
                <a:solidFill>
                  <a:srgbClr val="D0D5DA"/>
                </a:solidFill>
                <a:latin typeface="Arial MT"/>
                <a:cs typeface="Arial MT"/>
              </a:rPr>
              <a:t>barriers</a:t>
            </a:r>
            <a:endParaRPr sz="165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19124" y="4905374"/>
            <a:ext cx="6124575" cy="990600"/>
            <a:chOff x="619124" y="4905374"/>
            <a:chExt cx="6124575" cy="990600"/>
          </a:xfrm>
        </p:grpSpPr>
        <p:sp>
          <p:nvSpPr>
            <p:cNvPr id="12" name="object 12"/>
            <p:cNvSpPr/>
            <p:nvPr/>
          </p:nvSpPr>
          <p:spPr>
            <a:xfrm>
              <a:off x="638174" y="4905374"/>
              <a:ext cx="6105525" cy="990600"/>
            </a:xfrm>
            <a:custGeom>
              <a:avLst/>
              <a:gdLst/>
              <a:ahLst/>
              <a:cxnLst/>
              <a:rect l="l" t="t" r="r" b="b"/>
              <a:pathLst>
                <a:path w="6105525" h="990600">
                  <a:moveTo>
                    <a:pt x="5998729" y="990599"/>
                  </a:moveTo>
                  <a:lnTo>
                    <a:pt x="88995" y="990599"/>
                  </a:lnTo>
                  <a:lnTo>
                    <a:pt x="82801" y="989866"/>
                  </a:lnTo>
                  <a:lnTo>
                    <a:pt x="37131" y="967167"/>
                  </a:lnTo>
                  <a:lnTo>
                    <a:pt x="12577" y="933560"/>
                  </a:lnTo>
                  <a:lnTo>
                    <a:pt x="610" y="891237"/>
                  </a:lnTo>
                  <a:lnTo>
                    <a:pt x="0" y="883804"/>
                  </a:lnTo>
                  <a:lnTo>
                    <a:pt x="0" y="876299"/>
                  </a:lnTo>
                  <a:lnTo>
                    <a:pt x="0" y="106794"/>
                  </a:lnTo>
                  <a:lnTo>
                    <a:pt x="9643" y="63624"/>
                  </a:lnTo>
                  <a:lnTo>
                    <a:pt x="32320" y="28170"/>
                  </a:lnTo>
                  <a:lnTo>
                    <a:pt x="64577" y="5828"/>
                  </a:lnTo>
                  <a:lnTo>
                    <a:pt x="88995" y="0"/>
                  </a:lnTo>
                  <a:lnTo>
                    <a:pt x="5998729" y="0"/>
                  </a:lnTo>
                  <a:lnTo>
                    <a:pt x="6041898" y="11571"/>
                  </a:lnTo>
                  <a:lnTo>
                    <a:pt x="6077352" y="38783"/>
                  </a:lnTo>
                  <a:lnTo>
                    <a:pt x="6099695" y="77492"/>
                  </a:lnTo>
                  <a:lnTo>
                    <a:pt x="6105524" y="106794"/>
                  </a:lnTo>
                  <a:lnTo>
                    <a:pt x="6105524" y="883804"/>
                  </a:lnTo>
                  <a:lnTo>
                    <a:pt x="6093951" y="926973"/>
                  </a:lnTo>
                  <a:lnTo>
                    <a:pt x="6066739" y="962428"/>
                  </a:lnTo>
                  <a:lnTo>
                    <a:pt x="6028030" y="984770"/>
                  </a:lnTo>
                  <a:lnTo>
                    <a:pt x="6006162" y="989866"/>
                  </a:lnTo>
                  <a:lnTo>
                    <a:pt x="5998729" y="990599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19124" y="4905374"/>
              <a:ext cx="114300" cy="990600"/>
            </a:xfrm>
            <a:custGeom>
              <a:avLst/>
              <a:gdLst/>
              <a:ahLst/>
              <a:cxnLst/>
              <a:rect l="l" t="t" r="r" b="b"/>
              <a:pathLst>
                <a:path w="114300" h="990600">
                  <a:moveTo>
                    <a:pt x="114300" y="990599"/>
                  </a:moveTo>
                  <a:lnTo>
                    <a:pt x="70559" y="981899"/>
                  </a:lnTo>
                  <a:lnTo>
                    <a:pt x="33477" y="957122"/>
                  </a:lnTo>
                  <a:lnTo>
                    <a:pt x="8700" y="920040"/>
                  </a:lnTo>
                  <a:lnTo>
                    <a:pt x="0" y="876300"/>
                  </a:lnTo>
                  <a:lnTo>
                    <a:pt x="0" y="114300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300" y="0"/>
                  </a:lnTo>
                  <a:lnTo>
                    <a:pt x="106793" y="544"/>
                  </a:lnTo>
                  <a:lnTo>
                    <a:pt x="99431" y="2175"/>
                  </a:lnTo>
                  <a:lnTo>
                    <a:pt x="65982" y="25900"/>
                  </a:lnTo>
                  <a:lnTo>
                    <a:pt x="47107" y="60364"/>
                  </a:lnTo>
                  <a:lnTo>
                    <a:pt x="38462" y="103040"/>
                  </a:lnTo>
                  <a:lnTo>
                    <a:pt x="38100" y="114300"/>
                  </a:lnTo>
                  <a:lnTo>
                    <a:pt x="38100" y="876300"/>
                  </a:lnTo>
                  <a:lnTo>
                    <a:pt x="43900" y="920040"/>
                  </a:lnTo>
                  <a:lnTo>
                    <a:pt x="60418" y="957122"/>
                  </a:lnTo>
                  <a:lnTo>
                    <a:pt x="92213" y="985705"/>
                  </a:lnTo>
                  <a:lnTo>
                    <a:pt x="106793" y="990056"/>
                  </a:lnTo>
                  <a:lnTo>
                    <a:pt x="114300" y="990599"/>
                  </a:lnTo>
                  <a:close/>
                </a:path>
              </a:pathLst>
            </a:custGeom>
            <a:solidFill>
              <a:srgbClr val="FFD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873125" y="5102846"/>
            <a:ext cx="5307330" cy="5543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02899"/>
              </a:lnSpc>
              <a:spcBef>
                <a:spcPts val="60"/>
              </a:spcBef>
            </a:pPr>
            <a:r>
              <a:rPr sz="1700" i="1" spc="-120" dirty="0">
                <a:solidFill>
                  <a:srgbClr val="FFFFFF"/>
                </a:solidFill>
                <a:latin typeface="Roboto Lt"/>
                <a:cs typeface="Roboto Lt"/>
              </a:rPr>
              <a:t>"Our</a:t>
            </a:r>
            <a:r>
              <a:rPr sz="1700" i="1" spc="-30" dirty="0">
                <a:solidFill>
                  <a:srgbClr val="FFFFFF"/>
                </a:solidFill>
                <a:latin typeface="Roboto Lt"/>
                <a:cs typeface="Roboto Lt"/>
              </a:rPr>
              <a:t> </a:t>
            </a:r>
            <a:r>
              <a:rPr sz="1700" i="1" spc="-95" dirty="0">
                <a:solidFill>
                  <a:srgbClr val="FFFFFF"/>
                </a:solidFill>
                <a:latin typeface="Roboto Lt"/>
                <a:cs typeface="Roboto Lt"/>
              </a:rPr>
              <a:t>goal:</a:t>
            </a:r>
            <a:r>
              <a:rPr sz="1700" i="1" spc="-25" dirty="0">
                <a:solidFill>
                  <a:srgbClr val="FFFFFF"/>
                </a:solidFill>
                <a:latin typeface="Roboto Lt"/>
                <a:cs typeface="Roboto Lt"/>
              </a:rPr>
              <a:t> </a:t>
            </a:r>
            <a:r>
              <a:rPr sz="1700" i="1" spc="-100" dirty="0">
                <a:solidFill>
                  <a:srgbClr val="FFFFFF"/>
                </a:solidFill>
                <a:latin typeface="Roboto Lt"/>
                <a:cs typeface="Roboto Lt"/>
              </a:rPr>
              <a:t>Build</a:t>
            </a:r>
            <a:r>
              <a:rPr sz="1700" i="1" spc="-25" dirty="0">
                <a:solidFill>
                  <a:srgbClr val="FFFFFF"/>
                </a:solidFill>
                <a:latin typeface="Roboto Lt"/>
                <a:cs typeface="Roboto Lt"/>
              </a:rPr>
              <a:t> </a:t>
            </a:r>
            <a:r>
              <a:rPr sz="1700" i="1" spc="-125" dirty="0">
                <a:solidFill>
                  <a:srgbClr val="FFFFFF"/>
                </a:solidFill>
                <a:latin typeface="Roboto Lt"/>
                <a:cs typeface="Roboto Lt"/>
              </a:rPr>
              <a:t>a</a:t>
            </a:r>
            <a:r>
              <a:rPr sz="1700" i="1" spc="-25" dirty="0">
                <a:solidFill>
                  <a:srgbClr val="FFFFFF"/>
                </a:solidFill>
                <a:latin typeface="Roboto Lt"/>
                <a:cs typeface="Roboto Lt"/>
              </a:rPr>
              <a:t> </a:t>
            </a:r>
            <a:r>
              <a:rPr sz="1700" i="1" spc="-110" dirty="0">
                <a:solidFill>
                  <a:srgbClr val="FFFFFF"/>
                </a:solidFill>
                <a:latin typeface="Roboto Lt"/>
                <a:cs typeface="Roboto Lt"/>
              </a:rPr>
              <a:t>balanced</a:t>
            </a:r>
            <a:r>
              <a:rPr sz="1700" i="1" spc="-30" dirty="0">
                <a:solidFill>
                  <a:srgbClr val="FFFFFF"/>
                </a:solidFill>
                <a:latin typeface="Roboto Lt"/>
                <a:cs typeface="Roboto Lt"/>
              </a:rPr>
              <a:t> </a:t>
            </a:r>
            <a:r>
              <a:rPr sz="1700" i="1" spc="-114" dirty="0">
                <a:solidFill>
                  <a:srgbClr val="FFFFFF"/>
                </a:solidFill>
                <a:latin typeface="Roboto Lt"/>
                <a:cs typeface="Roboto Lt"/>
              </a:rPr>
              <a:t>system</a:t>
            </a:r>
            <a:r>
              <a:rPr sz="1700" i="1" spc="-25" dirty="0">
                <a:solidFill>
                  <a:srgbClr val="FFFFFF"/>
                </a:solidFill>
                <a:latin typeface="Roboto Lt"/>
                <a:cs typeface="Roboto Lt"/>
              </a:rPr>
              <a:t> </a:t>
            </a:r>
            <a:r>
              <a:rPr sz="1700" i="1" spc="-100" dirty="0">
                <a:solidFill>
                  <a:srgbClr val="FFFFFF"/>
                </a:solidFill>
                <a:latin typeface="Roboto Lt"/>
                <a:cs typeface="Roboto Lt"/>
              </a:rPr>
              <a:t>that</a:t>
            </a:r>
            <a:r>
              <a:rPr sz="1700" i="1" spc="-25" dirty="0">
                <a:solidFill>
                  <a:srgbClr val="FFFFFF"/>
                </a:solidFill>
                <a:latin typeface="Roboto Lt"/>
                <a:cs typeface="Roboto Lt"/>
              </a:rPr>
              <a:t> </a:t>
            </a:r>
            <a:r>
              <a:rPr sz="1700" i="1" spc="-114" dirty="0">
                <a:solidFill>
                  <a:srgbClr val="FFFFFF"/>
                </a:solidFill>
                <a:latin typeface="Roboto Lt"/>
                <a:cs typeface="Roboto Lt"/>
              </a:rPr>
              <a:t>achieves</a:t>
            </a:r>
            <a:r>
              <a:rPr sz="1700" i="1" spc="-25" dirty="0">
                <a:solidFill>
                  <a:srgbClr val="FFFFFF"/>
                </a:solidFill>
                <a:latin typeface="Roboto Lt"/>
                <a:cs typeface="Roboto Lt"/>
              </a:rPr>
              <a:t> </a:t>
            </a:r>
            <a:r>
              <a:rPr sz="1650" b="1" i="1" spc="-40" dirty="0">
                <a:solidFill>
                  <a:srgbClr val="FFD600"/>
                </a:solidFill>
                <a:latin typeface="Arial"/>
                <a:cs typeface="Arial"/>
              </a:rPr>
              <a:t>~30</a:t>
            </a:r>
            <a:r>
              <a:rPr sz="1650" b="1" i="1" spc="-65" dirty="0">
                <a:solidFill>
                  <a:srgbClr val="FFD600"/>
                </a:solidFill>
                <a:latin typeface="Arial"/>
                <a:cs typeface="Arial"/>
              </a:rPr>
              <a:t> </a:t>
            </a:r>
            <a:r>
              <a:rPr sz="1650" b="1" i="1" spc="-175" dirty="0">
                <a:solidFill>
                  <a:srgbClr val="FFD600"/>
                </a:solidFill>
                <a:latin typeface="Arial"/>
                <a:cs typeface="Arial"/>
              </a:rPr>
              <a:t>FPS</a:t>
            </a:r>
            <a:r>
              <a:rPr sz="1650" b="1" i="1" spc="-75" dirty="0">
                <a:solidFill>
                  <a:srgbClr val="FFD600"/>
                </a:solidFill>
                <a:latin typeface="Arial"/>
                <a:cs typeface="Arial"/>
              </a:rPr>
              <a:t> </a:t>
            </a:r>
            <a:r>
              <a:rPr sz="1700" i="1" spc="-85" dirty="0">
                <a:solidFill>
                  <a:srgbClr val="FFFFFF"/>
                </a:solidFill>
                <a:latin typeface="Roboto Lt"/>
                <a:cs typeface="Roboto Lt"/>
              </a:rPr>
              <a:t>while </a:t>
            </a:r>
            <a:r>
              <a:rPr sz="1700" i="1" spc="-105" dirty="0">
                <a:solidFill>
                  <a:srgbClr val="FFFFFF"/>
                </a:solidFill>
                <a:latin typeface="Roboto Lt"/>
                <a:cs typeface="Roboto Lt"/>
              </a:rPr>
              <a:t>maintaining</a:t>
            </a:r>
            <a:r>
              <a:rPr sz="1700" i="1" spc="-30" dirty="0">
                <a:solidFill>
                  <a:srgbClr val="FFFFFF"/>
                </a:solidFill>
                <a:latin typeface="Roboto Lt"/>
                <a:cs typeface="Roboto Lt"/>
              </a:rPr>
              <a:t> </a:t>
            </a:r>
            <a:r>
              <a:rPr sz="1700" i="1" spc="-110" dirty="0">
                <a:solidFill>
                  <a:srgbClr val="FFFFFF"/>
                </a:solidFill>
                <a:latin typeface="Roboto Lt"/>
                <a:cs typeface="Roboto Lt"/>
              </a:rPr>
              <a:t>high</a:t>
            </a:r>
            <a:r>
              <a:rPr sz="1700" i="1" spc="-25" dirty="0">
                <a:solidFill>
                  <a:srgbClr val="FFFFFF"/>
                </a:solidFill>
                <a:latin typeface="Roboto Lt"/>
                <a:cs typeface="Roboto Lt"/>
              </a:rPr>
              <a:t> </a:t>
            </a:r>
            <a:r>
              <a:rPr sz="1700" i="1" spc="-95" dirty="0">
                <a:solidFill>
                  <a:srgbClr val="FFFFFF"/>
                </a:solidFill>
                <a:latin typeface="Roboto Lt"/>
                <a:cs typeface="Roboto Lt"/>
              </a:rPr>
              <a:t>detection</a:t>
            </a:r>
            <a:r>
              <a:rPr sz="1700" i="1" spc="-30" dirty="0">
                <a:solidFill>
                  <a:srgbClr val="FFFFFF"/>
                </a:solidFill>
                <a:latin typeface="Roboto Lt"/>
                <a:cs typeface="Roboto Lt"/>
              </a:rPr>
              <a:t> </a:t>
            </a:r>
            <a:r>
              <a:rPr sz="1700" i="1" spc="-10" dirty="0">
                <a:solidFill>
                  <a:srgbClr val="FFFFFF"/>
                </a:solidFill>
                <a:latin typeface="Roboto Lt"/>
                <a:cs typeface="Roboto Lt"/>
              </a:rPr>
              <a:t>accuracy"</a:t>
            </a:r>
            <a:endParaRPr sz="1700">
              <a:latin typeface="Roboto Lt"/>
              <a:cs typeface="Roboto 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06424" y="1100236"/>
            <a:ext cx="8865235" cy="1068705"/>
          </a:xfrm>
          <a:prstGeom prst="rect">
            <a:avLst/>
          </a:prstGeom>
        </p:spPr>
        <p:txBody>
          <a:bodyPr vert="horz" wrap="square" lIns="0" tIns="2108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60"/>
              </a:spcBef>
            </a:pPr>
            <a:r>
              <a:rPr sz="2500" b="1" spc="-204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500" b="1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00" b="1" spc="-215" dirty="0">
                <a:solidFill>
                  <a:srgbClr val="FFFFFF"/>
                </a:solidFill>
                <a:latin typeface="Arial"/>
                <a:cs typeface="Arial"/>
              </a:rPr>
              <a:t>Challenge</a:t>
            </a:r>
            <a:r>
              <a:rPr sz="2500" b="1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00" b="1" spc="-155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250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00" b="1" spc="-170" dirty="0">
                <a:solidFill>
                  <a:srgbClr val="FFFFFF"/>
                </a:solidFill>
                <a:latin typeface="Arial"/>
                <a:cs typeface="Arial"/>
              </a:rPr>
              <a:t>Real-</a:t>
            </a:r>
            <a:r>
              <a:rPr sz="2500" b="1" spc="-185" dirty="0">
                <a:solidFill>
                  <a:srgbClr val="FFFFFF"/>
                </a:solidFill>
                <a:latin typeface="Arial"/>
                <a:cs typeface="Arial"/>
              </a:rPr>
              <a:t>Time</a:t>
            </a:r>
            <a:r>
              <a:rPr sz="2500" b="1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00" b="1" spc="-215" dirty="0">
                <a:solidFill>
                  <a:srgbClr val="FFFFFF"/>
                </a:solidFill>
                <a:latin typeface="Arial"/>
                <a:cs typeface="Arial"/>
              </a:rPr>
              <a:t>Object</a:t>
            </a:r>
            <a:r>
              <a:rPr sz="250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00" b="1" spc="-65" dirty="0">
                <a:solidFill>
                  <a:srgbClr val="FFFFFF"/>
                </a:solidFill>
                <a:latin typeface="Arial"/>
                <a:cs typeface="Arial"/>
              </a:rPr>
              <a:t>Detection</a:t>
            </a:r>
            <a:endParaRPr sz="25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1250"/>
              </a:spcBef>
            </a:pPr>
            <a:r>
              <a:rPr sz="2000" b="1" spc="-240" dirty="0">
                <a:solidFill>
                  <a:srgbClr val="FFFFFF"/>
                </a:solidFill>
                <a:latin typeface="Arial"/>
                <a:cs typeface="Arial"/>
              </a:rPr>
              <a:t>Key</a:t>
            </a:r>
            <a:r>
              <a:rPr sz="20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70" dirty="0">
                <a:solidFill>
                  <a:srgbClr val="FFFFFF"/>
                </a:solidFill>
                <a:latin typeface="Arial"/>
                <a:cs typeface="Arial"/>
              </a:rPr>
              <a:t>Application</a:t>
            </a:r>
            <a:r>
              <a:rPr sz="20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20" dirty="0">
                <a:solidFill>
                  <a:srgbClr val="FFFFFF"/>
                </a:solidFill>
                <a:latin typeface="Arial"/>
                <a:cs typeface="Arial"/>
              </a:rPr>
              <a:t>Areas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200899" y="2486024"/>
            <a:ext cx="2124075" cy="1143000"/>
            <a:chOff x="7200899" y="2486024"/>
            <a:chExt cx="2124075" cy="1143000"/>
          </a:xfrm>
        </p:grpSpPr>
        <p:sp>
          <p:nvSpPr>
            <p:cNvPr id="17" name="object 17"/>
            <p:cNvSpPr/>
            <p:nvPr/>
          </p:nvSpPr>
          <p:spPr>
            <a:xfrm>
              <a:off x="7200899" y="2486024"/>
              <a:ext cx="2124075" cy="1143000"/>
            </a:xfrm>
            <a:custGeom>
              <a:avLst/>
              <a:gdLst/>
              <a:ahLst/>
              <a:cxnLst/>
              <a:rect l="l" t="t" r="r" b="b"/>
              <a:pathLst>
                <a:path w="2124075" h="1143000">
                  <a:moveTo>
                    <a:pt x="2047874" y="1142999"/>
                  </a:moveTo>
                  <a:lnTo>
                    <a:pt x="76199" y="1142999"/>
                  </a:lnTo>
                  <a:lnTo>
                    <a:pt x="68693" y="1142637"/>
                  </a:lnTo>
                  <a:lnTo>
                    <a:pt x="27882" y="1125732"/>
                  </a:lnTo>
                  <a:lnTo>
                    <a:pt x="3261" y="1088886"/>
                  </a:lnTo>
                  <a:lnTo>
                    <a:pt x="0" y="1066799"/>
                  </a:lnTo>
                  <a:lnTo>
                    <a:pt x="0" y="76199"/>
                  </a:lnTo>
                  <a:lnTo>
                    <a:pt x="12829" y="33857"/>
                  </a:lnTo>
                  <a:lnTo>
                    <a:pt x="47038" y="5800"/>
                  </a:lnTo>
                  <a:lnTo>
                    <a:pt x="76199" y="0"/>
                  </a:lnTo>
                  <a:lnTo>
                    <a:pt x="2047874" y="0"/>
                  </a:lnTo>
                  <a:lnTo>
                    <a:pt x="2090216" y="12829"/>
                  </a:lnTo>
                  <a:lnTo>
                    <a:pt x="2118273" y="47039"/>
                  </a:lnTo>
                  <a:lnTo>
                    <a:pt x="2124074" y="76199"/>
                  </a:lnTo>
                  <a:lnTo>
                    <a:pt x="2124074" y="1066799"/>
                  </a:lnTo>
                  <a:lnTo>
                    <a:pt x="2111243" y="1109141"/>
                  </a:lnTo>
                  <a:lnTo>
                    <a:pt x="2077034" y="1137198"/>
                  </a:lnTo>
                  <a:lnTo>
                    <a:pt x="2047874" y="1142999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200899" y="2486025"/>
              <a:ext cx="2124075" cy="1143000"/>
            </a:xfrm>
            <a:custGeom>
              <a:avLst/>
              <a:gdLst/>
              <a:ahLst/>
              <a:cxnLst/>
              <a:rect l="l" t="t" r="r" b="b"/>
              <a:pathLst>
                <a:path w="2124075" h="1143000">
                  <a:moveTo>
                    <a:pt x="2047874" y="1142999"/>
                  </a:moveTo>
                  <a:lnTo>
                    <a:pt x="76199" y="1142999"/>
                  </a:lnTo>
                  <a:lnTo>
                    <a:pt x="68693" y="1142637"/>
                  </a:lnTo>
                  <a:lnTo>
                    <a:pt x="27882" y="1125732"/>
                  </a:lnTo>
                  <a:lnTo>
                    <a:pt x="3261" y="1088886"/>
                  </a:lnTo>
                  <a:lnTo>
                    <a:pt x="0" y="1066799"/>
                  </a:lnTo>
                  <a:lnTo>
                    <a:pt x="0" y="76199"/>
                  </a:lnTo>
                  <a:lnTo>
                    <a:pt x="12829" y="33857"/>
                  </a:lnTo>
                  <a:lnTo>
                    <a:pt x="47038" y="5800"/>
                  </a:lnTo>
                  <a:lnTo>
                    <a:pt x="76199" y="0"/>
                  </a:lnTo>
                  <a:lnTo>
                    <a:pt x="2047874" y="0"/>
                  </a:lnTo>
                  <a:lnTo>
                    <a:pt x="2084695" y="9524"/>
                  </a:lnTo>
                  <a:lnTo>
                    <a:pt x="71821" y="9524"/>
                  </a:lnTo>
                  <a:lnTo>
                    <a:pt x="67486" y="9951"/>
                  </a:lnTo>
                  <a:lnTo>
                    <a:pt x="32149" y="25957"/>
                  </a:lnTo>
                  <a:lnTo>
                    <a:pt x="11660" y="58898"/>
                  </a:lnTo>
                  <a:lnTo>
                    <a:pt x="9524" y="71822"/>
                  </a:lnTo>
                  <a:lnTo>
                    <a:pt x="9524" y="1071177"/>
                  </a:lnTo>
                  <a:lnTo>
                    <a:pt x="9832" y="1074306"/>
                  </a:lnTo>
                  <a:lnTo>
                    <a:pt x="9951" y="1075513"/>
                  </a:lnTo>
                  <a:lnTo>
                    <a:pt x="25957" y="1110850"/>
                  </a:lnTo>
                  <a:lnTo>
                    <a:pt x="58898" y="1131339"/>
                  </a:lnTo>
                  <a:lnTo>
                    <a:pt x="71821" y="1133474"/>
                  </a:lnTo>
                  <a:lnTo>
                    <a:pt x="2084693" y="1133474"/>
                  </a:lnTo>
                  <a:lnTo>
                    <a:pt x="2083830" y="1133991"/>
                  </a:lnTo>
                  <a:lnTo>
                    <a:pt x="2077034" y="1137199"/>
                  </a:lnTo>
                  <a:lnTo>
                    <a:pt x="2069960" y="1139736"/>
                  </a:lnTo>
                  <a:lnTo>
                    <a:pt x="2062742" y="1141549"/>
                  </a:lnTo>
                  <a:lnTo>
                    <a:pt x="2055380" y="1142637"/>
                  </a:lnTo>
                  <a:lnTo>
                    <a:pt x="2047874" y="1142999"/>
                  </a:lnTo>
                  <a:close/>
                </a:path>
                <a:path w="2124075" h="1143000">
                  <a:moveTo>
                    <a:pt x="2084693" y="1133474"/>
                  </a:moveTo>
                  <a:lnTo>
                    <a:pt x="2052252" y="1133474"/>
                  </a:lnTo>
                  <a:lnTo>
                    <a:pt x="2056588" y="1133047"/>
                  </a:lnTo>
                  <a:lnTo>
                    <a:pt x="2065176" y="1131339"/>
                  </a:lnTo>
                  <a:lnTo>
                    <a:pt x="2098116" y="1110850"/>
                  </a:lnTo>
                  <a:lnTo>
                    <a:pt x="2114122" y="1075513"/>
                  </a:lnTo>
                  <a:lnTo>
                    <a:pt x="2114549" y="1071177"/>
                  </a:lnTo>
                  <a:lnTo>
                    <a:pt x="2114549" y="71822"/>
                  </a:lnTo>
                  <a:lnTo>
                    <a:pt x="2100880" y="35517"/>
                  </a:lnTo>
                  <a:lnTo>
                    <a:pt x="2069031" y="12829"/>
                  </a:lnTo>
                  <a:lnTo>
                    <a:pt x="2052252" y="9524"/>
                  </a:lnTo>
                  <a:lnTo>
                    <a:pt x="2084695" y="9524"/>
                  </a:lnTo>
                  <a:lnTo>
                    <a:pt x="2115065" y="40242"/>
                  </a:lnTo>
                  <a:lnTo>
                    <a:pt x="2124074" y="1066799"/>
                  </a:lnTo>
                  <a:lnTo>
                    <a:pt x="2123712" y="1074306"/>
                  </a:lnTo>
                  <a:lnTo>
                    <a:pt x="2106807" y="1115116"/>
                  </a:lnTo>
                  <a:lnTo>
                    <a:pt x="2090343" y="1130074"/>
                  </a:lnTo>
                  <a:lnTo>
                    <a:pt x="2084693" y="1133474"/>
                  </a:lnTo>
                  <a:close/>
                </a:path>
              </a:pathLst>
            </a:custGeom>
            <a:solidFill>
              <a:srgbClr val="FFD6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50335" y="2768599"/>
              <a:ext cx="304800" cy="269875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7390010" y="3149361"/>
            <a:ext cx="158940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80" dirty="0">
                <a:solidFill>
                  <a:srgbClr val="FFFFFF"/>
                </a:solidFill>
                <a:latin typeface="Arial MT"/>
                <a:cs typeface="Arial MT"/>
              </a:rPr>
              <a:t>Autonomous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60" dirty="0">
                <a:solidFill>
                  <a:srgbClr val="FFFFFF"/>
                </a:solidFill>
                <a:latin typeface="Arial MT"/>
                <a:cs typeface="Arial MT"/>
              </a:rPr>
              <a:t>Driving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9477374" y="2486024"/>
            <a:ext cx="2114550" cy="1143000"/>
            <a:chOff x="9477374" y="2486024"/>
            <a:chExt cx="2114550" cy="1143000"/>
          </a:xfrm>
        </p:grpSpPr>
        <p:sp>
          <p:nvSpPr>
            <p:cNvPr id="22" name="object 22"/>
            <p:cNvSpPr/>
            <p:nvPr/>
          </p:nvSpPr>
          <p:spPr>
            <a:xfrm>
              <a:off x="9477374" y="2486024"/>
              <a:ext cx="2114550" cy="1143000"/>
            </a:xfrm>
            <a:custGeom>
              <a:avLst/>
              <a:gdLst/>
              <a:ahLst/>
              <a:cxnLst/>
              <a:rect l="l" t="t" r="r" b="b"/>
              <a:pathLst>
                <a:path w="2114550" h="1143000">
                  <a:moveTo>
                    <a:pt x="2038349" y="1142999"/>
                  </a:moveTo>
                  <a:lnTo>
                    <a:pt x="76199" y="1142999"/>
                  </a:lnTo>
                  <a:lnTo>
                    <a:pt x="68693" y="1142637"/>
                  </a:lnTo>
                  <a:lnTo>
                    <a:pt x="27882" y="1125732"/>
                  </a:lnTo>
                  <a:lnTo>
                    <a:pt x="3261" y="1088886"/>
                  </a:lnTo>
                  <a:lnTo>
                    <a:pt x="0" y="1066799"/>
                  </a:lnTo>
                  <a:lnTo>
                    <a:pt x="0" y="76199"/>
                  </a:lnTo>
                  <a:lnTo>
                    <a:pt x="12828" y="33857"/>
                  </a:lnTo>
                  <a:lnTo>
                    <a:pt x="47038" y="5800"/>
                  </a:lnTo>
                  <a:lnTo>
                    <a:pt x="76199" y="0"/>
                  </a:lnTo>
                  <a:lnTo>
                    <a:pt x="2038349" y="0"/>
                  </a:lnTo>
                  <a:lnTo>
                    <a:pt x="2080690" y="12829"/>
                  </a:lnTo>
                  <a:lnTo>
                    <a:pt x="2108747" y="47039"/>
                  </a:lnTo>
                  <a:lnTo>
                    <a:pt x="2114549" y="76199"/>
                  </a:lnTo>
                  <a:lnTo>
                    <a:pt x="2114549" y="1066799"/>
                  </a:lnTo>
                  <a:lnTo>
                    <a:pt x="2101717" y="1109141"/>
                  </a:lnTo>
                  <a:lnTo>
                    <a:pt x="2067508" y="1137198"/>
                  </a:lnTo>
                  <a:lnTo>
                    <a:pt x="2038349" y="1142999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477374" y="2486025"/>
              <a:ext cx="2114550" cy="1143000"/>
            </a:xfrm>
            <a:custGeom>
              <a:avLst/>
              <a:gdLst/>
              <a:ahLst/>
              <a:cxnLst/>
              <a:rect l="l" t="t" r="r" b="b"/>
              <a:pathLst>
                <a:path w="2114550" h="1143000">
                  <a:moveTo>
                    <a:pt x="2038349" y="1142999"/>
                  </a:moveTo>
                  <a:lnTo>
                    <a:pt x="76199" y="1142999"/>
                  </a:lnTo>
                  <a:lnTo>
                    <a:pt x="68693" y="1142637"/>
                  </a:lnTo>
                  <a:lnTo>
                    <a:pt x="27882" y="1125732"/>
                  </a:lnTo>
                  <a:lnTo>
                    <a:pt x="3261" y="1088886"/>
                  </a:lnTo>
                  <a:lnTo>
                    <a:pt x="0" y="1066799"/>
                  </a:lnTo>
                  <a:lnTo>
                    <a:pt x="0" y="76199"/>
                  </a:lnTo>
                  <a:lnTo>
                    <a:pt x="12828" y="33857"/>
                  </a:lnTo>
                  <a:lnTo>
                    <a:pt x="47038" y="5800"/>
                  </a:lnTo>
                  <a:lnTo>
                    <a:pt x="76199" y="0"/>
                  </a:lnTo>
                  <a:lnTo>
                    <a:pt x="2038349" y="0"/>
                  </a:lnTo>
                  <a:lnTo>
                    <a:pt x="2075168" y="9524"/>
                  </a:lnTo>
                  <a:lnTo>
                    <a:pt x="71821" y="9524"/>
                  </a:lnTo>
                  <a:lnTo>
                    <a:pt x="67485" y="9951"/>
                  </a:lnTo>
                  <a:lnTo>
                    <a:pt x="32149" y="25957"/>
                  </a:lnTo>
                  <a:lnTo>
                    <a:pt x="11660" y="58898"/>
                  </a:lnTo>
                  <a:lnTo>
                    <a:pt x="9524" y="71822"/>
                  </a:lnTo>
                  <a:lnTo>
                    <a:pt x="9524" y="1071177"/>
                  </a:lnTo>
                  <a:lnTo>
                    <a:pt x="9832" y="1074306"/>
                  </a:lnTo>
                  <a:lnTo>
                    <a:pt x="9951" y="1075513"/>
                  </a:lnTo>
                  <a:lnTo>
                    <a:pt x="25957" y="1110850"/>
                  </a:lnTo>
                  <a:lnTo>
                    <a:pt x="58898" y="1131339"/>
                  </a:lnTo>
                  <a:lnTo>
                    <a:pt x="71821" y="1133474"/>
                  </a:lnTo>
                  <a:lnTo>
                    <a:pt x="2075167" y="1133474"/>
                  </a:lnTo>
                  <a:lnTo>
                    <a:pt x="2074304" y="1133991"/>
                  </a:lnTo>
                  <a:lnTo>
                    <a:pt x="2067508" y="1137199"/>
                  </a:lnTo>
                  <a:lnTo>
                    <a:pt x="2060434" y="1139736"/>
                  </a:lnTo>
                  <a:lnTo>
                    <a:pt x="2053217" y="1141549"/>
                  </a:lnTo>
                  <a:lnTo>
                    <a:pt x="2045855" y="1142637"/>
                  </a:lnTo>
                  <a:lnTo>
                    <a:pt x="2038349" y="1142999"/>
                  </a:lnTo>
                  <a:close/>
                </a:path>
                <a:path w="2114550" h="1143000">
                  <a:moveTo>
                    <a:pt x="2075167" y="1133474"/>
                  </a:moveTo>
                  <a:lnTo>
                    <a:pt x="2042727" y="1133474"/>
                  </a:lnTo>
                  <a:lnTo>
                    <a:pt x="2047063" y="1133047"/>
                  </a:lnTo>
                  <a:lnTo>
                    <a:pt x="2055651" y="1131339"/>
                  </a:lnTo>
                  <a:lnTo>
                    <a:pt x="2088591" y="1110850"/>
                  </a:lnTo>
                  <a:lnTo>
                    <a:pt x="2104597" y="1075513"/>
                  </a:lnTo>
                  <a:lnTo>
                    <a:pt x="2105024" y="1071177"/>
                  </a:lnTo>
                  <a:lnTo>
                    <a:pt x="2105024" y="71822"/>
                  </a:lnTo>
                  <a:lnTo>
                    <a:pt x="2091355" y="35517"/>
                  </a:lnTo>
                  <a:lnTo>
                    <a:pt x="2059506" y="12829"/>
                  </a:lnTo>
                  <a:lnTo>
                    <a:pt x="2042727" y="9524"/>
                  </a:lnTo>
                  <a:lnTo>
                    <a:pt x="2075168" y="9524"/>
                  </a:lnTo>
                  <a:lnTo>
                    <a:pt x="2105540" y="40242"/>
                  </a:lnTo>
                  <a:lnTo>
                    <a:pt x="2114549" y="1066799"/>
                  </a:lnTo>
                  <a:lnTo>
                    <a:pt x="2114186" y="1074306"/>
                  </a:lnTo>
                  <a:lnTo>
                    <a:pt x="2097281" y="1115116"/>
                  </a:lnTo>
                  <a:lnTo>
                    <a:pt x="2080817" y="1130074"/>
                  </a:lnTo>
                  <a:lnTo>
                    <a:pt x="2075167" y="1133474"/>
                  </a:lnTo>
                  <a:close/>
                </a:path>
              </a:pathLst>
            </a:custGeom>
            <a:solidFill>
              <a:srgbClr val="FFD6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721006" y="2701924"/>
              <a:ext cx="304800" cy="368300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9660681" y="3149361"/>
            <a:ext cx="135699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70" dirty="0">
                <a:solidFill>
                  <a:srgbClr val="FFFFFF"/>
                </a:solidFill>
                <a:latin typeface="Arial MT"/>
                <a:cs typeface="Arial MT"/>
              </a:rPr>
              <a:t>Security</a:t>
            </a:r>
            <a:r>
              <a:rPr sz="15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70" dirty="0">
                <a:solidFill>
                  <a:srgbClr val="FFFFFF"/>
                </a:solidFill>
                <a:latin typeface="Arial MT"/>
                <a:cs typeface="Arial MT"/>
              </a:rPr>
              <a:t>Systems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7200899" y="3781424"/>
            <a:ext cx="2124075" cy="1143000"/>
            <a:chOff x="7200899" y="3781424"/>
            <a:chExt cx="2124075" cy="1143000"/>
          </a:xfrm>
        </p:grpSpPr>
        <p:sp>
          <p:nvSpPr>
            <p:cNvPr id="27" name="object 27"/>
            <p:cNvSpPr/>
            <p:nvPr/>
          </p:nvSpPr>
          <p:spPr>
            <a:xfrm>
              <a:off x="7200899" y="3781424"/>
              <a:ext cx="2124075" cy="1143000"/>
            </a:xfrm>
            <a:custGeom>
              <a:avLst/>
              <a:gdLst/>
              <a:ahLst/>
              <a:cxnLst/>
              <a:rect l="l" t="t" r="r" b="b"/>
              <a:pathLst>
                <a:path w="2124075" h="1143000">
                  <a:moveTo>
                    <a:pt x="2047874" y="1142999"/>
                  </a:moveTo>
                  <a:lnTo>
                    <a:pt x="76199" y="1142999"/>
                  </a:lnTo>
                  <a:lnTo>
                    <a:pt x="68693" y="1142637"/>
                  </a:lnTo>
                  <a:lnTo>
                    <a:pt x="27882" y="1125732"/>
                  </a:lnTo>
                  <a:lnTo>
                    <a:pt x="3261" y="1088886"/>
                  </a:lnTo>
                  <a:lnTo>
                    <a:pt x="0" y="1066799"/>
                  </a:lnTo>
                  <a:lnTo>
                    <a:pt x="0" y="76199"/>
                  </a:lnTo>
                  <a:lnTo>
                    <a:pt x="12829" y="33857"/>
                  </a:lnTo>
                  <a:lnTo>
                    <a:pt x="47038" y="5799"/>
                  </a:lnTo>
                  <a:lnTo>
                    <a:pt x="76199" y="0"/>
                  </a:lnTo>
                  <a:lnTo>
                    <a:pt x="2047874" y="0"/>
                  </a:lnTo>
                  <a:lnTo>
                    <a:pt x="2090216" y="12829"/>
                  </a:lnTo>
                  <a:lnTo>
                    <a:pt x="2118273" y="47039"/>
                  </a:lnTo>
                  <a:lnTo>
                    <a:pt x="2124074" y="76199"/>
                  </a:lnTo>
                  <a:lnTo>
                    <a:pt x="2124074" y="1066799"/>
                  </a:lnTo>
                  <a:lnTo>
                    <a:pt x="2111243" y="1109141"/>
                  </a:lnTo>
                  <a:lnTo>
                    <a:pt x="2077034" y="1137198"/>
                  </a:lnTo>
                  <a:lnTo>
                    <a:pt x="2047874" y="1142999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200899" y="3781424"/>
              <a:ext cx="2124075" cy="1143000"/>
            </a:xfrm>
            <a:custGeom>
              <a:avLst/>
              <a:gdLst/>
              <a:ahLst/>
              <a:cxnLst/>
              <a:rect l="l" t="t" r="r" b="b"/>
              <a:pathLst>
                <a:path w="2124075" h="1143000">
                  <a:moveTo>
                    <a:pt x="2047874" y="1142999"/>
                  </a:moveTo>
                  <a:lnTo>
                    <a:pt x="76199" y="1142999"/>
                  </a:lnTo>
                  <a:lnTo>
                    <a:pt x="68693" y="1142637"/>
                  </a:lnTo>
                  <a:lnTo>
                    <a:pt x="27882" y="1125732"/>
                  </a:lnTo>
                  <a:lnTo>
                    <a:pt x="3261" y="1088886"/>
                  </a:lnTo>
                  <a:lnTo>
                    <a:pt x="0" y="1066799"/>
                  </a:lnTo>
                  <a:lnTo>
                    <a:pt x="0" y="76199"/>
                  </a:lnTo>
                  <a:lnTo>
                    <a:pt x="12829" y="33857"/>
                  </a:lnTo>
                  <a:lnTo>
                    <a:pt x="47038" y="5799"/>
                  </a:lnTo>
                  <a:lnTo>
                    <a:pt x="76199" y="0"/>
                  </a:lnTo>
                  <a:lnTo>
                    <a:pt x="2047874" y="0"/>
                  </a:lnTo>
                  <a:lnTo>
                    <a:pt x="2084695" y="9524"/>
                  </a:lnTo>
                  <a:lnTo>
                    <a:pt x="71821" y="9524"/>
                  </a:lnTo>
                  <a:lnTo>
                    <a:pt x="67486" y="9951"/>
                  </a:lnTo>
                  <a:lnTo>
                    <a:pt x="32149" y="25957"/>
                  </a:lnTo>
                  <a:lnTo>
                    <a:pt x="11660" y="58898"/>
                  </a:lnTo>
                  <a:lnTo>
                    <a:pt x="9524" y="71821"/>
                  </a:lnTo>
                  <a:lnTo>
                    <a:pt x="9524" y="1071177"/>
                  </a:lnTo>
                  <a:lnTo>
                    <a:pt x="23193" y="1107482"/>
                  </a:lnTo>
                  <a:lnTo>
                    <a:pt x="54729" y="1130074"/>
                  </a:lnTo>
                  <a:lnTo>
                    <a:pt x="71821" y="1133474"/>
                  </a:lnTo>
                  <a:lnTo>
                    <a:pt x="2084693" y="1133474"/>
                  </a:lnTo>
                  <a:lnTo>
                    <a:pt x="2083830" y="1133991"/>
                  </a:lnTo>
                  <a:lnTo>
                    <a:pt x="2077034" y="1137199"/>
                  </a:lnTo>
                  <a:lnTo>
                    <a:pt x="2069960" y="1139736"/>
                  </a:lnTo>
                  <a:lnTo>
                    <a:pt x="2062742" y="1141549"/>
                  </a:lnTo>
                  <a:lnTo>
                    <a:pt x="2055380" y="1142637"/>
                  </a:lnTo>
                  <a:lnTo>
                    <a:pt x="2047874" y="1142999"/>
                  </a:lnTo>
                  <a:close/>
                </a:path>
                <a:path w="2124075" h="1143000">
                  <a:moveTo>
                    <a:pt x="2084693" y="1133474"/>
                  </a:moveTo>
                  <a:lnTo>
                    <a:pt x="2052252" y="1133474"/>
                  </a:lnTo>
                  <a:lnTo>
                    <a:pt x="2056588" y="1133047"/>
                  </a:lnTo>
                  <a:lnTo>
                    <a:pt x="2065176" y="1131339"/>
                  </a:lnTo>
                  <a:lnTo>
                    <a:pt x="2098116" y="1110850"/>
                  </a:lnTo>
                  <a:lnTo>
                    <a:pt x="2114122" y="1075513"/>
                  </a:lnTo>
                  <a:lnTo>
                    <a:pt x="2114549" y="1071177"/>
                  </a:lnTo>
                  <a:lnTo>
                    <a:pt x="2114549" y="71821"/>
                  </a:lnTo>
                  <a:lnTo>
                    <a:pt x="2100880" y="35517"/>
                  </a:lnTo>
                  <a:lnTo>
                    <a:pt x="2069031" y="12829"/>
                  </a:lnTo>
                  <a:lnTo>
                    <a:pt x="2052252" y="9524"/>
                  </a:lnTo>
                  <a:lnTo>
                    <a:pt x="2084695" y="9524"/>
                  </a:lnTo>
                  <a:lnTo>
                    <a:pt x="2115065" y="40242"/>
                  </a:lnTo>
                  <a:lnTo>
                    <a:pt x="2124074" y="1066799"/>
                  </a:lnTo>
                  <a:lnTo>
                    <a:pt x="2123712" y="1074306"/>
                  </a:lnTo>
                  <a:lnTo>
                    <a:pt x="2106807" y="1115116"/>
                  </a:lnTo>
                  <a:lnTo>
                    <a:pt x="2090343" y="1130074"/>
                  </a:lnTo>
                  <a:lnTo>
                    <a:pt x="2084693" y="1133474"/>
                  </a:lnTo>
                  <a:close/>
                </a:path>
              </a:pathLst>
            </a:custGeom>
            <a:solidFill>
              <a:srgbClr val="FFD6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450335" y="4013199"/>
              <a:ext cx="304800" cy="320675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7390010" y="4444761"/>
            <a:ext cx="97218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70" dirty="0">
                <a:solidFill>
                  <a:srgbClr val="FFFFFF"/>
                </a:solidFill>
                <a:latin typeface="Arial MT"/>
                <a:cs typeface="Arial MT"/>
              </a:rPr>
              <a:t>Smart</a:t>
            </a:r>
            <a:r>
              <a:rPr sz="150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50" dirty="0">
                <a:solidFill>
                  <a:srgbClr val="FFFFFF"/>
                </a:solidFill>
                <a:latin typeface="Arial MT"/>
                <a:cs typeface="Arial MT"/>
              </a:rPr>
              <a:t>Cities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9477374" y="3781424"/>
            <a:ext cx="2114550" cy="1143000"/>
            <a:chOff x="9477374" y="3781424"/>
            <a:chExt cx="2114550" cy="1143000"/>
          </a:xfrm>
        </p:grpSpPr>
        <p:sp>
          <p:nvSpPr>
            <p:cNvPr id="32" name="object 32"/>
            <p:cNvSpPr/>
            <p:nvPr/>
          </p:nvSpPr>
          <p:spPr>
            <a:xfrm>
              <a:off x="9477374" y="3781424"/>
              <a:ext cx="2114550" cy="1143000"/>
            </a:xfrm>
            <a:custGeom>
              <a:avLst/>
              <a:gdLst/>
              <a:ahLst/>
              <a:cxnLst/>
              <a:rect l="l" t="t" r="r" b="b"/>
              <a:pathLst>
                <a:path w="2114550" h="1143000">
                  <a:moveTo>
                    <a:pt x="2038349" y="1142999"/>
                  </a:moveTo>
                  <a:lnTo>
                    <a:pt x="76199" y="1142999"/>
                  </a:lnTo>
                  <a:lnTo>
                    <a:pt x="68693" y="1142637"/>
                  </a:lnTo>
                  <a:lnTo>
                    <a:pt x="27882" y="1125732"/>
                  </a:lnTo>
                  <a:lnTo>
                    <a:pt x="3261" y="1088886"/>
                  </a:lnTo>
                  <a:lnTo>
                    <a:pt x="0" y="1066799"/>
                  </a:lnTo>
                  <a:lnTo>
                    <a:pt x="0" y="76199"/>
                  </a:lnTo>
                  <a:lnTo>
                    <a:pt x="12828" y="33857"/>
                  </a:lnTo>
                  <a:lnTo>
                    <a:pt x="47038" y="5799"/>
                  </a:lnTo>
                  <a:lnTo>
                    <a:pt x="76199" y="0"/>
                  </a:lnTo>
                  <a:lnTo>
                    <a:pt x="2038349" y="0"/>
                  </a:lnTo>
                  <a:lnTo>
                    <a:pt x="2080690" y="12829"/>
                  </a:lnTo>
                  <a:lnTo>
                    <a:pt x="2108747" y="47039"/>
                  </a:lnTo>
                  <a:lnTo>
                    <a:pt x="2114549" y="76199"/>
                  </a:lnTo>
                  <a:lnTo>
                    <a:pt x="2114549" y="1066799"/>
                  </a:lnTo>
                  <a:lnTo>
                    <a:pt x="2101717" y="1109141"/>
                  </a:lnTo>
                  <a:lnTo>
                    <a:pt x="2067508" y="1137198"/>
                  </a:lnTo>
                  <a:lnTo>
                    <a:pt x="2038349" y="1142999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9477374" y="3781424"/>
              <a:ext cx="2114550" cy="1143000"/>
            </a:xfrm>
            <a:custGeom>
              <a:avLst/>
              <a:gdLst/>
              <a:ahLst/>
              <a:cxnLst/>
              <a:rect l="l" t="t" r="r" b="b"/>
              <a:pathLst>
                <a:path w="2114550" h="1143000">
                  <a:moveTo>
                    <a:pt x="2038349" y="1142999"/>
                  </a:moveTo>
                  <a:lnTo>
                    <a:pt x="76199" y="1142999"/>
                  </a:lnTo>
                  <a:lnTo>
                    <a:pt x="68693" y="1142637"/>
                  </a:lnTo>
                  <a:lnTo>
                    <a:pt x="27882" y="1125732"/>
                  </a:lnTo>
                  <a:lnTo>
                    <a:pt x="3261" y="1088886"/>
                  </a:lnTo>
                  <a:lnTo>
                    <a:pt x="0" y="1066799"/>
                  </a:lnTo>
                  <a:lnTo>
                    <a:pt x="0" y="76199"/>
                  </a:lnTo>
                  <a:lnTo>
                    <a:pt x="12828" y="33857"/>
                  </a:lnTo>
                  <a:lnTo>
                    <a:pt x="47038" y="5799"/>
                  </a:lnTo>
                  <a:lnTo>
                    <a:pt x="76199" y="0"/>
                  </a:lnTo>
                  <a:lnTo>
                    <a:pt x="2038349" y="0"/>
                  </a:lnTo>
                  <a:lnTo>
                    <a:pt x="2075169" y="9524"/>
                  </a:lnTo>
                  <a:lnTo>
                    <a:pt x="71821" y="9524"/>
                  </a:lnTo>
                  <a:lnTo>
                    <a:pt x="67485" y="9951"/>
                  </a:lnTo>
                  <a:lnTo>
                    <a:pt x="32149" y="25957"/>
                  </a:lnTo>
                  <a:lnTo>
                    <a:pt x="11660" y="58898"/>
                  </a:lnTo>
                  <a:lnTo>
                    <a:pt x="9524" y="71821"/>
                  </a:lnTo>
                  <a:lnTo>
                    <a:pt x="9524" y="1071177"/>
                  </a:lnTo>
                  <a:lnTo>
                    <a:pt x="23193" y="1107482"/>
                  </a:lnTo>
                  <a:lnTo>
                    <a:pt x="54729" y="1130074"/>
                  </a:lnTo>
                  <a:lnTo>
                    <a:pt x="71821" y="1133474"/>
                  </a:lnTo>
                  <a:lnTo>
                    <a:pt x="2075167" y="1133474"/>
                  </a:lnTo>
                  <a:lnTo>
                    <a:pt x="2074304" y="1133991"/>
                  </a:lnTo>
                  <a:lnTo>
                    <a:pt x="2067508" y="1137199"/>
                  </a:lnTo>
                  <a:lnTo>
                    <a:pt x="2060434" y="1139736"/>
                  </a:lnTo>
                  <a:lnTo>
                    <a:pt x="2053217" y="1141549"/>
                  </a:lnTo>
                  <a:lnTo>
                    <a:pt x="2045855" y="1142637"/>
                  </a:lnTo>
                  <a:lnTo>
                    <a:pt x="2038349" y="1142999"/>
                  </a:lnTo>
                  <a:close/>
                </a:path>
                <a:path w="2114550" h="1143000">
                  <a:moveTo>
                    <a:pt x="2075167" y="1133474"/>
                  </a:moveTo>
                  <a:lnTo>
                    <a:pt x="2042727" y="1133474"/>
                  </a:lnTo>
                  <a:lnTo>
                    <a:pt x="2047063" y="1133047"/>
                  </a:lnTo>
                  <a:lnTo>
                    <a:pt x="2055651" y="1131339"/>
                  </a:lnTo>
                  <a:lnTo>
                    <a:pt x="2088591" y="1110850"/>
                  </a:lnTo>
                  <a:lnTo>
                    <a:pt x="2104597" y="1075513"/>
                  </a:lnTo>
                  <a:lnTo>
                    <a:pt x="2105024" y="1071177"/>
                  </a:lnTo>
                  <a:lnTo>
                    <a:pt x="2105024" y="71821"/>
                  </a:lnTo>
                  <a:lnTo>
                    <a:pt x="2091355" y="35517"/>
                  </a:lnTo>
                  <a:lnTo>
                    <a:pt x="2059506" y="12829"/>
                  </a:lnTo>
                  <a:lnTo>
                    <a:pt x="2042727" y="9524"/>
                  </a:lnTo>
                  <a:lnTo>
                    <a:pt x="2075169" y="9524"/>
                  </a:lnTo>
                  <a:lnTo>
                    <a:pt x="2105540" y="40242"/>
                  </a:lnTo>
                  <a:lnTo>
                    <a:pt x="2114549" y="1066799"/>
                  </a:lnTo>
                  <a:lnTo>
                    <a:pt x="2114186" y="1074306"/>
                  </a:lnTo>
                  <a:lnTo>
                    <a:pt x="2097281" y="1115116"/>
                  </a:lnTo>
                  <a:lnTo>
                    <a:pt x="2080817" y="1130074"/>
                  </a:lnTo>
                  <a:lnTo>
                    <a:pt x="2075167" y="1133474"/>
                  </a:lnTo>
                  <a:close/>
                </a:path>
              </a:pathLst>
            </a:custGeom>
            <a:solidFill>
              <a:srgbClr val="FFD6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721006" y="4019549"/>
              <a:ext cx="304800" cy="314325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9660681" y="4444761"/>
            <a:ext cx="168592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0" dirty="0">
                <a:solidFill>
                  <a:srgbClr val="FFFFFF"/>
                </a:solidFill>
                <a:latin typeface="Arial MT"/>
                <a:cs typeface="Arial MT"/>
              </a:rPr>
              <a:t>Industrial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55" dirty="0">
                <a:solidFill>
                  <a:srgbClr val="FFFFFF"/>
                </a:solidFill>
                <a:latin typeface="Arial MT"/>
                <a:cs typeface="Arial MT"/>
              </a:rPr>
              <a:t>Automation</a:t>
            </a:r>
            <a:endParaRPr sz="1500">
              <a:latin typeface="Arial MT"/>
              <a:cs typeface="Arial MT"/>
            </a:endParaRPr>
          </a:p>
        </p:txBody>
      </p:sp>
      <p:pic>
        <p:nvPicPr>
          <p:cNvPr id="36" name="object 3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221735" y="5172074"/>
            <a:ext cx="190500" cy="190500"/>
          </a:xfrm>
          <a:prstGeom prst="rect">
            <a:avLst/>
          </a:prstGeom>
        </p:spPr>
      </p:pic>
      <p:sp>
        <p:nvSpPr>
          <p:cNvPr id="37" name="object 37"/>
          <p:cNvSpPr txBox="1"/>
          <p:nvPr/>
        </p:nvSpPr>
        <p:spPr>
          <a:xfrm>
            <a:off x="7532885" y="5132704"/>
            <a:ext cx="3327400" cy="2292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00" spc="-100" dirty="0">
                <a:solidFill>
                  <a:srgbClr val="9CA2AF"/>
                </a:solidFill>
                <a:latin typeface="Arial MT"/>
                <a:cs typeface="Arial MT"/>
              </a:rPr>
              <a:t>Real-</a:t>
            </a:r>
            <a:r>
              <a:rPr sz="1300" spc="-25" dirty="0">
                <a:solidFill>
                  <a:srgbClr val="9CA2AF"/>
                </a:solidFill>
                <a:latin typeface="Arial MT"/>
                <a:cs typeface="Arial MT"/>
              </a:rPr>
              <a:t>time</a:t>
            </a:r>
            <a:r>
              <a:rPr sz="1300" spc="-40" dirty="0">
                <a:solidFill>
                  <a:srgbClr val="9CA2AF"/>
                </a:solidFill>
                <a:latin typeface="Arial MT"/>
                <a:cs typeface="Arial MT"/>
              </a:rPr>
              <a:t> </a:t>
            </a:r>
            <a:r>
              <a:rPr sz="1300" spc="-35" dirty="0">
                <a:solidFill>
                  <a:srgbClr val="9CA2AF"/>
                </a:solidFill>
                <a:latin typeface="Arial MT"/>
                <a:cs typeface="Arial MT"/>
              </a:rPr>
              <a:t>detection</a:t>
            </a:r>
            <a:r>
              <a:rPr sz="1300" spc="-40" dirty="0">
                <a:solidFill>
                  <a:srgbClr val="9CA2AF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9CA2AF"/>
                </a:solidFill>
                <a:latin typeface="Arial MT"/>
                <a:cs typeface="Arial MT"/>
              </a:rPr>
              <a:t>critical</a:t>
            </a:r>
            <a:r>
              <a:rPr sz="1300" spc="-40" dirty="0">
                <a:solidFill>
                  <a:srgbClr val="9CA2A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9CA2AF"/>
                </a:solidFill>
                <a:latin typeface="Arial MT"/>
                <a:cs typeface="Arial MT"/>
              </a:rPr>
              <a:t>for</a:t>
            </a:r>
            <a:r>
              <a:rPr sz="1300" spc="-40" dirty="0">
                <a:solidFill>
                  <a:srgbClr val="9CA2AF"/>
                </a:solidFill>
                <a:latin typeface="Arial MT"/>
                <a:cs typeface="Arial MT"/>
              </a:rPr>
              <a:t> safety </a:t>
            </a:r>
            <a:r>
              <a:rPr sz="1300" spc="-130" dirty="0">
                <a:solidFill>
                  <a:srgbClr val="9CA2AF"/>
                </a:solidFill>
                <a:latin typeface="Arial MT"/>
                <a:cs typeface="Arial MT"/>
              </a:rPr>
              <a:t>&amp;</a:t>
            </a:r>
            <a:r>
              <a:rPr sz="1300" spc="-40" dirty="0">
                <a:solidFill>
                  <a:srgbClr val="9CA2AF"/>
                </a:solidFill>
                <a:latin typeface="Arial MT"/>
                <a:cs typeface="Arial MT"/>
              </a:rPr>
              <a:t> </a:t>
            </a:r>
            <a:r>
              <a:rPr sz="1300" spc="-35" dirty="0">
                <a:solidFill>
                  <a:srgbClr val="9CA2AF"/>
                </a:solidFill>
                <a:latin typeface="Arial MT"/>
                <a:cs typeface="Arial MT"/>
              </a:rPr>
              <a:t>efficiency</a:t>
            </a:r>
            <a:endParaRPr sz="1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43180">
              <a:lnSpc>
                <a:spcPct val="100000"/>
              </a:lnSpc>
              <a:spcBef>
                <a:spcPts val="114"/>
              </a:spcBef>
            </a:pPr>
            <a:r>
              <a:rPr spc="-215" dirty="0">
                <a:latin typeface="Tahoma"/>
                <a:cs typeface="Tahoma"/>
              </a:rPr>
              <a:t>Goals</a:t>
            </a:r>
            <a:r>
              <a:rPr spc="-140" dirty="0">
                <a:latin typeface="Tahoma"/>
                <a:cs typeface="Tahoma"/>
              </a:rPr>
              <a:t> </a:t>
            </a:r>
            <a:r>
              <a:rPr spc="-540" dirty="0">
                <a:latin typeface="Tahoma"/>
                <a:cs typeface="Tahoma"/>
              </a:rPr>
              <a:t>&amp;</a:t>
            </a:r>
            <a:r>
              <a:rPr spc="-140" dirty="0">
                <a:latin typeface="Tahoma"/>
                <a:cs typeface="Tahoma"/>
              </a:rPr>
              <a:t> </a:t>
            </a:r>
            <a:r>
              <a:rPr spc="-170" dirty="0">
                <a:latin typeface="Tahoma"/>
                <a:cs typeface="Tahoma"/>
              </a:rPr>
              <a:t>Success</a:t>
            </a:r>
            <a:r>
              <a:rPr spc="-145" dirty="0">
                <a:latin typeface="Tahoma"/>
                <a:cs typeface="Tahoma"/>
              </a:rPr>
              <a:t> </a:t>
            </a:r>
            <a:r>
              <a:rPr spc="-155" dirty="0">
                <a:latin typeface="Tahoma"/>
                <a:cs typeface="Tahoma"/>
              </a:rPr>
              <a:t>Criteria</a:t>
            </a:r>
          </a:p>
        </p:txBody>
      </p:sp>
      <p:sp>
        <p:nvSpPr>
          <p:cNvPr id="3" name="object 3"/>
          <p:cNvSpPr/>
          <p:nvPr/>
        </p:nvSpPr>
        <p:spPr>
          <a:xfrm>
            <a:off x="619124" y="1876424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761999" y="38099"/>
                </a:moveTo>
                <a:lnTo>
                  <a:pt x="0" y="38099"/>
                </a:lnTo>
                <a:lnTo>
                  <a:pt x="0" y="0"/>
                </a:lnTo>
                <a:lnTo>
                  <a:pt x="761999" y="0"/>
                </a:lnTo>
                <a:lnTo>
                  <a:pt x="761999" y="38099"/>
                </a:lnTo>
                <a:close/>
              </a:path>
            </a:pathLst>
          </a:custGeom>
          <a:solidFill>
            <a:srgbClr val="FFD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06424" y="1418907"/>
            <a:ext cx="18999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0" dirty="0">
                <a:solidFill>
                  <a:srgbClr val="FFFFFF"/>
                </a:solidFill>
                <a:latin typeface="Roboto"/>
                <a:cs typeface="Roboto"/>
              </a:rPr>
              <a:t>Project</a:t>
            </a:r>
            <a:r>
              <a:rPr sz="2000" b="1" spc="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000" b="1" spc="-95" dirty="0">
                <a:solidFill>
                  <a:srgbClr val="FFFFFF"/>
                </a:solidFill>
                <a:latin typeface="Roboto"/>
                <a:cs typeface="Roboto"/>
              </a:rPr>
              <a:t>Objectives</a:t>
            </a:r>
            <a:endParaRPr sz="2000">
              <a:latin typeface="Roboto"/>
              <a:cs typeface="Roboto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19124" y="2143124"/>
            <a:ext cx="3009900" cy="1866900"/>
            <a:chOff x="619124" y="2143124"/>
            <a:chExt cx="3009900" cy="1866900"/>
          </a:xfrm>
        </p:grpSpPr>
        <p:sp>
          <p:nvSpPr>
            <p:cNvPr id="6" name="object 6"/>
            <p:cNvSpPr/>
            <p:nvPr/>
          </p:nvSpPr>
          <p:spPr>
            <a:xfrm>
              <a:off x="638174" y="2143124"/>
              <a:ext cx="2990850" cy="1866900"/>
            </a:xfrm>
            <a:custGeom>
              <a:avLst/>
              <a:gdLst/>
              <a:ahLst/>
              <a:cxnLst/>
              <a:rect l="l" t="t" r="r" b="b"/>
              <a:pathLst>
                <a:path w="2990850" h="1866900">
                  <a:moveTo>
                    <a:pt x="2884054" y="1866899"/>
                  </a:moveTo>
                  <a:lnTo>
                    <a:pt x="88995" y="1866899"/>
                  </a:lnTo>
                  <a:lnTo>
                    <a:pt x="82801" y="1866167"/>
                  </a:lnTo>
                  <a:lnTo>
                    <a:pt x="37131" y="1843466"/>
                  </a:lnTo>
                  <a:lnTo>
                    <a:pt x="12577" y="1809860"/>
                  </a:lnTo>
                  <a:lnTo>
                    <a:pt x="610" y="1767537"/>
                  </a:lnTo>
                  <a:lnTo>
                    <a:pt x="0" y="1760104"/>
                  </a:lnTo>
                  <a:lnTo>
                    <a:pt x="0" y="1752599"/>
                  </a:lnTo>
                  <a:lnTo>
                    <a:pt x="0" y="106794"/>
                  </a:lnTo>
                  <a:lnTo>
                    <a:pt x="9643" y="63625"/>
                  </a:lnTo>
                  <a:lnTo>
                    <a:pt x="32320" y="28170"/>
                  </a:lnTo>
                  <a:lnTo>
                    <a:pt x="64577" y="5828"/>
                  </a:lnTo>
                  <a:lnTo>
                    <a:pt x="88995" y="0"/>
                  </a:lnTo>
                  <a:lnTo>
                    <a:pt x="2884054" y="0"/>
                  </a:lnTo>
                  <a:lnTo>
                    <a:pt x="2927224" y="11572"/>
                  </a:lnTo>
                  <a:lnTo>
                    <a:pt x="2962678" y="38784"/>
                  </a:lnTo>
                  <a:lnTo>
                    <a:pt x="2985021" y="77492"/>
                  </a:lnTo>
                  <a:lnTo>
                    <a:pt x="2990849" y="106794"/>
                  </a:lnTo>
                  <a:lnTo>
                    <a:pt x="2990849" y="1760104"/>
                  </a:lnTo>
                  <a:lnTo>
                    <a:pt x="2979276" y="1803273"/>
                  </a:lnTo>
                  <a:lnTo>
                    <a:pt x="2952065" y="1838728"/>
                  </a:lnTo>
                  <a:lnTo>
                    <a:pt x="2913356" y="1861070"/>
                  </a:lnTo>
                  <a:lnTo>
                    <a:pt x="2891487" y="1866167"/>
                  </a:lnTo>
                  <a:lnTo>
                    <a:pt x="2884054" y="1866899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19124" y="2143124"/>
              <a:ext cx="114300" cy="1866900"/>
            </a:xfrm>
            <a:custGeom>
              <a:avLst/>
              <a:gdLst/>
              <a:ahLst/>
              <a:cxnLst/>
              <a:rect l="l" t="t" r="r" b="b"/>
              <a:pathLst>
                <a:path w="114300" h="1866900">
                  <a:moveTo>
                    <a:pt x="114300" y="1866899"/>
                  </a:moveTo>
                  <a:lnTo>
                    <a:pt x="70559" y="1858198"/>
                  </a:lnTo>
                  <a:lnTo>
                    <a:pt x="33477" y="1833422"/>
                  </a:lnTo>
                  <a:lnTo>
                    <a:pt x="8700" y="1796340"/>
                  </a:lnTo>
                  <a:lnTo>
                    <a:pt x="0" y="1752599"/>
                  </a:lnTo>
                  <a:lnTo>
                    <a:pt x="0" y="114300"/>
                  </a:lnTo>
                  <a:lnTo>
                    <a:pt x="8700" y="70558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300" y="0"/>
                  </a:lnTo>
                  <a:lnTo>
                    <a:pt x="106793" y="543"/>
                  </a:lnTo>
                  <a:lnTo>
                    <a:pt x="99431" y="2175"/>
                  </a:lnTo>
                  <a:lnTo>
                    <a:pt x="65982" y="25900"/>
                  </a:lnTo>
                  <a:lnTo>
                    <a:pt x="47107" y="60364"/>
                  </a:lnTo>
                  <a:lnTo>
                    <a:pt x="38462" y="103040"/>
                  </a:lnTo>
                  <a:lnTo>
                    <a:pt x="38100" y="114300"/>
                  </a:lnTo>
                  <a:lnTo>
                    <a:pt x="38100" y="1752599"/>
                  </a:lnTo>
                  <a:lnTo>
                    <a:pt x="43900" y="1796340"/>
                  </a:lnTo>
                  <a:lnTo>
                    <a:pt x="60418" y="1833422"/>
                  </a:lnTo>
                  <a:lnTo>
                    <a:pt x="92213" y="1862005"/>
                  </a:lnTo>
                  <a:lnTo>
                    <a:pt x="106793" y="1866355"/>
                  </a:lnTo>
                  <a:lnTo>
                    <a:pt x="114300" y="1866899"/>
                  </a:lnTo>
                  <a:close/>
                </a:path>
              </a:pathLst>
            </a:custGeom>
            <a:solidFill>
              <a:srgbClr val="FFD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4399" y="2432049"/>
              <a:ext cx="304800" cy="244475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349374" y="2347118"/>
            <a:ext cx="2039620" cy="103378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901700">
              <a:lnSpc>
                <a:spcPts val="2100"/>
              </a:lnSpc>
              <a:spcBef>
                <a:spcPts val="85"/>
              </a:spcBef>
            </a:pPr>
            <a:r>
              <a:rPr sz="1650" b="1" spc="-105" dirty="0">
                <a:solidFill>
                  <a:srgbClr val="FFFFFF"/>
                </a:solidFill>
                <a:latin typeface="Arial"/>
                <a:cs typeface="Arial"/>
              </a:rPr>
              <a:t>Real-</a:t>
            </a:r>
            <a:r>
              <a:rPr sz="1650" b="1" spc="-20" dirty="0">
                <a:solidFill>
                  <a:srgbClr val="FFFFFF"/>
                </a:solidFill>
                <a:latin typeface="Arial"/>
                <a:cs typeface="Arial"/>
              </a:rPr>
              <a:t>Time </a:t>
            </a:r>
            <a:r>
              <a:rPr sz="1650" b="1" spc="-125" dirty="0">
                <a:solidFill>
                  <a:srgbClr val="FFFFFF"/>
                </a:solidFill>
                <a:latin typeface="Arial"/>
                <a:cs typeface="Arial"/>
              </a:rPr>
              <a:t>Performance</a:t>
            </a:r>
            <a:endParaRPr sz="1650">
              <a:latin typeface="Arial"/>
              <a:cs typeface="Arial"/>
            </a:endParaRPr>
          </a:p>
          <a:p>
            <a:pPr marL="12700" marR="5080">
              <a:lnSpc>
                <a:spcPct val="115399"/>
              </a:lnSpc>
              <a:spcBef>
                <a:spcPts val="140"/>
              </a:spcBef>
            </a:pPr>
            <a:r>
              <a:rPr sz="1300" spc="-55" dirty="0">
                <a:solidFill>
                  <a:srgbClr val="D0D5DA"/>
                </a:solidFill>
                <a:latin typeface="Arial MT"/>
                <a:cs typeface="Arial MT"/>
              </a:rPr>
              <a:t>Process</a:t>
            </a:r>
            <a:r>
              <a:rPr sz="1300" spc="-4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300" spc="-50" dirty="0">
                <a:solidFill>
                  <a:srgbClr val="D0D5DA"/>
                </a:solidFill>
                <a:latin typeface="Arial MT"/>
                <a:cs typeface="Arial MT"/>
              </a:rPr>
              <a:t>video</a:t>
            </a:r>
            <a:r>
              <a:rPr sz="1300" spc="-4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300" spc="-30" dirty="0">
                <a:solidFill>
                  <a:srgbClr val="D0D5DA"/>
                </a:solidFill>
                <a:latin typeface="Arial MT"/>
                <a:cs typeface="Arial MT"/>
              </a:rPr>
              <a:t>at</a:t>
            </a:r>
            <a:r>
              <a:rPr sz="1300" spc="-4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300" spc="-35" dirty="0">
                <a:solidFill>
                  <a:srgbClr val="D0D5DA"/>
                </a:solidFill>
                <a:latin typeface="Arial MT"/>
                <a:cs typeface="Arial MT"/>
              </a:rPr>
              <a:t>minimum</a:t>
            </a:r>
            <a:r>
              <a:rPr sz="1300" spc="-4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300" spc="-85" dirty="0">
                <a:solidFill>
                  <a:srgbClr val="D0D5DA"/>
                </a:solidFill>
                <a:latin typeface="Arial MT"/>
                <a:cs typeface="Arial MT"/>
              </a:rPr>
              <a:t>30 </a:t>
            </a:r>
            <a:r>
              <a:rPr sz="1300" spc="-25" dirty="0">
                <a:solidFill>
                  <a:srgbClr val="D0D5DA"/>
                </a:solidFill>
                <a:latin typeface="Arial MT"/>
                <a:cs typeface="Arial MT"/>
              </a:rPr>
              <a:t>FPS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885824" y="3609974"/>
            <a:ext cx="1790700" cy="76200"/>
            <a:chOff x="885824" y="3609974"/>
            <a:chExt cx="1790700" cy="76200"/>
          </a:xfrm>
        </p:grpSpPr>
        <p:sp>
          <p:nvSpPr>
            <p:cNvPr id="11" name="object 11"/>
            <p:cNvSpPr/>
            <p:nvPr/>
          </p:nvSpPr>
          <p:spPr>
            <a:xfrm>
              <a:off x="885824" y="3609974"/>
              <a:ext cx="1790700" cy="76200"/>
            </a:xfrm>
            <a:custGeom>
              <a:avLst/>
              <a:gdLst/>
              <a:ahLst/>
              <a:cxnLst/>
              <a:rect l="l" t="t" r="r" b="b"/>
              <a:pathLst>
                <a:path w="1790700" h="76200">
                  <a:moveTo>
                    <a:pt x="1757652" y="76199"/>
                  </a:moveTo>
                  <a:lnTo>
                    <a:pt x="33047" y="76199"/>
                  </a:lnTo>
                  <a:lnTo>
                    <a:pt x="28187" y="75232"/>
                  </a:lnTo>
                  <a:lnTo>
                    <a:pt x="966" y="48012"/>
                  </a:lnTo>
                  <a:lnTo>
                    <a:pt x="0" y="43152"/>
                  </a:lnTo>
                  <a:lnTo>
                    <a:pt x="0" y="380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757652" y="0"/>
                  </a:lnTo>
                  <a:lnTo>
                    <a:pt x="1789733" y="28186"/>
                  </a:lnTo>
                  <a:lnTo>
                    <a:pt x="1790699" y="33047"/>
                  </a:lnTo>
                  <a:lnTo>
                    <a:pt x="1790699" y="43152"/>
                  </a:lnTo>
                  <a:lnTo>
                    <a:pt x="1762512" y="75232"/>
                  </a:lnTo>
                  <a:lnTo>
                    <a:pt x="1757652" y="76199"/>
                  </a:lnTo>
                  <a:close/>
                </a:path>
              </a:pathLst>
            </a:custGeom>
            <a:solidFill>
              <a:srgbClr val="374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85824" y="3609974"/>
              <a:ext cx="1524000" cy="76200"/>
            </a:xfrm>
            <a:custGeom>
              <a:avLst/>
              <a:gdLst/>
              <a:ahLst/>
              <a:cxnLst/>
              <a:rect l="l" t="t" r="r" b="b"/>
              <a:pathLst>
                <a:path w="1524000" h="76200">
                  <a:moveTo>
                    <a:pt x="1523999" y="76199"/>
                  </a:moveTo>
                  <a:lnTo>
                    <a:pt x="38100" y="76199"/>
                  </a:lnTo>
                  <a:lnTo>
                    <a:pt x="30498" y="75502"/>
                  </a:lnTo>
                  <a:lnTo>
                    <a:pt x="697" y="45702"/>
                  </a:lnTo>
                  <a:lnTo>
                    <a:pt x="0" y="38100"/>
                  </a:lnTo>
                  <a:lnTo>
                    <a:pt x="697" y="30498"/>
                  </a:lnTo>
                  <a:lnTo>
                    <a:pt x="30498" y="697"/>
                  </a:lnTo>
                  <a:lnTo>
                    <a:pt x="38100" y="0"/>
                  </a:lnTo>
                  <a:lnTo>
                    <a:pt x="1523999" y="0"/>
                  </a:lnTo>
                  <a:lnTo>
                    <a:pt x="1523999" y="76199"/>
                  </a:lnTo>
                  <a:close/>
                </a:path>
              </a:pathLst>
            </a:custGeom>
            <a:solidFill>
              <a:srgbClr val="FFD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740917" y="3501786"/>
            <a:ext cx="66865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95" dirty="0">
                <a:solidFill>
                  <a:srgbClr val="FFD600"/>
                </a:solidFill>
                <a:latin typeface="Arial"/>
                <a:cs typeface="Arial"/>
              </a:rPr>
              <a:t>30+</a:t>
            </a:r>
            <a:r>
              <a:rPr sz="1500" b="1" spc="-75" dirty="0">
                <a:solidFill>
                  <a:srgbClr val="FFD600"/>
                </a:solidFill>
                <a:latin typeface="Arial"/>
                <a:cs typeface="Arial"/>
              </a:rPr>
              <a:t> </a:t>
            </a:r>
            <a:r>
              <a:rPr sz="1500" b="1" spc="-140" dirty="0">
                <a:solidFill>
                  <a:srgbClr val="FFD600"/>
                </a:solidFill>
                <a:latin typeface="Arial"/>
                <a:cs typeface="Arial"/>
              </a:rPr>
              <a:t>FPS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819524" y="2143124"/>
            <a:ext cx="3000375" cy="1866900"/>
            <a:chOff x="3819524" y="2143124"/>
            <a:chExt cx="3000375" cy="1866900"/>
          </a:xfrm>
        </p:grpSpPr>
        <p:sp>
          <p:nvSpPr>
            <p:cNvPr id="15" name="object 15"/>
            <p:cNvSpPr/>
            <p:nvPr/>
          </p:nvSpPr>
          <p:spPr>
            <a:xfrm>
              <a:off x="3838574" y="2143124"/>
              <a:ext cx="2981325" cy="1866900"/>
            </a:xfrm>
            <a:custGeom>
              <a:avLst/>
              <a:gdLst/>
              <a:ahLst/>
              <a:cxnLst/>
              <a:rect l="l" t="t" r="r" b="b"/>
              <a:pathLst>
                <a:path w="2981325" h="1866900">
                  <a:moveTo>
                    <a:pt x="2874529" y="1866899"/>
                  </a:moveTo>
                  <a:lnTo>
                    <a:pt x="88995" y="1866899"/>
                  </a:lnTo>
                  <a:lnTo>
                    <a:pt x="82801" y="1866167"/>
                  </a:lnTo>
                  <a:lnTo>
                    <a:pt x="37131" y="1843466"/>
                  </a:lnTo>
                  <a:lnTo>
                    <a:pt x="12577" y="1809860"/>
                  </a:lnTo>
                  <a:lnTo>
                    <a:pt x="609" y="1767537"/>
                  </a:lnTo>
                  <a:lnTo>
                    <a:pt x="0" y="1760104"/>
                  </a:lnTo>
                  <a:lnTo>
                    <a:pt x="0" y="1752599"/>
                  </a:lnTo>
                  <a:lnTo>
                    <a:pt x="0" y="106794"/>
                  </a:lnTo>
                  <a:lnTo>
                    <a:pt x="9643" y="63625"/>
                  </a:lnTo>
                  <a:lnTo>
                    <a:pt x="32320" y="28170"/>
                  </a:lnTo>
                  <a:lnTo>
                    <a:pt x="64577" y="5828"/>
                  </a:lnTo>
                  <a:lnTo>
                    <a:pt x="88995" y="0"/>
                  </a:lnTo>
                  <a:lnTo>
                    <a:pt x="2874529" y="0"/>
                  </a:lnTo>
                  <a:lnTo>
                    <a:pt x="2917698" y="11572"/>
                  </a:lnTo>
                  <a:lnTo>
                    <a:pt x="2953152" y="38784"/>
                  </a:lnTo>
                  <a:lnTo>
                    <a:pt x="2975496" y="77492"/>
                  </a:lnTo>
                  <a:lnTo>
                    <a:pt x="2981324" y="106794"/>
                  </a:lnTo>
                  <a:lnTo>
                    <a:pt x="2981324" y="1760104"/>
                  </a:lnTo>
                  <a:lnTo>
                    <a:pt x="2969751" y="1803273"/>
                  </a:lnTo>
                  <a:lnTo>
                    <a:pt x="2942539" y="1838728"/>
                  </a:lnTo>
                  <a:lnTo>
                    <a:pt x="2903830" y="1861070"/>
                  </a:lnTo>
                  <a:lnTo>
                    <a:pt x="2881963" y="1866167"/>
                  </a:lnTo>
                  <a:lnTo>
                    <a:pt x="2874529" y="1866899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819524" y="2143124"/>
              <a:ext cx="114300" cy="1866900"/>
            </a:xfrm>
            <a:custGeom>
              <a:avLst/>
              <a:gdLst/>
              <a:ahLst/>
              <a:cxnLst/>
              <a:rect l="l" t="t" r="r" b="b"/>
              <a:pathLst>
                <a:path w="114300" h="1866900">
                  <a:moveTo>
                    <a:pt x="114300" y="1866899"/>
                  </a:moveTo>
                  <a:lnTo>
                    <a:pt x="70559" y="1858198"/>
                  </a:lnTo>
                  <a:lnTo>
                    <a:pt x="33477" y="1833422"/>
                  </a:lnTo>
                  <a:lnTo>
                    <a:pt x="8700" y="1796340"/>
                  </a:lnTo>
                  <a:lnTo>
                    <a:pt x="0" y="1752599"/>
                  </a:lnTo>
                  <a:lnTo>
                    <a:pt x="0" y="114300"/>
                  </a:lnTo>
                  <a:lnTo>
                    <a:pt x="8700" y="70558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300" y="0"/>
                  </a:lnTo>
                  <a:lnTo>
                    <a:pt x="106793" y="543"/>
                  </a:lnTo>
                  <a:lnTo>
                    <a:pt x="99431" y="2175"/>
                  </a:lnTo>
                  <a:lnTo>
                    <a:pt x="65982" y="25900"/>
                  </a:lnTo>
                  <a:lnTo>
                    <a:pt x="47107" y="60364"/>
                  </a:lnTo>
                  <a:lnTo>
                    <a:pt x="38462" y="103040"/>
                  </a:lnTo>
                  <a:lnTo>
                    <a:pt x="38100" y="114300"/>
                  </a:lnTo>
                  <a:lnTo>
                    <a:pt x="38100" y="1752599"/>
                  </a:lnTo>
                  <a:lnTo>
                    <a:pt x="43900" y="1796340"/>
                  </a:lnTo>
                  <a:lnTo>
                    <a:pt x="60418" y="1833422"/>
                  </a:lnTo>
                  <a:lnTo>
                    <a:pt x="92213" y="1862005"/>
                  </a:lnTo>
                  <a:lnTo>
                    <a:pt x="106793" y="1866355"/>
                  </a:lnTo>
                  <a:lnTo>
                    <a:pt x="114300" y="1866899"/>
                  </a:lnTo>
                  <a:close/>
                </a:path>
              </a:pathLst>
            </a:custGeom>
            <a:solidFill>
              <a:srgbClr val="FFD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26805" y="2416174"/>
              <a:ext cx="273050" cy="273050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4545905" y="2347118"/>
            <a:ext cx="1758314" cy="103378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467359">
              <a:lnSpc>
                <a:spcPts val="2100"/>
              </a:lnSpc>
              <a:spcBef>
                <a:spcPts val="85"/>
              </a:spcBef>
            </a:pPr>
            <a:r>
              <a:rPr sz="1650" b="1" spc="-135" dirty="0">
                <a:solidFill>
                  <a:srgbClr val="FFFFFF"/>
                </a:solidFill>
                <a:latin typeface="Arial"/>
                <a:cs typeface="Arial"/>
              </a:rPr>
              <a:t>High</a:t>
            </a:r>
            <a:r>
              <a:rPr sz="165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50" b="1" spc="-125" dirty="0">
                <a:solidFill>
                  <a:srgbClr val="FFFFFF"/>
                </a:solidFill>
                <a:latin typeface="Arial"/>
                <a:cs typeface="Arial"/>
              </a:rPr>
              <a:t>Detection </a:t>
            </a:r>
            <a:r>
              <a:rPr sz="1650" b="1" spc="-35" dirty="0">
                <a:solidFill>
                  <a:srgbClr val="FFFFFF"/>
                </a:solidFill>
                <a:latin typeface="Arial"/>
                <a:cs typeface="Arial"/>
              </a:rPr>
              <a:t>Accuracy</a:t>
            </a:r>
            <a:endParaRPr sz="1650">
              <a:latin typeface="Arial"/>
              <a:cs typeface="Arial"/>
            </a:endParaRPr>
          </a:p>
          <a:p>
            <a:pPr marL="12700" marR="5080">
              <a:lnSpc>
                <a:spcPct val="115399"/>
              </a:lnSpc>
              <a:spcBef>
                <a:spcPts val="140"/>
              </a:spcBef>
            </a:pPr>
            <a:r>
              <a:rPr sz="1300" spc="-65" dirty="0">
                <a:solidFill>
                  <a:srgbClr val="D0D5DA"/>
                </a:solidFill>
                <a:latin typeface="Arial MT"/>
                <a:cs typeface="Arial MT"/>
              </a:rPr>
              <a:t>Achieve</a:t>
            </a:r>
            <a:r>
              <a:rPr sz="1300" spc="-3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300" spc="-35" dirty="0">
                <a:solidFill>
                  <a:srgbClr val="D0D5DA"/>
                </a:solidFill>
                <a:latin typeface="Arial MT"/>
                <a:cs typeface="Arial MT"/>
              </a:rPr>
              <a:t>competitive</a:t>
            </a:r>
            <a:r>
              <a:rPr sz="1300" spc="-3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300" spc="-90" dirty="0">
                <a:solidFill>
                  <a:srgbClr val="D0D5DA"/>
                </a:solidFill>
                <a:latin typeface="Arial MT"/>
                <a:cs typeface="Arial MT"/>
              </a:rPr>
              <a:t>mAP </a:t>
            </a:r>
            <a:r>
              <a:rPr sz="1300" spc="-10" dirty="0">
                <a:solidFill>
                  <a:srgbClr val="D0D5DA"/>
                </a:solidFill>
                <a:latin typeface="Arial MT"/>
                <a:cs typeface="Arial MT"/>
              </a:rPr>
              <a:t>scores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086224" y="3609974"/>
            <a:ext cx="1533525" cy="76200"/>
            <a:chOff x="4086224" y="3609974"/>
            <a:chExt cx="1533525" cy="76200"/>
          </a:xfrm>
        </p:grpSpPr>
        <p:sp>
          <p:nvSpPr>
            <p:cNvPr id="20" name="object 20"/>
            <p:cNvSpPr/>
            <p:nvPr/>
          </p:nvSpPr>
          <p:spPr>
            <a:xfrm>
              <a:off x="4086224" y="3609974"/>
              <a:ext cx="1533525" cy="76200"/>
            </a:xfrm>
            <a:custGeom>
              <a:avLst/>
              <a:gdLst/>
              <a:ahLst/>
              <a:cxnLst/>
              <a:rect l="l" t="t" r="r" b="b"/>
              <a:pathLst>
                <a:path w="1533525" h="76200">
                  <a:moveTo>
                    <a:pt x="1500477" y="76199"/>
                  </a:moveTo>
                  <a:lnTo>
                    <a:pt x="33047" y="76199"/>
                  </a:lnTo>
                  <a:lnTo>
                    <a:pt x="28187" y="75232"/>
                  </a:lnTo>
                  <a:lnTo>
                    <a:pt x="966" y="48012"/>
                  </a:lnTo>
                  <a:lnTo>
                    <a:pt x="0" y="43152"/>
                  </a:lnTo>
                  <a:lnTo>
                    <a:pt x="0" y="380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500477" y="0"/>
                  </a:lnTo>
                  <a:lnTo>
                    <a:pt x="1532557" y="28186"/>
                  </a:lnTo>
                  <a:lnTo>
                    <a:pt x="1533524" y="33047"/>
                  </a:lnTo>
                  <a:lnTo>
                    <a:pt x="1533524" y="43152"/>
                  </a:lnTo>
                  <a:lnTo>
                    <a:pt x="1505337" y="75232"/>
                  </a:lnTo>
                  <a:lnTo>
                    <a:pt x="1500477" y="76199"/>
                  </a:lnTo>
                  <a:close/>
                </a:path>
              </a:pathLst>
            </a:custGeom>
            <a:solidFill>
              <a:srgbClr val="374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086224" y="3609974"/>
              <a:ext cx="1152525" cy="76200"/>
            </a:xfrm>
            <a:custGeom>
              <a:avLst/>
              <a:gdLst/>
              <a:ahLst/>
              <a:cxnLst/>
              <a:rect l="l" t="t" r="r" b="b"/>
              <a:pathLst>
                <a:path w="1152525" h="76200">
                  <a:moveTo>
                    <a:pt x="1152524" y="76200"/>
                  </a:moveTo>
                  <a:lnTo>
                    <a:pt x="38100" y="76200"/>
                  </a:lnTo>
                  <a:lnTo>
                    <a:pt x="30498" y="75502"/>
                  </a:lnTo>
                  <a:lnTo>
                    <a:pt x="697" y="45702"/>
                  </a:lnTo>
                  <a:lnTo>
                    <a:pt x="0" y="38100"/>
                  </a:lnTo>
                  <a:lnTo>
                    <a:pt x="697" y="30498"/>
                  </a:lnTo>
                  <a:lnTo>
                    <a:pt x="30498" y="697"/>
                  </a:lnTo>
                  <a:lnTo>
                    <a:pt x="38100" y="0"/>
                  </a:lnTo>
                  <a:lnTo>
                    <a:pt x="1152524" y="0"/>
                  </a:lnTo>
                  <a:lnTo>
                    <a:pt x="1152524" y="76200"/>
                  </a:lnTo>
                  <a:close/>
                </a:path>
              </a:pathLst>
            </a:custGeom>
            <a:solidFill>
              <a:srgbClr val="FFD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687566" y="3501786"/>
            <a:ext cx="91821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65" dirty="0">
                <a:solidFill>
                  <a:srgbClr val="FFD600"/>
                </a:solidFill>
                <a:latin typeface="Arial"/>
                <a:cs typeface="Arial"/>
              </a:rPr>
              <a:t>mAP</a:t>
            </a:r>
            <a:r>
              <a:rPr sz="1500" b="1" spc="-80" dirty="0">
                <a:solidFill>
                  <a:srgbClr val="FFD600"/>
                </a:solidFill>
                <a:latin typeface="Arial"/>
                <a:cs typeface="Arial"/>
              </a:rPr>
              <a:t> </a:t>
            </a:r>
            <a:r>
              <a:rPr sz="1500" b="1" spc="-190" dirty="0">
                <a:solidFill>
                  <a:srgbClr val="FFD600"/>
                </a:solidFill>
                <a:latin typeface="Arial"/>
                <a:cs typeface="Arial"/>
              </a:rPr>
              <a:t>&gt;</a:t>
            </a:r>
            <a:r>
              <a:rPr sz="1500" b="1" spc="-80" dirty="0">
                <a:solidFill>
                  <a:srgbClr val="FFD600"/>
                </a:solidFill>
                <a:latin typeface="Arial"/>
                <a:cs typeface="Arial"/>
              </a:rPr>
              <a:t> </a:t>
            </a:r>
            <a:r>
              <a:rPr sz="1500" b="1" spc="-40" dirty="0">
                <a:solidFill>
                  <a:srgbClr val="FFD600"/>
                </a:solidFill>
                <a:latin typeface="Arial"/>
                <a:cs typeface="Arial"/>
              </a:rPr>
              <a:t>0.75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19124" y="4200524"/>
            <a:ext cx="3009900" cy="1600200"/>
            <a:chOff x="619124" y="4200524"/>
            <a:chExt cx="3009900" cy="1600200"/>
          </a:xfrm>
        </p:grpSpPr>
        <p:sp>
          <p:nvSpPr>
            <p:cNvPr id="24" name="object 24"/>
            <p:cNvSpPr/>
            <p:nvPr/>
          </p:nvSpPr>
          <p:spPr>
            <a:xfrm>
              <a:off x="638174" y="4200525"/>
              <a:ext cx="2990850" cy="1600200"/>
            </a:xfrm>
            <a:custGeom>
              <a:avLst/>
              <a:gdLst/>
              <a:ahLst/>
              <a:cxnLst/>
              <a:rect l="l" t="t" r="r" b="b"/>
              <a:pathLst>
                <a:path w="2990850" h="1600200">
                  <a:moveTo>
                    <a:pt x="2884054" y="1600199"/>
                  </a:moveTo>
                  <a:lnTo>
                    <a:pt x="88995" y="1600199"/>
                  </a:lnTo>
                  <a:lnTo>
                    <a:pt x="82801" y="1599467"/>
                  </a:lnTo>
                  <a:lnTo>
                    <a:pt x="37131" y="1576766"/>
                  </a:lnTo>
                  <a:lnTo>
                    <a:pt x="12577" y="1543159"/>
                  </a:lnTo>
                  <a:lnTo>
                    <a:pt x="610" y="1500837"/>
                  </a:lnTo>
                  <a:lnTo>
                    <a:pt x="0" y="1493404"/>
                  </a:lnTo>
                  <a:lnTo>
                    <a:pt x="0" y="1485899"/>
                  </a:lnTo>
                  <a:lnTo>
                    <a:pt x="0" y="106794"/>
                  </a:lnTo>
                  <a:lnTo>
                    <a:pt x="9643" y="63624"/>
                  </a:lnTo>
                  <a:lnTo>
                    <a:pt x="32320" y="28170"/>
                  </a:lnTo>
                  <a:lnTo>
                    <a:pt x="64577" y="5828"/>
                  </a:lnTo>
                  <a:lnTo>
                    <a:pt x="88995" y="0"/>
                  </a:lnTo>
                  <a:lnTo>
                    <a:pt x="2884054" y="0"/>
                  </a:lnTo>
                  <a:lnTo>
                    <a:pt x="2927224" y="11572"/>
                  </a:lnTo>
                  <a:lnTo>
                    <a:pt x="2962678" y="38783"/>
                  </a:lnTo>
                  <a:lnTo>
                    <a:pt x="2985021" y="77492"/>
                  </a:lnTo>
                  <a:lnTo>
                    <a:pt x="2990849" y="106794"/>
                  </a:lnTo>
                  <a:lnTo>
                    <a:pt x="2990849" y="1493404"/>
                  </a:lnTo>
                  <a:lnTo>
                    <a:pt x="2979276" y="1536572"/>
                  </a:lnTo>
                  <a:lnTo>
                    <a:pt x="2952065" y="1572028"/>
                  </a:lnTo>
                  <a:lnTo>
                    <a:pt x="2913356" y="1594370"/>
                  </a:lnTo>
                  <a:lnTo>
                    <a:pt x="2891487" y="1599467"/>
                  </a:lnTo>
                  <a:lnTo>
                    <a:pt x="2884054" y="1600199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19124" y="4200524"/>
              <a:ext cx="114300" cy="1600200"/>
            </a:xfrm>
            <a:custGeom>
              <a:avLst/>
              <a:gdLst/>
              <a:ahLst/>
              <a:cxnLst/>
              <a:rect l="l" t="t" r="r" b="b"/>
              <a:pathLst>
                <a:path w="114300" h="1600200">
                  <a:moveTo>
                    <a:pt x="114300" y="1600199"/>
                  </a:moveTo>
                  <a:lnTo>
                    <a:pt x="70559" y="1591498"/>
                  </a:lnTo>
                  <a:lnTo>
                    <a:pt x="33477" y="1566721"/>
                  </a:lnTo>
                  <a:lnTo>
                    <a:pt x="8700" y="1529639"/>
                  </a:lnTo>
                  <a:lnTo>
                    <a:pt x="0" y="1485900"/>
                  </a:lnTo>
                  <a:lnTo>
                    <a:pt x="0" y="114300"/>
                  </a:lnTo>
                  <a:lnTo>
                    <a:pt x="8700" y="70558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300" y="0"/>
                  </a:lnTo>
                  <a:lnTo>
                    <a:pt x="106793" y="544"/>
                  </a:lnTo>
                  <a:lnTo>
                    <a:pt x="99431" y="2175"/>
                  </a:lnTo>
                  <a:lnTo>
                    <a:pt x="65982" y="25900"/>
                  </a:lnTo>
                  <a:lnTo>
                    <a:pt x="47107" y="60364"/>
                  </a:lnTo>
                  <a:lnTo>
                    <a:pt x="38462" y="103040"/>
                  </a:lnTo>
                  <a:lnTo>
                    <a:pt x="38100" y="114300"/>
                  </a:lnTo>
                  <a:lnTo>
                    <a:pt x="38100" y="1485900"/>
                  </a:lnTo>
                  <a:lnTo>
                    <a:pt x="43900" y="1529639"/>
                  </a:lnTo>
                  <a:lnTo>
                    <a:pt x="60418" y="1566721"/>
                  </a:lnTo>
                  <a:lnTo>
                    <a:pt x="92213" y="1595305"/>
                  </a:lnTo>
                  <a:lnTo>
                    <a:pt x="106793" y="1599656"/>
                  </a:lnTo>
                  <a:lnTo>
                    <a:pt x="114300" y="1600199"/>
                  </a:lnTo>
                  <a:close/>
                </a:path>
              </a:pathLst>
            </a:custGeom>
            <a:solidFill>
              <a:srgbClr val="FFD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5674" y="4473574"/>
              <a:ext cx="228600" cy="317500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1349374" y="4336057"/>
            <a:ext cx="2003425" cy="835025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 marR="5080">
              <a:lnSpc>
                <a:spcPct val="119600"/>
              </a:lnSpc>
              <a:spcBef>
                <a:spcPts val="270"/>
              </a:spcBef>
            </a:pPr>
            <a:r>
              <a:rPr sz="1650" b="1" spc="-114" dirty="0">
                <a:solidFill>
                  <a:srgbClr val="FFFFFF"/>
                </a:solidFill>
                <a:latin typeface="Arial"/>
                <a:cs typeface="Arial"/>
              </a:rPr>
              <a:t>User-</a:t>
            </a:r>
            <a:r>
              <a:rPr sz="1650" b="1" spc="-135" dirty="0">
                <a:solidFill>
                  <a:srgbClr val="FFFFFF"/>
                </a:solidFill>
                <a:latin typeface="Arial"/>
                <a:cs typeface="Arial"/>
              </a:rPr>
              <a:t>Friendly</a:t>
            </a:r>
            <a:r>
              <a:rPr sz="165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50" b="1" spc="-90" dirty="0">
                <a:solidFill>
                  <a:srgbClr val="FFFFFF"/>
                </a:solidFill>
                <a:latin typeface="Arial"/>
                <a:cs typeface="Arial"/>
              </a:rPr>
              <a:t>Interface </a:t>
            </a:r>
            <a:r>
              <a:rPr sz="1300" spc="-45" dirty="0">
                <a:solidFill>
                  <a:srgbClr val="D0D5DA"/>
                </a:solidFill>
                <a:latin typeface="Arial MT"/>
                <a:cs typeface="Arial MT"/>
              </a:rPr>
              <a:t>Accessible</a:t>
            </a:r>
            <a:r>
              <a:rPr sz="1300" spc="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300" spc="-80" dirty="0">
                <a:solidFill>
                  <a:srgbClr val="D0D5DA"/>
                </a:solidFill>
                <a:latin typeface="Arial MT"/>
                <a:cs typeface="Arial MT"/>
              </a:rPr>
              <a:t>web-</a:t>
            </a:r>
            <a:r>
              <a:rPr sz="1300" spc="-20" dirty="0">
                <a:solidFill>
                  <a:srgbClr val="D0D5DA"/>
                </a:solidFill>
                <a:latin typeface="Arial MT"/>
                <a:cs typeface="Arial MT"/>
              </a:rPr>
              <a:t>based </a:t>
            </a:r>
            <a:r>
              <a:rPr sz="1300" spc="-10" dirty="0">
                <a:solidFill>
                  <a:srgbClr val="D0D5DA"/>
                </a:solidFill>
                <a:latin typeface="Arial MT"/>
                <a:cs typeface="Arial MT"/>
              </a:rPr>
              <a:t>detection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885824" y="5400674"/>
            <a:ext cx="1543050" cy="76200"/>
            <a:chOff x="885824" y="5400674"/>
            <a:chExt cx="1543050" cy="76200"/>
          </a:xfrm>
        </p:grpSpPr>
        <p:sp>
          <p:nvSpPr>
            <p:cNvPr id="29" name="object 29"/>
            <p:cNvSpPr/>
            <p:nvPr/>
          </p:nvSpPr>
          <p:spPr>
            <a:xfrm>
              <a:off x="885824" y="5400674"/>
              <a:ext cx="1543050" cy="76200"/>
            </a:xfrm>
            <a:custGeom>
              <a:avLst/>
              <a:gdLst/>
              <a:ahLst/>
              <a:cxnLst/>
              <a:rect l="l" t="t" r="r" b="b"/>
              <a:pathLst>
                <a:path w="1543050" h="76200">
                  <a:moveTo>
                    <a:pt x="1510002" y="76199"/>
                  </a:moveTo>
                  <a:lnTo>
                    <a:pt x="33047" y="76199"/>
                  </a:lnTo>
                  <a:lnTo>
                    <a:pt x="28187" y="75232"/>
                  </a:lnTo>
                  <a:lnTo>
                    <a:pt x="966" y="48012"/>
                  </a:lnTo>
                  <a:lnTo>
                    <a:pt x="0" y="43152"/>
                  </a:lnTo>
                  <a:lnTo>
                    <a:pt x="0" y="380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510002" y="0"/>
                  </a:lnTo>
                  <a:lnTo>
                    <a:pt x="1542082" y="28187"/>
                  </a:lnTo>
                  <a:lnTo>
                    <a:pt x="1543049" y="33047"/>
                  </a:lnTo>
                  <a:lnTo>
                    <a:pt x="1543049" y="43152"/>
                  </a:lnTo>
                  <a:lnTo>
                    <a:pt x="1514862" y="75232"/>
                  </a:lnTo>
                  <a:lnTo>
                    <a:pt x="1510002" y="76199"/>
                  </a:lnTo>
                  <a:close/>
                </a:path>
              </a:pathLst>
            </a:custGeom>
            <a:solidFill>
              <a:srgbClr val="374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85824" y="5400674"/>
              <a:ext cx="1390650" cy="76200"/>
            </a:xfrm>
            <a:custGeom>
              <a:avLst/>
              <a:gdLst/>
              <a:ahLst/>
              <a:cxnLst/>
              <a:rect l="l" t="t" r="r" b="b"/>
              <a:pathLst>
                <a:path w="1390650" h="76200">
                  <a:moveTo>
                    <a:pt x="1390649" y="76200"/>
                  </a:moveTo>
                  <a:lnTo>
                    <a:pt x="38100" y="76200"/>
                  </a:lnTo>
                  <a:lnTo>
                    <a:pt x="30498" y="75502"/>
                  </a:lnTo>
                  <a:lnTo>
                    <a:pt x="697" y="45702"/>
                  </a:lnTo>
                  <a:lnTo>
                    <a:pt x="0" y="38100"/>
                  </a:lnTo>
                  <a:lnTo>
                    <a:pt x="697" y="30498"/>
                  </a:lnTo>
                  <a:lnTo>
                    <a:pt x="30498" y="697"/>
                  </a:lnTo>
                  <a:lnTo>
                    <a:pt x="38100" y="0"/>
                  </a:lnTo>
                  <a:lnTo>
                    <a:pt x="1390649" y="0"/>
                  </a:lnTo>
                  <a:lnTo>
                    <a:pt x="1390649" y="76200"/>
                  </a:lnTo>
                  <a:close/>
                </a:path>
              </a:pathLst>
            </a:custGeom>
            <a:solidFill>
              <a:srgbClr val="FFD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2489695" y="5292486"/>
            <a:ext cx="91948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70" dirty="0">
                <a:solidFill>
                  <a:srgbClr val="FFD600"/>
                </a:solidFill>
                <a:latin typeface="Arial"/>
                <a:cs typeface="Arial"/>
              </a:rPr>
              <a:t>Easy</a:t>
            </a:r>
            <a:r>
              <a:rPr sz="1500" b="1" spc="-70" dirty="0">
                <a:solidFill>
                  <a:srgbClr val="FFD600"/>
                </a:solidFill>
                <a:latin typeface="Arial"/>
                <a:cs typeface="Arial"/>
              </a:rPr>
              <a:t> </a:t>
            </a:r>
            <a:r>
              <a:rPr sz="1500" b="1" spc="-120" dirty="0">
                <a:solidFill>
                  <a:srgbClr val="FFD600"/>
                </a:solidFill>
                <a:latin typeface="Arial"/>
                <a:cs typeface="Arial"/>
              </a:rPr>
              <a:t>to</a:t>
            </a:r>
            <a:r>
              <a:rPr sz="1500" b="1" spc="-70" dirty="0">
                <a:solidFill>
                  <a:srgbClr val="FFD600"/>
                </a:solidFill>
                <a:latin typeface="Arial"/>
                <a:cs typeface="Arial"/>
              </a:rPr>
              <a:t> </a:t>
            </a:r>
            <a:r>
              <a:rPr sz="1500" b="1" spc="-130" dirty="0">
                <a:solidFill>
                  <a:srgbClr val="FFD600"/>
                </a:solidFill>
                <a:latin typeface="Arial"/>
                <a:cs typeface="Arial"/>
              </a:rPr>
              <a:t>Use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3819524" y="4200524"/>
            <a:ext cx="3000375" cy="1600200"/>
            <a:chOff x="3819524" y="4200524"/>
            <a:chExt cx="3000375" cy="1600200"/>
          </a:xfrm>
        </p:grpSpPr>
        <p:sp>
          <p:nvSpPr>
            <p:cNvPr id="33" name="object 33"/>
            <p:cNvSpPr/>
            <p:nvPr/>
          </p:nvSpPr>
          <p:spPr>
            <a:xfrm>
              <a:off x="3838574" y="4200525"/>
              <a:ext cx="2981325" cy="1600200"/>
            </a:xfrm>
            <a:custGeom>
              <a:avLst/>
              <a:gdLst/>
              <a:ahLst/>
              <a:cxnLst/>
              <a:rect l="l" t="t" r="r" b="b"/>
              <a:pathLst>
                <a:path w="2981325" h="1600200">
                  <a:moveTo>
                    <a:pt x="2874529" y="1600199"/>
                  </a:moveTo>
                  <a:lnTo>
                    <a:pt x="88995" y="1600199"/>
                  </a:lnTo>
                  <a:lnTo>
                    <a:pt x="82801" y="1599467"/>
                  </a:lnTo>
                  <a:lnTo>
                    <a:pt x="37131" y="1576766"/>
                  </a:lnTo>
                  <a:lnTo>
                    <a:pt x="12577" y="1543159"/>
                  </a:lnTo>
                  <a:lnTo>
                    <a:pt x="609" y="1500837"/>
                  </a:lnTo>
                  <a:lnTo>
                    <a:pt x="0" y="1493404"/>
                  </a:lnTo>
                  <a:lnTo>
                    <a:pt x="0" y="1485899"/>
                  </a:lnTo>
                  <a:lnTo>
                    <a:pt x="0" y="106794"/>
                  </a:lnTo>
                  <a:lnTo>
                    <a:pt x="9643" y="63624"/>
                  </a:lnTo>
                  <a:lnTo>
                    <a:pt x="32320" y="28170"/>
                  </a:lnTo>
                  <a:lnTo>
                    <a:pt x="64577" y="5828"/>
                  </a:lnTo>
                  <a:lnTo>
                    <a:pt x="88995" y="0"/>
                  </a:lnTo>
                  <a:lnTo>
                    <a:pt x="2874529" y="0"/>
                  </a:lnTo>
                  <a:lnTo>
                    <a:pt x="2917698" y="11572"/>
                  </a:lnTo>
                  <a:lnTo>
                    <a:pt x="2953152" y="38783"/>
                  </a:lnTo>
                  <a:lnTo>
                    <a:pt x="2975496" y="77492"/>
                  </a:lnTo>
                  <a:lnTo>
                    <a:pt x="2981324" y="106794"/>
                  </a:lnTo>
                  <a:lnTo>
                    <a:pt x="2981324" y="1493404"/>
                  </a:lnTo>
                  <a:lnTo>
                    <a:pt x="2969751" y="1536572"/>
                  </a:lnTo>
                  <a:lnTo>
                    <a:pt x="2942539" y="1572028"/>
                  </a:lnTo>
                  <a:lnTo>
                    <a:pt x="2903830" y="1594370"/>
                  </a:lnTo>
                  <a:lnTo>
                    <a:pt x="2881963" y="1599467"/>
                  </a:lnTo>
                  <a:lnTo>
                    <a:pt x="2874529" y="1600199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819524" y="4200524"/>
              <a:ext cx="114300" cy="1600200"/>
            </a:xfrm>
            <a:custGeom>
              <a:avLst/>
              <a:gdLst/>
              <a:ahLst/>
              <a:cxnLst/>
              <a:rect l="l" t="t" r="r" b="b"/>
              <a:pathLst>
                <a:path w="114300" h="1600200">
                  <a:moveTo>
                    <a:pt x="114300" y="1600199"/>
                  </a:moveTo>
                  <a:lnTo>
                    <a:pt x="70559" y="1591498"/>
                  </a:lnTo>
                  <a:lnTo>
                    <a:pt x="33477" y="1566721"/>
                  </a:lnTo>
                  <a:lnTo>
                    <a:pt x="8700" y="1529639"/>
                  </a:lnTo>
                  <a:lnTo>
                    <a:pt x="0" y="1485900"/>
                  </a:lnTo>
                  <a:lnTo>
                    <a:pt x="0" y="114300"/>
                  </a:lnTo>
                  <a:lnTo>
                    <a:pt x="8700" y="70558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300" y="0"/>
                  </a:lnTo>
                  <a:lnTo>
                    <a:pt x="106793" y="544"/>
                  </a:lnTo>
                  <a:lnTo>
                    <a:pt x="99431" y="2175"/>
                  </a:lnTo>
                  <a:lnTo>
                    <a:pt x="65982" y="25900"/>
                  </a:lnTo>
                  <a:lnTo>
                    <a:pt x="47107" y="60364"/>
                  </a:lnTo>
                  <a:lnTo>
                    <a:pt x="38462" y="103040"/>
                  </a:lnTo>
                  <a:lnTo>
                    <a:pt x="38100" y="114300"/>
                  </a:lnTo>
                  <a:lnTo>
                    <a:pt x="38100" y="1485900"/>
                  </a:lnTo>
                  <a:lnTo>
                    <a:pt x="43900" y="1529639"/>
                  </a:lnTo>
                  <a:lnTo>
                    <a:pt x="60418" y="1566721"/>
                  </a:lnTo>
                  <a:lnTo>
                    <a:pt x="92213" y="1595305"/>
                  </a:lnTo>
                  <a:lnTo>
                    <a:pt x="106793" y="1599656"/>
                  </a:lnTo>
                  <a:lnTo>
                    <a:pt x="114300" y="1600199"/>
                  </a:lnTo>
                  <a:close/>
                </a:path>
              </a:pathLst>
            </a:custGeom>
            <a:solidFill>
              <a:srgbClr val="FFD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10930" y="4441824"/>
              <a:ext cx="320675" cy="320675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4545905" y="4336057"/>
            <a:ext cx="1865630" cy="835025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 marR="5080">
              <a:lnSpc>
                <a:spcPct val="119600"/>
              </a:lnSpc>
              <a:spcBef>
                <a:spcPts val="270"/>
              </a:spcBef>
            </a:pPr>
            <a:r>
              <a:rPr sz="1650" b="1" spc="-125" dirty="0">
                <a:solidFill>
                  <a:srgbClr val="FFFFFF"/>
                </a:solidFill>
                <a:latin typeface="Arial"/>
                <a:cs typeface="Arial"/>
              </a:rPr>
              <a:t>Scalable</a:t>
            </a:r>
            <a:r>
              <a:rPr sz="165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50" b="1" spc="-120" dirty="0">
                <a:solidFill>
                  <a:srgbClr val="FFFFFF"/>
                </a:solidFill>
                <a:latin typeface="Arial"/>
                <a:cs typeface="Arial"/>
              </a:rPr>
              <a:t>Architecture </a:t>
            </a:r>
            <a:r>
              <a:rPr sz="1300" spc="-60" dirty="0">
                <a:solidFill>
                  <a:srgbClr val="D0D5DA"/>
                </a:solidFill>
                <a:latin typeface="Arial MT"/>
                <a:cs typeface="Arial MT"/>
              </a:rPr>
              <a:t>Extensible</a:t>
            </a:r>
            <a:r>
              <a:rPr sz="1300" spc="-4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0D5DA"/>
                </a:solidFill>
                <a:latin typeface="Arial MT"/>
                <a:cs typeface="Arial MT"/>
              </a:rPr>
              <a:t>for</a:t>
            </a:r>
            <a:r>
              <a:rPr sz="1300" spc="-3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D0D5DA"/>
                </a:solidFill>
                <a:latin typeface="Arial MT"/>
                <a:cs typeface="Arial MT"/>
              </a:rPr>
              <a:t>future enhancements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4086224" y="5400674"/>
            <a:ext cx="1219200" cy="76200"/>
            <a:chOff x="4086224" y="5400674"/>
            <a:chExt cx="1219200" cy="76200"/>
          </a:xfrm>
        </p:grpSpPr>
        <p:sp>
          <p:nvSpPr>
            <p:cNvPr id="38" name="object 38"/>
            <p:cNvSpPr/>
            <p:nvPr/>
          </p:nvSpPr>
          <p:spPr>
            <a:xfrm>
              <a:off x="4086224" y="5400674"/>
              <a:ext cx="1219200" cy="76200"/>
            </a:xfrm>
            <a:custGeom>
              <a:avLst/>
              <a:gdLst/>
              <a:ahLst/>
              <a:cxnLst/>
              <a:rect l="l" t="t" r="r" b="b"/>
              <a:pathLst>
                <a:path w="1219200" h="76200">
                  <a:moveTo>
                    <a:pt x="1186151" y="76199"/>
                  </a:moveTo>
                  <a:lnTo>
                    <a:pt x="33047" y="76199"/>
                  </a:lnTo>
                  <a:lnTo>
                    <a:pt x="28187" y="75232"/>
                  </a:lnTo>
                  <a:lnTo>
                    <a:pt x="966" y="48012"/>
                  </a:lnTo>
                  <a:lnTo>
                    <a:pt x="0" y="43152"/>
                  </a:lnTo>
                  <a:lnTo>
                    <a:pt x="0" y="380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186151" y="0"/>
                  </a:lnTo>
                  <a:lnTo>
                    <a:pt x="1218232" y="28187"/>
                  </a:lnTo>
                  <a:lnTo>
                    <a:pt x="1219199" y="33047"/>
                  </a:lnTo>
                  <a:lnTo>
                    <a:pt x="1219199" y="43152"/>
                  </a:lnTo>
                  <a:lnTo>
                    <a:pt x="1191011" y="75232"/>
                  </a:lnTo>
                  <a:lnTo>
                    <a:pt x="1186151" y="76199"/>
                  </a:lnTo>
                  <a:close/>
                </a:path>
              </a:pathLst>
            </a:custGeom>
            <a:solidFill>
              <a:srgbClr val="374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086224" y="5400674"/>
              <a:ext cx="971550" cy="76200"/>
            </a:xfrm>
            <a:custGeom>
              <a:avLst/>
              <a:gdLst/>
              <a:ahLst/>
              <a:cxnLst/>
              <a:rect l="l" t="t" r="r" b="b"/>
              <a:pathLst>
                <a:path w="971550" h="76200">
                  <a:moveTo>
                    <a:pt x="971549" y="76200"/>
                  </a:moveTo>
                  <a:lnTo>
                    <a:pt x="38100" y="76200"/>
                  </a:lnTo>
                  <a:lnTo>
                    <a:pt x="30498" y="75502"/>
                  </a:lnTo>
                  <a:lnTo>
                    <a:pt x="697" y="45702"/>
                  </a:lnTo>
                  <a:lnTo>
                    <a:pt x="0" y="38100"/>
                  </a:lnTo>
                  <a:lnTo>
                    <a:pt x="697" y="30498"/>
                  </a:lnTo>
                  <a:lnTo>
                    <a:pt x="30498" y="697"/>
                  </a:lnTo>
                  <a:lnTo>
                    <a:pt x="38100" y="0"/>
                  </a:lnTo>
                  <a:lnTo>
                    <a:pt x="971549" y="0"/>
                  </a:lnTo>
                  <a:lnTo>
                    <a:pt x="971549" y="76200"/>
                  </a:lnTo>
                  <a:close/>
                </a:path>
              </a:pathLst>
            </a:custGeom>
            <a:solidFill>
              <a:srgbClr val="FFD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5366841" y="5292486"/>
            <a:ext cx="123888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25" dirty="0">
                <a:solidFill>
                  <a:srgbClr val="FFD600"/>
                </a:solidFill>
                <a:latin typeface="Arial"/>
                <a:cs typeface="Arial"/>
              </a:rPr>
              <a:t>Modular</a:t>
            </a:r>
            <a:r>
              <a:rPr sz="1500" b="1" spc="-45" dirty="0">
                <a:solidFill>
                  <a:srgbClr val="FFD600"/>
                </a:solidFill>
                <a:latin typeface="Arial"/>
                <a:cs typeface="Arial"/>
              </a:rPr>
              <a:t> </a:t>
            </a:r>
            <a:r>
              <a:rPr sz="1500" b="1" spc="-125" dirty="0">
                <a:solidFill>
                  <a:srgbClr val="FFD600"/>
                </a:solidFill>
                <a:latin typeface="Arial"/>
                <a:cs typeface="Arial"/>
              </a:rPr>
              <a:t>Design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8010524" y="5181599"/>
            <a:ext cx="2771775" cy="704850"/>
            <a:chOff x="8010524" y="5181599"/>
            <a:chExt cx="2771775" cy="704850"/>
          </a:xfrm>
        </p:grpSpPr>
        <p:sp>
          <p:nvSpPr>
            <p:cNvPr id="42" name="object 42"/>
            <p:cNvSpPr/>
            <p:nvPr/>
          </p:nvSpPr>
          <p:spPr>
            <a:xfrm>
              <a:off x="8010524" y="5181599"/>
              <a:ext cx="2771775" cy="704850"/>
            </a:xfrm>
            <a:custGeom>
              <a:avLst/>
              <a:gdLst/>
              <a:ahLst/>
              <a:cxnLst/>
              <a:rect l="l" t="t" r="r" b="b"/>
              <a:pathLst>
                <a:path w="2771775" h="704850">
                  <a:moveTo>
                    <a:pt x="2695574" y="704849"/>
                  </a:moveTo>
                  <a:lnTo>
                    <a:pt x="76199" y="704849"/>
                  </a:lnTo>
                  <a:lnTo>
                    <a:pt x="68693" y="704487"/>
                  </a:lnTo>
                  <a:lnTo>
                    <a:pt x="27882" y="687582"/>
                  </a:lnTo>
                  <a:lnTo>
                    <a:pt x="3262" y="650736"/>
                  </a:lnTo>
                  <a:lnTo>
                    <a:pt x="0" y="628649"/>
                  </a:lnTo>
                  <a:lnTo>
                    <a:pt x="0" y="76199"/>
                  </a:lnTo>
                  <a:lnTo>
                    <a:pt x="12829" y="33857"/>
                  </a:lnTo>
                  <a:lnTo>
                    <a:pt x="47038" y="5799"/>
                  </a:lnTo>
                  <a:lnTo>
                    <a:pt x="76199" y="0"/>
                  </a:lnTo>
                  <a:lnTo>
                    <a:pt x="2695574" y="0"/>
                  </a:lnTo>
                  <a:lnTo>
                    <a:pt x="2737915" y="12829"/>
                  </a:lnTo>
                  <a:lnTo>
                    <a:pt x="2765973" y="47038"/>
                  </a:lnTo>
                  <a:lnTo>
                    <a:pt x="2771774" y="76199"/>
                  </a:lnTo>
                  <a:lnTo>
                    <a:pt x="2771774" y="628649"/>
                  </a:lnTo>
                  <a:lnTo>
                    <a:pt x="2758943" y="670992"/>
                  </a:lnTo>
                  <a:lnTo>
                    <a:pt x="2724733" y="699049"/>
                  </a:lnTo>
                  <a:lnTo>
                    <a:pt x="2695574" y="704849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8010524" y="5181599"/>
              <a:ext cx="2771775" cy="704850"/>
            </a:xfrm>
            <a:custGeom>
              <a:avLst/>
              <a:gdLst/>
              <a:ahLst/>
              <a:cxnLst/>
              <a:rect l="l" t="t" r="r" b="b"/>
              <a:pathLst>
                <a:path w="2771775" h="704850">
                  <a:moveTo>
                    <a:pt x="2695574" y="704849"/>
                  </a:moveTo>
                  <a:lnTo>
                    <a:pt x="76199" y="704849"/>
                  </a:lnTo>
                  <a:lnTo>
                    <a:pt x="68693" y="704487"/>
                  </a:lnTo>
                  <a:lnTo>
                    <a:pt x="27882" y="687582"/>
                  </a:lnTo>
                  <a:lnTo>
                    <a:pt x="3262" y="650736"/>
                  </a:lnTo>
                  <a:lnTo>
                    <a:pt x="0" y="628649"/>
                  </a:lnTo>
                  <a:lnTo>
                    <a:pt x="0" y="76199"/>
                  </a:lnTo>
                  <a:lnTo>
                    <a:pt x="12829" y="33857"/>
                  </a:lnTo>
                  <a:lnTo>
                    <a:pt x="47038" y="5799"/>
                  </a:lnTo>
                  <a:lnTo>
                    <a:pt x="2695574" y="0"/>
                  </a:lnTo>
                  <a:lnTo>
                    <a:pt x="2703080" y="362"/>
                  </a:lnTo>
                  <a:lnTo>
                    <a:pt x="2732394" y="9524"/>
                  </a:lnTo>
                  <a:lnTo>
                    <a:pt x="71821" y="9524"/>
                  </a:lnTo>
                  <a:lnTo>
                    <a:pt x="67486" y="9951"/>
                  </a:lnTo>
                  <a:lnTo>
                    <a:pt x="32149" y="25957"/>
                  </a:lnTo>
                  <a:lnTo>
                    <a:pt x="11660" y="58898"/>
                  </a:lnTo>
                  <a:lnTo>
                    <a:pt x="9524" y="71821"/>
                  </a:lnTo>
                  <a:lnTo>
                    <a:pt x="9524" y="633027"/>
                  </a:lnTo>
                  <a:lnTo>
                    <a:pt x="9832" y="636156"/>
                  </a:lnTo>
                  <a:lnTo>
                    <a:pt x="9951" y="637363"/>
                  </a:lnTo>
                  <a:lnTo>
                    <a:pt x="25957" y="672700"/>
                  </a:lnTo>
                  <a:lnTo>
                    <a:pt x="58898" y="693189"/>
                  </a:lnTo>
                  <a:lnTo>
                    <a:pt x="71821" y="695324"/>
                  </a:lnTo>
                  <a:lnTo>
                    <a:pt x="2732393" y="695324"/>
                  </a:lnTo>
                  <a:lnTo>
                    <a:pt x="2731529" y="695841"/>
                  </a:lnTo>
                  <a:lnTo>
                    <a:pt x="2724733" y="699049"/>
                  </a:lnTo>
                  <a:lnTo>
                    <a:pt x="2717659" y="701587"/>
                  </a:lnTo>
                  <a:lnTo>
                    <a:pt x="2710442" y="703399"/>
                  </a:lnTo>
                  <a:lnTo>
                    <a:pt x="2703080" y="704487"/>
                  </a:lnTo>
                  <a:lnTo>
                    <a:pt x="2695574" y="704849"/>
                  </a:lnTo>
                  <a:close/>
                </a:path>
                <a:path w="2771775" h="704850">
                  <a:moveTo>
                    <a:pt x="2732393" y="695324"/>
                  </a:moveTo>
                  <a:lnTo>
                    <a:pt x="2699952" y="695324"/>
                  </a:lnTo>
                  <a:lnTo>
                    <a:pt x="2704288" y="694897"/>
                  </a:lnTo>
                  <a:lnTo>
                    <a:pt x="2712876" y="693189"/>
                  </a:lnTo>
                  <a:lnTo>
                    <a:pt x="2745816" y="672700"/>
                  </a:lnTo>
                  <a:lnTo>
                    <a:pt x="2761822" y="637363"/>
                  </a:lnTo>
                  <a:lnTo>
                    <a:pt x="2762249" y="633027"/>
                  </a:lnTo>
                  <a:lnTo>
                    <a:pt x="2762249" y="71821"/>
                  </a:lnTo>
                  <a:lnTo>
                    <a:pt x="2748580" y="35517"/>
                  </a:lnTo>
                  <a:lnTo>
                    <a:pt x="2716731" y="12829"/>
                  </a:lnTo>
                  <a:lnTo>
                    <a:pt x="2699952" y="9524"/>
                  </a:lnTo>
                  <a:lnTo>
                    <a:pt x="2732394" y="9524"/>
                  </a:lnTo>
                  <a:lnTo>
                    <a:pt x="2762765" y="40242"/>
                  </a:lnTo>
                  <a:lnTo>
                    <a:pt x="2771774" y="628649"/>
                  </a:lnTo>
                  <a:lnTo>
                    <a:pt x="2771411" y="636156"/>
                  </a:lnTo>
                  <a:lnTo>
                    <a:pt x="2754507" y="676967"/>
                  </a:lnTo>
                  <a:lnTo>
                    <a:pt x="2738043" y="691924"/>
                  </a:lnTo>
                  <a:lnTo>
                    <a:pt x="2732393" y="695324"/>
                  </a:lnTo>
                  <a:close/>
                </a:path>
              </a:pathLst>
            </a:custGeom>
            <a:solidFill>
              <a:srgbClr val="FFD6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38777" y="5457824"/>
              <a:ext cx="254000" cy="152400"/>
            </a:xfrm>
            <a:prstGeom prst="rect">
              <a:avLst/>
            </a:prstGeom>
          </p:spPr>
        </p:pic>
      </p:grpSp>
      <p:sp>
        <p:nvSpPr>
          <p:cNvPr id="45" name="object 45"/>
          <p:cNvSpPr txBox="1"/>
          <p:nvPr/>
        </p:nvSpPr>
        <p:spPr>
          <a:xfrm>
            <a:off x="8619777" y="5253095"/>
            <a:ext cx="1974214" cy="50482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1450" b="1" spc="-60" dirty="0">
                <a:solidFill>
                  <a:srgbClr val="FFFFFF"/>
                </a:solidFill>
                <a:latin typeface="Roboto"/>
                <a:cs typeface="Roboto"/>
              </a:rPr>
              <a:t>Continuous</a:t>
            </a:r>
            <a:r>
              <a:rPr sz="1450" b="1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50" b="1" spc="-50" dirty="0">
                <a:solidFill>
                  <a:srgbClr val="FFFFFF"/>
                </a:solidFill>
                <a:latin typeface="Roboto"/>
                <a:cs typeface="Roboto"/>
              </a:rPr>
              <a:t>Improvement</a:t>
            </a:r>
            <a:endParaRPr sz="14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150" spc="-40" dirty="0">
                <a:solidFill>
                  <a:srgbClr val="9CA2AF"/>
                </a:solidFill>
                <a:latin typeface="Tahoma"/>
                <a:cs typeface="Tahoma"/>
              </a:rPr>
              <a:t>Optimizing</a:t>
            </a:r>
            <a:r>
              <a:rPr sz="1150" spc="-65" dirty="0">
                <a:solidFill>
                  <a:srgbClr val="9CA2AF"/>
                </a:solidFill>
                <a:latin typeface="Tahoma"/>
                <a:cs typeface="Tahoma"/>
              </a:rPr>
              <a:t> </a:t>
            </a:r>
            <a:r>
              <a:rPr sz="1150" spc="-40" dirty="0">
                <a:solidFill>
                  <a:srgbClr val="9CA2AF"/>
                </a:solidFill>
                <a:latin typeface="Tahoma"/>
                <a:cs typeface="Tahoma"/>
              </a:rPr>
              <a:t>accuracy</a:t>
            </a:r>
            <a:r>
              <a:rPr sz="1150" spc="-65" dirty="0">
                <a:solidFill>
                  <a:srgbClr val="9CA2AF"/>
                </a:solidFill>
                <a:latin typeface="Tahoma"/>
                <a:cs typeface="Tahoma"/>
              </a:rPr>
              <a:t> </a:t>
            </a:r>
            <a:r>
              <a:rPr sz="1150" spc="-140" dirty="0">
                <a:solidFill>
                  <a:srgbClr val="9CA2AF"/>
                </a:solidFill>
                <a:latin typeface="Tahoma"/>
                <a:cs typeface="Tahoma"/>
              </a:rPr>
              <a:t>&amp;</a:t>
            </a:r>
            <a:r>
              <a:rPr sz="1150" spc="-65" dirty="0">
                <a:solidFill>
                  <a:srgbClr val="9CA2AF"/>
                </a:solidFill>
                <a:latin typeface="Tahoma"/>
                <a:cs typeface="Tahoma"/>
              </a:rPr>
              <a:t> </a:t>
            </a:r>
            <a:r>
              <a:rPr sz="1150" spc="-20" dirty="0">
                <a:solidFill>
                  <a:srgbClr val="9CA2AF"/>
                </a:solidFill>
                <a:latin typeface="Tahoma"/>
                <a:cs typeface="Tahoma"/>
              </a:rPr>
              <a:t>speed</a:t>
            </a:r>
            <a:endParaRPr sz="1150">
              <a:latin typeface="Tahoma"/>
              <a:cs typeface="Tahoma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5369108" y="0"/>
            <a:ext cx="6835140" cy="6782434"/>
            <a:chOff x="5369108" y="0"/>
            <a:chExt cx="6835140" cy="6782434"/>
          </a:xfrm>
        </p:grpSpPr>
        <p:pic>
          <p:nvPicPr>
            <p:cNvPr id="47" name="object 4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369108" y="0"/>
              <a:ext cx="6835083" cy="6782194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7200899" y="1362074"/>
              <a:ext cx="4391025" cy="3590925"/>
            </a:xfrm>
            <a:custGeom>
              <a:avLst/>
              <a:gdLst/>
              <a:ahLst/>
              <a:cxnLst/>
              <a:rect l="l" t="t" r="r" b="b"/>
              <a:pathLst>
                <a:path w="4391025" h="3590925">
                  <a:moveTo>
                    <a:pt x="4238624" y="3590924"/>
                  </a:moveTo>
                  <a:lnTo>
                    <a:pt x="152399" y="3590924"/>
                  </a:lnTo>
                  <a:lnTo>
                    <a:pt x="137387" y="3590199"/>
                  </a:lnTo>
                  <a:lnTo>
                    <a:pt x="94078" y="3579323"/>
                  </a:lnTo>
                  <a:lnTo>
                    <a:pt x="55764" y="3556390"/>
                  </a:lnTo>
                  <a:lnTo>
                    <a:pt x="25659" y="3523208"/>
                  </a:lnTo>
                  <a:lnTo>
                    <a:pt x="6524" y="3482697"/>
                  </a:lnTo>
                  <a:lnTo>
                    <a:pt x="0" y="3438524"/>
                  </a:lnTo>
                  <a:lnTo>
                    <a:pt x="0" y="152399"/>
                  </a:lnTo>
                  <a:lnTo>
                    <a:pt x="6524" y="108226"/>
                  </a:lnTo>
                  <a:lnTo>
                    <a:pt x="25659" y="67714"/>
                  </a:lnTo>
                  <a:lnTo>
                    <a:pt x="55764" y="34533"/>
                  </a:lnTo>
                  <a:lnTo>
                    <a:pt x="94078" y="11600"/>
                  </a:lnTo>
                  <a:lnTo>
                    <a:pt x="137387" y="725"/>
                  </a:lnTo>
                  <a:lnTo>
                    <a:pt x="152399" y="0"/>
                  </a:lnTo>
                  <a:lnTo>
                    <a:pt x="4238624" y="0"/>
                  </a:lnTo>
                  <a:lnTo>
                    <a:pt x="4282796" y="6525"/>
                  </a:lnTo>
                  <a:lnTo>
                    <a:pt x="4323307" y="25660"/>
                  </a:lnTo>
                  <a:lnTo>
                    <a:pt x="4356489" y="55765"/>
                  </a:lnTo>
                  <a:lnTo>
                    <a:pt x="4379422" y="94078"/>
                  </a:lnTo>
                  <a:lnTo>
                    <a:pt x="4390299" y="137387"/>
                  </a:lnTo>
                  <a:lnTo>
                    <a:pt x="4391024" y="152399"/>
                  </a:lnTo>
                  <a:lnTo>
                    <a:pt x="4391024" y="3438524"/>
                  </a:lnTo>
                  <a:lnTo>
                    <a:pt x="4384497" y="3482697"/>
                  </a:lnTo>
                  <a:lnTo>
                    <a:pt x="4365362" y="3523208"/>
                  </a:lnTo>
                  <a:lnTo>
                    <a:pt x="4335257" y="3556390"/>
                  </a:lnTo>
                  <a:lnTo>
                    <a:pt x="4296944" y="3579323"/>
                  </a:lnTo>
                  <a:lnTo>
                    <a:pt x="4253637" y="3590199"/>
                  </a:lnTo>
                  <a:lnTo>
                    <a:pt x="4238624" y="3590924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7200899" y="1362074"/>
              <a:ext cx="4391025" cy="3590925"/>
            </a:xfrm>
            <a:custGeom>
              <a:avLst/>
              <a:gdLst/>
              <a:ahLst/>
              <a:cxnLst/>
              <a:rect l="l" t="t" r="r" b="b"/>
              <a:pathLst>
                <a:path w="4391025" h="3590925">
                  <a:moveTo>
                    <a:pt x="4238624" y="3590924"/>
                  </a:moveTo>
                  <a:lnTo>
                    <a:pt x="152399" y="3590924"/>
                  </a:lnTo>
                  <a:lnTo>
                    <a:pt x="137387" y="3590199"/>
                  </a:lnTo>
                  <a:lnTo>
                    <a:pt x="94078" y="3579323"/>
                  </a:lnTo>
                  <a:lnTo>
                    <a:pt x="55764" y="3556390"/>
                  </a:lnTo>
                  <a:lnTo>
                    <a:pt x="25659" y="3523208"/>
                  </a:lnTo>
                  <a:lnTo>
                    <a:pt x="6524" y="3482697"/>
                  </a:lnTo>
                  <a:lnTo>
                    <a:pt x="0" y="3438524"/>
                  </a:lnTo>
                  <a:lnTo>
                    <a:pt x="0" y="152399"/>
                  </a:lnTo>
                  <a:lnTo>
                    <a:pt x="6524" y="108226"/>
                  </a:lnTo>
                  <a:lnTo>
                    <a:pt x="25659" y="67715"/>
                  </a:lnTo>
                  <a:lnTo>
                    <a:pt x="55764" y="34533"/>
                  </a:lnTo>
                  <a:lnTo>
                    <a:pt x="94078" y="11600"/>
                  </a:lnTo>
                  <a:lnTo>
                    <a:pt x="137387" y="725"/>
                  </a:lnTo>
                  <a:lnTo>
                    <a:pt x="152399" y="0"/>
                  </a:lnTo>
                  <a:lnTo>
                    <a:pt x="4238624" y="0"/>
                  </a:lnTo>
                  <a:lnTo>
                    <a:pt x="4253637" y="725"/>
                  </a:lnTo>
                  <a:lnTo>
                    <a:pt x="4268361" y="2900"/>
                  </a:lnTo>
                  <a:lnTo>
                    <a:pt x="4282797" y="6525"/>
                  </a:lnTo>
                  <a:lnTo>
                    <a:pt x="4291158" y="9524"/>
                  </a:lnTo>
                  <a:lnTo>
                    <a:pt x="152399" y="9524"/>
                  </a:lnTo>
                  <a:lnTo>
                    <a:pt x="145380" y="9696"/>
                  </a:lnTo>
                  <a:lnTo>
                    <a:pt x="104274" y="17873"/>
                  </a:lnTo>
                  <a:lnTo>
                    <a:pt x="67281" y="37646"/>
                  </a:lnTo>
                  <a:lnTo>
                    <a:pt x="37645" y="67282"/>
                  </a:lnTo>
                  <a:lnTo>
                    <a:pt x="17873" y="104274"/>
                  </a:lnTo>
                  <a:lnTo>
                    <a:pt x="10335" y="137387"/>
                  </a:lnTo>
                  <a:lnTo>
                    <a:pt x="10211" y="138395"/>
                  </a:lnTo>
                  <a:lnTo>
                    <a:pt x="9696" y="145380"/>
                  </a:lnTo>
                  <a:lnTo>
                    <a:pt x="9524" y="152399"/>
                  </a:lnTo>
                  <a:lnTo>
                    <a:pt x="9524" y="3438524"/>
                  </a:lnTo>
                  <a:lnTo>
                    <a:pt x="15675" y="3479999"/>
                  </a:lnTo>
                  <a:lnTo>
                    <a:pt x="33603" y="3517901"/>
                  </a:lnTo>
                  <a:lnTo>
                    <a:pt x="61759" y="3548969"/>
                  </a:lnTo>
                  <a:lnTo>
                    <a:pt x="97723" y="3570523"/>
                  </a:lnTo>
                  <a:lnTo>
                    <a:pt x="138395" y="3580713"/>
                  </a:lnTo>
                  <a:lnTo>
                    <a:pt x="152399" y="3581399"/>
                  </a:lnTo>
                  <a:lnTo>
                    <a:pt x="4291156" y="3581399"/>
                  </a:lnTo>
                  <a:lnTo>
                    <a:pt x="4282797" y="3584398"/>
                  </a:lnTo>
                  <a:lnTo>
                    <a:pt x="4268361" y="3588024"/>
                  </a:lnTo>
                  <a:lnTo>
                    <a:pt x="4253637" y="3590199"/>
                  </a:lnTo>
                  <a:lnTo>
                    <a:pt x="4238624" y="3590924"/>
                  </a:lnTo>
                  <a:close/>
                </a:path>
                <a:path w="4391025" h="3590925">
                  <a:moveTo>
                    <a:pt x="4291156" y="3581399"/>
                  </a:moveTo>
                  <a:lnTo>
                    <a:pt x="4238624" y="3581399"/>
                  </a:lnTo>
                  <a:lnTo>
                    <a:pt x="4245643" y="3581228"/>
                  </a:lnTo>
                  <a:lnTo>
                    <a:pt x="4252628" y="3580713"/>
                  </a:lnTo>
                  <a:lnTo>
                    <a:pt x="4293300" y="3570523"/>
                  </a:lnTo>
                  <a:lnTo>
                    <a:pt x="4329264" y="3548969"/>
                  </a:lnTo>
                  <a:lnTo>
                    <a:pt x="4357420" y="3517901"/>
                  </a:lnTo>
                  <a:lnTo>
                    <a:pt x="4375348" y="3479999"/>
                  </a:lnTo>
                  <a:lnTo>
                    <a:pt x="4381499" y="3438524"/>
                  </a:lnTo>
                  <a:lnTo>
                    <a:pt x="4381499" y="152399"/>
                  </a:lnTo>
                  <a:lnTo>
                    <a:pt x="4375348" y="110925"/>
                  </a:lnTo>
                  <a:lnTo>
                    <a:pt x="4357420" y="73022"/>
                  </a:lnTo>
                  <a:lnTo>
                    <a:pt x="4329264" y="41954"/>
                  </a:lnTo>
                  <a:lnTo>
                    <a:pt x="4293300" y="20400"/>
                  </a:lnTo>
                  <a:lnTo>
                    <a:pt x="4252628" y="10211"/>
                  </a:lnTo>
                  <a:lnTo>
                    <a:pt x="4238624" y="9524"/>
                  </a:lnTo>
                  <a:lnTo>
                    <a:pt x="4291158" y="9524"/>
                  </a:lnTo>
                  <a:lnTo>
                    <a:pt x="4335258" y="34533"/>
                  </a:lnTo>
                  <a:lnTo>
                    <a:pt x="4365362" y="67715"/>
                  </a:lnTo>
                  <a:lnTo>
                    <a:pt x="4384497" y="108226"/>
                  </a:lnTo>
                  <a:lnTo>
                    <a:pt x="4391024" y="152399"/>
                  </a:lnTo>
                  <a:lnTo>
                    <a:pt x="4391024" y="3438524"/>
                  </a:lnTo>
                  <a:lnTo>
                    <a:pt x="4390348" y="3452529"/>
                  </a:lnTo>
                  <a:lnTo>
                    <a:pt x="4379422" y="3496845"/>
                  </a:lnTo>
                  <a:lnTo>
                    <a:pt x="4356489" y="3535158"/>
                  </a:lnTo>
                  <a:lnTo>
                    <a:pt x="4323308" y="3565263"/>
                  </a:lnTo>
                  <a:lnTo>
                    <a:pt x="4296944" y="3579323"/>
                  </a:lnTo>
                  <a:lnTo>
                    <a:pt x="4291156" y="3581399"/>
                  </a:lnTo>
                  <a:close/>
                </a:path>
              </a:pathLst>
            </a:custGeom>
            <a:solidFill>
              <a:srgbClr val="FFD600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111406" y="1733549"/>
              <a:ext cx="571500" cy="571500"/>
            </a:xfrm>
            <a:prstGeom prst="rect">
              <a:avLst/>
            </a:prstGeom>
          </p:spPr>
        </p:pic>
      </p:grpSp>
      <p:sp>
        <p:nvSpPr>
          <p:cNvPr id="51" name="object 51"/>
          <p:cNvSpPr txBox="1"/>
          <p:nvPr/>
        </p:nvSpPr>
        <p:spPr>
          <a:xfrm>
            <a:off x="8532564" y="2619057"/>
            <a:ext cx="1729739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14" dirty="0">
                <a:solidFill>
                  <a:srgbClr val="FFFFFF"/>
                </a:solidFill>
                <a:latin typeface="Roboto"/>
                <a:cs typeface="Roboto"/>
              </a:rPr>
              <a:t>Success</a:t>
            </a:r>
            <a:r>
              <a:rPr sz="2000" b="1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000" b="1" spc="-90" dirty="0">
                <a:solidFill>
                  <a:srgbClr val="FFFFFF"/>
                </a:solidFill>
                <a:latin typeface="Roboto"/>
                <a:cs typeface="Roboto"/>
              </a:rPr>
              <a:t>Metrics</a:t>
            </a:r>
            <a:endParaRPr sz="2000">
              <a:latin typeface="Roboto"/>
              <a:cs typeface="Roboto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7504310" y="3113404"/>
            <a:ext cx="1150620" cy="2292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00" spc="-55" dirty="0">
                <a:solidFill>
                  <a:srgbClr val="D0D5DA"/>
                </a:solidFill>
                <a:latin typeface="Arial MT"/>
                <a:cs typeface="Arial MT"/>
              </a:rPr>
              <a:t>Training</a:t>
            </a:r>
            <a:r>
              <a:rPr sz="1300" spc="-4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300" spc="-35" dirty="0">
                <a:solidFill>
                  <a:srgbClr val="D0D5DA"/>
                </a:solidFill>
                <a:latin typeface="Arial MT"/>
                <a:cs typeface="Arial MT"/>
              </a:rPr>
              <a:t>Stability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11020275" y="3130549"/>
            <a:ext cx="247650" cy="1492250"/>
            <a:chOff x="11020275" y="3130549"/>
            <a:chExt cx="247650" cy="1492250"/>
          </a:xfrm>
        </p:grpSpPr>
        <p:pic>
          <p:nvPicPr>
            <p:cNvPr id="54" name="object 5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020275" y="3130549"/>
              <a:ext cx="247650" cy="234950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020275" y="3549649"/>
              <a:ext cx="247650" cy="234950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020275" y="3968749"/>
              <a:ext cx="247650" cy="234950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020275" y="4387849"/>
              <a:ext cx="247650" cy="234950"/>
            </a:xfrm>
            <a:prstGeom prst="rect">
              <a:avLst/>
            </a:prstGeom>
          </p:spPr>
        </p:pic>
      </p:grpSp>
      <p:sp>
        <p:nvSpPr>
          <p:cNvPr id="58" name="object 58"/>
          <p:cNvSpPr txBox="1"/>
          <p:nvPr/>
        </p:nvSpPr>
        <p:spPr>
          <a:xfrm>
            <a:off x="7504310" y="3532504"/>
            <a:ext cx="1372870" cy="2292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00" spc="-45" dirty="0">
                <a:solidFill>
                  <a:srgbClr val="D0D5DA"/>
                </a:solidFill>
                <a:latin typeface="Arial MT"/>
                <a:cs typeface="Arial MT"/>
              </a:rPr>
              <a:t>Model </a:t>
            </a:r>
            <a:r>
              <a:rPr sz="1300" spc="-75" dirty="0">
                <a:solidFill>
                  <a:srgbClr val="D0D5DA"/>
                </a:solidFill>
                <a:latin typeface="Arial MT"/>
                <a:cs typeface="Arial MT"/>
              </a:rPr>
              <a:t>Convergence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7504310" y="3951604"/>
            <a:ext cx="1376045" cy="2292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00" spc="-100" dirty="0">
                <a:solidFill>
                  <a:srgbClr val="D0D5DA"/>
                </a:solidFill>
                <a:latin typeface="Arial MT"/>
                <a:cs typeface="Arial MT"/>
              </a:rPr>
              <a:t>Real-</a:t>
            </a:r>
            <a:r>
              <a:rPr sz="1300" spc="-60" dirty="0">
                <a:solidFill>
                  <a:srgbClr val="D0D5DA"/>
                </a:solidFill>
                <a:latin typeface="Arial MT"/>
                <a:cs typeface="Arial MT"/>
              </a:rPr>
              <a:t>Time</a:t>
            </a:r>
            <a:r>
              <a:rPr sz="1300" spc="1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300" spc="-45" dirty="0">
                <a:solidFill>
                  <a:srgbClr val="D0D5DA"/>
                </a:solidFill>
                <a:latin typeface="Arial MT"/>
                <a:cs typeface="Arial MT"/>
              </a:rPr>
              <a:t>Inference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7504310" y="4370704"/>
            <a:ext cx="1172845" cy="2292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00" spc="-110" dirty="0">
                <a:solidFill>
                  <a:srgbClr val="D0D5DA"/>
                </a:solidFill>
                <a:latin typeface="Arial MT"/>
                <a:cs typeface="Arial MT"/>
              </a:rPr>
              <a:t>Web</a:t>
            </a:r>
            <a:r>
              <a:rPr sz="1300" spc="-6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300" spc="-60" dirty="0">
                <a:solidFill>
                  <a:srgbClr val="D0D5DA"/>
                </a:solidFill>
                <a:latin typeface="Arial MT"/>
                <a:cs typeface="Arial MT"/>
              </a:rPr>
              <a:t>Deployment</a:t>
            </a:r>
            <a:endParaRPr sz="1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43180">
              <a:lnSpc>
                <a:spcPct val="100000"/>
              </a:lnSpc>
              <a:spcBef>
                <a:spcPts val="114"/>
              </a:spcBef>
            </a:pPr>
            <a:r>
              <a:rPr spc="-185" dirty="0">
                <a:latin typeface="Tahoma"/>
                <a:cs typeface="Tahoma"/>
              </a:rPr>
              <a:t>Background:</a:t>
            </a:r>
            <a:r>
              <a:rPr spc="-120" dirty="0">
                <a:latin typeface="Tahoma"/>
                <a:cs typeface="Tahoma"/>
              </a:rPr>
              <a:t> </a:t>
            </a:r>
            <a:r>
              <a:rPr spc="-170" dirty="0">
                <a:latin typeface="Tahoma"/>
                <a:cs typeface="Tahoma"/>
              </a:rPr>
              <a:t>Object</a:t>
            </a:r>
            <a:r>
              <a:rPr spc="-110" dirty="0">
                <a:latin typeface="Tahoma"/>
                <a:cs typeface="Tahoma"/>
              </a:rPr>
              <a:t> </a:t>
            </a:r>
            <a:r>
              <a:rPr spc="-155" dirty="0">
                <a:latin typeface="Tahoma"/>
                <a:cs typeface="Tahoma"/>
              </a:rPr>
              <a:t>Detection</a:t>
            </a:r>
            <a:r>
              <a:rPr spc="-110" dirty="0">
                <a:latin typeface="Tahoma"/>
                <a:cs typeface="Tahoma"/>
              </a:rPr>
              <a:t> </a:t>
            </a:r>
            <a:r>
              <a:rPr spc="-229" dirty="0">
                <a:latin typeface="Tahoma"/>
                <a:cs typeface="Tahoma"/>
              </a:rPr>
              <a:t>vs</a:t>
            </a:r>
            <a:r>
              <a:rPr spc="-105" dirty="0">
                <a:latin typeface="Tahoma"/>
                <a:cs typeface="Tahoma"/>
              </a:rPr>
              <a:t> </a:t>
            </a:r>
            <a:r>
              <a:rPr spc="-130" dirty="0">
                <a:latin typeface="Tahoma"/>
                <a:cs typeface="Tahoma"/>
              </a:rPr>
              <a:t>Classification</a:t>
            </a:r>
          </a:p>
        </p:txBody>
      </p:sp>
      <p:sp>
        <p:nvSpPr>
          <p:cNvPr id="3" name="object 3"/>
          <p:cNvSpPr/>
          <p:nvPr/>
        </p:nvSpPr>
        <p:spPr>
          <a:xfrm>
            <a:off x="619124" y="2171699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914399" y="38099"/>
                </a:moveTo>
                <a:lnTo>
                  <a:pt x="0" y="38099"/>
                </a:lnTo>
                <a:lnTo>
                  <a:pt x="0" y="0"/>
                </a:lnTo>
                <a:lnTo>
                  <a:pt x="914399" y="0"/>
                </a:lnTo>
                <a:lnTo>
                  <a:pt x="914399" y="38099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619124" y="2438399"/>
            <a:ext cx="5181600" cy="1847850"/>
            <a:chOff x="619124" y="2438399"/>
            <a:chExt cx="5181600" cy="1847850"/>
          </a:xfrm>
        </p:grpSpPr>
        <p:sp>
          <p:nvSpPr>
            <p:cNvPr id="5" name="object 5"/>
            <p:cNvSpPr/>
            <p:nvPr/>
          </p:nvSpPr>
          <p:spPr>
            <a:xfrm>
              <a:off x="619124" y="2438399"/>
              <a:ext cx="5181600" cy="1847850"/>
            </a:xfrm>
            <a:custGeom>
              <a:avLst/>
              <a:gdLst/>
              <a:ahLst/>
              <a:cxnLst/>
              <a:rect l="l" t="t" r="r" b="b"/>
              <a:pathLst>
                <a:path w="5181600" h="1847850">
                  <a:moveTo>
                    <a:pt x="5067299" y="1847849"/>
                  </a:moveTo>
                  <a:lnTo>
                    <a:pt x="114299" y="1847849"/>
                  </a:lnTo>
                  <a:lnTo>
                    <a:pt x="103040" y="1847305"/>
                  </a:lnTo>
                  <a:lnTo>
                    <a:pt x="60364" y="1834337"/>
                  </a:lnTo>
                  <a:lnTo>
                    <a:pt x="25900" y="1806025"/>
                  </a:lnTo>
                  <a:lnTo>
                    <a:pt x="4894" y="1766679"/>
                  </a:lnTo>
                  <a:lnTo>
                    <a:pt x="0" y="1733549"/>
                  </a:lnTo>
                  <a:lnTo>
                    <a:pt x="0" y="114299"/>
                  </a:lnTo>
                  <a:lnTo>
                    <a:pt x="8700" y="70558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5067299" y="0"/>
                  </a:lnTo>
                  <a:lnTo>
                    <a:pt x="5111039" y="8700"/>
                  </a:lnTo>
                  <a:lnTo>
                    <a:pt x="5148121" y="33477"/>
                  </a:lnTo>
                  <a:lnTo>
                    <a:pt x="5172897" y="70558"/>
                  </a:lnTo>
                  <a:lnTo>
                    <a:pt x="5181599" y="114299"/>
                  </a:lnTo>
                  <a:lnTo>
                    <a:pt x="5181599" y="1733549"/>
                  </a:lnTo>
                  <a:lnTo>
                    <a:pt x="5172897" y="1777290"/>
                  </a:lnTo>
                  <a:lnTo>
                    <a:pt x="5148121" y="1814371"/>
                  </a:lnTo>
                  <a:lnTo>
                    <a:pt x="5111039" y="1839149"/>
                  </a:lnTo>
                  <a:lnTo>
                    <a:pt x="5067299" y="1847849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19124" y="2438399"/>
              <a:ext cx="5181600" cy="1847850"/>
            </a:xfrm>
            <a:custGeom>
              <a:avLst/>
              <a:gdLst/>
              <a:ahLst/>
              <a:cxnLst/>
              <a:rect l="l" t="t" r="r" b="b"/>
              <a:pathLst>
                <a:path w="5181600" h="1847850">
                  <a:moveTo>
                    <a:pt x="5067299" y="1847849"/>
                  </a:moveTo>
                  <a:lnTo>
                    <a:pt x="114299" y="1847849"/>
                  </a:lnTo>
                  <a:lnTo>
                    <a:pt x="103040" y="1847305"/>
                  </a:lnTo>
                  <a:lnTo>
                    <a:pt x="60364" y="1834337"/>
                  </a:lnTo>
                  <a:lnTo>
                    <a:pt x="25900" y="1806025"/>
                  </a:lnTo>
                  <a:lnTo>
                    <a:pt x="4894" y="1766679"/>
                  </a:lnTo>
                  <a:lnTo>
                    <a:pt x="0" y="1733549"/>
                  </a:lnTo>
                  <a:lnTo>
                    <a:pt x="0" y="114299"/>
                  </a:lnTo>
                  <a:lnTo>
                    <a:pt x="8700" y="70558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5067299" y="0"/>
                  </a:lnTo>
                  <a:lnTo>
                    <a:pt x="5111039" y="8700"/>
                  </a:lnTo>
                  <a:lnTo>
                    <a:pt x="5112786" y="9524"/>
                  </a:lnTo>
                  <a:lnTo>
                    <a:pt x="107420" y="9524"/>
                  </a:lnTo>
                  <a:lnTo>
                    <a:pt x="100606" y="10196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1740429"/>
                  </a:lnTo>
                  <a:lnTo>
                    <a:pt x="20133" y="1780001"/>
                  </a:lnTo>
                  <a:lnTo>
                    <a:pt x="45077" y="1812501"/>
                  </a:lnTo>
                  <a:lnTo>
                    <a:pt x="80560" y="1832981"/>
                  </a:lnTo>
                  <a:lnTo>
                    <a:pt x="107420" y="1838324"/>
                  </a:lnTo>
                  <a:lnTo>
                    <a:pt x="5112785" y="1838324"/>
                  </a:lnTo>
                  <a:lnTo>
                    <a:pt x="5111039" y="1839149"/>
                  </a:lnTo>
                  <a:lnTo>
                    <a:pt x="5100429" y="1842955"/>
                  </a:lnTo>
                  <a:lnTo>
                    <a:pt x="5089602" y="1845674"/>
                  </a:lnTo>
                  <a:lnTo>
                    <a:pt x="5078559" y="1847305"/>
                  </a:lnTo>
                  <a:lnTo>
                    <a:pt x="5067299" y="1847849"/>
                  </a:lnTo>
                  <a:close/>
                </a:path>
                <a:path w="5181600" h="1847850">
                  <a:moveTo>
                    <a:pt x="5112785" y="1838324"/>
                  </a:moveTo>
                  <a:lnTo>
                    <a:pt x="5074179" y="1838324"/>
                  </a:lnTo>
                  <a:lnTo>
                    <a:pt x="5080992" y="1837653"/>
                  </a:lnTo>
                  <a:lnTo>
                    <a:pt x="5094487" y="1834969"/>
                  </a:lnTo>
                  <a:lnTo>
                    <a:pt x="5131229" y="1816844"/>
                  </a:lnTo>
                  <a:lnTo>
                    <a:pt x="5158239" y="1786039"/>
                  </a:lnTo>
                  <a:lnTo>
                    <a:pt x="5171403" y="1747243"/>
                  </a:lnTo>
                  <a:lnTo>
                    <a:pt x="5172074" y="1740429"/>
                  </a:lnTo>
                  <a:lnTo>
                    <a:pt x="5172074" y="107420"/>
                  </a:lnTo>
                  <a:lnTo>
                    <a:pt x="5161466" y="67848"/>
                  </a:lnTo>
                  <a:lnTo>
                    <a:pt x="5136522" y="35348"/>
                  </a:lnTo>
                  <a:lnTo>
                    <a:pt x="5101038" y="14867"/>
                  </a:lnTo>
                  <a:lnTo>
                    <a:pt x="5074179" y="9524"/>
                  </a:lnTo>
                  <a:lnTo>
                    <a:pt x="5112786" y="9524"/>
                  </a:lnTo>
                  <a:lnTo>
                    <a:pt x="5148121" y="33477"/>
                  </a:lnTo>
                  <a:lnTo>
                    <a:pt x="5172898" y="70558"/>
                  </a:lnTo>
                  <a:lnTo>
                    <a:pt x="5181599" y="114299"/>
                  </a:lnTo>
                  <a:lnTo>
                    <a:pt x="5181599" y="1733549"/>
                  </a:lnTo>
                  <a:lnTo>
                    <a:pt x="5181055" y="1744809"/>
                  </a:lnTo>
                  <a:lnTo>
                    <a:pt x="5168087" y="1787484"/>
                  </a:lnTo>
                  <a:lnTo>
                    <a:pt x="5139774" y="1821948"/>
                  </a:lnTo>
                  <a:lnTo>
                    <a:pt x="5121234" y="1834337"/>
                  </a:lnTo>
                  <a:lnTo>
                    <a:pt x="5112785" y="1838324"/>
                  </a:lnTo>
                  <a:close/>
                </a:path>
              </a:pathLst>
            </a:custGeom>
            <a:solidFill>
              <a:srgbClr val="60A5FA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76299" y="3476624"/>
              <a:ext cx="4686300" cy="571500"/>
            </a:xfrm>
            <a:custGeom>
              <a:avLst/>
              <a:gdLst/>
              <a:ahLst/>
              <a:cxnLst/>
              <a:rect l="l" t="t" r="r" b="b"/>
              <a:pathLst>
                <a:path w="4686300" h="571500">
                  <a:moveTo>
                    <a:pt x="4615102" y="571499"/>
                  </a:moveTo>
                  <a:lnTo>
                    <a:pt x="53397" y="571499"/>
                  </a:lnTo>
                  <a:lnTo>
                    <a:pt x="49681" y="571011"/>
                  </a:lnTo>
                  <a:lnTo>
                    <a:pt x="14085" y="545643"/>
                  </a:lnTo>
                  <a:lnTo>
                    <a:pt x="366" y="505258"/>
                  </a:lnTo>
                  <a:lnTo>
                    <a:pt x="0" y="500303"/>
                  </a:lnTo>
                  <a:lnTo>
                    <a:pt x="0" y="495299"/>
                  </a:lnTo>
                  <a:lnTo>
                    <a:pt x="0" y="71196"/>
                  </a:lnTo>
                  <a:lnTo>
                    <a:pt x="11716" y="29705"/>
                  </a:lnTo>
                  <a:lnTo>
                    <a:pt x="42320" y="2440"/>
                  </a:lnTo>
                  <a:lnTo>
                    <a:pt x="53397" y="0"/>
                  </a:lnTo>
                  <a:lnTo>
                    <a:pt x="4615102" y="0"/>
                  </a:lnTo>
                  <a:lnTo>
                    <a:pt x="4656593" y="15621"/>
                  </a:lnTo>
                  <a:lnTo>
                    <a:pt x="4682412" y="51661"/>
                  </a:lnTo>
                  <a:lnTo>
                    <a:pt x="4686299" y="71196"/>
                  </a:lnTo>
                  <a:lnTo>
                    <a:pt x="4686299" y="500303"/>
                  </a:lnTo>
                  <a:lnTo>
                    <a:pt x="4670676" y="541794"/>
                  </a:lnTo>
                  <a:lnTo>
                    <a:pt x="4634637" y="567613"/>
                  </a:lnTo>
                  <a:lnTo>
                    <a:pt x="4620057" y="571011"/>
                  </a:lnTo>
                  <a:lnTo>
                    <a:pt x="4615102" y="571499"/>
                  </a:lnTo>
                  <a:close/>
                </a:path>
              </a:pathLst>
            </a:custGeom>
            <a:solidFill>
              <a:srgbClr val="3B81F5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57249" y="3476902"/>
              <a:ext cx="70485" cy="571500"/>
            </a:xfrm>
            <a:custGeom>
              <a:avLst/>
              <a:gdLst/>
              <a:ahLst/>
              <a:cxnLst/>
              <a:rect l="l" t="t" r="r" b="b"/>
              <a:pathLst>
                <a:path w="70484" h="571500">
                  <a:moveTo>
                    <a:pt x="70450" y="570944"/>
                  </a:moveTo>
                  <a:lnTo>
                    <a:pt x="33857" y="558391"/>
                  </a:lnTo>
                  <a:lnTo>
                    <a:pt x="5800" y="524182"/>
                  </a:lnTo>
                  <a:lnTo>
                    <a:pt x="0" y="495022"/>
                  </a:lnTo>
                  <a:lnTo>
                    <a:pt x="0" y="75922"/>
                  </a:lnTo>
                  <a:lnTo>
                    <a:pt x="12830" y="33579"/>
                  </a:lnTo>
                  <a:lnTo>
                    <a:pt x="47039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1" y="9389"/>
                  </a:lnTo>
                  <a:lnTo>
                    <a:pt x="41000" y="46761"/>
                  </a:lnTo>
                  <a:lnTo>
                    <a:pt x="38100" y="75922"/>
                  </a:lnTo>
                  <a:lnTo>
                    <a:pt x="38100" y="495022"/>
                  </a:lnTo>
                  <a:lnTo>
                    <a:pt x="44514" y="537364"/>
                  </a:lnTo>
                  <a:lnTo>
                    <a:pt x="66287" y="569288"/>
                  </a:lnTo>
                  <a:lnTo>
                    <a:pt x="70450" y="570944"/>
                  </a:lnTo>
                  <a:close/>
                </a:path>
              </a:pathLst>
            </a:custGeom>
            <a:solidFill>
              <a:srgbClr val="60A5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4399" y="2771774"/>
              <a:ext cx="361950" cy="266700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606424" y="1650603"/>
            <a:ext cx="4389755" cy="2219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145" dirty="0">
                <a:solidFill>
                  <a:srgbClr val="FFFFFF"/>
                </a:solidFill>
                <a:latin typeface="Roboto"/>
                <a:cs typeface="Roboto"/>
              </a:rPr>
              <a:t>Image</a:t>
            </a:r>
            <a:r>
              <a:rPr sz="2500" b="1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500" b="1" spc="-50" dirty="0">
                <a:solidFill>
                  <a:srgbClr val="FFFFFF"/>
                </a:solidFill>
                <a:latin typeface="Roboto"/>
                <a:cs typeface="Roboto"/>
              </a:rPr>
              <a:t>Classification</a:t>
            </a:r>
            <a:endParaRPr sz="25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075"/>
              </a:spcBef>
            </a:pPr>
            <a:endParaRPr sz="2250">
              <a:latin typeface="Roboto"/>
              <a:cs typeface="Roboto"/>
            </a:endParaRPr>
          </a:p>
          <a:p>
            <a:pPr marL="859790">
              <a:lnSpc>
                <a:spcPct val="100000"/>
              </a:lnSpc>
            </a:pPr>
            <a:r>
              <a:rPr sz="2000" b="1" spc="-100" dirty="0">
                <a:solidFill>
                  <a:srgbClr val="FFFFFF"/>
                </a:solidFill>
                <a:latin typeface="Roboto"/>
                <a:cs typeface="Roboto"/>
              </a:rPr>
              <a:t>Single</a:t>
            </a:r>
            <a:r>
              <a:rPr sz="2000" b="1" spc="-1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000" b="1" spc="-105" dirty="0">
                <a:solidFill>
                  <a:srgbClr val="FFFFFF"/>
                </a:solidFill>
                <a:latin typeface="Roboto"/>
                <a:cs typeface="Roboto"/>
              </a:rPr>
              <a:t>Label</a:t>
            </a:r>
            <a:r>
              <a:rPr sz="2000" b="1" spc="-10" dirty="0">
                <a:solidFill>
                  <a:srgbClr val="FFFFFF"/>
                </a:solidFill>
                <a:latin typeface="Roboto"/>
                <a:cs typeface="Roboto"/>
              </a:rPr>
              <a:t> Assignment</a:t>
            </a:r>
            <a:endParaRPr sz="2000">
              <a:latin typeface="Roboto"/>
              <a:cs typeface="Roboto"/>
            </a:endParaRPr>
          </a:p>
          <a:p>
            <a:pPr marL="859790">
              <a:lnSpc>
                <a:spcPct val="100000"/>
              </a:lnSpc>
              <a:spcBef>
                <a:spcPts val="725"/>
              </a:spcBef>
            </a:pPr>
            <a:r>
              <a:rPr sz="1650" spc="-75" dirty="0">
                <a:solidFill>
                  <a:srgbClr val="D0D5DA"/>
                </a:solidFill>
                <a:latin typeface="Arial MT"/>
                <a:cs typeface="Arial MT"/>
              </a:rPr>
              <a:t>Assigns </a:t>
            </a:r>
            <a:r>
              <a:rPr sz="1650" spc="-215" dirty="0">
                <a:solidFill>
                  <a:srgbClr val="D0D5DA"/>
                </a:solidFill>
                <a:latin typeface="Arial MT"/>
                <a:cs typeface="Arial MT"/>
              </a:rPr>
              <a:t>ONE</a:t>
            </a:r>
            <a:r>
              <a:rPr sz="1650" spc="-7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650" spc="-75" dirty="0">
                <a:solidFill>
                  <a:srgbClr val="D0D5DA"/>
                </a:solidFill>
                <a:latin typeface="Arial MT"/>
                <a:cs typeface="Arial MT"/>
              </a:rPr>
              <a:t>category </a:t>
            </a:r>
            <a:r>
              <a:rPr sz="1650" spc="-30" dirty="0">
                <a:solidFill>
                  <a:srgbClr val="D0D5DA"/>
                </a:solidFill>
                <a:latin typeface="Arial MT"/>
                <a:cs typeface="Arial MT"/>
              </a:rPr>
              <a:t>to</a:t>
            </a:r>
            <a:r>
              <a:rPr sz="1650" spc="-7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650" spc="-65" dirty="0">
                <a:solidFill>
                  <a:srgbClr val="D0D5DA"/>
                </a:solidFill>
                <a:latin typeface="Arial MT"/>
                <a:cs typeface="Arial MT"/>
              </a:rPr>
              <a:t>the</a:t>
            </a:r>
            <a:r>
              <a:rPr sz="1650" spc="-7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650" spc="-65" dirty="0">
                <a:solidFill>
                  <a:srgbClr val="D0D5DA"/>
                </a:solidFill>
                <a:latin typeface="Arial MT"/>
                <a:cs typeface="Arial MT"/>
              </a:rPr>
              <a:t>entire</a:t>
            </a:r>
            <a:r>
              <a:rPr sz="1650" spc="-7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650" spc="-25" dirty="0">
                <a:solidFill>
                  <a:srgbClr val="D0D5DA"/>
                </a:solidFill>
                <a:latin typeface="Arial MT"/>
                <a:cs typeface="Arial MT"/>
              </a:rPr>
              <a:t>image</a:t>
            </a:r>
            <a:endParaRPr sz="16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69"/>
              </a:spcBef>
            </a:pPr>
            <a:endParaRPr sz="1500">
              <a:latin typeface="Arial MT"/>
              <a:cs typeface="Arial MT"/>
            </a:endParaRPr>
          </a:p>
          <a:p>
            <a:pPr marL="440690">
              <a:lnSpc>
                <a:spcPct val="100000"/>
              </a:lnSpc>
            </a:pPr>
            <a:r>
              <a:rPr sz="1500" spc="-90" dirty="0">
                <a:solidFill>
                  <a:srgbClr val="E4E7EB"/>
                </a:solidFill>
                <a:latin typeface="Roboto"/>
                <a:cs typeface="Roboto"/>
              </a:rPr>
              <a:t>Example:</a:t>
            </a:r>
            <a:r>
              <a:rPr sz="1500" spc="-25" dirty="0">
                <a:solidFill>
                  <a:srgbClr val="E4E7EB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93C4FD"/>
                </a:solidFill>
                <a:latin typeface="Roboto Lt"/>
                <a:cs typeface="Roboto Lt"/>
              </a:rPr>
              <a:t>"cat"</a:t>
            </a:r>
            <a:r>
              <a:rPr sz="1350" spc="20" dirty="0">
                <a:solidFill>
                  <a:srgbClr val="93C4FD"/>
                </a:solidFill>
                <a:latin typeface="Roboto Lt"/>
                <a:cs typeface="Roboto Lt"/>
              </a:rPr>
              <a:t> </a:t>
            </a:r>
            <a:r>
              <a:rPr sz="1500" spc="-70" dirty="0">
                <a:solidFill>
                  <a:srgbClr val="E4E7EB"/>
                </a:solidFill>
                <a:latin typeface="Roboto"/>
                <a:cs typeface="Roboto"/>
              </a:rPr>
              <a:t>for</a:t>
            </a:r>
            <a:r>
              <a:rPr sz="1500" spc="-25" dirty="0">
                <a:solidFill>
                  <a:srgbClr val="E4E7EB"/>
                </a:solidFill>
                <a:latin typeface="Roboto"/>
                <a:cs typeface="Roboto"/>
              </a:rPr>
              <a:t> </a:t>
            </a:r>
            <a:r>
              <a:rPr sz="1500" spc="-110" dirty="0">
                <a:solidFill>
                  <a:srgbClr val="E4E7EB"/>
                </a:solidFill>
                <a:latin typeface="Roboto"/>
                <a:cs typeface="Roboto"/>
              </a:rPr>
              <a:t>an</a:t>
            </a:r>
            <a:r>
              <a:rPr sz="1500" spc="-25" dirty="0">
                <a:solidFill>
                  <a:srgbClr val="E4E7EB"/>
                </a:solidFill>
                <a:latin typeface="Roboto"/>
                <a:cs typeface="Roboto"/>
              </a:rPr>
              <a:t> </a:t>
            </a:r>
            <a:r>
              <a:rPr sz="1500" spc="-95" dirty="0">
                <a:solidFill>
                  <a:srgbClr val="E4E7EB"/>
                </a:solidFill>
                <a:latin typeface="Roboto"/>
                <a:cs typeface="Roboto"/>
              </a:rPr>
              <a:t>image</a:t>
            </a:r>
            <a:r>
              <a:rPr sz="1500" spc="-25" dirty="0">
                <a:solidFill>
                  <a:srgbClr val="E4E7EB"/>
                </a:solidFill>
                <a:latin typeface="Roboto"/>
                <a:cs typeface="Roboto"/>
              </a:rPr>
              <a:t> </a:t>
            </a:r>
            <a:r>
              <a:rPr sz="1500" spc="-85" dirty="0">
                <a:solidFill>
                  <a:srgbClr val="E4E7EB"/>
                </a:solidFill>
                <a:latin typeface="Roboto"/>
                <a:cs typeface="Roboto"/>
              </a:rPr>
              <a:t>containing</a:t>
            </a:r>
            <a:r>
              <a:rPr sz="1500" spc="-20" dirty="0">
                <a:solidFill>
                  <a:srgbClr val="E4E7EB"/>
                </a:solidFill>
                <a:latin typeface="Roboto"/>
                <a:cs typeface="Roboto"/>
              </a:rPr>
              <a:t> </a:t>
            </a:r>
            <a:r>
              <a:rPr sz="1500" spc="-100" dirty="0">
                <a:solidFill>
                  <a:srgbClr val="E4E7EB"/>
                </a:solidFill>
                <a:latin typeface="Roboto"/>
                <a:cs typeface="Roboto"/>
              </a:rPr>
              <a:t>a</a:t>
            </a:r>
            <a:r>
              <a:rPr sz="1500" spc="-25" dirty="0">
                <a:solidFill>
                  <a:srgbClr val="E4E7EB"/>
                </a:solidFill>
                <a:latin typeface="Roboto"/>
                <a:cs typeface="Roboto"/>
              </a:rPr>
              <a:t> cat</a:t>
            </a:r>
            <a:endParaRPr sz="1500">
              <a:latin typeface="Roboto"/>
              <a:cs typeface="Roboto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8174" y="4552949"/>
            <a:ext cx="190500" cy="19050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8174" y="4933949"/>
            <a:ext cx="190500" cy="19050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8174" y="5314949"/>
            <a:ext cx="190500" cy="190500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949325" y="4501911"/>
            <a:ext cx="2293620" cy="1016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85" dirty="0">
                <a:solidFill>
                  <a:srgbClr val="D0D5DA"/>
                </a:solidFill>
                <a:latin typeface="Arial MT"/>
                <a:cs typeface="Arial MT"/>
              </a:rPr>
              <a:t>Simpler</a:t>
            </a:r>
            <a:r>
              <a:rPr sz="1500" spc="-3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500" spc="-20" dirty="0">
                <a:solidFill>
                  <a:srgbClr val="D0D5DA"/>
                </a:solidFill>
                <a:latin typeface="Arial MT"/>
                <a:cs typeface="Arial MT"/>
              </a:rPr>
              <a:t>task</a:t>
            </a:r>
            <a:endParaRPr sz="15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1500" spc="-90" dirty="0">
                <a:solidFill>
                  <a:srgbClr val="D0D5DA"/>
                </a:solidFill>
                <a:latin typeface="Arial MT"/>
                <a:cs typeface="Arial MT"/>
              </a:rPr>
              <a:t>Single</a:t>
            </a:r>
            <a:r>
              <a:rPr sz="1500" spc="-6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D0D5DA"/>
                </a:solidFill>
                <a:latin typeface="Arial MT"/>
                <a:cs typeface="Arial MT"/>
              </a:rPr>
              <a:t>prediction</a:t>
            </a:r>
            <a:endParaRPr sz="15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1500" spc="-80" dirty="0">
                <a:solidFill>
                  <a:srgbClr val="D0D5DA"/>
                </a:solidFill>
                <a:latin typeface="Arial MT"/>
                <a:cs typeface="Arial MT"/>
              </a:rPr>
              <a:t>High</a:t>
            </a:r>
            <a:r>
              <a:rPr sz="1500" spc="-4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500" spc="-60" dirty="0">
                <a:solidFill>
                  <a:srgbClr val="D0D5DA"/>
                </a:solidFill>
                <a:latin typeface="Arial MT"/>
                <a:cs typeface="Arial MT"/>
              </a:rPr>
              <a:t>computational</a:t>
            </a:r>
            <a:r>
              <a:rPr sz="1500" spc="-4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500" spc="-55" dirty="0">
                <a:solidFill>
                  <a:srgbClr val="D0D5DA"/>
                </a:solidFill>
                <a:latin typeface="Arial MT"/>
                <a:cs typeface="Arial MT"/>
              </a:rPr>
              <a:t>efficiency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410324" y="2171699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914399" y="38099"/>
                </a:moveTo>
                <a:lnTo>
                  <a:pt x="0" y="38099"/>
                </a:lnTo>
                <a:lnTo>
                  <a:pt x="0" y="0"/>
                </a:lnTo>
                <a:lnTo>
                  <a:pt x="914399" y="0"/>
                </a:lnTo>
                <a:lnTo>
                  <a:pt x="914399" y="38099"/>
                </a:lnTo>
                <a:close/>
              </a:path>
            </a:pathLst>
          </a:custGeom>
          <a:solidFill>
            <a:srgbClr val="FFD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6" name="object 16"/>
          <p:cNvGrpSpPr/>
          <p:nvPr/>
        </p:nvGrpSpPr>
        <p:grpSpPr>
          <a:xfrm>
            <a:off x="6410324" y="2438399"/>
            <a:ext cx="5181600" cy="1847850"/>
            <a:chOff x="6410324" y="2438399"/>
            <a:chExt cx="5181600" cy="1847850"/>
          </a:xfrm>
        </p:grpSpPr>
        <p:sp>
          <p:nvSpPr>
            <p:cNvPr id="17" name="object 17"/>
            <p:cNvSpPr/>
            <p:nvPr/>
          </p:nvSpPr>
          <p:spPr>
            <a:xfrm>
              <a:off x="6410324" y="2438399"/>
              <a:ext cx="5181600" cy="1847850"/>
            </a:xfrm>
            <a:custGeom>
              <a:avLst/>
              <a:gdLst/>
              <a:ahLst/>
              <a:cxnLst/>
              <a:rect l="l" t="t" r="r" b="b"/>
              <a:pathLst>
                <a:path w="5181600" h="1847850">
                  <a:moveTo>
                    <a:pt x="5067299" y="1847849"/>
                  </a:moveTo>
                  <a:lnTo>
                    <a:pt x="114299" y="1847849"/>
                  </a:lnTo>
                  <a:lnTo>
                    <a:pt x="103040" y="1847305"/>
                  </a:lnTo>
                  <a:lnTo>
                    <a:pt x="60363" y="1834337"/>
                  </a:lnTo>
                  <a:lnTo>
                    <a:pt x="25899" y="1806025"/>
                  </a:lnTo>
                  <a:lnTo>
                    <a:pt x="4892" y="1766679"/>
                  </a:lnTo>
                  <a:lnTo>
                    <a:pt x="0" y="1733549"/>
                  </a:lnTo>
                  <a:lnTo>
                    <a:pt x="0" y="114299"/>
                  </a:lnTo>
                  <a:lnTo>
                    <a:pt x="8698" y="70558"/>
                  </a:lnTo>
                  <a:lnTo>
                    <a:pt x="33476" y="33477"/>
                  </a:lnTo>
                  <a:lnTo>
                    <a:pt x="70557" y="8700"/>
                  </a:lnTo>
                  <a:lnTo>
                    <a:pt x="114299" y="0"/>
                  </a:lnTo>
                  <a:lnTo>
                    <a:pt x="5067299" y="0"/>
                  </a:lnTo>
                  <a:lnTo>
                    <a:pt x="5111038" y="8700"/>
                  </a:lnTo>
                  <a:lnTo>
                    <a:pt x="5148120" y="33477"/>
                  </a:lnTo>
                  <a:lnTo>
                    <a:pt x="5172897" y="70558"/>
                  </a:lnTo>
                  <a:lnTo>
                    <a:pt x="5181599" y="114299"/>
                  </a:lnTo>
                  <a:lnTo>
                    <a:pt x="5181599" y="1733549"/>
                  </a:lnTo>
                  <a:lnTo>
                    <a:pt x="5172896" y="1777290"/>
                  </a:lnTo>
                  <a:lnTo>
                    <a:pt x="5148120" y="1814371"/>
                  </a:lnTo>
                  <a:lnTo>
                    <a:pt x="5111038" y="1839149"/>
                  </a:lnTo>
                  <a:lnTo>
                    <a:pt x="5067299" y="1847849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410324" y="2438399"/>
              <a:ext cx="5181600" cy="1847850"/>
            </a:xfrm>
            <a:custGeom>
              <a:avLst/>
              <a:gdLst/>
              <a:ahLst/>
              <a:cxnLst/>
              <a:rect l="l" t="t" r="r" b="b"/>
              <a:pathLst>
                <a:path w="5181600" h="1847850">
                  <a:moveTo>
                    <a:pt x="5067299" y="1847849"/>
                  </a:moveTo>
                  <a:lnTo>
                    <a:pt x="114299" y="1847849"/>
                  </a:lnTo>
                  <a:lnTo>
                    <a:pt x="103040" y="1847305"/>
                  </a:lnTo>
                  <a:lnTo>
                    <a:pt x="60363" y="1834337"/>
                  </a:lnTo>
                  <a:lnTo>
                    <a:pt x="25899" y="1806025"/>
                  </a:lnTo>
                  <a:lnTo>
                    <a:pt x="4892" y="1766679"/>
                  </a:lnTo>
                  <a:lnTo>
                    <a:pt x="0" y="1733549"/>
                  </a:lnTo>
                  <a:lnTo>
                    <a:pt x="0" y="114299"/>
                  </a:lnTo>
                  <a:lnTo>
                    <a:pt x="8698" y="70558"/>
                  </a:lnTo>
                  <a:lnTo>
                    <a:pt x="33476" y="33477"/>
                  </a:lnTo>
                  <a:lnTo>
                    <a:pt x="70557" y="8700"/>
                  </a:lnTo>
                  <a:lnTo>
                    <a:pt x="114299" y="0"/>
                  </a:lnTo>
                  <a:lnTo>
                    <a:pt x="5067299" y="0"/>
                  </a:lnTo>
                  <a:lnTo>
                    <a:pt x="5111038" y="8700"/>
                  </a:lnTo>
                  <a:lnTo>
                    <a:pt x="5112785" y="9524"/>
                  </a:lnTo>
                  <a:lnTo>
                    <a:pt x="107420" y="9524"/>
                  </a:lnTo>
                  <a:lnTo>
                    <a:pt x="100606" y="10196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1740429"/>
                  </a:lnTo>
                  <a:lnTo>
                    <a:pt x="20133" y="1780001"/>
                  </a:lnTo>
                  <a:lnTo>
                    <a:pt x="45077" y="1812501"/>
                  </a:lnTo>
                  <a:lnTo>
                    <a:pt x="80560" y="1832981"/>
                  </a:lnTo>
                  <a:lnTo>
                    <a:pt x="107420" y="1838324"/>
                  </a:lnTo>
                  <a:lnTo>
                    <a:pt x="5112785" y="1838324"/>
                  </a:lnTo>
                  <a:lnTo>
                    <a:pt x="5111038" y="1839149"/>
                  </a:lnTo>
                  <a:lnTo>
                    <a:pt x="5100428" y="1842955"/>
                  </a:lnTo>
                  <a:lnTo>
                    <a:pt x="5089601" y="1845674"/>
                  </a:lnTo>
                  <a:lnTo>
                    <a:pt x="5078558" y="1847305"/>
                  </a:lnTo>
                  <a:lnTo>
                    <a:pt x="5067299" y="1847849"/>
                  </a:lnTo>
                  <a:close/>
                </a:path>
                <a:path w="5181600" h="1847850">
                  <a:moveTo>
                    <a:pt x="5112785" y="1838324"/>
                  </a:moveTo>
                  <a:lnTo>
                    <a:pt x="5074179" y="1838324"/>
                  </a:lnTo>
                  <a:lnTo>
                    <a:pt x="5080992" y="1837653"/>
                  </a:lnTo>
                  <a:lnTo>
                    <a:pt x="5094487" y="1834969"/>
                  </a:lnTo>
                  <a:lnTo>
                    <a:pt x="5131229" y="1816844"/>
                  </a:lnTo>
                  <a:lnTo>
                    <a:pt x="5158238" y="1786039"/>
                  </a:lnTo>
                  <a:lnTo>
                    <a:pt x="5171403" y="1747243"/>
                  </a:lnTo>
                  <a:lnTo>
                    <a:pt x="5172074" y="1740429"/>
                  </a:lnTo>
                  <a:lnTo>
                    <a:pt x="5172074" y="107420"/>
                  </a:lnTo>
                  <a:lnTo>
                    <a:pt x="5161466" y="67848"/>
                  </a:lnTo>
                  <a:lnTo>
                    <a:pt x="5136521" y="35348"/>
                  </a:lnTo>
                  <a:lnTo>
                    <a:pt x="5101038" y="14867"/>
                  </a:lnTo>
                  <a:lnTo>
                    <a:pt x="5074179" y="9524"/>
                  </a:lnTo>
                  <a:lnTo>
                    <a:pt x="5112785" y="9524"/>
                  </a:lnTo>
                  <a:lnTo>
                    <a:pt x="5148120" y="33477"/>
                  </a:lnTo>
                  <a:lnTo>
                    <a:pt x="5172897" y="70558"/>
                  </a:lnTo>
                  <a:lnTo>
                    <a:pt x="5181599" y="114299"/>
                  </a:lnTo>
                  <a:lnTo>
                    <a:pt x="5181599" y="1733549"/>
                  </a:lnTo>
                  <a:lnTo>
                    <a:pt x="5181055" y="1744809"/>
                  </a:lnTo>
                  <a:lnTo>
                    <a:pt x="5168086" y="1787484"/>
                  </a:lnTo>
                  <a:lnTo>
                    <a:pt x="5139774" y="1821948"/>
                  </a:lnTo>
                  <a:lnTo>
                    <a:pt x="5121233" y="1834337"/>
                  </a:lnTo>
                  <a:lnTo>
                    <a:pt x="5112785" y="1838324"/>
                  </a:lnTo>
                  <a:close/>
                </a:path>
              </a:pathLst>
            </a:custGeom>
            <a:solidFill>
              <a:srgbClr val="FFD600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667498" y="3476624"/>
              <a:ext cx="4686300" cy="571500"/>
            </a:xfrm>
            <a:custGeom>
              <a:avLst/>
              <a:gdLst/>
              <a:ahLst/>
              <a:cxnLst/>
              <a:rect l="l" t="t" r="r" b="b"/>
              <a:pathLst>
                <a:path w="4686300" h="571500">
                  <a:moveTo>
                    <a:pt x="4615103" y="571499"/>
                  </a:moveTo>
                  <a:lnTo>
                    <a:pt x="53397" y="571499"/>
                  </a:lnTo>
                  <a:lnTo>
                    <a:pt x="49681" y="571011"/>
                  </a:lnTo>
                  <a:lnTo>
                    <a:pt x="14085" y="545643"/>
                  </a:lnTo>
                  <a:lnTo>
                    <a:pt x="366" y="505258"/>
                  </a:lnTo>
                  <a:lnTo>
                    <a:pt x="0" y="500303"/>
                  </a:lnTo>
                  <a:lnTo>
                    <a:pt x="0" y="495299"/>
                  </a:lnTo>
                  <a:lnTo>
                    <a:pt x="0" y="71196"/>
                  </a:lnTo>
                  <a:lnTo>
                    <a:pt x="11716" y="29705"/>
                  </a:lnTo>
                  <a:lnTo>
                    <a:pt x="42320" y="2440"/>
                  </a:lnTo>
                  <a:lnTo>
                    <a:pt x="53397" y="0"/>
                  </a:lnTo>
                  <a:lnTo>
                    <a:pt x="4615103" y="0"/>
                  </a:lnTo>
                  <a:lnTo>
                    <a:pt x="4656593" y="15621"/>
                  </a:lnTo>
                  <a:lnTo>
                    <a:pt x="4682413" y="51661"/>
                  </a:lnTo>
                  <a:lnTo>
                    <a:pt x="4686299" y="71196"/>
                  </a:lnTo>
                  <a:lnTo>
                    <a:pt x="4686299" y="500303"/>
                  </a:lnTo>
                  <a:lnTo>
                    <a:pt x="4670677" y="541794"/>
                  </a:lnTo>
                  <a:lnTo>
                    <a:pt x="4634638" y="567613"/>
                  </a:lnTo>
                  <a:lnTo>
                    <a:pt x="4620058" y="571011"/>
                  </a:lnTo>
                  <a:lnTo>
                    <a:pt x="4615103" y="571499"/>
                  </a:lnTo>
                  <a:close/>
                </a:path>
              </a:pathLst>
            </a:custGeom>
            <a:solidFill>
              <a:srgbClr val="FFD6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648449" y="3476902"/>
              <a:ext cx="70485" cy="571500"/>
            </a:xfrm>
            <a:custGeom>
              <a:avLst/>
              <a:gdLst/>
              <a:ahLst/>
              <a:cxnLst/>
              <a:rect l="l" t="t" r="r" b="b"/>
              <a:pathLst>
                <a:path w="70484" h="571500">
                  <a:moveTo>
                    <a:pt x="70449" y="570944"/>
                  </a:moveTo>
                  <a:lnTo>
                    <a:pt x="33856" y="558391"/>
                  </a:lnTo>
                  <a:lnTo>
                    <a:pt x="5799" y="524182"/>
                  </a:lnTo>
                  <a:lnTo>
                    <a:pt x="0" y="495022"/>
                  </a:lnTo>
                  <a:lnTo>
                    <a:pt x="0" y="75922"/>
                  </a:lnTo>
                  <a:lnTo>
                    <a:pt x="12829" y="33579"/>
                  </a:lnTo>
                  <a:lnTo>
                    <a:pt x="47038" y="5522"/>
                  </a:lnTo>
                  <a:lnTo>
                    <a:pt x="70448" y="0"/>
                  </a:lnTo>
                  <a:lnTo>
                    <a:pt x="66287" y="1655"/>
                  </a:lnTo>
                  <a:lnTo>
                    <a:pt x="56951" y="9389"/>
                  </a:lnTo>
                  <a:lnTo>
                    <a:pt x="41000" y="46761"/>
                  </a:lnTo>
                  <a:lnTo>
                    <a:pt x="38100" y="75922"/>
                  </a:lnTo>
                  <a:lnTo>
                    <a:pt x="38100" y="495022"/>
                  </a:lnTo>
                  <a:lnTo>
                    <a:pt x="44514" y="537364"/>
                  </a:lnTo>
                  <a:lnTo>
                    <a:pt x="66287" y="569288"/>
                  </a:lnTo>
                  <a:lnTo>
                    <a:pt x="70449" y="570944"/>
                  </a:lnTo>
                  <a:close/>
                </a:path>
              </a:pathLst>
            </a:custGeom>
            <a:solidFill>
              <a:srgbClr val="FFD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21474" y="2749549"/>
              <a:ext cx="311150" cy="311150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6397624" y="1650603"/>
            <a:ext cx="4519930" cy="2219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130" dirty="0">
                <a:solidFill>
                  <a:srgbClr val="FFFFFF"/>
                </a:solidFill>
                <a:latin typeface="Roboto"/>
                <a:cs typeface="Roboto"/>
              </a:rPr>
              <a:t>Object</a:t>
            </a:r>
            <a:r>
              <a:rPr sz="2500" b="1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500" b="1" spc="-20" dirty="0">
                <a:solidFill>
                  <a:srgbClr val="FFFFFF"/>
                </a:solidFill>
                <a:latin typeface="Roboto"/>
                <a:cs typeface="Roboto"/>
              </a:rPr>
              <a:t>Detection</a:t>
            </a:r>
            <a:endParaRPr sz="25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075"/>
              </a:spcBef>
            </a:pPr>
            <a:endParaRPr sz="2250">
              <a:latin typeface="Roboto"/>
              <a:cs typeface="Roboto"/>
            </a:endParaRPr>
          </a:p>
          <a:p>
            <a:pPr marL="859790">
              <a:lnSpc>
                <a:spcPct val="100000"/>
              </a:lnSpc>
            </a:pPr>
            <a:r>
              <a:rPr sz="2000" b="1" spc="-100" dirty="0">
                <a:solidFill>
                  <a:srgbClr val="FFFFFF"/>
                </a:solidFill>
                <a:latin typeface="Roboto"/>
                <a:cs typeface="Roboto"/>
              </a:rPr>
              <a:t>Multiple</a:t>
            </a:r>
            <a:r>
              <a:rPr sz="2000" b="1" spc="-2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000" b="1" spc="-105" dirty="0">
                <a:solidFill>
                  <a:srgbClr val="FFFFFF"/>
                </a:solidFill>
                <a:latin typeface="Roboto"/>
                <a:cs typeface="Roboto"/>
              </a:rPr>
              <a:t>Objects</a:t>
            </a:r>
            <a:r>
              <a:rPr sz="2000" b="1" spc="-1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Roboto"/>
                <a:cs typeface="Roboto"/>
              </a:rPr>
              <a:t>+</a:t>
            </a:r>
            <a:r>
              <a:rPr sz="2000" b="1" spc="-1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Roboto"/>
                <a:cs typeface="Roboto"/>
              </a:rPr>
              <a:t>Localization</a:t>
            </a:r>
            <a:endParaRPr sz="2000">
              <a:latin typeface="Roboto"/>
              <a:cs typeface="Roboto"/>
            </a:endParaRPr>
          </a:p>
          <a:p>
            <a:pPr marL="859790">
              <a:lnSpc>
                <a:spcPct val="100000"/>
              </a:lnSpc>
              <a:spcBef>
                <a:spcPts val="725"/>
              </a:spcBef>
            </a:pPr>
            <a:r>
              <a:rPr sz="1650" spc="-85" dirty="0">
                <a:solidFill>
                  <a:srgbClr val="D0D5DA"/>
                </a:solidFill>
                <a:latin typeface="Arial MT"/>
                <a:cs typeface="Arial MT"/>
              </a:rPr>
              <a:t>Detects,</a:t>
            </a:r>
            <a:r>
              <a:rPr sz="1650" spc="-7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650" spc="-60" dirty="0">
                <a:solidFill>
                  <a:srgbClr val="D0D5DA"/>
                </a:solidFill>
                <a:latin typeface="Arial MT"/>
                <a:cs typeface="Arial MT"/>
              </a:rPr>
              <a:t>classifies, </a:t>
            </a:r>
            <a:r>
              <a:rPr sz="1650" spc="-105" dirty="0">
                <a:solidFill>
                  <a:srgbClr val="D0D5DA"/>
                </a:solidFill>
                <a:latin typeface="Arial MT"/>
                <a:cs typeface="Arial MT"/>
              </a:rPr>
              <a:t>and</a:t>
            </a:r>
            <a:r>
              <a:rPr sz="1650" spc="-6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650" spc="-60" dirty="0">
                <a:solidFill>
                  <a:srgbClr val="D0D5DA"/>
                </a:solidFill>
                <a:latin typeface="Arial MT"/>
                <a:cs typeface="Arial MT"/>
              </a:rPr>
              <a:t>locates </a:t>
            </a:r>
            <a:r>
              <a:rPr sz="1650" spc="-130" dirty="0">
                <a:solidFill>
                  <a:srgbClr val="D0D5DA"/>
                </a:solidFill>
                <a:latin typeface="Arial MT"/>
                <a:cs typeface="Arial MT"/>
              </a:rPr>
              <a:t>ALL</a:t>
            </a:r>
            <a:r>
              <a:rPr sz="1650" spc="-6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650" spc="-10" dirty="0">
                <a:solidFill>
                  <a:srgbClr val="D0D5DA"/>
                </a:solidFill>
                <a:latin typeface="Arial MT"/>
                <a:cs typeface="Arial MT"/>
              </a:rPr>
              <a:t>objects</a:t>
            </a:r>
            <a:endParaRPr sz="16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69"/>
              </a:spcBef>
            </a:pPr>
            <a:endParaRPr sz="1500">
              <a:latin typeface="Arial MT"/>
              <a:cs typeface="Arial MT"/>
            </a:endParaRPr>
          </a:p>
          <a:p>
            <a:pPr marL="440690">
              <a:lnSpc>
                <a:spcPct val="100000"/>
              </a:lnSpc>
            </a:pPr>
            <a:r>
              <a:rPr sz="1500" spc="-90" dirty="0">
                <a:solidFill>
                  <a:srgbClr val="E4E7EB"/>
                </a:solidFill>
                <a:latin typeface="Roboto"/>
                <a:cs typeface="Roboto"/>
              </a:rPr>
              <a:t>Example:</a:t>
            </a:r>
            <a:r>
              <a:rPr sz="1500" spc="-20" dirty="0">
                <a:solidFill>
                  <a:srgbClr val="E4E7EB"/>
                </a:solidFill>
                <a:latin typeface="Roboto"/>
                <a:cs typeface="Roboto"/>
              </a:rPr>
              <a:t> </a:t>
            </a:r>
            <a:r>
              <a:rPr sz="1500" spc="-70" dirty="0">
                <a:solidFill>
                  <a:srgbClr val="FFD600"/>
                </a:solidFill>
                <a:latin typeface="Arial MT"/>
                <a:cs typeface="Arial MT"/>
              </a:rPr>
              <a:t>"cat</a:t>
            </a:r>
            <a:r>
              <a:rPr sz="1500" spc="-65" dirty="0">
                <a:solidFill>
                  <a:srgbClr val="FFD600"/>
                </a:solidFill>
                <a:latin typeface="Arial MT"/>
                <a:cs typeface="Arial MT"/>
              </a:rPr>
              <a:t> </a:t>
            </a:r>
            <a:r>
              <a:rPr sz="1500" spc="-70" dirty="0">
                <a:solidFill>
                  <a:srgbClr val="FFD600"/>
                </a:solidFill>
                <a:latin typeface="Arial MT"/>
                <a:cs typeface="Arial MT"/>
              </a:rPr>
              <a:t>(box</a:t>
            </a:r>
            <a:r>
              <a:rPr sz="1500" spc="-60" dirty="0">
                <a:solidFill>
                  <a:srgbClr val="FFD600"/>
                </a:solidFill>
                <a:latin typeface="Arial MT"/>
                <a:cs typeface="Arial MT"/>
              </a:rPr>
              <a:t> </a:t>
            </a:r>
            <a:r>
              <a:rPr sz="1500" spc="-80" dirty="0">
                <a:solidFill>
                  <a:srgbClr val="FFD600"/>
                </a:solidFill>
                <a:latin typeface="Arial MT"/>
                <a:cs typeface="Arial MT"/>
              </a:rPr>
              <a:t>1),</a:t>
            </a:r>
            <a:r>
              <a:rPr sz="1500" spc="-65" dirty="0">
                <a:solidFill>
                  <a:srgbClr val="FFD600"/>
                </a:solidFill>
                <a:latin typeface="Arial MT"/>
                <a:cs typeface="Arial MT"/>
              </a:rPr>
              <a:t> </a:t>
            </a:r>
            <a:r>
              <a:rPr sz="1500" spc="-85" dirty="0">
                <a:solidFill>
                  <a:srgbClr val="FFD600"/>
                </a:solidFill>
                <a:latin typeface="Arial MT"/>
                <a:cs typeface="Arial MT"/>
              </a:rPr>
              <a:t>dog</a:t>
            </a:r>
            <a:r>
              <a:rPr sz="1500" spc="-65" dirty="0">
                <a:solidFill>
                  <a:srgbClr val="FFD600"/>
                </a:solidFill>
                <a:latin typeface="Arial MT"/>
                <a:cs typeface="Arial MT"/>
              </a:rPr>
              <a:t> </a:t>
            </a:r>
            <a:r>
              <a:rPr sz="1500" spc="-70" dirty="0">
                <a:solidFill>
                  <a:srgbClr val="FFD600"/>
                </a:solidFill>
                <a:latin typeface="Arial MT"/>
                <a:cs typeface="Arial MT"/>
              </a:rPr>
              <a:t>(box</a:t>
            </a:r>
            <a:r>
              <a:rPr sz="1500" spc="-60" dirty="0">
                <a:solidFill>
                  <a:srgbClr val="FFD600"/>
                </a:solidFill>
                <a:latin typeface="Arial MT"/>
                <a:cs typeface="Arial MT"/>
              </a:rPr>
              <a:t> </a:t>
            </a:r>
            <a:r>
              <a:rPr sz="1500" spc="-80" dirty="0">
                <a:solidFill>
                  <a:srgbClr val="FFD600"/>
                </a:solidFill>
                <a:latin typeface="Arial MT"/>
                <a:cs typeface="Arial MT"/>
              </a:rPr>
              <a:t>2),</a:t>
            </a:r>
            <a:r>
              <a:rPr sz="1500" spc="-65" dirty="0">
                <a:solidFill>
                  <a:srgbClr val="FFD600"/>
                </a:solidFill>
                <a:latin typeface="Arial MT"/>
                <a:cs typeface="Arial MT"/>
              </a:rPr>
              <a:t> </a:t>
            </a:r>
            <a:r>
              <a:rPr sz="1500" spc="-75" dirty="0">
                <a:solidFill>
                  <a:srgbClr val="FFD600"/>
                </a:solidFill>
                <a:latin typeface="Arial MT"/>
                <a:cs typeface="Arial MT"/>
              </a:rPr>
              <a:t>person</a:t>
            </a:r>
            <a:r>
              <a:rPr sz="1500" spc="-65" dirty="0">
                <a:solidFill>
                  <a:srgbClr val="FFD600"/>
                </a:solidFill>
                <a:latin typeface="Arial MT"/>
                <a:cs typeface="Arial MT"/>
              </a:rPr>
              <a:t> </a:t>
            </a:r>
            <a:r>
              <a:rPr sz="1500" spc="-70" dirty="0">
                <a:solidFill>
                  <a:srgbClr val="FFD600"/>
                </a:solidFill>
                <a:latin typeface="Arial MT"/>
                <a:cs typeface="Arial MT"/>
              </a:rPr>
              <a:t>(box</a:t>
            </a:r>
            <a:r>
              <a:rPr sz="1500" spc="-60" dirty="0">
                <a:solidFill>
                  <a:srgbClr val="FFD600"/>
                </a:solidFill>
                <a:latin typeface="Arial MT"/>
                <a:cs typeface="Arial MT"/>
              </a:rPr>
              <a:t> </a:t>
            </a:r>
            <a:r>
              <a:rPr sz="1500" spc="-25" dirty="0">
                <a:solidFill>
                  <a:srgbClr val="FFD600"/>
                </a:solidFill>
                <a:latin typeface="Arial MT"/>
                <a:cs typeface="Arial MT"/>
              </a:rPr>
              <a:t>3)"</a:t>
            </a:r>
            <a:endParaRPr sz="1500">
              <a:latin typeface="Arial MT"/>
              <a:cs typeface="Arial MT"/>
            </a:endParaRPr>
          </a:p>
        </p:txBody>
      </p:sp>
      <p:pic>
        <p:nvPicPr>
          <p:cNvPr id="23" name="object 2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29374" y="4552949"/>
            <a:ext cx="190500" cy="190500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29374" y="4933949"/>
            <a:ext cx="190500" cy="190500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29374" y="5314949"/>
            <a:ext cx="190500" cy="190500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6740525" y="4501911"/>
            <a:ext cx="1913255" cy="1016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90" dirty="0">
                <a:solidFill>
                  <a:srgbClr val="D0D5DA"/>
                </a:solidFill>
                <a:latin typeface="Arial MT"/>
                <a:cs typeface="Arial MT"/>
              </a:rPr>
              <a:t>Bounding</a:t>
            </a:r>
            <a:r>
              <a:rPr sz="1500" spc="-6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500" spc="-85" dirty="0">
                <a:solidFill>
                  <a:srgbClr val="D0D5DA"/>
                </a:solidFill>
                <a:latin typeface="Arial MT"/>
                <a:cs typeface="Arial MT"/>
              </a:rPr>
              <a:t>box</a:t>
            </a:r>
            <a:r>
              <a:rPr sz="1500" spc="-5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500" spc="-70" dirty="0">
                <a:solidFill>
                  <a:srgbClr val="D0D5DA"/>
                </a:solidFill>
                <a:latin typeface="Arial MT"/>
                <a:cs typeface="Arial MT"/>
              </a:rPr>
              <a:t>regression</a:t>
            </a:r>
            <a:endParaRPr sz="1500">
              <a:latin typeface="Arial MT"/>
              <a:cs typeface="Arial MT"/>
            </a:endParaRPr>
          </a:p>
          <a:p>
            <a:pPr marL="12700" marR="211454">
              <a:lnSpc>
                <a:spcPct val="166700"/>
              </a:lnSpc>
            </a:pPr>
            <a:r>
              <a:rPr sz="1500" spc="-50" dirty="0">
                <a:solidFill>
                  <a:srgbClr val="D0D5DA"/>
                </a:solidFill>
                <a:latin typeface="Arial MT"/>
                <a:cs typeface="Arial MT"/>
              </a:rPr>
              <a:t>Multiple</a:t>
            </a:r>
            <a:r>
              <a:rPr sz="1500" spc="-6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D0D5DA"/>
                </a:solidFill>
                <a:latin typeface="Arial MT"/>
                <a:cs typeface="Arial MT"/>
              </a:rPr>
              <a:t>predictions </a:t>
            </a:r>
            <a:r>
              <a:rPr sz="1500" spc="-130" dirty="0">
                <a:solidFill>
                  <a:srgbClr val="D0D5DA"/>
                </a:solidFill>
                <a:latin typeface="Arial MT"/>
                <a:cs typeface="Arial MT"/>
              </a:rPr>
              <a:t>Real-</a:t>
            </a:r>
            <a:r>
              <a:rPr sz="1500" spc="-50" dirty="0">
                <a:solidFill>
                  <a:srgbClr val="D0D5DA"/>
                </a:solidFill>
                <a:latin typeface="Arial MT"/>
                <a:cs typeface="Arial MT"/>
              </a:rPr>
              <a:t>time </a:t>
            </a:r>
            <a:r>
              <a:rPr sz="1500" spc="-80" dirty="0">
                <a:solidFill>
                  <a:srgbClr val="D0D5DA"/>
                </a:solidFill>
                <a:latin typeface="Arial MT"/>
                <a:cs typeface="Arial MT"/>
              </a:rPr>
              <a:t>requirement</a:t>
            </a:r>
            <a:endParaRPr sz="1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0196" y="0"/>
            <a:ext cx="12184504" cy="6868159"/>
          </a:xfrm>
          <a:custGeom>
            <a:avLst/>
            <a:gdLst/>
            <a:ahLst/>
            <a:cxnLst/>
            <a:rect l="l" t="t" r="r" b="b"/>
            <a:pathLst>
              <a:path w="11431270" h="6868159">
                <a:moveTo>
                  <a:pt x="11431267" y="6867691"/>
                </a:moveTo>
                <a:lnTo>
                  <a:pt x="0" y="6867691"/>
                </a:lnTo>
                <a:lnTo>
                  <a:pt x="0" y="0"/>
                </a:lnTo>
                <a:lnTo>
                  <a:pt x="11431267" y="0"/>
                </a:lnTo>
                <a:lnTo>
                  <a:pt x="11431267" y="6867691"/>
                </a:lnTo>
                <a:close/>
              </a:path>
            </a:pathLst>
          </a:custGeom>
          <a:solidFill>
            <a:srgbClr val="09325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8930" y="741246"/>
            <a:ext cx="11431270" cy="5376545"/>
            <a:chOff x="8930" y="741246"/>
            <a:chExt cx="11431270" cy="5376545"/>
          </a:xfrm>
        </p:grpSpPr>
        <p:sp>
          <p:nvSpPr>
            <p:cNvPr id="4" name="object 4"/>
            <p:cNvSpPr/>
            <p:nvPr/>
          </p:nvSpPr>
          <p:spPr>
            <a:xfrm>
              <a:off x="8930" y="741246"/>
              <a:ext cx="11431270" cy="18415"/>
            </a:xfrm>
            <a:custGeom>
              <a:avLst/>
              <a:gdLst/>
              <a:ahLst/>
              <a:cxnLst/>
              <a:rect l="l" t="t" r="r" b="b"/>
              <a:pathLst>
                <a:path w="11431270" h="18415">
                  <a:moveTo>
                    <a:pt x="11431267" y="17861"/>
                  </a:moveTo>
                  <a:lnTo>
                    <a:pt x="0" y="17861"/>
                  </a:lnTo>
                  <a:lnTo>
                    <a:pt x="0" y="0"/>
                  </a:lnTo>
                  <a:lnTo>
                    <a:pt x="11431267" y="0"/>
                  </a:lnTo>
                  <a:lnTo>
                    <a:pt x="11431267" y="17861"/>
                  </a:lnTo>
                  <a:close/>
                </a:path>
              </a:pathLst>
            </a:custGeom>
            <a:solidFill>
              <a:srgbClr val="FFD600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98355" y="1866511"/>
              <a:ext cx="5796280" cy="929005"/>
            </a:xfrm>
            <a:custGeom>
              <a:avLst/>
              <a:gdLst/>
              <a:ahLst/>
              <a:cxnLst/>
              <a:rect l="l" t="t" r="r" b="b"/>
              <a:pathLst>
                <a:path w="5796280" h="929005">
                  <a:moveTo>
                    <a:pt x="5695878" y="928790"/>
                  </a:moveTo>
                  <a:lnTo>
                    <a:pt x="83442" y="928790"/>
                  </a:lnTo>
                  <a:lnTo>
                    <a:pt x="77635" y="928103"/>
                  </a:lnTo>
                  <a:lnTo>
                    <a:pt x="34814" y="906819"/>
                  </a:lnTo>
                  <a:lnTo>
                    <a:pt x="11792" y="875310"/>
                  </a:lnTo>
                  <a:lnTo>
                    <a:pt x="572" y="835628"/>
                  </a:lnTo>
                  <a:lnTo>
                    <a:pt x="0" y="828659"/>
                  </a:lnTo>
                  <a:lnTo>
                    <a:pt x="0" y="821622"/>
                  </a:lnTo>
                  <a:lnTo>
                    <a:pt x="0" y="100131"/>
                  </a:lnTo>
                  <a:lnTo>
                    <a:pt x="9042" y="59655"/>
                  </a:lnTo>
                  <a:lnTo>
                    <a:pt x="30303" y="26412"/>
                  </a:lnTo>
                  <a:lnTo>
                    <a:pt x="66132" y="3431"/>
                  </a:lnTo>
                  <a:lnTo>
                    <a:pt x="83442" y="0"/>
                  </a:lnTo>
                  <a:lnTo>
                    <a:pt x="5695878" y="0"/>
                  </a:lnTo>
                  <a:lnTo>
                    <a:pt x="5736353" y="10850"/>
                  </a:lnTo>
                  <a:lnTo>
                    <a:pt x="5769595" y="36364"/>
                  </a:lnTo>
                  <a:lnTo>
                    <a:pt x="5790544" y="72657"/>
                  </a:lnTo>
                  <a:lnTo>
                    <a:pt x="5796009" y="100131"/>
                  </a:lnTo>
                  <a:lnTo>
                    <a:pt x="5796009" y="828659"/>
                  </a:lnTo>
                  <a:lnTo>
                    <a:pt x="5785158" y="869134"/>
                  </a:lnTo>
                  <a:lnTo>
                    <a:pt x="5759644" y="902377"/>
                  </a:lnTo>
                  <a:lnTo>
                    <a:pt x="5723351" y="923325"/>
                  </a:lnTo>
                  <a:lnTo>
                    <a:pt x="5702847" y="928103"/>
                  </a:lnTo>
                  <a:lnTo>
                    <a:pt x="5695878" y="928790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80494" y="1866511"/>
              <a:ext cx="107314" cy="929005"/>
            </a:xfrm>
            <a:custGeom>
              <a:avLst/>
              <a:gdLst/>
              <a:ahLst/>
              <a:cxnLst/>
              <a:rect l="l" t="t" r="r" b="b"/>
              <a:pathLst>
                <a:path w="107315" h="929005">
                  <a:moveTo>
                    <a:pt x="107168" y="928790"/>
                  </a:moveTo>
                  <a:lnTo>
                    <a:pt x="66156" y="920632"/>
                  </a:lnTo>
                  <a:lnTo>
                    <a:pt x="31388" y="897401"/>
                  </a:lnTo>
                  <a:lnTo>
                    <a:pt x="8157" y="862633"/>
                  </a:lnTo>
                  <a:lnTo>
                    <a:pt x="0" y="821622"/>
                  </a:lnTo>
                  <a:lnTo>
                    <a:pt x="0" y="107168"/>
                  </a:lnTo>
                  <a:lnTo>
                    <a:pt x="8157" y="66156"/>
                  </a:lnTo>
                  <a:lnTo>
                    <a:pt x="31388" y="31388"/>
                  </a:lnTo>
                  <a:lnTo>
                    <a:pt x="66156" y="8157"/>
                  </a:lnTo>
                  <a:lnTo>
                    <a:pt x="107168" y="0"/>
                  </a:lnTo>
                  <a:lnTo>
                    <a:pt x="100130" y="509"/>
                  </a:lnTo>
                  <a:lnTo>
                    <a:pt x="93227" y="2039"/>
                  </a:lnTo>
                  <a:lnTo>
                    <a:pt x="61865" y="24284"/>
                  </a:lnTo>
                  <a:lnTo>
                    <a:pt x="41161" y="66156"/>
                  </a:lnTo>
                  <a:lnTo>
                    <a:pt x="35722" y="107168"/>
                  </a:lnTo>
                  <a:lnTo>
                    <a:pt x="35722" y="821622"/>
                  </a:lnTo>
                  <a:lnTo>
                    <a:pt x="41161" y="862633"/>
                  </a:lnTo>
                  <a:lnTo>
                    <a:pt x="61865" y="904505"/>
                  </a:lnTo>
                  <a:lnTo>
                    <a:pt x="93227" y="926750"/>
                  </a:lnTo>
                  <a:lnTo>
                    <a:pt x="100130" y="928280"/>
                  </a:lnTo>
                  <a:lnTo>
                    <a:pt x="107168" y="928790"/>
                  </a:lnTo>
                  <a:close/>
                </a:path>
              </a:pathLst>
            </a:custGeom>
            <a:solidFill>
              <a:srgbClr val="FFD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98355" y="2973915"/>
              <a:ext cx="5796280" cy="929005"/>
            </a:xfrm>
            <a:custGeom>
              <a:avLst/>
              <a:gdLst/>
              <a:ahLst/>
              <a:cxnLst/>
              <a:rect l="l" t="t" r="r" b="b"/>
              <a:pathLst>
                <a:path w="5796280" h="929004">
                  <a:moveTo>
                    <a:pt x="5695878" y="928790"/>
                  </a:moveTo>
                  <a:lnTo>
                    <a:pt x="83442" y="928790"/>
                  </a:lnTo>
                  <a:lnTo>
                    <a:pt x="77635" y="928103"/>
                  </a:lnTo>
                  <a:lnTo>
                    <a:pt x="34814" y="906819"/>
                  </a:lnTo>
                  <a:lnTo>
                    <a:pt x="11792" y="875310"/>
                  </a:lnTo>
                  <a:lnTo>
                    <a:pt x="572" y="835628"/>
                  </a:lnTo>
                  <a:lnTo>
                    <a:pt x="0" y="828659"/>
                  </a:lnTo>
                  <a:lnTo>
                    <a:pt x="0" y="821622"/>
                  </a:lnTo>
                  <a:lnTo>
                    <a:pt x="0" y="100131"/>
                  </a:lnTo>
                  <a:lnTo>
                    <a:pt x="9042" y="59655"/>
                  </a:lnTo>
                  <a:lnTo>
                    <a:pt x="30303" y="26412"/>
                  </a:lnTo>
                  <a:lnTo>
                    <a:pt x="66132" y="3431"/>
                  </a:lnTo>
                  <a:lnTo>
                    <a:pt x="83442" y="0"/>
                  </a:lnTo>
                  <a:lnTo>
                    <a:pt x="5695878" y="0"/>
                  </a:lnTo>
                  <a:lnTo>
                    <a:pt x="5736353" y="10850"/>
                  </a:lnTo>
                  <a:lnTo>
                    <a:pt x="5769595" y="36364"/>
                  </a:lnTo>
                  <a:lnTo>
                    <a:pt x="5790544" y="72657"/>
                  </a:lnTo>
                  <a:lnTo>
                    <a:pt x="5796009" y="100131"/>
                  </a:lnTo>
                  <a:lnTo>
                    <a:pt x="5796009" y="828659"/>
                  </a:lnTo>
                  <a:lnTo>
                    <a:pt x="5785158" y="869134"/>
                  </a:lnTo>
                  <a:lnTo>
                    <a:pt x="5759644" y="902376"/>
                  </a:lnTo>
                  <a:lnTo>
                    <a:pt x="5723351" y="923324"/>
                  </a:lnTo>
                  <a:lnTo>
                    <a:pt x="5702847" y="928103"/>
                  </a:lnTo>
                  <a:lnTo>
                    <a:pt x="5695878" y="928790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80494" y="2973915"/>
              <a:ext cx="107314" cy="929005"/>
            </a:xfrm>
            <a:custGeom>
              <a:avLst/>
              <a:gdLst/>
              <a:ahLst/>
              <a:cxnLst/>
              <a:rect l="l" t="t" r="r" b="b"/>
              <a:pathLst>
                <a:path w="107315" h="929004">
                  <a:moveTo>
                    <a:pt x="107168" y="928790"/>
                  </a:moveTo>
                  <a:lnTo>
                    <a:pt x="66156" y="920632"/>
                  </a:lnTo>
                  <a:lnTo>
                    <a:pt x="31388" y="897401"/>
                  </a:lnTo>
                  <a:lnTo>
                    <a:pt x="8157" y="862633"/>
                  </a:lnTo>
                  <a:lnTo>
                    <a:pt x="0" y="821622"/>
                  </a:lnTo>
                  <a:lnTo>
                    <a:pt x="0" y="107168"/>
                  </a:lnTo>
                  <a:lnTo>
                    <a:pt x="8157" y="66156"/>
                  </a:lnTo>
                  <a:lnTo>
                    <a:pt x="31388" y="31388"/>
                  </a:lnTo>
                  <a:lnTo>
                    <a:pt x="66156" y="8157"/>
                  </a:lnTo>
                  <a:lnTo>
                    <a:pt x="107168" y="0"/>
                  </a:lnTo>
                  <a:lnTo>
                    <a:pt x="100130" y="509"/>
                  </a:lnTo>
                  <a:lnTo>
                    <a:pt x="93227" y="2039"/>
                  </a:lnTo>
                  <a:lnTo>
                    <a:pt x="61865" y="24284"/>
                  </a:lnTo>
                  <a:lnTo>
                    <a:pt x="41161" y="66156"/>
                  </a:lnTo>
                  <a:lnTo>
                    <a:pt x="35722" y="107168"/>
                  </a:lnTo>
                  <a:lnTo>
                    <a:pt x="35722" y="821622"/>
                  </a:lnTo>
                  <a:lnTo>
                    <a:pt x="41161" y="862633"/>
                  </a:lnTo>
                  <a:lnTo>
                    <a:pt x="61865" y="904505"/>
                  </a:lnTo>
                  <a:lnTo>
                    <a:pt x="93227" y="926750"/>
                  </a:lnTo>
                  <a:lnTo>
                    <a:pt x="100130" y="928280"/>
                  </a:lnTo>
                  <a:lnTo>
                    <a:pt x="107168" y="928790"/>
                  </a:lnTo>
                  <a:close/>
                </a:path>
              </a:pathLst>
            </a:custGeom>
            <a:solidFill>
              <a:srgbClr val="FFD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98355" y="4081319"/>
              <a:ext cx="5796280" cy="929005"/>
            </a:xfrm>
            <a:custGeom>
              <a:avLst/>
              <a:gdLst/>
              <a:ahLst/>
              <a:cxnLst/>
              <a:rect l="l" t="t" r="r" b="b"/>
              <a:pathLst>
                <a:path w="5796280" h="929004">
                  <a:moveTo>
                    <a:pt x="5695878" y="928789"/>
                  </a:moveTo>
                  <a:lnTo>
                    <a:pt x="83442" y="928789"/>
                  </a:lnTo>
                  <a:lnTo>
                    <a:pt x="77635" y="928103"/>
                  </a:lnTo>
                  <a:lnTo>
                    <a:pt x="34814" y="906819"/>
                  </a:lnTo>
                  <a:lnTo>
                    <a:pt x="11792" y="875310"/>
                  </a:lnTo>
                  <a:lnTo>
                    <a:pt x="572" y="835627"/>
                  </a:lnTo>
                  <a:lnTo>
                    <a:pt x="0" y="828658"/>
                  </a:lnTo>
                  <a:lnTo>
                    <a:pt x="0" y="821622"/>
                  </a:lnTo>
                  <a:lnTo>
                    <a:pt x="0" y="100131"/>
                  </a:lnTo>
                  <a:lnTo>
                    <a:pt x="9042" y="59654"/>
                  </a:lnTo>
                  <a:lnTo>
                    <a:pt x="30303" y="26412"/>
                  </a:lnTo>
                  <a:lnTo>
                    <a:pt x="66132" y="3431"/>
                  </a:lnTo>
                  <a:lnTo>
                    <a:pt x="83442" y="0"/>
                  </a:lnTo>
                  <a:lnTo>
                    <a:pt x="5695878" y="0"/>
                  </a:lnTo>
                  <a:lnTo>
                    <a:pt x="5736353" y="10850"/>
                  </a:lnTo>
                  <a:lnTo>
                    <a:pt x="5769595" y="36364"/>
                  </a:lnTo>
                  <a:lnTo>
                    <a:pt x="5790544" y="72657"/>
                  </a:lnTo>
                  <a:lnTo>
                    <a:pt x="5796009" y="100131"/>
                  </a:lnTo>
                  <a:lnTo>
                    <a:pt x="5796009" y="828658"/>
                  </a:lnTo>
                  <a:lnTo>
                    <a:pt x="5785158" y="869134"/>
                  </a:lnTo>
                  <a:lnTo>
                    <a:pt x="5759644" y="902376"/>
                  </a:lnTo>
                  <a:lnTo>
                    <a:pt x="5723351" y="923325"/>
                  </a:lnTo>
                  <a:lnTo>
                    <a:pt x="5702847" y="928103"/>
                  </a:lnTo>
                  <a:lnTo>
                    <a:pt x="5695878" y="928789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80494" y="4081319"/>
              <a:ext cx="107314" cy="929005"/>
            </a:xfrm>
            <a:custGeom>
              <a:avLst/>
              <a:gdLst/>
              <a:ahLst/>
              <a:cxnLst/>
              <a:rect l="l" t="t" r="r" b="b"/>
              <a:pathLst>
                <a:path w="107315" h="929004">
                  <a:moveTo>
                    <a:pt x="107168" y="928790"/>
                  </a:moveTo>
                  <a:lnTo>
                    <a:pt x="66156" y="920632"/>
                  </a:lnTo>
                  <a:lnTo>
                    <a:pt x="31388" y="897401"/>
                  </a:lnTo>
                  <a:lnTo>
                    <a:pt x="8157" y="862633"/>
                  </a:lnTo>
                  <a:lnTo>
                    <a:pt x="0" y="821622"/>
                  </a:lnTo>
                  <a:lnTo>
                    <a:pt x="0" y="107168"/>
                  </a:lnTo>
                  <a:lnTo>
                    <a:pt x="8157" y="66156"/>
                  </a:lnTo>
                  <a:lnTo>
                    <a:pt x="31388" y="31388"/>
                  </a:lnTo>
                  <a:lnTo>
                    <a:pt x="66156" y="8157"/>
                  </a:lnTo>
                  <a:lnTo>
                    <a:pt x="107168" y="0"/>
                  </a:lnTo>
                  <a:lnTo>
                    <a:pt x="100130" y="509"/>
                  </a:lnTo>
                  <a:lnTo>
                    <a:pt x="93227" y="2039"/>
                  </a:lnTo>
                  <a:lnTo>
                    <a:pt x="61865" y="24284"/>
                  </a:lnTo>
                  <a:lnTo>
                    <a:pt x="41161" y="66156"/>
                  </a:lnTo>
                  <a:lnTo>
                    <a:pt x="35722" y="107168"/>
                  </a:lnTo>
                  <a:lnTo>
                    <a:pt x="35722" y="821622"/>
                  </a:lnTo>
                  <a:lnTo>
                    <a:pt x="41161" y="862633"/>
                  </a:lnTo>
                  <a:lnTo>
                    <a:pt x="61865" y="904505"/>
                  </a:lnTo>
                  <a:lnTo>
                    <a:pt x="93227" y="926750"/>
                  </a:lnTo>
                  <a:lnTo>
                    <a:pt x="100130" y="928280"/>
                  </a:lnTo>
                  <a:lnTo>
                    <a:pt x="107168" y="928790"/>
                  </a:lnTo>
                  <a:close/>
                </a:path>
              </a:pathLst>
            </a:custGeom>
            <a:solidFill>
              <a:srgbClr val="FFD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98355" y="5188723"/>
              <a:ext cx="5796280" cy="929005"/>
            </a:xfrm>
            <a:custGeom>
              <a:avLst/>
              <a:gdLst/>
              <a:ahLst/>
              <a:cxnLst/>
              <a:rect l="l" t="t" r="r" b="b"/>
              <a:pathLst>
                <a:path w="5796280" h="929004">
                  <a:moveTo>
                    <a:pt x="5695878" y="928790"/>
                  </a:moveTo>
                  <a:lnTo>
                    <a:pt x="83442" y="928790"/>
                  </a:lnTo>
                  <a:lnTo>
                    <a:pt x="77635" y="928103"/>
                  </a:lnTo>
                  <a:lnTo>
                    <a:pt x="34814" y="906819"/>
                  </a:lnTo>
                  <a:lnTo>
                    <a:pt x="11792" y="875310"/>
                  </a:lnTo>
                  <a:lnTo>
                    <a:pt x="572" y="835627"/>
                  </a:lnTo>
                  <a:lnTo>
                    <a:pt x="0" y="828658"/>
                  </a:lnTo>
                  <a:lnTo>
                    <a:pt x="0" y="821622"/>
                  </a:lnTo>
                  <a:lnTo>
                    <a:pt x="0" y="100131"/>
                  </a:lnTo>
                  <a:lnTo>
                    <a:pt x="9042" y="59655"/>
                  </a:lnTo>
                  <a:lnTo>
                    <a:pt x="30303" y="26413"/>
                  </a:lnTo>
                  <a:lnTo>
                    <a:pt x="66132" y="3431"/>
                  </a:lnTo>
                  <a:lnTo>
                    <a:pt x="83442" y="0"/>
                  </a:lnTo>
                  <a:lnTo>
                    <a:pt x="5695878" y="0"/>
                  </a:lnTo>
                  <a:lnTo>
                    <a:pt x="5736353" y="10850"/>
                  </a:lnTo>
                  <a:lnTo>
                    <a:pt x="5769595" y="36364"/>
                  </a:lnTo>
                  <a:lnTo>
                    <a:pt x="5790544" y="72657"/>
                  </a:lnTo>
                  <a:lnTo>
                    <a:pt x="5796009" y="100131"/>
                  </a:lnTo>
                  <a:lnTo>
                    <a:pt x="5796009" y="828658"/>
                  </a:lnTo>
                  <a:lnTo>
                    <a:pt x="5785158" y="869134"/>
                  </a:lnTo>
                  <a:lnTo>
                    <a:pt x="5759644" y="902376"/>
                  </a:lnTo>
                  <a:lnTo>
                    <a:pt x="5723351" y="923324"/>
                  </a:lnTo>
                  <a:lnTo>
                    <a:pt x="5702847" y="928103"/>
                  </a:lnTo>
                  <a:lnTo>
                    <a:pt x="5695878" y="928790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80494" y="5188723"/>
              <a:ext cx="107314" cy="929005"/>
            </a:xfrm>
            <a:custGeom>
              <a:avLst/>
              <a:gdLst/>
              <a:ahLst/>
              <a:cxnLst/>
              <a:rect l="l" t="t" r="r" b="b"/>
              <a:pathLst>
                <a:path w="107315" h="929004">
                  <a:moveTo>
                    <a:pt x="107168" y="928790"/>
                  </a:moveTo>
                  <a:lnTo>
                    <a:pt x="66156" y="920631"/>
                  </a:lnTo>
                  <a:lnTo>
                    <a:pt x="31388" y="897401"/>
                  </a:lnTo>
                  <a:lnTo>
                    <a:pt x="8157" y="862633"/>
                  </a:lnTo>
                  <a:lnTo>
                    <a:pt x="0" y="821622"/>
                  </a:lnTo>
                  <a:lnTo>
                    <a:pt x="0" y="107168"/>
                  </a:lnTo>
                  <a:lnTo>
                    <a:pt x="8157" y="66156"/>
                  </a:lnTo>
                  <a:lnTo>
                    <a:pt x="31388" y="31388"/>
                  </a:lnTo>
                  <a:lnTo>
                    <a:pt x="66156" y="8157"/>
                  </a:lnTo>
                  <a:lnTo>
                    <a:pt x="107168" y="0"/>
                  </a:lnTo>
                  <a:lnTo>
                    <a:pt x="100130" y="509"/>
                  </a:lnTo>
                  <a:lnTo>
                    <a:pt x="93227" y="2039"/>
                  </a:lnTo>
                  <a:lnTo>
                    <a:pt x="61865" y="24284"/>
                  </a:lnTo>
                  <a:lnTo>
                    <a:pt x="41161" y="66156"/>
                  </a:lnTo>
                  <a:lnTo>
                    <a:pt x="35722" y="107168"/>
                  </a:lnTo>
                  <a:lnTo>
                    <a:pt x="35722" y="821622"/>
                  </a:lnTo>
                  <a:lnTo>
                    <a:pt x="41161" y="862633"/>
                  </a:lnTo>
                  <a:lnTo>
                    <a:pt x="61865" y="904505"/>
                  </a:lnTo>
                  <a:lnTo>
                    <a:pt x="93227" y="926750"/>
                  </a:lnTo>
                  <a:lnTo>
                    <a:pt x="100130" y="928280"/>
                  </a:lnTo>
                  <a:lnTo>
                    <a:pt x="107168" y="928790"/>
                  </a:lnTo>
                  <a:close/>
                </a:path>
              </a:pathLst>
            </a:custGeom>
            <a:solidFill>
              <a:srgbClr val="FFD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2780" y="2074138"/>
              <a:ext cx="158749" cy="317499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45">
              <a:lnSpc>
                <a:spcPct val="100000"/>
              </a:lnSpc>
              <a:spcBef>
                <a:spcPts val="100"/>
              </a:spcBef>
            </a:pPr>
            <a:r>
              <a:rPr sz="3100" spc="-310" dirty="0"/>
              <a:t>Why</a:t>
            </a:r>
            <a:r>
              <a:rPr sz="3100" spc="-254" dirty="0"/>
              <a:t> </a:t>
            </a:r>
            <a:r>
              <a:rPr sz="3100" spc="-350" dirty="0"/>
              <a:t>YOLO?</a:t>
            </a:r>
            <a:endParaRPr sz="3100"/>
          </a:p>
        </p:txBody>
      </p:sp>
      <p:sp>
        <p:nvSpPr>
          <p:cNvPr id="15" name="object 15"/>
          <p:cNvSpPr/>
          <p:nvPr/>
        </p:nvSpPr>
        <p:spPr>
          <a:xfrm>
            <a:off x="580494" y="1545007"/>
            <a:ext cx="1143635" cy="36195"/>
          </a:xfrm>
          <a:custGeom>
            <a:avLst/>
            <a:gdLst/>
            <a:ahLst/>
            <a:cxnLst/>
            <a:rect l="l" t="t" r="r" b="b"/>
            <a:pathLst>
              <a:path w="1143635" h="36194">
                <a:moveTo>
                  <a:pt x="1143126" y="35722"/>
                </a:moveTo>
                <a:lnTo>
                  <a:pt x="0" y="35722"/>
                </a:lnTo>
                <a:lnTo>
                  <a:pt x="0" y="0"/>
                </a:lnTo>
                <a:lnTo>
                  <a:pt x="1143126" y="0"/>
                </a:lnTo>
                <a:lnTo>
                  <a:pt x="1143126" y="35722"/>
                </a:lnTo>
                <a:close/>
              </a:path>
            </a:pathLst>
          </a:custGeom>
          <a:solidFill>
            <a:srgbClr val="FFD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67794" y="1055531"/>
            <a:ext cx="3244850" cy="3835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50" b="1" spc="-185" dirty="0">
                <a:solidFill>
                  <a:srgbClr val="FFFFFF"/>
                </a:solidFill>
                <a:latin typeface="Roboto"/>
                <a:cs typeface="Roboto"/>
              </a:rPr>
              <a:t>YOLO:</a:t>
            </a:r>
            <a:r>
              <a:rPr sz="2350" b="1" spc="-4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350" b="1" spc="-195" dirty="0">
                <a:solidFill>
                  <a:srgbClr val="FFFFFF"/>
                </a:solidFill>
                <a:latin typeface="Roboto"/>
                <a:cs typeface="Roboto"/>
              </a:rPr>
              <a:t>You</a:t>
            </a:r>
            <a:r>
              <a:rPr sz="2350" b="1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350" b="1" spc="-145" dirty="0">
                <a:solidFill>
                  <a:srgbClr val="FFFFFF"/>
                </a:solidFill>
                <a:latin typeface="Roboto"/>
                <a:cs typeface="Roboto"/>
              </a:rPr>
              <a:t>Only</a:t>
            </a:r>
            <a:r>
              <a:rPr sz="2350" b="1" spc="-4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350" b="1" spc="-155" dirty="0">
                <a:solidFill>
                  <a:srgbClr val="FFFFFF"/>
                </a:solidFill>
                <a:latin typeface="Roboto"/>
                <a:cs typeface="Roboto"/>
              </a:rPr>
              <a:t>Look</a:t>
            </a:r>
            <a:r>
              <a:rPr sz="2350" b="1" spc="-4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350" b="1" spc="-70" dirty="0">
                <a:solidFill>
                  <a:srgbClr val="FFFFFF"/>
                </a:solidFill>
                <a:latin typeface="Roboto"/>
                <a:cs typeface="Roboto"/>
              </a:rPr>
              <a:t>Once</a:t>
            </a:r>
            <a:endParaRPr sz="2350">
              <a:latin typeface="Roboto"/>
              <a:cs typeface="Roboto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00109" y="1916822"/>
            <a:ext cx="3687445" cy="676910"/>
          </a:xfrm>
          <a:prstGeom prst="rect">
            <a:avLst/>
          </a:prstGeom>
        </p:spPr>
        <p:txBody>
          <a:bodyPr vert="horz" wrap="square" lIns="0" tIns="1187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sz="1550" b="1" spc="-100" dirty="0">
                <a:solidFill>
                  <a:srgbClr val="FFFFFF"/>
                </a:solidFill>
                <a:latin typeface="Arial"/>
                <a:cs typeface="Arial"/>
              </a:rPr>
              <a:t>Single-</a:t>
            </a:r>
            <a:r>
              <a:rPr sz="1550" b="1" spc="-120" dirty="0">
                <a:solidFill>
                  <a:srgbClr val="FFFFFF"/>
                </a:solidFill>
                <a:latin typeface="Arial"/>
                <a:cs typeface="Arial"/>
              </a:rPr>
              <a:t>Stage</a:t>
            </a:r>
            <a:r>
              <a:rPr sz="155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b="1" spc="-10" dirty="0">
                <a:solidFill>
                  <a:srgbClr val="FFFFFF"/>
                </a:solidFill>
                <a:latin typeface="Arial"/>
                <a:cs typeface="Arial"/>
              </a:rPr>
              <a:t>Detector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400" spc="-70" dirty="0">
                <a:solidFill>
                  <a:srgbClr val="D0D5DA"/>
                </a:solidFill>
                <a:latin typeface="Arial MT"/>
                <a:cs typeface="Arial MT"/>
              </a:rPr>
              <a:t>Detection</a:t>
            </a:r>
            <a:r>
              <a:rPr sz="1400" spc="-5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400" spc="-50" dirty="0">
                <a:solidFill>
                  <a:srgbClr val="D0D5DA"/>
                </a:solidFill>
                <a:latin typeface="Arial MT"/>
                <a:cs typeface="Arial MT"/>
              </a:rPr>
              <a:t>in </a:t>
            </a:r>
            <a:r>
              <a:rPr sz="1400" spc="-190" dirty="0">
                <a:solidFill>
                  <a:srgbClr val="D0D5DA"/>
                </a:solidFill>
                <a:latin typeface="Arial MT"/>
                <a:cs typeface="Arial MT"/>
              </a:rPr>
              <a:t>ONE</a:t>
            </a:r>
            <a:r>
              <a:rPr sz="1400" spc="-5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400" spc="-50" dirty="0">
                <a:solidFill>
                  <a:srgbClr val="D0D5DA"/>
                </a:solidFill>
                <a:latin typeface="Arial MT"/>
                <a:cs typeface="Arial MT"/>
              </a:rPr>
              <a:t>forward </a:t>
            </a:r>
            <a:r>
              <a:rPr sz="1400" spc="-70" dirty="0">
                <a:solidFill>
                  <a:srgbClr val="D0D5DA"/>
                </a:solidFill>
                <a:latin typeface="Arial MT"/>
                <a:cs typeface="Arial MT"/>
              </a:rPr>
              <a:t>pass</a:t>
            </a:r>
            <a:r>
              <a:rPr sz="1400" spc="-5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400" spc="-70" dirty="0">
                <a:solidFill>
                  <a:srgbClr val="D0D5DA"/>
                </a:solidFill>
                <a:latin typeface="Arial MT"/>
                <a:cs typeface="Arial MT"/>
              </a:rPr>
              <a:t>through</a:t>
            </a:r>
            <a:r>
              <a:rPr sz="1400" spc="-5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400" spc="-65" dirty="0">
                <a:solidFill>
                  <a:srgbClr val="D0D5DA"/>
                </a:solidFill>
                <a:latin typeface="Arial MT"/>
                <a:cs typeface="Arial MT"/>
              </a:rPr>
              <a:t>the</a:t>
            </a:r>
            <a:r>
              <a:rPr sz="1400" spc="-5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D0D5DA"/>
                </a:solidFill>
                <a:latin typeface="Arial MT"/>
                <a:cs typeface="Arial MT"/>
              </a:rPr>
              <a:t>network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94830" y="3213292"/>
            <a:ext cx="374650" cy="2437130"/>
            <a:chOff x="794830" y="3213292"/>
            <a:chExt cx="374650" cy="2437130"/>
          </a:xfrm>
        </p:grpSpPr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3405" y="3213292"/>
              <a:ext cx="317499" cy="25399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7530" y="4352446"/>
              <a:ext cx="349249" cy="19049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94830" y="5459850"/>
              <a:ext cx="374649" cy="190499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1300109" y="3128665"/>
            <a:ext cx="1950720" cy="2641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550" b="1" spc="-100" dirty="0">
                <a:solidFill>
                  <a:srgbClr val="FFFFFF"/>
                </a:solidFill>
                <a:latin typeface="Arial"/>
                <a:cs typeface="Arial"/>
              </a:rPr>
              <a:t>Real-</a:t>
            </a:r>
            <a:r>
              <a:rPr sz="1550" b="1" spc="-105" dirty="0">
                <a:solidFill>
                  <a:srgbClr val="FFFFFF"/>
                </a:solidFill>
                <a:latin typeface="Arial"/>
                <a:cs typeface="Arial"/>
              </a:rPr>
              <a:t>Time</a:t>
            </a:r>
            <a:r>
              <a:rPr sz="155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b="1" spc="-110" dirty="0">
                <a:solidFill>
                  <a:srgbClr val="FFFFFF"/>
                </a:solidFill>
                <a:latin typeface="Arial"/>
                <a:cs typeface="Arial"/>
              </a:rPr>
              <a:t>Performance</a:t>
            </a:r>
            <a:endParaRPr sz="15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00109" y="3461110"/>
            <a:ext cx="363918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85" dirty="0">
                <a:solidFill>
                  <a:srgbClr val="D0D5DA"/>
                </a:solidFill>
                <a:latin typeface="Arial MT"/>
                <a:cs typeface="Arial MT"/>
              </a:rPr>
              <a:t>Achieves</a:t>
            </a:r>
            <a:r>
              <a:rPr sz="1400" spc="-6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400" spc="-70" dirty="0">
                <a:solidFill>
                  <a:srgbClr val="D0D5DA"/>
                </a:solidFill>
                <a:latin typeface="Arial MT"/>
                <a:cs typeface="Arial MT"/>
              </a:rPr>
              <a:t>high</a:t>
            </a:r>
            <a:r>
              <a:rPr sz="1400" spc="-6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400" spc="-165" dirty="0">
                <a:solidFill>
                  <a:srgbClr val="D0D5DA"/>
                </a:solidFill>
                <a:latin typeface="Arial MT"/>
                <a:cs typeface="Arial MT"/>
              </a:rPr>
              <a:t>FPS</a:t>
            </a:r>
            <a:r>
              <a:rPr sz="1400" spc="-6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400" spc="-65" dirty="0">
                <a:solidFill>
                  <a:srgbClr val="D0D5DA"/>
                </a:solidFill>
                <a:latin typeface="Arial MT"/>
                <a:cs typeface="Arial MT"/>
              </a:rPr>
              <a:t>rates</a:t>
            </a:r>
            <a:r>
              <a:rPr sz="1400" spc="-6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400" spc="-55" dirty="0">
                <a:solidFill>
                  <a:srgbClr val="D0D5DA"/>
                </a:solidFill>
                <a:latin typeface="Arial MT"/>
                <a:cs typeface="Arial MT"/>
              </a:rPr>
              <a:t>suitable</a:t>
            </a:r>
            <a:r>
              <a:rPr sz="1400" spc="-6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D0D5DA"/>
                </a:solidFill>
                <a:latin typeface="Arial MT"/>
                <a:cs typeface="Arial MT"/>
              </a:rPr>
              <a:t>for</a:t>
            </a:r>
            <a:r>
              <a:rPr sz="1400" spc="-5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400" spc="-70" dirty="0">
                <a:solidFill>
                  <a:srgbClr val="D0D5DA"/>
                </a:solidFill>
                <a:latin typeface="Arial MT"/>
                <a:cs typeface="Arial MT"/>
              </a:rPr>
              <a:t>video</a:t>
            </a:r>
            <a:r>
              <a:rPr sz="1400" spc="-6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D0D5DA"/>
                </a:solidFill>
                <a:latin typeface="Arial MT"/>
                <a:cs typeface="Arial MT"/>
              </a:rPr>
              <a:t>streams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300109" y="4236070"/>
            <a:ext cx="1706245" cy="2641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550" b="1" spc="-95" dirty="0">
                <a:solidFill>
                  <a:srgbClr val="FFFFFF"/>
                </a:solidFill>
                <a:latin typeface="Arial"/>
                <a:cs typeface="Arial"/>
              </a:rPr>
              <a:t>Multiple</a:t>
            </a:r>
            <a:r>
              <a:rPr sz="155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b="1" spc="-110" dirty="0">
                <a:solidFill>
                  <a:srgbClr val="FFFFFF"/>
                </a:solidFill>
                <a:latin typeface="Arial"/>
                <a:cs typeface="Arial"/>
              </a:rPr>
              <a:t>Model</a:t>
            </a:r>
            <a:r>
              <a:rPr sz="155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b="1" spc="-95" dirty="0">
                <a:solidFill>
                  <a:srgbClr val="FFFFFF"/>
                </a:solidFill>
                <a:latin typeface="Arial"/>
                <a:cs typeface="Arial"/>
              </a:rPr>
              <a:t>Sizes</a:t>
            </a:r>
            <a:endParaRPr sz="15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300109" y="4568514"/>
            <a:ext cx="398081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5" dirty="0">
                <a:solidFill>
                  <a:srgbClr val="D0D5DA"/>
                </a:solidFill>
                <a:latin typeface="Arial MT"/>
                <a:cs typeface="Arial MT"/>
              </a:rPr>
              <a:t>Nano,</a:t>
            </a:r>
            <a:r>
              <a:rPr sz="1400" spc="-5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400" spc="-85" dirty="0">
                <a:solidFill>
                  <a:srgbClr val="D0D5DA"/>
                </a:solidFill>
                <a:latin typeface="Arial MT"/>
                <a:cs typeface="Arial MT"/>
              </a:rPr>
              <a:t>Small,</a:t>
            </a:r>
            <a:r>
              <a:rPr sz="1400" spc="-5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400" spc="-80" dirty="0">
                <a:solidFill>
                  <a:srgbClr val="D0D5DA"/>
                </a:solidFill>
                <a:latin typeface="Arial MT"/>
                <a:cs typeface="Arial MT"/>
              </a:rPr>
              <a:t>Medium,</a:t>
            </a:r>
            <a:r>
              <a:rPr sz="1400" spc="-5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400" spc="-95" dirty="0">
                <a:solidFill>
                  <a:srgbClr val="D0D5DA"/>
                </a:solidFill>
                <a:latin typeface="Arial MT"/>
                <a:cs typeface="Arial MT"/>
              </a:rPr>
              <a:t>Large</a:t>
            </a:r>
            <a:r>
              <a:rPr sz="1400" spc="-5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400" spc="-60" dirty="0">
                <a:solidFill>
                  <a:srgbClr val="D0D5DA"/>
                </a:solidFill>
                <a:latin typeface="Arial MT"/>
                <a:cs typeface="Arial MT"/>
              </a:rPr>
              <a:t>variants</a:t>
            </a:r>
            <a:r>
              <a:rPr sz="1400" spc="-5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D0D5DA"/>
                </a:solidFill>
                <a:latin typeface="Arial MT"/>
                <a:cs typeface="Arial MT"/>
              </a:rPr>
              <a:t>for</a:t>
            </a:r>
            <a:r>
              <a:rPr sz="1400" spc="-5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400" spc="-45" dirty="0">
                <a:solidFill>
                  <a:srgbClr val="D0D5DA"/>
                </a:solidFill>
                <a:latin typeface="Arial MT"/>
                <a:cs typeface="Arial MT"/>
              </a:rPr>
              <a:t>different</a:t>
            </a:r>
            <a:r>
              <a:rPr sz="1400" spc="-5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D0D5DA"/>
                </a:solidFill>
                <a:latin typeface="Arial MT"/>
                <a:cs typeface="Arial MT"/>
              </a:rPr>
              <a:t>needs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300109" y="5239034"/>
            <a:ext cx="4233545" cy="676910"/>
          </a:xfrm>
          <a:prstGeom prst="rect">
            <a:avLst/>
          </a:prstGeom>
        </p:spPr>
        <p:txBody>
          <a:bodyPr vert="horz" wrap="square" lIns="0" tIns="1187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sz="1550" b="1" spc="-135" dirty="0">
                <a:solidFill>
                  <a:srgbClr val="FFFFFF"/>
                </a:solidFill>
                <a:latin typeface="Arial"/>
                <a:cs typeface="Arial"/>
              </a:rPr>
              <a:t>Strong</a:t>
            </a:r>
            <a:r>
              <a:rPr sz="155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b="1" spc="-145" dirty="0">
                <a:solidFill>
                  <a:srgbClr val="FFFFFF"/>
                </a:solidFill>
                <a:latin typeface="Arial"/>
                <a:cs typeface="Arial"/>
              </a:rPr>
              <a:t>Community</a:t>
            </a:r>
            <a:r>
              <a:rPr sz="155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b="1" spc="-10" dirty="0">
                <a:solidFill>
                  <a:srgbClr val="FFFFFF"/>
                </a:solidFill>
                <a:latin typeface="Arial"/>
                <a:cs typeface="Arial"/>
              </a:rPr>
              <a:t>Support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400" spc="-90" dirty="0">
                <a:solidFill>
                  <a:srgbClr val="D0D5DA"/>
                </a:solidFill>
                <a:latin typeface="Arial MT"/>
                <a:cs typeface="Arial MT"/>
              </a:rPr>
              <a:t>Extensive</a:t>
            </a:r>
            <a:r>
              <a:rPr sz="1400" spc="-1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400" spc="-70" dirty="0">
                <a:solidFill>
                  <a:srgbClr val="D0D5DA"/>
                </a:solidFill>
                <a:latin typeface="Arial MT"/>
                <a:cs typeface="Arial MT"/>
              </a:rPr>
              <a:t>documentation,</a:t>
            </a:r>
            <a:r>
              <a:rPr sz="1400" spc="-1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400" spc="-100" dirty="0">
                <a:solidFill>
                  <a:srgbClr val="D0D5DA"/>
                </a:solidFill>
                <a:latin typeface="Arial MT"/>
                <a:cs typeface="Arial MT"/>
              </a:rPr>
              <a:t>pre-</a:t>
            </a:r>
            <a:r>
              <a:rPr sz="1400" spc="-65" dirty="0">
                <a:solidFill>
                  <a:srgbClr val="D0D5DA"/>
                </a:solidFill>
                <a:latin typeface="Arial MT"/>
                <a:cs typeface="Arial MT"/>
              </a:rPr>
              <a:t>trained</a:t>
            </a:r>
            <a:r>
              <a:rPr sz="1400" spc="-1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400" spc="-70" dirty="0">
                <a:solidFill>
                  <a:srgbClr val="D0D5DA"/>
                </a:solidFill>
                <a:latin typeface="Arial MT"/>
                <a:cs typeface="Arial MT"/>
              </a:rPr>
              <a:t>weights,</a:t>
            </a:r>
            <a:r>
              <a:rPr sz="1400" spc="-1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400" spc="-95" dirty="0">
                <a:solidFill>
                  <a:srgbClr val="D0D5DA"/>
                </a:solidFill>
                <a:latin typeface="Arial MT"/>
                <a:cs typeface="Arial MT"/>
              </a:rPr>
              <a:t>and</a:t>
            </a:r>
            <a:r>
              <a:rPr sz="1400" spc="-1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D0D5DA"/>
                </a:solidFill>
                <a:latin typeface="Arial MT"/>
                <a:cs typeface="Arial MT"/>
              </a:rPr>
              <a:t>tutorials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7108819" y="5242307"/>
            <a:ext cx="3759835" cy="661035"/>
            <a:chOff x="7108819" y="5242307"/>
            <a:chExt cx="3759835" cy="661035"/>
          </a:xfrm>
        </p:grpSpPr>
        <p:sp>
          <p:nvSpPr>
            <p:cNvPr id="28" name="object 28"/>
            <p:cNvSpPr/>
            <p:nvPr/>
          </p:nvSpPr>
          <p:spPr>
            <a:xfrm>
              <a:off x="7108819" y="5242307"/>
              <a:ext cx="3759835" cy="661035"/>
            </a:xfrm>
            <a:custGeom>
              <a:avLst/>
              <a:gdLst/>
              <a:ahLst/>
              <a:cxnLst/>
              <a:rect l="l" t="t" r="r" b="b"/>
              <a:pathLst>
                <a:path w="3759834" h="661035">
                  <a:moveTo>
                    <a:pt x="3688369" y="660870"/>
                  </a:moveTo>
                  <a:lnTo>
                    <a:pt x="71445" y="660870"/>
                  </a:lnTo>
                  <a:lnTo>
                    <a:pt x="64406" y="660529"/>
                  </a:lnTo>
                  <a:lnTo>
                    <a:pt x="26142" y="644679"/>
                  </a:lnTo>
                  <a:lnTo>
                    <a:pt x="3058" y="610132"/>
                  </a:lnTo>
                  <a:lnTo>
                    <a:pt x="0" y="589424"/>
                  </a:lnTo>
                  <a:lnTo>
                    <a:pt x="0" y="71445"/>
                  </a:lnTo>
                  <a:lnTo>
                    <a:pt x="12029" y="31744"/>
                  </a:lnTo>
                  <a:lnTo>
                    <a:pt x="44103" y="5438"/>
                  </a:lnTo>
                  <a:lnTo>
                    <a:pt x="71445" y="0"/>
                  </a:lnTo>
                  <a:lnTo>
                    <a:pt x="3688369" y="0"/>
                  </a:lnTo>
                  <a:lnTo>
                    <a:pt x="3728068" y="12029"/>
                  </a:lnTo>
                  <a:lnTo>
                    <a:pt x="3754375" y="44103"/>
                  </a:lnTo>
                  <a:lnTo>
                    <a:pt x="3759815" y="71445"/>
                  </a:lnTo>
                  <a:lnTo>
                    <a:pt x="3759815" y="589424"/>
                  </a:lnTo>
                  <a:lnTo>
                    <a:pt x="3747783" y="629124"/>
                  </a:lnTo>
                  <a:lnTo>
                    <a:pt x="3715707" y="655431"/>
                  </a:lnTo>
                  <a:lnTo>
                    <a:pt x="3688369" y="660870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108819" y="5242307"/>
              <a:ext cx="3759835" cy="661035"/>
            </a:xfrm>
            <a:custGeom>
              <a:avLst/>
              <a:gdLst/>
              <a:ahLst/>
              <a:cxnLst/>
              <a:rect l="l" t="t" r="r" b="b"/>
              <a:pathLst>
                <a:path w="3759834" h="661035">
                  <a:moveTo>
                    <a:pt x="3688369" y="660870"/>
                  </a:moveTo>
                  <a:lnTo>
                    <a:pt x="71445" y="660870"/>
                  </a:lnTo>
                  <a:lnTo>
                    <a:pt x="64406" y="660529"/>
                  </a:lnTo>
                  <a:lnTo>
                    <a:pt x="26142" y="644679"/>
                  </a:lnTo>
                  <a:lnTo>
                    <a:pt x="3058" y="610132"/>
                  </a:lnTo>
                  <a:lnTo>
                    <a:pt x="0" y="589424"/>
                  </a:lnTo>
                  <a:lnTo>
                    <a:pt x="0" y="71445"/>
                  </a:lnTo>
                  <a:lnTo>
                    <a:pt x="12029" y="31744"/>
                  </a:lnTo>
                  <a:lnTo>
                    <a:pt x="44103" y="5438"/>
                  </a:lnTo>
                  <a:lnTo>
                    <a:pt x="71445" y="0"/>
                  </a:lnTo>
                  <a:lnTo>
                    <a:pt x="3688369" y="0"/>
                  </a:lnTo>
                  <a:lnTo>
                    <a:pt x="3722891" y="8930"/>
                  </a:lnTo>
                  <a:lnTo>
                    <a:pt x="67340" y="8930"/>
                  </a:lnTo>
                  <a:lnTo>
                    <a:pt x="63275" y="9330"/>
                  </a:lnTo>
                  <a:lnTo>
                    <a:pt x="24338" y="30143"/>
                  </a:lnTo>
                  <a:lnTo>
                    <a:pt x="8930" y="67340"/>
                  </a:lnTo>
                  <a:lnTo>
                    <a:pt x="8930" y="593529"/>
                  </a:lnTo>
                  <a:lnTo>
                    <a:pt x="9219" y="596462"/>
                  </a:lnTo>
                  <a:lnTo>
                    <a:pt x="9330" y="597594"/>
                  </a:lnTo>
                  <a:lnTo>
                    <a:pt x="30143" y="636531"/>
                  </a:lnTo>
                  <a:lnTo>
                    <a:pt x="67340" y="651939"/>
                  </a:lnTo>
                  <a:lnTo>
                    <a:pt x="3722889" y="651939"/>
                  </a:lnTo>
                  <a:lnTo>
                    <a:pt x="3722080" y="652423"/>
                  </a:lnTo>
                  <a:lnTo>
                    <a:pt x="3715707" y="655431"/>
                  </a:lnTo>
                  <a:lnTo>
                    <a:pt x="3709075" y="657810"/>
                  </a:lnTo>
                  <a:lnTo>
                    <a:pt x="3702309" y="659510"/>
                  </a:lnTo>
                  <a:lnTo>
                    <a:pt x="3695407" y="660529"/>
                  </a:lnTo>
                  <a:lnTo>
                    <a:pt x="3688369" y="660870"/>
                  </a:lnTo>
                  <a:close/>
                </a:path>
                <a:path w="3759834" h="661035">
                  <a:moveTo>
                    <a:pt x="3722889" y="651939"/>
                  </a:moveTo>
                  <a:lnTo>
                    <a:pt x="3692474" y="651939"/>
                  </a:lnTo>
                  <a:lnTo>
                    <a:pt x="3696539" y="651538"/>
                  </a:lnTo>
                  <a:lnTo>
                    <a:pt x="3704591" y="649937"/>
                  </a:lnTo>
                  <a:lnTo>
                    <a:pt x="3738067" y="627568"/>
                  </a:lnTo>
                  <a:lnTo>
                    <a:pt x="3750884" y="593529"/>
                  </a:lnTo>
                  <a:lnTo>
                    <a:pt x="3750884" y="67340"/>
                  </a:lnTo>
                  <a:lnTo>
                    <a:pt x="3735476" y="30143"/>
                  </a:lnTo>
                  <a:lnTo>
                    <a:pt x="3696539" y="9330"/>
                  </a:lnTo>
                  <a:lnTo>
                    <a:pt x="3692474" y="8930"/>
                  </a:lnTo>
                  <a:lnTo>
                    <a:pt x="3722891" y="8930"/>
                  </a:lnTo>
                  <a:lnTo>
                    <a:pt x="3751367" y="37731"/>
                  </a:lnTo>
                  <a:lnTo>
                    <a:pt x="3759815" y="589424"/>
                  </a:lnTo>
                  <a:lnTo>
                    <a:pt x="3759475" y="596462"/>
                  </a:lnTo>
                  <a:lnTo>
                    <a:pt x="3743624" y="634726"/>
                  </a:lnTo>
                  <a:lnTo>
                    <a:pt x="3728187" y="648751"/>
                  </a:lnTo>
                  <a:lnTo>
                    <a:pt x="3722889" y="651939"/>
                  </a:lnTo>
                  <a:close/>
                </a:path>
              </a:pathLst>
            </a:custGeom>
            <a:solidFill>
              <a:srgbClr val="FFD6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320263" y="5458458"/>
              <a:ext cx="234949" cy="234949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7678287" y="5306213"/>
            <a:ext cx="2327275" cy="476884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z="1400" b="1" spc="-80" dirty="0">
                <a:solidFill>
                  <a:srgbClr val="FFFFFF"/>
                </a:solidFill>
                <a:latin typeface="Arial"/>
                <a:cs typeface="Arial"/>
              </a:rPr>
              <a:t>Battle-</a:t>
            </a:r>
            <a:r>
              <a:rPr sz="1400" b="1" spc="-114" dirty="0">
                <a:solidFill>
                  <a:srgbClr val="FFFFFF"/>
                </a:solidFill>
                <a:latin typeface="Arial"/>
                <a:cs typeface="Arial"/>
              </a:rPr>
              <a:t>Tested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25" dirty="0">
                <a:solidFill>
                  <a:srgbClr val="FFFFFF"/>
                </a:solidFill>
                <a:latin typeface="Arial"/>
                <a:cs typeface="Arial"/>
              </a:rPr>
              <a:t>Architecture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100" spc="-85" dirty="0">
                <a:solidFill>
                  <a:srgbClr val="9CA2AF"/>
                </a:solidFill>
                <a:latin typeface="Tahoma"/>
                <a:cs typeface="Tahoma"/>
              </a:rPr>
              <a:t>YOLOv5</a:t>
            </a:r>
            <a:r>
              <a:rPr sz="1100" spc="-60" dirty="0">
                <a:solidFill>
                  <a:srgbClr val="9CA2AF"/>
                </a:solidFill>
                <a:latin typeface="Tahoma"/>
                <a:cs typeface="Tahoma"/>
              </a:rPr>
              <a:t> </a:t>
            </a:r>
            <a:r>
              <a:rPr sz="950" dirty="0">
                <a:solidFill>
                  <a:srgbClr val="9CA2AF"/>
                </a:solidFill>
                <a:latin typeface="Microsoft Sans Serif"/>
                <a:cs typeface="Microsoft Sans Serif"/>
              </a:rPr>
              <a:t>→</a:t>
            </a:r>
            <a:r>
              <a:rPr sz="950" spc="35" dirty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sz="1100" spc="-85" dirty="0">
                <a:solidFill>
                  <a:srgbClr val="9CA2AF"/>
                </a:solidFill>
                <a:latin typeface="Tahoma"/>
                <a:cs typeface="Tahoma"/>
              </a:rPr>
              <a:t>YOLOv8</a:t>
            </a:r>
            <a:r>
              <a:rPr sz="1100" spc="-55" dirty="0">
                <a:solidFill>
                  <a:srgbClr val="9CA2AF"/>
                </a:solidFill>
                <a:latin typeface="Tahoma"/>
                <a:cs typeface="Tahoma"/>
              </a:rPr>
              <a:t> </a:t>
            </a:r>
            <a:r>
              <a:rPr sz="950" dirty="0">
                <a:solidFill>
                  <a:srgbClr val="9CA2AF"/>
                </a:solidFill>
                <a:latin typeface="Microsoft Sans Serif"/>
                <a:cs typeface="Microsoft Sans Serif"/>
              </a:rPr>
              <a:t>→</a:t>
            </a:r>
            <a:r>
              <a:rPr sz="950" spc="30" dirty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sz="1100" spc="-80" dirty="0">
                <a:solidFill>
                  <a:srgbClr val="9CA2AF"/>
                </a:solidFill>
                <a:latin typeface="Tahoma"/>
                <a:cs typeface="Tahoma"/>
              </a:rPr>
              <a:t>YOLOv11</a:t>
            </a:r>
            <a:r>
              <a:rPr sz="1100" spc="-55" dirty="0">
                <a:solidFill>
                  <a:srgbClr val="9CA2A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9CA2AF"/>
                </a:solidFill>
                <a:latin typeface="Tahoma"/>
                <a:cs typeface="Tahoma"/>
              </a:rPr>
              <a:t>evolution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5554918" y="-855930"/>
            <a:ext cx="6052168" cy="6748416"/>
            <a:chOff x="5581007" y="-986216"/>
            <a:chExt cx="6052168" cy="6748416"/>
          </a:xfrm>
        </p:grpSpPr>
        <p:pic>
          <p:nvPicPr>
            <p:cNvPr id="35" name="object 3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81007" y="-986216"/>
              <a:ext cx="6052168" cy="6748416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7108819" y="1339601"/>
              <a:ext cx="3759835" cy="3688715"/>
            </a:xfrm>
            <a:custGeom>
              <a:avLst/>
              <a:gdLst/>
              <a:ahLst/>
              <a:cxnLst/>
              <a:rect l="l" t="t" r="r" b="b"/>
              <a:pathLst>
                <a:path w="3759834" h="3688715">
                  <a:moveTo>
                    <a:pt x="3616924" y="3688369"/>
                  </a:moveTo>
                  <a:lnTo>
                    <a:pt x="142890" y="3688369"/>
                  </a:lnTo>
                  <a:lnTo>
                    <a:pt x="128814" y="3687689"/>
                  </a:lnTo>
                  <a:lnTo>
                    <a:pt x="88207" y="3677492"/>
                  </a:lnTo>
                  <a:lnTo>
                    <a:pt x="52285" y="3655990"/>
                  </a:lnTo>
                  <a:lnTo>
                    <a:pt x="24058" y="3624879"/>
                  </a:lnTo>
                  <a:lnTo>
                    <a:pt x="6117" y="3586895"/>
                  </a:lnTo>
                  <a:lnTo>
                    <a:pt x="0" y="3545479"/>
                  </a:lnTo>
                  <a:lnTo>
                    <a:pt x="0" y="142890"/>
                  </a:lnTo>
                  <a:lnTo>
                    <a:pt x="6117" y="101473"/>
                  </a:lnTo>
                  <a:lnTo>
                    <a:pt x="24058" y="63489"/>
                  </a:lnTo>
                  <a:lnTo>
                    <a:pt x="52285" y="32378"/>
                  </a:lnTo>
                  <a:lnTo>
                    <a:pt x="88207" y="10876"/>
                  </a:lnTo>
                  <a:lnTo>
                    <a:pt x="128814" y="679"/>
                  </a:lnTo>
                  <a:lnTo>
                    <a:pt x="142890" y="0"/>
                  </a:lnTo>
                  <a:lnTo>
                    <a:pt x="3616924" y="0"/>
                  </a:lnTo>
                  <a:lnTo>
                    <a:pt x="3658340" y="6118"/>
                  </a:lnTo>
                  <a:lnTo>
                    <a:pt x="3696323" y="24058"/>
                  </a:lnTo>
                  <a:lnTo>
                    <a:pt x="3727434" y="52285"/>
                  </a:lnTo>
                  <a:lnTo>
                    <a:pt x="3748936" y="88208"/>
                  </a:lnTo>
                  <a:lnTo>
                    <a:pt x="3759135" y="128814"/>
                  </a:lnTo>
                  <a:lnTo>
                    <a:pt x="3759815" y="142890"/>
                  </a:lnTo>
                  <a:lnTo>
                    <a:pt x="3759815" y="3545479"/>
                  </a:lnTo>
                  <a:lnTo>
                    <a:pt x="3753695" y="3586895"/>
                  </a:lnTo>
                  <a:lnTo>
                    <a:pt x="3735754" y="3624879"/>
                  </a:lnTo>
                  <a:lnTo>
                    <a:pt x="3707528" y="3655990"/>
                  </a:lnTo>
                  <a:lnTo>
                    <a:pt x="3671605" y="3677492"/>
                  </a:lnTo>
                  <a:lnTo>
                    <a:pt x="3631000" y="3687689"/>
                  </a:lnTo>
                  <a:lnTo>
                    <a:pt x="3616924" y="3688369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108819" y="1339602"/>
              <a:ext cx="3759835" cy="3688715"/>
            </a:xfrm>
            <a:custGeom>
              <a:avLst/>
              <a:gdLst/>
              <a:ahLst/>
              <a:cxnLst/>
              <a:rect l="l" t="t" r="r" b="b"/>
              <a:pathLst>
                <a:path w="3759834" h="3688715">
                  <a:moveTo>
                    <a:pt x="3616924" y="3688369"/>
                  </a:moveTo>
                  <a:lnTo>
                    <a:pt x="142890" y="3688369"/>
                  </a:lnTo>
                  <a:lnTo>
                    <a:pt x="128814" y="3687689"/>
                  </a:lnTo>
                  <a:lnTo>
                    <a:pt x="88207" y="3677492"/>
                  </a:lnTo>
                  <a:lnTo>
                    <a:pt x="52285" y="3655990"/>
                  </a:lnTo>
                  <a:lnTo>
                    <a:pt x="24058" y="3624879"/>
                  </a:lnTo>
                  <a:lnTo>
                    <a:pt x="6117" y="3586895"/>
                  </a:lnTo>
                  <a:lnTo>
                    <a:pt x="0" y="3545479"/>
                  </a:lnTo>
                  <a:lnTo>
                    <a:pt x="0" y="142890"/>
                  </a:lnTo>
                  <a:lnTo>
                    <a:pt x="633" y="129760"/>
                  </a:lnTo>
                  <a:lnTo>
                    <a:pt x="679" y="128814"/>
                  </a:lnTo>
                  <a:lnTo>
                    <a:pt x="10876" y="88208"/>
                  </a:lnTo>
                  <a:lnTo>
                    <a:pt x="32378" y="52285"/>
                  </a:lnTo>
                  <a:lnTo>
                    <a:pt x="63489" y="24058"/>
                  </a:lnTo>
                  <a:lnTo>
                    <a:pt x="101472" y="6118"/>
                  </a:lnTo>
                  <a:lnTo>
                    <a:pt x="142890" y="0"/>
                  </a:lnTo>
                  <a:lnTo>
                    <a:pt x="3616924" y="0"/>
                  </a:lnTo>
                  <a:lnTo>
                    <a:pt x="3631000" y="679"/>
                  </a:lnTo>
                  <a:lnTo>
                    <a:pt x="3644805" y="2719"/>
                  </a:lnTo>
                  <a:lnTo>
                    <a:pt x="3658340" y="6118"/>
                  </a:lnTo>
                  <a:lnTo>
                    <a:pt x="3666180" y="8930"/>
                  </a:lnTo>
                  <a:lnTo>
                    <a:pt x="142890" y="8930"/>
                  </a:lnTo>
                  <a:lnTo>
                    <a:pt x="136309" y="9091"/>
                  </a:lnTo>
                  <a:lnTo>
                    <a:pt x="97768" y="16757"/>
                  </a:lnTo>
                  <a:lnTo>
                    <a:pt x="63083" y="35297"/>
                  </a:lnTo>
                  <a:lnTo>
                    <a:pt x="35296" y="63083"/>
                  </a:lnTo>
                  <a:lnTo>
                    <a:pt x="16757" y="97768"/>
                  </a:lnTo>
                  <a:lnTo>
                    <a:pt x="9091" y="136309"/>
                  </a:lnTo>
                  <a:lnTo>
                    <a:pt x="8930" y="142890"/>
                  </a:lnTo>
                  <a:lnTo>
                    <a:pt x="8930" y="3545479"/>
                  </a:lnTo>
                  <a:lnTo>
                    <a:pt x="14697" y="3584365"/>
                  </a:lnTo>
                  <a:lnTo>
                    <a:pt x="31506" y="3619903"/>
                  </a:lnTo>
                  <a:lnTo>
                    <a:pt x="57906" y="3649032"/>
                  </a:lnTo>
                  <a:lnTo>
                    <a:pt x="91626" y="3669241"/>
                  </a:lnTo>
                  <a:lnTo>
                    <a:pt x="129760" y="3678795"/>
                  </a:lnTo>
                  <a:lnTo>
                    <a:pt x="142890" y="3679439"/>
                  </a:lnTo>
                  <a:lnTo>
                    <a:pt x="3666178" y="3679439"/>
                  </a:lnTo>
                  <a:lnTo>
                    <a:pt x="3658340" y="3682251"/>
                  </a:lnTo>
                  <a:lnTo>
                    <a:pt x="3644805" y="3685650"/>
                  </a:lnTo>
                  <a:lnTo>
                    <a:pt x="3631000" y="3687689"/>
                  </a:lnTo>
                  <a:lnTo>
                    <a:pt x="3616924" y="3688369"/>
                  </a:lnTo>
                  <a:close/>
                </a:path>
                <a:path w="3759834" h="3688715">
                  <a:moveTo>
                    <a:pt x="3666178" y="3679439"/>
                  </a:moveTo>
                  <a:lnTo>
                    <a:pt x="3616924" y="3679439"/>
                  </a:lnTo>
                  <a:lnTo>
                    <a:pt x="3623505" y="3679278"/>
                  </a:lnTo>
                  <a:lnTo>
                    <a:pt x="3630054" y="3678795"/>
                  </a:lnTo>
                  <a:lnTo>
                    <a:pt x="3668187" y="3669241"/>
                  </a:lnTo>
                  <a:lnTo>
                    <a:pt x="3701908" y="3649032"/>
                  </a:lnTo>
                  <a:lnTo>
                    <a:pt x="3728307" y="3619903"/>
                  </a:lnTo>
                  <a:lnTo>
                    <a:pt x="3745117" y="3584365"/>
                  </a:lnTo>
                  <a:lnTo>
                    <a:pt x="3750884" y="3545479"/>
                  </a:lnTo>
                  <a:lnTo>
                    <a:pt x="3750884" y="142890"/>
                  </a:lnTo>
                  <a:lnTo>
                    <a:pt x="3745117" y="104003"/>
                  </a:lnTo>
                  <a:lnTo>
                    <a:pt x="3728307" y="68466"/>
                  </a:lnTo>
                  <a:lnTo>
                    <a:pt x="3701908" y="39336"/>
                  </a:lnTo>
                  <a:lnTo>
                    <a:pt x="3668187" y="19127"/>
                  </a:lnTo>
                  <a:lnTo>
                    <a:pt x="3630054" y="9574"/>
                  </a:lnTo>
                  <a:lnTo>
                    <a:pt x="3616924" y="8930"/>
                  </a:lnTo>
                  <a:lnTo>
                    <a:pt x="3666180" y="8930"/>
                  </a:lnTo>
                  <a:lnTo>
                    <a:pt x="3707528" y="32378"/>
                  </a:lnTo>
                  <a:lnTo>
                    <a:pt x="3735754" y="63489"/>
                  </a:lnTo>
                  <a:lnTo>
                    <a:pt x="3753695" y="101473"/>
                  </a:lnTo>
                  <a:lnTo>
                    <a:pt x="3759815" y="142890"/>
                  </a:lnTo>
                  <a:lnTo>
                    <a:pt x="3759815" y="3545479"/>
                  </a:lnTo>
                  <a:lnTo>
                    <a:pt x="3759180" y="3558609"/>
                  </a:lnTo>
                  <a:lnTo>
                    <a:pt x="3748936" y="3600160"/>
                  </a:lnTo>
                  <a:lnTo>
                    <a:pt x="3727434" y="3636083"/>
                  </a:lnTo>
                  <a:lnTo>
                    <a:pt x="3696323" y="3664310"/>
                  </a:lnTo>
                  <a:lnTo>
                    <a:pt x="3671605" y="3677492"/>
                  </a:lnTo>
                  <a:lnTo>
                    <a:pt x="3666178" y="3679439"/>
                  </a:lnTo>
                  <a:close/>
                </a:path>
              </a:pathLst>
            </a:custGeom>
            <a:solidFill>
              <a:srgbClr val="FFD600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60772" y="1723293"/>
              <a:ext cx="657224" cy="507999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7976070" y="2588725"/>
            <a:ext cx="2026920" cy="3117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b="1" spc="-135" dirty="0">
                <a:solidFill>
                  <a:srgbClr val="FFFFFF"/>
                </a:solidFill>
                <a:latin typeface="Trebuchet MS"/>
                <a:cs typeface="Trebuchet MS"/>
              </a:rPr>
              <a:t>Proven</a:t>
            </a:r>
            <a:r>
              <a:rPr sz="1850" b="1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50" b="1" spc="-130" dirty="0">
                <a:solidFill>
                  <a:srgbClr val="FFFFFF"/>
                </a:solidFill>
                <a:latin typeface="Trebuchet MS"/>
                <a:cs typeface="Trebuchet MS"/>
              </a:rPr>
              <a:t>Track</a:t>
            </a:r>
            <a:r>
              <a:rPr sz="1850" b="1" spc="-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50" b="1" spc="-100" dirty="0">
                <a:solidFill>
                  <a:srgbClr val="FFFFFF"/>
                </a:solidFill>
                <a:latin typeface="Trebuchet MS"/>
                <a:cs typeface="Trebuchet MS"/>
              </a:rPr>
              <a:t>Record</a:t>
            </a:r>
            <a:endParaRPr sz="1850">
              <a:latin typeface="Trebuchet MS"/>
              <a:cs typeface="Trebuchet MS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7414731" y="3213480"/>
            <a:ext cx="266700" cy="1360805"/>
            <a:chOff x="7414731" y="3213480"/>
            <a:chExt cx="266700" cy="1360805"/>
          </a:xfrm>
        </p:grpSpPr>
        <p:pic>
          <p:nvPicPr>
            <p:cNvPr id="41" name="object 4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427431" y="3213480"/>
              <a:ext cx="241299" cy="146049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414731" y="3766791"/>
              <a:ext cx="266699" cy="253999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427431" y="4428052"/>
              <a:ext cx="241299" cy="146049"/>
            </a:xfrm>
            <a:prstGeom prst="rect">
              <a:avLst/>
            </a:prstGeom>
          </p:spPr>
        </p:pic>
      </p:grpSp>
      <p:sp>
        <p:nvSpPr>
          <p:cNvPr id="44" name="object 44"/>
          <p:cNvSpPr txBox="1"/>
          <p:nvPr/>
        </p:nvSpPr>
        <p:spPr>
          <a:xfrm>
            <a:off x="7785455" y="3009268"/>
            <a:ext cx="2578100" cy="49149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1400" spc="-80" dirty="0">
                <a:solidFill>
                  <a:srgbClr val="FFFFFF"/>
                </a:solidFill>
                <a:latin typeface="Arial MT"/>
                <a:cs typeface="Arial MT"/>
              </a:rPr>
              <a:t>Widely</a:t>
            </a:r>
            <a:r>
              <a:rPr sz="14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 MT"/>
                <a:cs typeface="Arial MT"/>
              </a:rPr>
              <a:t>Adopted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1250" spc="-80" dirty="0">
                <a:solidFill>
                  <a:srgbClr val="9CA2AF"/>
                </a:solidFill>
                <a:latin typeface="Tahoma"/>
                <a:cs typeface="Tahoma"/>
              </a:rPr>
              <a:t>Industry</a:t>
            </a:r>
            <a:r>
              <a:rPr sz="1250" spc="-55" dirty="0">
                <a:solidFill>
                  <a:srgbClr val="9CA2AF"/>
                </a:solidFill>
                <a:latin typeface="Tahoma"/>
                <a:cs typeface="Tahoma"/>
              </a:rPr>
              <a:t> </a:t>
            </a:r>
            <a:r>
              <a:rPr sz="1250" spc="-60" dirty="0">
                <a:solidFill>
                  <a:srgbClr val="9CA2AF"/>
                </a:solidFill>
                <a:latin typeface="Tahoma"/>
                <a:cs typeface="Tahoma"/>
              </a:rPr>
              <a:t>standard</a:t>
            </a:r>
            <a:r>
              <a:rPr sz="1250" spc="-50" dirty="0">
                <a:solidFill>
                  <a:srgbClr val="9CA2AF"/>
                </a:solidFill>
                <a:latin typeface="Tahoma"/>
                <a:cs typeface="Tahoma"/>
              </a:rPr>
              <a:t> for</a:t>
            </a:r>
            <a:r>
              <a:rPr sz="1250" spc="-55" dirty="0">
                <a:solidFill>
                  <a:srgbClr val="9CA2AF"/>
                </a:solidFill>
                <a:latin typeface="Tahoma"/>
                <a:cs typeface="Tahoma"/>
              </a:rPr>
              <a:t> </a:t>
            </a:r>
            <a:r>
              <a:rPr sz="1250" spc="-80" dirty="0">
                <a:solidFill>
                  <a:srgbClr val="9CA2AF"/>
                </a:solidFill>
                <a:latin typeface="Tahoma"/>
                <a:cs typeface="Tahoma"/>
              </a:rPr>
              <a:t>real-</a:t>
            </a:r>
            <a:r>
              <a:rPr sz="1250" spc="-55" dirty="0">
                <a:solidFill>
                  <a:srgbClr val="9CA2AF"/>
                </a:solidFill>
                <a:latin typeface="Tahoma"/>
                <a:cs typeface="Tahoma"/>
              </a:rPr>
              <a:t>time</a:t>
            </a:r>
            <a:r>
              <a:rPr sz="1250" spc="-50" dirty="0">
                <a:solidFill>
                  <a:srgbClr val="9CA2A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9CA2AF"/>
                </a:solidFill>
                <a:latin typeface="Tahoma"/>
                <a:cs typeface="Tahoma"/>
              </a:rPr>
              <a:t>detection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785455" y="3616554"/>
            <a:ext cx="2455545" cy="49149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1400" spc="-70" dirty="0">
                <a:solidFill>
                  <a:srgbClr val="FFFFFF"/>
                </a:solidFill>
                <a:latin typeface="Arial MT"/>
                <a:cs typeface="Arial MT"/>
              </a:rPr>
              <a:t>Accuracy-</a:t>
            </a:r>
            <a:r>
              <a:rPr sz="1400" spc="-114" dirty="0">
                <a:solidFill>
                  <a:srgbClr val="FFFFFF"/>
                </a:solidFill>
                <a:latin typeface="Arial MT"/>
                <a:cs typeface="Arial MT"/>
              </a:rPr>
              <a:t>Speed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 MT"/>
                <a:cs typeface="Arial MT"/>
              </a:rPr>
              <a:t>Balance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1250" spc="-60" dirty="0">
                <a:solidFill>
                  <a:srgbClr val="9CA2AF"/>
                </a:solidFill>
                <a:latin typeface="Tahoma"/>
                <a:cs typeface="Tahoma"/>
              </a:rPr>
              <a:t>Optimal</a:t>
            </a:r>
            <a:r>
              <a:rPr sz="1250" spc="-75" dirty="0">
                <a:solidFill>
                  <a:srgbClr val="9CA2AF"/>
                </a:solidFill>
                <a:latin typeface="Tahoma"/>
                <a:cs typeface="Tahoma"/>
              </a:rPr>
              <a:t> </a:t>
            </a:r>
            <a:r>
              <a:rPr sz="1250" spc="-55" dirty="0">
                <a:solidFill>
                  <a:srgbClr val="9CA2AF"/>
                </a:solidFill>
                <a:latin typeface="Tahoma"/>
                <a:cs typeface="Tahoma"/>
              </a:rPr>
              <a:t>tradeoff</a:t>
            </a:r>
            <a:r>
              <a:rPr sz="1250" spc="-75" dirty="0">
                <a:solidFill>
                  <a:srgbClr val="9CA2AF"/>
                </a:solidFill>
                <a:latin typeface="Tahoma"/>
                <a:cs typeface="Tahoma"/>
              </a:rPr>
              <a:t> </a:t>
            </a:r>
            <a:r>
              <a:rPr sz="1250" spc="-50" dirty="0">
                <a:solidFill>
                  <a:srgbClr val="9CA2AF"/>
                </a:solidFill>
                <a:latin typeface="Tahoma"/>
                <a:cs typeface="Tahoma"/>
              </a:rPr>
              <a:t>for</a:t>
            </a:r>
            <a:r>
              <a:rPr sz="1250" spc="-75" dirty="0">
                <a:solidFill>
                  <a:srgbClr val="9CA2AF"/>
                </a:solidFill>
                <a:latin typeface="Tahoma"/>
                <a:cs typeface="Tahoma"/>
              </a:rPr>
              <a:t> </a:t>
            </a:r>
            <a:r>
              <a:rPr sz="1250" spc="-40" dirty="0">
                <a:solidFill>
                  <a:srgbClr val="9CA2AF"/>
                </a:solidFill>
                <a:latin typeface="Tahoma"/>
                <a:cs typeface="Tahoma"/>
              </a:rPr>
              <a:t>most</a:t>
            </a:r>
            <a:r>
              <a:rPr sz="1250" spc="-70" dirty="0">
                <a:solidFill>
                  <a:srgbClr val="9CA2A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9CA2AF"/>
                </a:solidFill>
                <a:latin typeface="Tahoma"/>
                <a:cs typeface="Tahoma"/>
              </a:rPr>
              <a:t>applications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785455" y="4223840"/>
            <a:ext cx="2100580" cy="49149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1400" spc="-114" dirty="0">
                <a:solidFill>
                  <a:srgbClr val="FFFFFF"/>
                </a:solidFill>
                <a:latin typeface="Arial MT"/>
                <a:cs typeface="Arial MT"/>
              </a:rPr>
              <a:t>Easy</a:t>
            </a:r>
            <a:r>
              <a:rPr sz="140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 MT"/>
                <a:cs typeface="Arial MT"/>
              </a:rPr>
              <a:t>Integration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1250" spc="-50" dirty="0">
                <a:solidFill>
                  <a:srgbClr val="9CA2AF"/>
                </a:solidFill>
                <a:latin typeface="Tahoma"/>
                <a:cs typeface="Tahoma"/>
              </a:rPr>
              <a:t>Simple</a:t>
            </a:r>
            <a:r>
              <a:rPr sz="1250" spc="-65" dirty="0">
                <a:solidFill>
                  <a:srgbClr val="9CA2AF"/>
                </a:solidFill>
                <a:latin typeface="Tahoma"/>
                <a:cs typeface="Tahoma"/>
              </a:rPr>
              <a:t> </a:t>
            </a:r>
            <a:r>
              <a:rPr sz="1250" spc="-70" dirty="0">
                <a:solidFill>
                  <a:srgbClr val="9CA2AF"/>
                </a:solidFill>
                <a:latin typeface="Tahoma"/>
                <a:cs typeface="Tahoma"/>
              </a:rPr>
              <a:t>deployment</a:t>
            </a:r>
            <a:r>
              <a:rPr sz="1250" spc="-60" dirty="0">
                <a:solidFill>
                  <a:srgbClr val="9CA2AF"/>
                </a:solidFill>
                <a:latin typeface="Tahoma"/>
                <a:cs typeface="Tahoma"/>
              </a:rPr>
              <a:t> with </a:t>
            </a:r>
            <a:r>
              <a:rPr sz="1250" spc="-40" dirty="0">
                <a:solidFill>
                  <a:srgbClr val="9CA2AF"/>
                </a:solidFill>
                <a:latin typeface="Tahoma"/>
                <a:cs typeface="Tahoma"/>
              </a:rPr>
              <a:t>PyTorch</a:t>
            </a:r>
            <a:endParaRPr sz="12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43180">
              <a:lnSpc>
                <a:spcPct val="100000"/>
              </a:lnSpc>
              <a:spcBef>
                <a:spcPts val="114"/>
              </a:spcBef>
            </a:pPr>
            <a:r>
              <a:rPr spc="-475" dirty="0"/>
              <a:t>YOLO</a:t>
            </a:r>
            <a:r>
              <a:rPr spc="-325" dirty="0"/>
              <a:t> </a:t>
            </a:r>
            <a:r>
              <a:rPr spc="-375" dirty="0"/>
              <a:t>Architecture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505699" y="1171574"/>
            <a:ext cx="4086225" cy="1238250"/>
            <a:chOff x="7505699" y="1171574"/>
            <a:chExt cx="4086225" cy="1238250"/>
          </a:xfrm>
        </p:grpSpPr>
        <p:sp>
          <p:nvSpPr>
            <p:cNvPr id="4" name="object 4"/>
            <p:cNvSpPr/>
            <p:nvPr/>
          </p:nvSpPr>
          <p:spPr>
            <a:xfrm>
              <a:off x="7524749" y="1171574"/>
              <a:ext cx="4067175" cy="1238250"/>
            </a:xfrm>
            <a:custGeom>
              <a:avLst/>
              <a:gdLst/>
              <a:ahLst/>
              <a:cxnLst/>
              <a:rect l="l" t="t" r="r" b="b"/>
              <a:pathLst>
                <a:path w="4067175" h="1238250">
                  <a:moveTo>
                    <a:pt x="3960380" y="1238249"/>
                  </a:moveTo>
                  <a:lnTo>
                    <a:pt x="88995" y="1238249"/>
                  </a:lnTo>
                  <a:lnTo>
                    <a:pt x="82801" y="1237517"/>
                  </a:lnTo>
                  <a:lnTo>
                    <a:pt x="37130" y="1214817"/>
                  </a:lnTo>
                  <a:lnTo>
                    <a:pt x="12577" y="1181211"/>
                  </a:lnTo>
                  <a:lnTo>
                    <a:pt x="609" y="1138887"/>
                  </a:lnTo>
                  <a:lnTo>
                    <a:pt x="0" y="1131454"/>
                  </a:lnTo>
                  <a:lnTo>
                    <a:pt x="0" y="1123949"/>
                  </a:lnTo>
                  <a:lnTo>
                    <a:pt x="0" y="106794"/>
                  </a:lnTo>
                  <a:lnTo>
                    <a:pt x="9643" y="63625"/>
                  </a:lnTo>
                  <a:lnTo>
                    <a:pt x="32320" y="28170"/>
                  </a:lnTo>
                  <a:lnTo>
                    <a:pt x="64577" y="5828"/>
                  </a:lnTo>
                  <a:lnTo>
                    <a:pt x="88995" y="0"/>
                  </a:lnTo>
                  <a:lnTo>
                    <a:pt x="3960380" y="0"/>
                  </a:lnTo>
                  <a:lnTo>
                    <a:pt x="4003547" y="11572"/>
                  </a:lnTo>
                  <a:lnTo>
                    <a:pt x="4039002" y="38784"/>
                  </a:lnTo>
                  <a:lnTo>
                    <a:pt x="4061346" y="77492"/>
                  </a:lnTo>
                  <a:lnTo>
                    <a:pt x="4067175" y="106794"/>
                  </a:lnTo>
                  <a:lnTo>
                    <a:pt x="4067175" y="1131454"/>
                  </a:lnTo>
                  <a:lnTo>
                    <a:pt x="4055600" y="1174624"/>
                  </a:lnTo>
                  <a:lnTo>
                    <a:pt x="4028389" y="1210078"/>
                  </a:lnTo>
                  <a:lnTo>
                    <a:pt x="3989679" y="1232421"/>
                  </a:lnTo>
                  <a:lnTo>
                    <a:pt x="3967812" y="1237517"/>
                  </a:lnTo>
                  <a:lnTo>
                    <a:pt x="3960380" y="1238249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05699" y="1171574"/>
              <a:ext cx="114300" cy="1238250"/>
            </a:xfrm>
            <a:custGeom>
              <a:avLst/>
              <a:gdLst/>
              <a:ahLst/>
              <a:cxnLst/>
              <a:rect l="l" t="t" r="r" b="b"/>
              <a:pathLst>
                <a:path w="114300" h="1238250">
                  <a:moveTo>
                    <a:pt x="114300" y="1238249"/>
                  </a:moveTo>
                  <a:lnTo>
                    <a:pt x="70559" y="1229549"/>
                  </a:lnTo>
                  <a:lnTo>
                    <a:pt x="33477" y="1204772"/>
                  </a:lnTo>
                  <a:lnTo>
                    <a:pt x="8700" y="1167690"/>
                  </a:lnTo>
                  <a:lnTo>
                    <a:pt x="0" y="1123949"/>
                  </a:lnTo>
                  <a:lnTo>
                    <a:pt x="0" y="114300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300" y="0"/>
                  </a:lnTo>
                  <a:lnTo>
                    <a:pt x="106793" y="543"/>
                  </a:lnTo>
                  <a:lnTo>
                    <a:pt x="99431" y="2175"/>
                  </a:lnTo>
                  <a:lnTo>
                    <a:pt x="65982" y="25900"/>
                  </a:lnTo>
                  <a:lnTo>
                    <a:pt x="47107" y="60364"/>
                  </a:lnTo>
                  <a:lnTo>
                    <a:pt x="38462" y="103040"/>
                  </a:lnTo>
                  <a:lnTo>
                    <a:pt x="38100" y="114300"/>
                  </a:lnTo>
                  <a:lnTo>
                    <a:pt x="38100" y="1123949"/>
                  </a:lnTo>
                  <a:lnTo>
                    <a:pt x="43899" y="1167690"/>
                  </a:lnTo>
                  <a:lnTo>
                    <a:pt x="60418" y="1204772"/>
                  </a:lnTo>
                  <a:lnTo>
                    <a:pt x="92213" y="1233355"/>
                  </a:lnTo>
                  <a:lnTo>
                    <a:pt x="106793" y="1237706"/>
                  </a:lnTo>
                  <a:lnTo>
                    <a:pt x="114300" y="1238249"/>
                  </a:lnTo>
                  <a:close/>
                </a:path>
              </a:pathLst>
            </a:custGeom>
            <a:solidFill>
              <a:srgbClr val="60A5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90060" y="1447799"/>
              <a:ext cx="368300" cy="30480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8294885" y="1409296"/>
            <a:ext cx="2839720" cy="746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115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solidFill>
                  <a:srgbClr val="FFFFFF"/>
                </a:solidFill>
                <a:latin typeface="Roboto"/>
                <a:cs typeface="Roboto"/>
              </a:rPr>
              <a:t>Backbone</a:t>
            </a:r>
            <a:endParaRPr sz="20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475"/>
              </a:spcBef>
            </a:pPr>
            <a:r>
              <a:rPr sz="1500" spc="-100" dirty="0">
                <a:solidFill>
                  <a:srgbClr val="D0D5DA"/>
                </a:solidFill>
                <a:latin typeface="Arial MT"/>
                <a:cs typeface="Arial MT"/>
              </a:rPr>
              <a:t>Feature</a:t>
            </a:r>
            <a:r>
              <a:rPr sz="1500" spc="-60" dirty="0">
                <a:solidFill>
                  <a:srgbClr val="D0D5DA"/>
                </a:solidFill>
                <a:latin typeface="Arial MT"/>
                <a:cs typeface="Arial MT"/>
              </a:rPr>
              <a:t> extraction </a:t>
            </a:r>
            <a:r>
              <a:rPr sz="1500" spc="-40" dirty="0">
                <a:solidFill>
                  <a:srgbClr val="D0D5DA"/>
                </a:solidFill>
                <a:latin typeface="Arial MT"/>
                <a:cs typeface="Arial MT"/>
              </a:rPr>
              <a:t>from</a:t>
            </a:r>
            <a:r>
              <a:rPr sz="1500" spc="-6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500" spc="-55" dirty="0">
                <a:solidFill>
                  <a:srgbClr val="D0D5DA"/>
                </a:solidFill>
                <a:latin typeface="Arial MT"/>
                <a:cs typeface="Arial MT"/>
              </a:rPr>
              <a:t>input</a:t>
            </a:r>
            <a:r>
              <a:rPr sz="1500" spc="-6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500" spc="-50" dirty="0">
                <a:solidFill>
                  <a:srgbClr val="D0D5DA"/>
                </a:solidFill>
                <a:latin typeface="Arial MT"/>
                <a:cs typeface="Arial MT"/>
              </a:rPr>
              <a:t>images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505699" y="2638424"/>
            <a:ext cx="4086225" cy="1238250"/>
            <a:chOff x="7505699" y="2638424"/>
            <a:chExt cx="4086225" cy="1238250"/>
          </a:xfrm>
        </p:grpSpPr>
        <p:sp>
          <p:nvSpPr>
            <p:cNvPr id="9" name="object 9"/>
            <p:cNvSpPr/>
            <p:nvPr/>
          </p:nvSpPr>
          <p:spPr>
            <a:xfrm>
              <a:off x="7524749" y="2638424"/>
              <a:ext cx="4067175" cy="1238250"/>
            </a:xfrm>
            <a:custGeom>
              <a:avLst/>
              <a:gdLst/>
              <a:ahLst/>
              <a:cxnLst/>
              <a:rect l="l" t="t" r="r" b="b"/>
              <a:pathLst>
                <a:path w="4067175" h="1238250">
                  <a:moveTo>
                    <a:pt x="3960380" y="1238249"/>
                  </a:moveTo>
                  <a:lnTo>
                    <a:pt x="88995" y="1238249"/>
                  </a:lnTo>
                  <a:lnTo>
                    <a:pt x="82801" y="1237517"/>
                  </a:lnTo>
                  <a:lnTo>
                    <a:pt x="37130" y="1214817"/>
                  </a:lnTo>
                  <a:lnTo>
                    <a:pt x="12577" y="1181211"/>
                  </a:lnTo>
                  <a:lnTo>
                    <a:pt x="609" y="1138887"/>
                  </a:lnTo>
                  <a:lnTo>
                    <a:pt x="0" y="1131454"/>
                  </a:lnTo>
                  <a:lnTo>
                    <a:pt x="0" y="1123949"/>
                  </a:lnTo>
                  <a:lnTo>
                    <a:pt x="0" y="106794"/>
                  </a:lnTo>
                  <a:lnTo>
                    <a:pt x="9643" y="63625"/>
                  </a:lnTo>
                  <a:lnTo>
                    <a:pt x="32320" y="28170"/>
                  </a:lnTo>
                  <a:lnTo>
                    <a:pt x="64577" y="5828"/>
                  </a:lnTo>
                  <a:lnTo>
                    <a:pt x="88995" y="0"/>
                  </a:lnTo>
                  <a:lnTo>
                    <a:pt x="3960380" y="0"/>
                  </a:lnTo>
                  <a:lnTo>
                    <a:pt x="4003547" y="11572"/>
                  </a:lnTo>
                  <a:lnTo>
                    <a:pt x="4039002" y="38784"/>
                  </a:lnTo>
                  <a:lnTo>
                    <a:pt x="4061346" y="77492"/>
                  </a:lnTo>
                  <a:lnTo>
                    <a:pt x="4067175" y="106794"/>
                  </a:lnTo>
                  <a:lnTo>
                    <a:pt x="4067175" y="1131454"/>
                  </a:lnTo>
                  <a:lnTo>
                    <a:pt x="4055600" y="1174624"/>
                  </a:lnTo>
                  <a:lnTo>
                    <a:pt x="4028389" y="1210078"/>
                  </a:lnTo>
                  <a:lnTo>
                    <a:pt x="3989679" y="1232421"/>
                  </a:lnTo>
                  <a:lnTo>
                    <a:pt x="3967812" y="1237517"/>
                  </a:lnTo>
                  <a:lnTo>
                    <a:pt x="3960380" y="1238249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505699" y="2638424"/>
              <a:ext cx="114300" cy="1238250"/>
            </a:xfrm>
            <a:custGeom>
              <a:avLst/>
              <a:gdLst/>
              <a:ahLst/>
              <a:cxnLst/>
              <a:rect l="l" t="t" r="r" b="b"/>
              <a:pathLst>
                <a:path w="114300" h="1238250">
                  <a:moveTo>
                    <a:pt x="114300" y="1238249"/>
                  </a:moveTo>
                  <a:lnTo>
                    <a:pt x="70559" y="1229549"/>
                  </a:lnTo>
                  <a:lnTo>
                    <a:pt x="33477" y="1204772"/>
                  </a:lnTo>
                  <a:lnTo>
                    <a:pt x="8700" y="1167690"/>
                  </a:lnTo>
                  <a:lnTo>
                    <a:pt x="0" y="1123950"/>
                  </a:lnTo>
                  <a:lnTo>
                    <a:pt x="0" y="114300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300" y="0"/>
                  </a:lnTo>
                  <a:lnTo>
                    <a:pt x="106793" y="543"/>
                  </a:lnTo>
                  <a:lnTo>
                    <a:pt x="99431" y="2175"/>
                  </a:lnTo>
                  <a:lnTo>
                    <a:pt x="65982" y="25900"/>
                  </a:lnTo>
                  <a:lnTo>
                    <a:pt x="47107" y="60364"/>
                  </a:lnTo>
                  <a:lnTo>
                    <a:pt x="38462" y="103040"/>
                  </a:lnTo>
                  <a:lnTo>
                    <a:pt x="38100" y="114300"/>
                  </a:lnTo>
                  <a:lnTo>
                    <a:pt x="38100" y="1123950"/>
                  </a:lnTo>
                  <a:lnTo>
                    <a:pt x="43899" y="1167690"/>
                  </a:lnTo>
                  <a:lnTo>
                    <a:pt x="60418" y="1204772"/>
                  </a:lnTo>
                  <a:lnTo>
                    <a:pt x="92213" y="1233355"/>
                  </a:lnTo>
                  <a:lnTo>
                    <a:pt x="106793" y="1237706"/>
                  </a:lnTo>
                  <a:lnTo>
                    <a:pt x="114300" y="1238249"/>
                  </a:lnTo>
                  <a:close/>
                </a:path>
              </a:pathLst>
            </a:custGeom>
            <a:solidFill>
              <a:srgbClr val="BF83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74185" y="2867024"/>
              <a:ext cx="400050" cy="384175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8294885" y="2876146"/>
            <a:ext cx="2399030" cy="746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115">
              <a:lnSpc>
                <a:spcPct val="100000"/>
              </a:lnSpc>
              <a:spcBef>
                <a:spcPts val="100"/>
              </a:spcBef>
            </a:pPr>
            <a:r>
              <a:rPr sz="2000" b="1" spc="-20" dirty="0">
                <a:solidFill>
                  <a:srgbClr val="FFFFFF"/>
                </a:solidFill>
                <a:latin typeface="Roboto"/>
                <a:cs typeface="Roboto"/>
              </a:rPr>
              <a:t>Neck</a:t>
            </a:r>
            <a:endParaRPr sz="20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475"/>
              </a:spcBef>
            </a:pPr>
            <a:r>
              <a:rPr sz="1500" spc="-55" dirty="0">
                <a:solidFill>
                  <a:srgbClr val="D0D5DA"/>
                </a:solidFill>
                <a:latin typeface="Arial MT"/>
                <a:cs typeface="Arial MT"/>
              </a:rPr>
              <a:t>Multi-</a:t>
            </a:r>
            <a:r>
              <a:rPr sz="1500" spc="-70" dirty="0">
                <a:solidFill>
                  <a:srgbClr val="D0D5DA"/>
                </a:solidFill>
                <a:latin typeface="Arial MT"/>
                <a:cs typeface="Arial MT"/>
              </a:rPr>
              <a:t>scale</a:t>
            </a:r>
            <a:r>
              <a:rPr sz="1500" spc="-4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500" spc="-70" dirty="0">
                <a:solidFill>
                  <a:srgbClr val="D0D5DA"/>
                </a:solidFill>
                <a:latin typeface="Arial MT"/>
                <a:cs typeface="Arial MT"/>
              </a:rPr>
              <a:t>feature</a:t>
            </a:r>
            <a:r>
              <a:rPr sz="1500" spc="-4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500" spc="-65" dirty="0">
                <a:solidFill>
                  <a:srgbClr val="D0D5DA"/>
                </a:solidFill>
                <a:latin typeface="Arial MT"/>
                <a:cs typeface="Arial MT"/>
              </a:rPr>
              <a:t>aggregation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505699" y="4105274"/>
            <a:ext cx="4086225" cy="1238250"/>
            <a:chOff x="7505699" y="4105274"/>
            <a:chExt cx="4086225" cy="1238250"/>
          </a:xfrm>
        </p:grpSpPr>
        <p:sp>
          <p:nvSpPr>
            <p:cNvPr id="14" name="object 14"/>
            <p:cNvSpPr/>
            <p:nvPr/>
          </p:nvSpPr>
          <p:spPr>
            <a:xfrm>
              <a:off x="7524749" y="4105275"/>
              <a:ext cx="4067175" cy="1238250"/>
            </a:xfrm>
            <a:custGeom>
              <a:avLst/>
              <a:gdLst/>
              <a:ahLst/>
              <a:cxnLst/>
              <a:rect l="l" t="t" r="r" b="b"/>
              <a:pathLst>
                <a:path w="4067175" h="1238250">
                  <a:moveTo>
                    <a:pt x="3960380" y="1238249"/>
                  </a:moveTo>
                  <a:lnTo>
                    <a:pt x="88995" y="1238249"/>
                  </a:lnTo>
                  <a:lnTo>
                    <a:pt x="82801" y="1237517"/>
                  </a:lnTo>
                  <a:lnTo>
                    <a:pt x="37130" y="1214816"/>
                  </a:lnTo>
                  <a:lnTo>
                    <a:pt x="12577" y="1181210"/>
                  </a:lnTo>
                  <a:lnTo>
                    <a:pt x="609" y="1138887"/>
                  </a:lnTo>
                  <a:lnTo>
                    <a:pt x="0" y="1131454"/>
                  </a:lnTo>
                  <a:lnTo>
                    <a:pt x="0" y="1123949"/>
                  </a:lnTo>
                  <a:lnTo>
                    <a:pt x="0" y="106794"/>
                  </a:lnTo>
                  <a:lnTo>
                    <a:pt x="9643" y="63624"/>
                  </a:lnTo>
                  <a:lnTo>
                    <a:pt x="32320" y="28170"/>
                  </a:lnTo>
                  <a:lnTo>
                    <a:pt x="64577" y="5828"/>
                  </a:lnTo>
                  <a:lnTo>
                    <a:pt x="88995" y="0"/>
                  </a:lnTo>
                  <a:lnTo>
                    <a:pt x="3960380" y="0"/>
                  </a:lnTo>
                  <a:lnTo>
                    <a:pt x="4003547" y="11572"/>
                  </a:lnTo>
                  <a:lnTo>
                    <a:pt x="4039002" y="38783"/>
                  </a:lnTo>
                  <a:lnTo>
                    <a:pt x="4061346" y="77492"/>
                  </a:lnTo>
                  <a:lnTo>
                    <a:pt x="4067175" y="106794"/>
                  </a:lnTo>
                  <a:lnTo>
                    <a:pt x="4067175" y="1131454"/>
                  </a:lnTo>
                  <a:lnTo>
                    <a:pt x="4055600" y="1174623"/>
                  </a:lnTo>
                  <a:lnTo>
                    <a:pt x="4028389" y="1210078"/>
                  </a:lnTo>
                  <a:lnTo>
                    <a:pt x="3989679" y="1232420"/>
                  </a:lnTo>
                  <a:lnTo>
                    <a:pt x="3967812" y="1237517"/>
                  </a:lnTo>
                  <a:lnTo>
                    <a:pt x="3960380" y="1238249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505699" y="4105274"/>
              <a:ext cx="114300" cy="1238250"/>
            </a:xfrm>
            <a:custGeom>
              <a:avLst/>
              <a:gdLst/>
              <a:ahLst/>
              <a:cxnLst/>
              <a:rect l="l" t="t" r="r" b="b"/>
              <a:pathLst>
                <a:path w="114300" h="1238250">
                  <a:moveTo>
                    <a:pt x="114300" y="1238249"/>
                  </a:moveTo>
                  <a:lnTo>
                    <a:pt x="70559" y="1229549"/>
                  </a:lnTo>
                  <a:lnTo>
                    <a:pt x="33477" y="1204772"/>
                  </a:lnTo>
                  <a:lnTo>
                    <a:pt x="8700" y="1167690"/>
                  </a:lnTo>
                  <a:lnTo>
                    <a:pt x="0" y="1123950"/>
                  </a:lnTo>
                  <a:lnTo>
                    <a:pt x="0" y="114300"/>
                  </a:lnTo>
                  <a:lnTo>
                    <a:pt x="8700" y="70558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300" y="0"/>
                  </a:lnTo>
                  <a:lnTo>
                    <a:pt x="106793" y="543"/>
                  </a:lnTo>
                  <a:lnTo>
                    <a:pt x="99431" y="2175"/>
                  </a:lnTo>
                  <a:lnTo>
                    <a:pt x="65982" y="25899"/>
                  </a:lnTo>
                  <a:lnTo>
                    <a:pt x="47107" y="60364"/>
                  </a:lnTo>
                  <a:lnTo>
                    <a:pt x="38462" y="103040"/>
                  </a:lnTo>
                  <a:lnTo>
                    <a:pt x="38100" y="114300"/>
                  </a:lnTo>
                  <a:lnTo>
                    <a:pt x="38100" y="1123950"/>
                  </a:lnTo>
                  <a:lnTo>
                    <a:pt x="43899" y="1167690"/>
                  </a:lnTo>
                  <a:lnTo>
                    <a:pt x="60418" y="1204772"/>
                  </a:lnTo>
                  <a:lnTo>
                    <a:pt x="92213" y="1233355"/>
                  </a:lnTo>
                  <a:lnTo>
                    <a:pt x="106793" y="1237706"/>
                  </a:lnTo>
                  <a:lnTo>
                    <a:pt x="114300" y="1238249"/>
                  </a:lnTo>
                  <a:close/>
                </a:path>
              </a:pathLst>
            </a:custGeom>
            <a:solidFill>
              <a:srgbClr val="FFD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05935" y="4397374"/>
              <a:ext cx="336550" cy="273050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8294885" y="4342996"/>
            <a:ext cx="2466975" cy="746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115">
              <a:lnSpc>
                <a:spcPct val="100000"/>
              </a:lnSpc>
              <a:spcBef>
                <a:spcPts val="100"/>
              </a:spcBef>
            </a:pPr>
            <a:r>
              <a:rPr sz="2000" b="1" spc="-20" dirty="0">
                <a:solidFill>
                  <a:srgbClr val="FFFFFF"/>
                </a:solidFill>
                <a:latin typeface="Roboto"/>
                <a:cs typeface="Roboto"/>
              </a:rPr>
              <a:t>Head</a:t>
            </a:r>
            <a:endParaRPr sz="20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475"/>
              </a:spcBef>
            </a:pPr>
            <a:r>
              <a:rPr sz="1500" spc="-90" dirty="0">
                <a:solidFill>
                  <a:srgbClr val="D0D5DA"/>
                </a:solidFill>
                <a:latin typeface="Arial MT"/>
                <a:cs typeface="Arial MT"/>
              </a:rPr>
              <a:t>Bounding</a:t>
            </a:r>
            <a:r>
              <a:rPr sz="1500" spc="-6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500" spc="-85" dirty="0">
                <a:solidFill>
                  <a:srgbClr val="D0D5DA"/>
                </a:solidFill>
                <a:latin typeface="Arial MT"/>
                <a:cs typeface="Arial MT"/>
              </a:rPr>
              <a:t>box</a:t>
            </a:r>
            <a:r>
              <a:rPr sz="1500" spc="-6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500" spc="-170" dirty="0">
                <a:solidFill>
                  <a:srgbClr val="D0D5DA"/>
                </a:solidFill>
                <a:latin typeface="Arial MT"/>
                <a:cs typeface="Arial MT"/>
              </a:rPr>
              <a:t>&amp;</a:t>
            </a:r>
            <a:r>
              <a:rPr sz="1500" spc="-6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500" spc="-60" dirty="0">
                <a:solidFill>
                  <a:srgbClr val="D0D5DA"/>
                </a:solidFill>
                <a:latin typeface="Arial MT"/>
                <a:cs typeface="Arial MT"/>
              </a:rPr>
              <a:t>class </a:t>
            </a:r>
            <a:r>
              <a:rPr sz="1500" spc="-50" dirty="0">
                <a:solidFill>
                  <a:srgbClr val="D0D5DA"/>
                </a:solidFill>
                <a:latin typeface="Arial MT"/>
                <a:cs typeface="Arial MT"/>
              </a:rPr>
              <a:t>prediction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505699" y="5572124"/>
            <a:ext cx="4086225" cy="514350"/>
            <a:chOff x="7505699" y="5572124"/>
            <a:chExt cx="4086225" cy="514350"/>
          </a:xfrm>
        </p:grpSpPr>
        <p:sp>
          <p:nvSpPr>
            <p:cNvPr id="19" name="object 19"/>
            <p:cNvSpPr/>
            <p:nvPr/>
          </p:nvSpPr>
          <p:spPr>
            <a:xfrm>
              <a:off x="7505699" y="5572124"/>
              <a:ext cx="4086225" cy="514350"/>
            </a:xfrm>
            <a:custGeom>
              <a:avLst/>
              <a:gdLst/>
              <a:ahLst/>
              <a:cxnLst/>
              <a:rect l="l" t="t" r="r" b="b"/>
              <a:pathLst>
                <a:path w="4086225" h="514350">
                  <a:moveTo>
                    <a:pt x="4010024" y="514349"/>
                  </a:moveTo>
                  <a:lnTo>
                    <a:pt x="76199" y="514349"/>
                  </a:lnTo>
                  <a:lnTo>
                    <a:pt x="68693" y="513987"/>
                  </a:lnTo>
                  <a:lnTo>
                    <a:pt x="27882" y="497082"/>
                  </a:lnTo>
                  <a:lnTo>
                    <a:pt x="3261" y="460236"/>
                  </a:lnTo>
                  <a:lnTo>
                    <a:pt x="0" y="438149"/>
                  </a:lnTo>
                  <a:lnTo>
                    <a:pt x="0" y="76199"/>
                  </a:lnTo>
                  <a:lnTo>
                    <a:pt x="12829" y="33857"/>
                  </a:lnTo>
                  <a:lnTo>
                    <a:pt x="47038" y="5799"/>
                  </a:lnTo>
                  <a:lnTo>
                    <a:pt x="76199" y="0"/>
                  </a:lnTo>
                  <a:lnTo>
                    <a:pt x="4010024" y="0"/>
                  </a:lnTo>
                  <a:lnTo>
                    <a:pt x="4052365" y="12829"/>
                  </a:lnTo>
                  <a:lnTo>
                    <a:pt x="4080422" y="47038"/>
                  </a:lnTo>
                  <a:lnTo>
                    <a:pt x="4086224" y="76199"/>
                  </a:lnTo>
                  <a:lnTo>
                    <a:pt x="4086224" y="438149"/>
                  </a:lnTo>
                  <a:lnTo>
                    <a:pt x="4073392" y="480491"/>
                  </a:lnTo>
                  <a:lnTo>
                    <a:pt x="4039182" y="508549"/>
                  </a:lnTo>
                  <a:lnTo>
                    <a:pt x="4010024" y="514349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505699" y="5572124"/>
              <a:ext cx="4086225" cy="514350"/>
            </a:xfrm>
            <a:custGeom>
              <a:avLst/>
              <a:gdLst/>
              <a:ahLst/>
              <a:cxnLst/>
              <a:rect l="l" t="t" r="r" b="b"/>
              <a:pathLst>
                <a:path w="4086225" h="514350">
                  <a:moveTo>
                    <a:pt x="4010024" y="514349"/>
                  </a:moveTo>
                  <a:lnTo>
                    <a:pt x="76199" y="514349"/>
                  </a:lnTo>
                  <a:lnTo>
                    <a:pt x="68693" y="513987"/>
                  </a:lnTo>
                  <a:lnTo>
                    <a:pt x="27882" y="497082"/>
                  </a:lnTo>
                  <a:lnTo>
                    <a:pt x="3261" y="460236"/>
                  </a:lnTo>
                  <a:lnTo>
                    <a:pt x="0" y="438149"/>
                  </a:lnTo>
                  <a:lnTo>
                    <a:pt x="0" y="76199"/>
                  </a:lnTo>
                  <a:lnTo>
                    <a:pt x="12829" y="33857"/>
                  </a:lnTo>
                  <a:lnTo>
                    <a:pt x="47038" y="5799"/>
                  </a:lnTo>
                  <a:lnTo>
                    <a:pt x="76199" y="0"/>
                  </a:lnTo>
                  <a:lnTo>
                    <a:pt x="4010024" y="0"/>
                  </a:lnTo>
                  <a:lnTo>
                    <a:pt x="4046844" y="9524"/>
                  </a:lnTo>
                  <a:lnTo>
                    <a:pt x="71821" y="9524"/>
                  </a:lnTo>
                  <a:lnTo>
                    <a:pt x="67486" y="9951"/>
                  </a:lnTo>
                  <a:lnTo>
                    <a:pt x="32149" y="25957"/>
                  </a:lnTo>
                  <a:lnTo>
                    <a:pt x="11660" y="58898"/>
                  </a:lnTo>
                  <a:lnTo>
                    <a:pt x="9524" y="71821"/>
                  </a:lnTo>
                  <a:lnTo>
                    <a:pt x="9524" y="442527"/>
                  </a:lnTo>
                  <a:lnTo>
                    <a:pt x="9832" y="445656"/>
                  </a:lnTo>
                  <a:lnTo>
                    <a:pt x="9951" y="446863"/>
                  </a:lnTo>
                  <a:lnTo>
                    <a:pt x="25957" y="482200"/>
                  </a:lnTo>
                  <a:lnTo>
                    <a:pt x="58898" y="502689"/>
                  </a:lnTo>
                  <a:lnTo>
                    <a:pt x="71821" y="504824"/>
                  </a:lnTo>
                  <a:lnTo>
                    <a:pt x="4046842" y="504824"/>
                  </a:lnTo>
                  <a:lnTo>
                    <a:pt x="4045979" y="505341"/>
                  </a:lnTo>
                  <a:lnTo>
                    <a:pt x="4039182" y="508549"/>
                  </a:lnTo>
                  <a:lnTo>
                    <a:pt x="4032108" y="511087"/>
                  </a:lnTo>
                  <a:lnTo>
                    <a:pt x="4024891" y="512899"/>
                  </a:lnTo>
                  <a:lnTo>
                    <a:pt x="4017529" y="513987"/>
                  </a:lnTo>
                  <a:lnTo>
                    <a:pt x="4010024" y="514349"/>
                  </a:lnTo>
                  <a:close/>
                </a:path>
                <a:path w="4086225" h="514350">
                  <a:moveTo>
                    <a:pt x="4046842" y="504824"/>
                  </a:moveTo>
                  <a:lnTo>
                    <a:pt x="4014402" y="504824"/>
                  </a:lnTo>
                  <a:lnTo>
                    <a:pt x="4018738" y="504397"/>
                  </a:lnTo>
                  <a:lnTo>
                    <a:pt x="4027326" y="502689"/>
                  </a:lnTo>
                  <a:lnTo>
                    <a:pt x="4060266" y="482200"/>
                  </a:lnTo>
                  <a:lnTo>
                    <a:pt x="4076272" y="446863"/>
                  </a:lnTo>
                  <a:lnTo>
                    <a:pt x="4076699" y="442527"/>
                  </a:lnTo>
                  <a:lnTo>
                    <a:pt x="4076699" y="71821"/>
                  </a:lnTo>
                  <a:lnTo>
                    <a:pt x="4076391" y="68693"/>
                  </a:lnTo>
                  <a:lnTo>
                    <a:pt x="4076272" y="67486"/>
                  </a:lnTo>
                  <a:lnTo>
                    <a:pt x="4060266" y="32149"/>
                  </a:lnTo>
                  <a:lnTo>
                    <a:pt x="4027326" y="11660"/>
                  </a:lnTo>
                  <a:lnTo>
                    <a:pt x="4014402" y="9524"/>
                  </a:lnTo>
                  <a:lnTo>
                    <a:pt x="4046844" y="9524"/>
                  </a:lnTo>
                  <a:lnTo>
                    <a:pt x="4077214" y="40242"/>
                  </a:lnTo>
                  <a:lnTo>
                    <a:pt x="4086224" y="438149"/>
                  </a:lnTo>
                  <a:lnTo>
                    <a:pt x="4085861" y="445656"/>
                  </a:lnTo>
                  <a:lnTo>
                    <a:pt x="4068956" y="486466"/>
                  </a:lnTo>
                  <a:lnTo>
                    <a:pt x="4052492" y="501424"/>
                  </a:lnTo>
                  <a:lnTo>
                    <a:pt x="4046842" y="504824"/>
                  </a:lnTo>
                  <a:close/>
                </a:path>
              </a:pathLst>
            </a:custGeom>
            <a:solidFill>
              <a:srgbClr val="FFD6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39260" y="5784849"/>
              <a:ext cx="212725" cy="88900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8075810" y="5694647"/>
            <a:ext cx="3324225" cy="2292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00" spc="-65" dirty="0">
                <a:solidFill>
                  <a:srgbClr val="FFFFFF"/>
                </a:solidFill>
                <a:latin typeface="Roboto Lt"/>
                <a:cs typeface="Roboto Lt"/>
              </a:rPr>
              <a:t>Input</a:t>
            </a:r>
            <a:r>
              <a:rPr sz="1300" spc="-20" dirty="0">
                <a:solidFill>
                  <a:srgbClr val="FFFFFF"/>
                </a:solidFill>
                <a:latin typeface="Roboto Lt"/>
                <a:cs typeface="Roboto Lt"/>
              </a:rPr>
              <a:t> </a:t>
            </a:r>
            <a:r>
              <a:rPr sz="1200" dirty="0">
                <a:solidFill>
                  <a:srgbClr val="FFFFFF"/>
                </a:solidFill>
                <a:latin typeface="Microsoft Sans Serif"/>
                <a:cs typeface="Microsoft Sans Serif"/>
              </a:rPr>
              <a:t>→</a:t>
            </a:r>
            <a:r>
              <a:rPr sz="1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300" spc="-60" dirty="0">
                <a:solidFill>
                  <a:srgbClr val="FFFFFF"/>
                </a:solidFill>
                <a:latin typeface="Roboto Lt"/>
                <a:cs typeface="Roboto Lt"/>
              </a:rPr>
              <a:t>Backbone</a:t>
            </a:r>
            <a:r>
              <a:rPr sz="1300" spc="-20" dirty="0">
                <a:solidFill>
                  <a:srgbClr val="FFFFFF"/>
                </a:solidFill>
                <a:latin typeface="Roboto Lt"/>
                <a:cs typeface="Roboto Lt"/>
              </a:rPr>
              <a:t> </a:t>
            </a:r>
            <a:r>
              <a:rPr sz="1200" dirty="0">
                <a:solidFill>
                  <a:srgbClr val="FFFFFF"/>
                </a:solidFill>
                <a:latin typeface="Microsoft Sans Serif"/>
                <a:cs typeface="Microsoft Sans Serif"/>
              </a:rPr>
              <a:t>→</a:t>
            </a:r>
            <a:r>
              <a:rPr sz="1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300" spc="-60" dirty="0">
                <a:solidFill>
                  <a:srgbClr val="FFFFFF"/>
                </a:solidFill>
                <a:latin typeface="Roboto Lt"/>
                <a:cs typeface="Roboto Lt"/>
              </a:rPr>
              <a:t>Neck</a:t>
            </a:r>
            <a:r>
              <a:rPr sz="1300" spc="-20" dirty="0">
                <a:solidFill>
                  <a:srgbClr val="FFFFFF"/>
                </a:solidFill>
                <a:latin typeface="Roboto Lt"/>
                <a:cs typeface="Roboto Lt"/>
              </a:rPr>
              <a:t> </a:t>
            </a:r>
            <a:r>
              <a:rPr sz="1200" dirty="0">
                <a:solidFill>
                  <a:srgbClr val="FFFFFF"/>
                </a:solidFill>
                <a:latin typeface="Microsoft Sans Serif"/>
                <a:cs typeface="Microsoft Sans Serif"/>
              </a:rPr>
              <a:t>→</a:t>
            </a:r>
            <a:r>
              <a:rPr sz="1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300" spc="-65" dirty="0">
                <a:solidFill>
                  <a:srgbClr val="FFFFFF"/>
                </a:solidFill>
                <a:latin typeface="Roboto Lt"/>
                <a:cs typeface="Roboto Lt"/>
              </a:rPr>
              <a:t>Head</a:t>
            </a:r>
            <a:r>
              <a:rPr sz="1300" spc="-20" dirty="0">
                <a:solidFill>
                  <a:srgbClr val="FFFFFF"/>
                </a:solidFill>
                <a:latin typeface="Roboto Lt"/>
                <a:cs typeface="Roboto Lt"/>
              </a:rPr>
              <a:t> </a:t>
            </a:r>
            <a:r>
              <a:rPr sz="1200" dirty="0">
                <a:solidFill>
                  <a:srgbClr val="FFFFFF"/>
                </a:solidFill>
                <a:latin typeface="Microsoft Sans Serif"/>
                <a:cs typeface="Microsoft Sans Serif"/>
              </a:rPr>
              <a:t>→</a:t>
            </a:r>
            <a:r>
              <a:rPr sz="1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300" spc="-45" dirty="0">
                <a:solidFill>
                  <a:srgbClr val="FFFFFF"/>
                </a:solidFill>
                <a:latin typeface="Roboto Lt"/>
                <a:cs typeface="Roboto Lt"/>
              </a:rPr>
              <a:t>Detection</a:t>
            </a:r>
            <a:endParaRPr sz="1300">
              <a:latin typeface="Roboto Lt"/>
              <a:cs typeface="Roboto Lt"/>
            </a:endParaRPr>
          </a:p>
        </p:txBody>
      </p:sp>
      <p:pic>
        <p:nvPicPr>
          <p:cNvPr id="31" name="Picture 30" descr="Diagram of a diagram of a pyramid&#10;&#10;AI-generated content may be incorrect.">
            <a:extLst>
              <a:ext uri="{FF2B5EF4-FFF2-40B4-BE49-F238E27FC236}">
                <a16:creationId xmlns:a16="http://schemas.microsoft.com/office/drawing/2014/main" id="{891FD7BD-DEF4-69BB-B837-7136F2DF8FC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666" y="1552718"/>
            <a:ext cx="6914640" cy="411140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0160"/>
            <a:ext cx="12186840" cy="6850380"/>
          </a:xfrm>
          <a:custGeom>
            <a:avLst/>
            <a:gdLst/>
            <a:ahLst/>
            <a:cxnLst/>
            <a:rect l="l" t="t" r="r" b="b"/>
            <a:pathLst>
              <a:path w="11431270" h="6850380">
                <a:moveTo>
                  <a:pt x="11431267" y="6849829"/>
                </a:moveTo>
                <a:lnTo>
                  <a:pt x="0" y="6849829"/>
                </a:lnTo>
                <a:lnTo>
                  <a:pt x="0" y="0"/>
                </a:lnTo>
                <a:lnTo>
                  <a:pt x="11431267" y="0"/>
                </a:lnTo>
                <a:lnTo>
                  <a:pt x="11431267" y="6849829"/>
                </a:lnTo>
                <a:close/>
              </a:path>
            </a:pathLst>
          </a:custGeom>
          <a:solidFill>
            <a:srgbClr val="0932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30" y="741246"/>
            <a:ext cx="11431270" cy="18415"/>
          </a:xfrm>
          <a:custGeom>
            <a:avLst/>
            <a:gdLst/>
            <a:ahLst/>
            <a:cxnLst/>
            <a:rect l="l" t="t" r="r" b="b"/>
            <a:pathLst>
              <a:path w="11431270" h="18415">
                <a:moveTo>
                  <a:pt x="11431267" y="17861"/>
                </a:moveTo>
                <a:lnTo>
                  <a:pt x="0" y="17861"/>
                </a:lnTo>
                <a:lnTo>
                  <a:pt x="0" y="0"/>
                </a:lnTo>
                <a:lnTo>
                  <a:pt x="11431267" y="0"/>
                </a:lnTo>
                <a:lnTo>
                  <a:pt x="11431267" y="17861"/>
                </a:lnTo>
                <a:close/>
              </a:path>
            </a:pathLst>
          </a:custGeom>
          <a:solidFill>
            <a:srgbClr val="FFD600">
              <a:alpha val="3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45">
              <a:lnSpc>
                <a:spcPct val="100000"/>
              </a:lnSpc>
              <a:spcBef>
                <a:spcPts val="100"/>
              </a:spcBef>
            </a:pPr>
            <a:r>
              <a:rPr sz="3250" spc="-185" dirty="0">
                <a:latin typeface="Tahoma"/>
                <a:cs typeface="Tahoma"/>
              </a:rPr>
              <a:t>Dataset</a:t>
            </a:r>
            <a:r>
              <a:rPr sz="3250" spc="-125" dirty="0">
                <a:latin typeface="Tahoma"/>
                <a:cs typeface="Tahoma"/>
              </a:rPr>
              <a:t> </a:t>
            </a:r>
            <a:r>
              <a:rPr sz="3250" spc="-170" dirty="0">
                <a:latin typeface="Tahoma"/>
                <a:cs typeface="Tahoma"/>
              </a:rPr>
              <a:t>Overview</a:t>
            </a:r>
            <a:endParaRPr sz="325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983318" y="1545007"/>
            <a:ext cx="1143635" cy="36195"/>
          </a:xfrm>
          <a:custGeom>
            <a:avLst/>
            <a:gdLst/>
            <a:ahLst/>
            <a:cxnLst/>
            <a:rect l="l" t="t" r="r" b="b"/>
            <a:pathLst>
              <a:path w="1143635" h="36194">
                <a:moveTo>
                  <a:pt x="1143126" y="35722"/>
                </a:moveTo>
                <a:lnTo>
                  <a:pt x="0" y="35722"/>
                </a:lnTo>
                <a:lnTo>
                  <a:pt x="0" y="0"/>
                </a:lnTo>
                <a:lnTo>
                  <a:pt x="1143126" y="0"/>
                </a:lnTo>
                <a:lnTo>
                  <a:pt x="1143126" y="35722"/>
                </a:lnTo>
                <a:close/>
              </a:path>
            </a:pathLst>
          </a:custGeom>
          <a:solidFill>
            <a:srgbClr val="FFD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494614" y="1044634"/>
            <a:ext cx="4134485" cy="3873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350" b="1" spc="-145" dirty="0">
                <a:solidFill>
                  <a:srgbClr val="FFFFFF"/>
                </a:solidFill>
                <a:latin typeface="Roboto"/>
                <a:cs typeface="Roboto"/>
              </a:rPr>
              <a:t>Roboflow</a:t>
            </a:r>
            <a:r>
              <a:rPr sz="2350" b="1" spc="-1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350" b="1" spc="-125" dirty="0">
                <a:solidFill>
                  <a:srgbClr val="FFFFFF"/>
                </a:solidFill>
                <a:latin typeface="Roboto"/>
                <a:cs typeface="Roboto"/>
              </a:rPr>
              <a:t>Fruits</a:t>
            </a:r>
            <a:r>
              <a:rPr sz="2350" b="1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350" b="1" spc="-130" dirty="0">
                <a:solidFill>
                  <a:srgbClr val="FFFFFF"/>
                </a:solidFill>
                <a:latin typeface="Roboto"/>
                <a:cs typeface="Roboto"/>
              </a:rPr>
              <a:t>Detection</a:t>
            </a:r>
            <a:r>
              <a:rPr sz="2350" b="1" spc="-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350" b="1" spc="-95" dirty="0">
                <a:solidFill>
                  <a:srgbClr val="FFFFFF"/>
                </a:solidFill>
                <a:latin typeface="Roboto"/>
                <a:cs typeface="Roboto"/>
              </a:rPr>
              <a:t>Dataset</a:t>
            </a:r>
            <a:endParaRPr sz="2350" dirty="0">
              <a:latin typeface="Roboto"/>
              <a:cs typeface="Roboto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002582" y="1750706"/>
            <a:ext cx="1866900" cy="1339850"/>
            <a:chOff x="4983318" y="1795066"/>
            <a:chExt cx="1866900" cy="1339850"/>
          </a:xfrm>
        </p:grpSpPr>
        <p:sp>
          <p:nvSpPr>
            <p:cNvPr id="8" name="object 8"/>
            <p:cNvSpPr/>
            <p:nvPr/>
          </p:nvSpPr>
          <p:spPr>
            <a:xfrm>
              <a:off x="4983318" y="1795066"/>
              <a:ext cx="1866900" cy="1339850"/>
            </a:xfrm>
            <a:custGeom>
              <a:avLst/>
              <a:gdLst/>
              <a:ahLst/>
              <a:cxnLst/>
              <a:rect l="l" t="t" r="r" b="b"/>
              <a:pathLst>
                <a:path w="1866900" h="1339850">
                  <a:moveTo>
                    <a:pt x="1759343" y="1339601"/>
                  </a:moveTo>
                  <a:lnTo>
                    <a:pt x="107168" y="1339601"/>
                  </a:lnTo>
                  <a:lnTo>
                    <a:pt x="96610" y="1339091"/>
                  </a:lnTo>
                  <a:lnTo>
                    <a:pt x="56598" y="1326932"/>
                  </a:lnTo>
                  <a:lnTo>
                    <a:pt x="24284" y="1300386"/>
                  </a:lnTo>
                  <a:lnTo>
                    <a:pt x="4588" y="1263496"/>
                  </a:lnTo>
                  <a:lnTo>
                    <a:pt x="0" y="1232433"/>
                  </a:lnTo>
                  <a:lnTo>
                    <a:pt x="0" y="107168"/>
                  </a:lnTo>
                  <a:lnTo>
                    <a:pt x="8157" y="66156"/>
                  </a:lnTo>
                  <a:lnTo>
                    <a:pt x="31388" y="31388"/>
                  </a:lnTo>
                  <a:lnTo>
                    <a:pt x="66156" y="8157"/>
                  </a:lnTo>
                  <a:lnTo>
                    <a:pt x="107168" y="0"/>
                  </a:lnTo>
                  <a:lnTo>
                    <a:pt x="1759343" y="0"/>
                  </a:lnTo>
                  <a:lnTo>
                    <a:pt x="1800354" y="8157"/>
                  </a:lnTo>
                  <a:lnTo>
                    <a:pt x="1835122" y="31388"/>
                  </a:lnTo>
                  <a:lnTo>
                    <a:pt x="1858353" y="66156"/>
                  </a:lnTo>
                  <a:lnTo>
                    <a:pt x="1866511" y="107168"/>
                  </a:lnTo>
                  <a:lnTo>
                    <a:pt x="1866511" y="1232433"/>
                  </a:lnTo>
                  <a:lnTo>
                    <a:pt x="1858353" y="1273444"/>
                  </a:lnTo>
                  <a:lnTo>
                    <a:pt x="1835122" y="1308212"/>
                  </a:lnTo>
                  <a:lnTo>
                    <a:pt x="1800353" y="1331443"/>
                  </a:lnTo>
                  <a:lnTo>
                    <a:pt x="1759343" y="1339601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983318" y="1795066"/>
              <a:ext cx="1866900" cy="1339850"/>
            </a:xfrm>
            <a:custGeom>
              <a:avLst/>
              <a:gdLst/>
              <a:ahLst/>
              <a:cxnLst/>
              <a:rect l="l" t="t" r="r" b="b"/>
              <a:pathLst>
                <a:path w="1866900" h="1339850">
                  <a:moveTo>
                    <a:pt x="1759343" y="1339601"/>
                  </a:moveTo>
                  <a:lnTo>
                    <a:pt x="107168" y="1339601"/>
                  </a:lnTo>
                  <a:lnTo>
                    <a:pt x="96610" y="1339091"/>
                  </a:lnTo>
                  <a:lnTo>
                    <a:pt x="56598" y="1326932"/>
                  </a:lnTo>
                  <a:lnTo>
                    <a:pt x="24284" y="1300386"/>
                  </a:lnTo>
                  <a:lnTo>
                    <a:pt x="4588" y="1263496"/>
                  </a:lnTo>
                  <a:lnTo>
                    <a:pt x="0" y="1232433"/>
                  </a:lnTo>
                  <a:lnTo>
                    <a:pt x="0" y="107168"/>
                  </a:lnTo>
                  <a:lnTo>
                    <a:pt x="8157" y="66156"/>
                  </a:lnTo>
                  <a:lnTo>
                    <a:pt x="31388" y="31388"/>
                  </a:lnTo>
                  <a:lnTo>
                    <a:pt x="66156" y="8157"/>
                  </a:lnTo>
                  <a:lnTo>
                    <a:pt x="107168" y="0"/>
                  </a:lnTo>
                  <a:lnTo>
                    <a:pt x="1759343" y="0"/>
                  </a:lnTo>
                  <a:lnTo>
                    <a:pt x="1800354" y="8157"/>
                  </a:lnTo>
                  <a:lnTo>
                    <a:pt x="1801992" y="8930"/>
                  </a:lnTo>
                  <a:lnTo>
                    <a:pt x="100717" y="8930"/>
                  </a:lnTo>
                  <a:lnTo>
                    <a:pt x="94329" y="9559"/>
                  </a:lnTo>
                  <a:lnTo>
                    <a:pt x="57953" y="21902"/>
                  </a:lnTo>
                  <a:lnTo>
                    <a:pt x="29070" y="47226"/>
                  </a:lnTo>
                  <a:lnTo>
                    <a:pt x="12076" y="81676"/>
                  </a:lnTo>
                  <a:lnTo>
                    <a:pt x="8930" y="100717"/>
                  </a:lnTo>
                  <a:lnTo>
                    <a:pt x="8930" y="1238883"/>
                  </a:lnTo>
                  <a:lnTo>
                    <a:pt x="18876" y="1275986"/>
                  </a:lnTo>
                  <a:lnTo>
                    <a:pt x="42264" y="1306458"/>
                  </a:lnTo>
                  <a:lnTo>
                    <a:pt x="75533" y="1325661"/>
                  </a:lnTo>
                  <a:lnTo>
                    <a:pt x="100717" y="1330670"/>
                  </a:lnTo>
                  <a:lnTo>
                    <a:pt x="1801990" y="1330670"/>
                  </a:lnTo>
                  <a:lnTo>
                    <a:pt x="1800353" y="1331443"/>
                  </a:lnTo>
                  <a:lnTo>
                    <a:pt x="1790405" y="1335012"/>
                  </a:lnTo>
                  <a:lnTo>
                    <a:pt x="1780254" y="1337561"/>
                  </a:lnTo>
                  <a:lnTo>
                    <a:pt x="1769900" y="1339091"/>
                  </a:lnTo>
                  <a:lnTo>
                    <a:pt x="1759343" y="1339601"/>
                  </a:lnTo>
                  <a:close/>
                </a:path>
                <a:path w="1866900" h="1339850">
                  <a:moveTo>
                    <a:pt x="1801990" y="1330670"/>
                  </a:moveTo>
                  <a:lnTo>
                    <a:pt x="1765793" y="1330670"/>
                  </a:lnTo>
                  <a:lnTo>
                    <a:pt x="1772181" y="1330041"/>
                  </a:lnTo>
                  <a:lnTo>
                    <a:pt x="1784834" y="1327524"/>
                  </a:lnTo>
                  <a:lnTo>
                    <a:pt x="1819284" y="1310531"/>
                  </a:lnTo>
                  <a:lnTo>
                    <a:pt x="1844608" y="1281647"/>
                  </a:lnTo>
                  <a:lnTo>
                    <a:pt x="1856951" y="1245272"/>
                  </a:lnTo>
                  <a:lnTo>
                    <a:pt x="1857580" y="1238883"/>
                  </a:lnTo>
                  <a:lnTo>
                    <a:pt x="1857580" y="100717"/>
                  </a:lnTo>
                  <a:lnTo>
                    <a:pt x="1847634" y="63614"/>
                  </a:lnTo>
                  <a:lnTo>
                    <a:pt x="1824246" y="33142"/>
                  </a:lnTo>
                  <a:lnTo>
                    <a:pt x="1790977" y="13940"/>
                  </a:lnTo>
                  <a:lnTo>
                    <a:pt x="1765793" y="8930"/>
                  </a:lnTo>
                  <a:lnTo>
                    <a:pt x="1801992" y="8930"/>
                  </a:lnTo>
                  <a:lnTo>
                    <a:pt x="1835122" y="31388"/>
                  </a:lnTo>
                  <a:lnTo>
                    <a:pt x="1858353" y="66156"/>
                  </a:lnTo>
                  <a:lnTo>
                    <a:pt x="1866511" y="107168"/>
                  </a:lnTo>
                  <a:lnTo>
                    <a:pt x="1866511" y="1232433"/>
                  </a:lnTo>
                  <a:lnTo>
                    <a:pt x="1866001" y="1242990"/>
                  </a:lnTo>
                  <a:lnTo>
                    <a:pt x="1853842" y="1283003"/>
                  </a:lnTo>
                  <a:lnTo>
                    <a:pt x="1827296" y="1315316"/>
                  </a:lnTo>
                  <a:lnTo>
                    <a:pt x="1809912" y="1326932"/>
                  </a:lnTo>
                  <a:lnTo>
                    <a:pt x="1801990" y="1330670"/>
                  </a:lnTo>
                  <a:close/>
                </a:path>
              </a:pathLst>
            </a:custGeom>
            <a:solidFill>
              <a:srgbClr val="FFD6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79686" y="2008839"/>
              <a:ext cx="269874" cy="269874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2435095" y="2317071"/>
            <a:ext cx="852169" cy="21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60" dirty="0">
                <a:solidFill>
                  <a:srgbClr val="9CA2AF"/>
                </a:solidFill>
                <a:latin typeface="Arial MT"/>
                <a:cs typeface="Arial MT"/>
              </a:rPr>
              <a:t>Total </a:t>
            </a:r>
            <a:r>
              <a:rPr sz="1250" spc="-65" dirty="0">
                <a:solidFill>
                  <a:srgbClr val="9CA2AF"/>
                </a:solidFill>
                <a:latin typeface="Arial MT"/>
                <a:cs typeface="Arial MT"/>
              </a:rPr>
              <a:t>Images</a:t>
            </a:r>
            <a:endParaRPr sz="1250" dirty="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80509" y="2592937"/>
            <a:ext cx="706755" cy="3727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250" b="1" spc="-80" dirty="0">
                <a:solidFill>
                  <a:srgbClr val="FFFFFF"/>
                </a:solidFill>
                <a:latin typeface="Malgun Gothic"/>
                <a:cs typeface="Malgun Gothic"/>
              </a:rPr>
              <a:t>2,974</a:t>
            </a:r>
            <a:endParaRPr sz="2250" dirty="0">
              <a:latin typeface="Malgun Gothic"/>
              <a:cs typeface="Malgun Gothic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687985" y="1729170"/>
            <a:ext cx="1881931" cy="1353203"/>
            <a:chOff x="6977689" y="1781713"/>
            <a:chExt cx="1881931" cy="1353203"/>
          </a:xfrm>
        </p:grpSpPr>
        <p:sp>
          <p:nvSpPr>
            <p:cNvPr id="14" name="object 14"/>
            <p:cNvSpPr/>
            <p:nvPr/>
          </p:nvSpPr>
          <p:spPr>
            <a:xfrm>
              <a:off x="6977689" y="1781713"/>
              <a:ext cx="1866900" cy="1339850"/>
            </a:xfrm>
            <a:custGeom>
              <a:avLst/>
              <a:gdLst/>
              <a:ahLst/>
              <a:cxnLst/>
              <a:rect l="l" t="t" r="r" b="b"/>
              <a:pathLst>
                <a:path w="1866900" h="1339850">
                  <a:moveTo>
                    <a:pt x="1759343" y="1339601"/>
                  </a:moveTo>
                  <a:lnTo>
                    <a:pt x="107168" y="1339601"/>
                  </a:lnTo>
                  <a:lnTo>
                    <a:pt x="96610" y="1339091"/>
                  </a:lnTo>
                  <a:lnTo>
                    <a:pt x="56597" y="1326932"/>
                  </a:lnTo>
                  <a:lnTo>
                    <a:pt x="24283" y="1300386"/>
                  </a:lnTo>
                  <a:lnTo>
                    <a:pt x="4588" y="1263496"/>
                  </a:lnTo>
                  <a:lnTo>
                    <a:pt x="0" y="1232433"/>
                  </a:lnTo>
                  <a:lnTo>
                    <a:pt x="0" y="107168"/>
                  </a:lnTo>
                  <a:lnTo>
                    <a:pt x="8156" y="66156"/>
                  </a:lnTo>
                  <a:lnTo>
                    <a:pt x="31388" y="31388"/>
                  </a:lnTo>
                  <a:lnTo>
                    <a:pt x="66156" y="8157"/>
                  </a:lnTo>
                  <a:lnTo>
                    <a:pt x="107168" y="0"/>
                  </a:lnTo>
                  <a:lnTo>
                    <a:pt x="1759343" y="0"/>
                  </a:lnTo>
                  <a:lnTo>
                    <a:pt x="1800354" y="8157"/>
                  </a:lnTo>
                  <a:lnTo>
                    <a:pt x="1835122" y="31388"/>
                  </a:lnTo>
                  <a:lnTo>
                    <a:pt x="1858353" y="66156"/>
                  </a:lnTo>
                  <a:lnTo>
                    <a:pt x="1866511" y="107168"/>
                  </a:lnTo>
                  <a:lnTo>
                    <a:pt x="1866511" y="1232433"/>
                  </a:lnTo>
                  <a:lnTo>
                    <a:pt x="1858353" y="1273444"/>
                  </a:lnTo>
                  <a:lnTo>
                    <a:pt x="1835122" y="1308212"/>
                  </a:lnTo>
                  <a:lnTo>
                    <a:pt x="1800353" y="1331443"/>
                  </a:lnTo>
                  <a:lnTo>
                    <a:pt x="1759343" y="1339601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992720" y="1795066"/>
              <a:ext cx="1866900" cy="1339850"/>
            </a:xfrm>
            <a:custGeom>
              <a:avLst/>
              <a:gdLst/>
              <a:ahLst/>
              <a:cxnLst/>
              <a:rect l="l" t="t" r="r" b="b"/>
              <a:pathLst>
                <a:path w="1866900" h="1339850">
                  <a:moveTo>
                    <a:pt x="1759343" y="1339601"/>
                  </a:moveTo>
                  <a:lnTo>
                    <a:pt x="107168" y="1339601"/>
                  </a:lnTo>
                  <a:lnTo>
                    <a:pt x="96610" y="1339091"/>
                  </a:lnTo>
                  <a:lnTo>
                    <a:pt x="56597" y="1326932"/>
                  </a:lnTo>
                  <a:lnTo>
                    <a:pt x="24283" y="1300386"/>
                  </a:lnTo>
                  <a:lnTo>
                    <a:pt x="4588" y="1263496"/>
                  </a:lnTo>
                  <a:lnTo>
                    <a:pt x="0" y="1232433"/>
                  </a:lnTo>
                  <a:lnTo>
                    <a:pt x="0" y="107168"/>
                  </a:lnTo>
                  <a:lnTo>
                    <a:pt x="8156" y="66156"/>
                  </a:lnTo>
                  <a:lnTo>
                    <a:pt x="31388" y="31388"/>
                  </a:lnTo>
                  <a:lnTo>
                    <a:pt x="66156" y="8157"/>
                  </a:lnTo>
                  <a:lnTo>
                    <a:pt x="107168" y="0"/>
                  </a:lnTo>
                  <a:lnTo>
                    <a:pt x="1759343" y="0"/>
                  </a:lnTo>
                  <a:lnTo>
                    <a:pt x="1800354" y="8157"/>
                  </a:lnTo>
                  <a:lnTo>
                    <a:pt x="1801992" y="8930"/>
                  </a:lnTo>
                  <a:lnTo>
                    <a:pt x="100717" y="8930"/>
                  </a:lnTo>
                  <a:lnTo>
                    <a:pt x="94329" y="9559"/>
                  </a:lnTo>
                  <a:lnTo>
                    <a:pt x="57953" y="21902"/>
                  </a:lnTo>
                  <a:lnTo>
                    <a:pt x="29070" y="47226"/>
                  </a:lnTo>
                  <a:lnTo>
                    <a:pt x="12076" y="81676"/>
                  </a:lnTo>
                  <a:lnTo>
                    <a:pt x="8930" y="100717"/>
                  </a:lnTo>
                  <a:lnTo>
                    <a:pt x="8930" y="1238883"/>
                  </a:lnTo>
                  <a:lnTo>
                    <a:pt x="18876" y="1275986"/>
                  </a:lnTo>
                  <a:lnTo>
                    <a:pt x="42264" y="1306458"/>
                  </a:lnTo>
                  <a:lnTo>
                    <a:pt x="75533" y="1325661"/>
                  </a:lnTo>
                  <a:lnTo>
                    <a:pt x="100717" y="1330670"/>
                  </a:lnTo>
                  <a:lnTo>
                    <a:pt x="1801990" y="1330670"/>
                  </a:lnTo>
                  <a:lnTo>
                    <a:pt x="1800353" y="1331443"/>
                  </a:lnTo>
                  <a:lnTo>
                    <a:pt x="1790404" y="1335012"/>
                  </a:lnTo>
                  <a:lnTo>
                    <a:pt x="1780253" y="1337561"/>
                  </a:lnTo>
                  <a:lnTo>
                    <a:pt x="1769899" y="1339091"/>
                  </a:lnTo>
                  <a:lnTo>
                    <a:pt x="1759343" y="1339601"/>
                  </a:lnTo>
                  <a:close/>
                </a:path>
                <a:path w="1866900" h="1339850">
                  <a:moveTo>
                    <a:pt x="1801990" y="1330670"/>
                  </a:moveTo>
                  <a:lnTo>
                    <a:pt x="1765793" y="1330670"/>
                  </a:lnTo>
                  <a:lnTo>
                    <a:pt x="1772182" y="1330041"/>
                  </a:lnTo>
                  <a:lnTo>
                    <a:pt x="1784834" y="1327524"/>
                  </a:lnTo>
                  <a:lnTo>
                    <a:pt x="1819284" y="1310531"/>
                  </a:lnTo>
                  <a:lnTo>
                    <a:pt x="1844608" y="1281647"/>
                  </a:lnTo>
                  <a:lnTo>
                    <a:pt x="1856951" y="1245272"/>
                  </a:lnTo>
                  <a:lnTo>
                    <a:pt x="1857580" y="1238883"/>
                  </a:lnTo>
                  <a:lnTo>
                    <a:pt x="1857580" y="100717"/>
                  </a:lnTo>
                  <a:lnTo>
                    <a:pt x="1847634" y="63614"/>
                  </a:lnTo>
                  <a:lnTo>
                    <a:pt x="1824246" y="33142"/>
                  </a:lnTo>
                  <a:lnTo>
                    <a:pt x="1790977" y="13940"/>
                  </a:lnTo>
                  <a:lnTo>
                    <a:pt x="1765793" y="8930"/>
                  </a:lnTo>
                  <a:lnTo>
                    <a:pt x="1801992" y="8930"/>
                  </a:lnTo>
                  <a:lnTo>
                    <a:pt x="1835122" y="31388"/>
                  </a:lnTo>
                  <a:lnTo>
                    <a:pt x="1858353" y="66156"/>
                  </a:lnTo>
                  <a:lnTo>
                    <a:pt x="1866511" y="107168"/>
                  </a:lnTo>
                  <a:lnTo>
                    <a:pt x="1866511" y="1232433"/>
                  </a:lnTo>
                  <a:lnTo>
                    <a:pt x="1866001" y="1242990"/>
                  </a:lnTo>
                  <a:lnTo>
                    <a:pt x="1853842" y="1283003"/>
                  </a:lnTo>
                  <a:lnTo>
                    <a:pt x="1827296" y="1315316"/>
                  </a:lnTo>
                  <a:lnTo>
                    <a:pt x="1809912" y="1326932"/>
                  </a:lnTo>
                  <a:lnTo>
                    <a:pt x="1801990" y="1330670"/>
                  </a:lnTo>
                  <a:close/>
                </a:path>
              </a:pathLst>
            </a:custGeom>
            <a:solidFill>
              <a:srgbClr val="FFD6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02347" y="2008839"/>
              <a:ext cx="257174" cy="269874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5211651" y="2317071"/>
            <a:ext cx="849630" cy="21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55" dirty="0">
                <a:solidFill>
                  <a:srgbClr val="9CA2AF"/>
                </a:solidFill>
                <a:latin typeface="Arial MT"/>
                <a:cs typeface="Arial MT"/>
              </a:rPr>
              <a:t>Fruit </a:t>
            </a:r>
            <a:r>
              <a:rPr sz="1250" spc="-70" dirty="0">
                <a:solidFill>
                  <a:srgbClr val="9CA2AF"/>
                </a:solidFill>
                <a:latin typeface="Arial MT"/>
                <a:cs typeface="Arial MT"/>
              </a:rPr>
              <a:t>Classes</a:t>
            </a:r>
            <a:endParaRPr sz="1250" dirty="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555135" y="2575559"/>
            <a:ext cx="179705" cy="3727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250" b="1" spc="-50" dirty="0">
                <a:solidFill>
                  <a:srgbClr val="FFFFFF"/>
                </a:solidFill>
                <a:latin typeface="Malgun Gothic"/>
                <a:cs typeface="Malgun Gothic"/>
              </a:rPr>
              <a:t>9</a:t>
            </a:r>
            <a:endParaRPr sz="2250" dirty="0">
              <a:latin typeface="Malgun Gothic"/>
              <a:cs typeface="Malgun Gothic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433301" y="1722786"/>
            <a:ext cx="1888178" cy="1346234"/>
            <a:chOff x="9002123" y="1795066"/>
            <a:chExt cx="1888178" cy="1346234"/>
          </a:xfrm>
        </p:grpSpPr>
        <p:sp>
          <p:nvSpPr>
            <p:cNvPr id="20" name="object 20"/>
            <p:cNvSpPr/>
            <p:nvPr/>
          </p:nvSpPr>
          <p:spPr>
            <a:xfrm>
              <a:off x="9023401" y="1801450"/>
              <a:ext cx="1866900" cy="1339850"/>
            </a:xfrm>
            <a:custGeom>
              <a:avLst/>
              <a:gdLst/>
              <a:ahLst/>
              <a:cxnLst/>
              <a:rect l="l" t="t" r="r" b="b"/>
              <a:pathLst>
                <a:path w="1866900" h="1339850">
                  <a:moveTo>
                    <a:pt x="1759343" y="1339601"/>
                  </a:moveTo>
                  <a:lnTo>
                    <a:pt x="107168" y="1339601"/>
                  </a:lnTo>
                  <a:lnTo>
                    <a:pt x="96610" y="1339091"/>
                  </a:lnTo>
                  <a:lnTo>
                    <a:pt x="56597" y="1326932"/>
                  </a:lnTo>
                  <a:lnTo>
                    <a:pt x="24283" y="1300386"/>
                  </a:lnTo>
                  <a:lnTo>
                    <a:pt x="4587" y="1263496"/>
                  </a:lnTo>
                  <a:lnTo>
                    <a:pt x="0" y="1232433"/>
                  </a:lnTo>
                  <a:lnTo>
                    <a:pt x="0" y="107168"/>
                  </a:lnTo>
                  <a:lnTo>
                    <a:pt x="8156" y="66156"/>
                  </a:lnTo>
                  <a:lnTo>
                    <a:pt x="31387" y="31388"/>
                  </a:lnTo>
                  <a:lnTo>
                    <a:pt x="66155" y="8157"/>
                  </a:lnTo>
                  <a:lnTo>
                    <a:pt x="107168" y="0"/>
                  </a:lnTo>
                  <a:lnTo>
                    <a:pt x="1759343" y="0"/>
                  </a:lnTo>
                  <a:lnTo>
                    <a:pt x="1800352" y="8157"/>
                  </a:lnTo>
                  <a:lnTo>
                    <a:pt x="1835121" y="31388"/>
                  </a:lnTo>
                  <a:lnTo>
                    <a:pt x="1858352" y="66156"/>
                  </a:lnTo>
                  <a:lnTo>
                    <a:pt x="1866511" y="107168"/>
                  </a:lnTo>
                  <a:lnTo>
                    <a:pt x="1866511" y="1232433"/>
                  </a:lnTo>
                  <a:lnTo>
                    <a:pt x="1858352" y="1273444"/>
                  </a:lnTo>
                  <a:lnTo>
                    <a:pt x="1835121" y="1308212"/>
                  </a:lnTo>
                  <a:lnTo>
                    <a:pt x="1800352" y="1331443"/>
                  </a:lnTo>
                  <a:lnTo>
                    <a:pt x="1759343" y="1339601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002123" y="1795066"/>
              <a:ext cx="1866900" cy="1339850"/>
            </a:xfrm>
            <a:custGeom>
              <a:avLst/>
              <a:gdLst/>
              <a:ahLst/>
              <a:cxnLst/>
              <a:rect l="l" t="t" r="r" b="b"/>
              <a:pathLst>
                <a:path w="1866900" h="1339850">
                  <a:moveTo>
                    <a:pt x="1759343" y="1339601"/>
                  </a:moveTo>
                  <a:lnTo>
                    <a:pt x="107168" y="1339601"/>
                  </a:lnTo>
                  <a:lnTo>
                    <a:pt x="96610" y="1339091"/>
                  </a:lnTo>
                  <a:lnTo>
                    <a:pt x="56597" y="1326932"/>
                  </a:lnTo>
                  <a:lnTo>
                    <a:pt x="24283" y="1300386"/>
                  </a:lnTo>
                  <a:lnTo>
                    <a:pt x="4587" y="1263496"/>
                  </a:lnTo>
                  <a:lnTo>
                    <a:pt x="0" y="1232433"/>
                  </a:lnTo>
                  <a:lnTo>
                    <a:pt x="0" y="107168"/>
                  </a:lnTo>
                  <a:lnTo>
                    <a:pt x="8156" y="66156"/>
                  </a:lnTo>
                  <a:lnTo>
                    <a:pt x="31387" y="31388"/>
                  </a:lnTo>
                  <a:lnTo>
                    <a:pt x="66155" y="8157"/>
                  </a:lnTo>
                  <a:lnTo>
                    <a:pt x="107168" y="0"/>
                  </a:lnTo>
                  <a:lnTo>
                    <a:pt x="1759343" y="0"/>
                  </a:lnTo>
                  <a:lnTo>
                    <a:pt x="1800352" y="8157"/>
                  </a:lnTo>
                  <a:lnTo>
                    <a:pt x="1801991" y="8930"/>
                  </a:lnTo>
                  <a:lnTo>
                    <a:pt x="100717" y="8930"/>
                  </a:lnTo>
                  <a:lnTo>
                    <a:pt x="94329" y="9559"/>
                  </a:lnTo>
                  <a:lnTo>
                    <a:pt x="57953" y="21902"/>
                  </a:lnTo>
                  <a:lnTo>
                    <a:pt x="29070" y="47226"/>
                  </a:lnTo>
                  <a:lnTo>
                    <a:pt x="12076" y="81676"/>
                  </a:lnTo>
                  <a:lnTo>
                    <a:pt x="8930" y="100717"/>
                  </a:lnTo>
                  <a:lnTo>
                    <a:pt x="8930" y="1238883"/>
                  </a:lnTo>
                  <a:lnTo>
                    <a:pt x="18876" y="1275986"/>
                  </a:lnTo>
                  <a:lnTo>
                    <a:pt x="42264" y="1306458"/>
                  </a:lnTo>
                  <a:lnTo>
                    <a:pt x="75533" y="1325661"/>
                  </a:lnTo>
                  <a:lnTo>
                    <a:pt x="100717" y="1330670"/>
                  </a:lnTo>
                  <a:lnTo>
                    <a:pt x="1801990" y="1330670"/>
                  </a:lnTo>
                  <a:lnTo>
                    <a:pt x="1800352" y="1331443"/>
                  </a:lnTo>
                  <a:lnTo>
                    <a:pt x="1790404" y="1335012"/>
                  </a:lnTo>
                  <a:lnTo>
                    <a:pt x="1780253" y="1337561"/>
                  </a:lnTo>
                  <a:lnTo>
                    <a:pt x="1769899" y="1339091"/>
                  </a:lnTo>
                  <a:lnTo>
                    <a:pt x="1759343" y="1339601"/>
                  </a:lnTo>
                  <a:close/>
                </a:path>
                <a:path w="1866900" h="1339850">
                  <a:moveTo>
                    <a:pt x="1801990" y="1330670"/>
                  </a:moveTo>
                  <a:lnTo>
                    <a:pt x="1765793" y="1330670"/>
                  </a:lnTo>
                  <a:lnTo>
                    <a:pt x="1772181" y="1330041"/>
                  </a:lnTo>
                  <a:lnTo>
                    <a:pt x="1784834" y="1327524"/>
                  </a:lnTo>
                  <a:lnTo>
                    <a:pt x="1819284" y="1310531"/>
                  </a:lnTo>
                  <a:lnTo>
                    <a:pt x="1844608" y="1281647"/>
                  </a:lnTo>
                  <a:lnTo>
                    <a:pt x="1856951" y="1245272"/>
                  </a:lnTo>
                  <a:lnTo>
                    <a:pt x="1857580" y="1238883"/>
                  </a:lnTo>
                  <a:lnTo>
                    <a:pt x="1857580" y="100717"/>
                  </a:lnTo>
                  <a:lnTo>
                    <a:pt x="1847634" y="63614"/>
                  </a:lnTo>
                  <a:lnTo>
                    <a:pt x="1824246" y="33142"/>
                  </a:lnTo>
                  <a:lnTo>
                    <a:pt x="1790977" y="13940"/>
                  </a:lnTo>
                  <a:lnTo>
                    <a:pt x="1765793" y="8930"/>
                  </a:lnTo>
                  <a:lnTo>
                    <a:pt x="1801991" y="8930"/>
                  </a:lnTo>
                  <a:lnTo>
                    <a:pt x="1835121" y="31388"/>
                  </a:lnTo>
                  <a:lnTo>
                    <a:pt x="1858352" y="66156"/>
                  </a:lnTo>
                  <a:lnTo>
                    <a:pt x="1866511" y="107168"/>
                  </a:lnTo>
                  <a:lnTo>
                    <a:pt x="1866511" y="1232433"/>
                  </a:lnTo>
                  <a:lnTo>
                    <a:pt x="1866001" y="1242990"/>
                  </a:lnTo>
                  <a:lnTo>
                    <a:pt x="1853841" y="1283003"/>
                  </a:lnTo>
                  <a:lnTo>
                    <a:pt x="1827296" y="1315316"/>
                  </a:lnTo>
                  <a:lnTo>
                    <a:pt x="1809911" y="1326932"/>
                  </a:lnTo>
                  <a:lnTo>
                    <a:pt x="1801990" y="1330670"/>
                  </a:lnTo>
                  <a:close/>
                </a:path>
              </a:pathLst>
            </a:custGeom>
            <a:solidFill>
              <a:srgbClr val="FFD6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812308" y="2021539"/>
              <a:ext cx="244474" cy="244474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8124106" y="2269174"/>
            <a:ext cx="483234" cy="21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60" dirty="0">
                <a:solidFill>
                  <a:srgbClr val="9CA2AF"/>
                </a:solidFill>
                <a:latin typeface="Arial MT"/>
                <a:cs typeface="Arial MT"/>
              </a:rPr>
              <a:t>Format</a:t>
            </a:r>
            <a:endParaRPr sz="1250" dirty="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044341" y="2586373"/>
            <a:ext cx="560070" cy="3028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00" b="1" spc="-100" dirty="0">
                <a:solidFill>
                  <a:srgbClr val="FFFFFF"/>
                </a:solidFill>
                <a:latin typeface="Trebuchet MS"/>
                <a:cs typeface="Trebuchet MS"/>
              </a:rPr>
              <a:t>YOLO</a:t>
            </a:r>
            <a:endParaRPr sz="1800" dirty="0">
              <a:latin typeface="Trebuchet MS"/>
              <a:cs typeface="Trebuchet MS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030929" y="3430691"/>
            <a:ext cx="5885815" cy="2125980"/>
            <a:chOff x="4983318" y="3349004"/>
            <a:chExt cx="5885815" cy="2125980"/>
          </a:xfrm>
        </p:grpSpPr>
        <p:sp>
          <p:nvSpPr>
            <p:cNvPr id="26" name="object 26"/>
            <p:cNvSpPr/>
            <p:nvPr/>
          </p:nvSpPr>
          <p:spPr>
            <a:xfrm>
              <a:off x="4983318" y="3349004"/>
              <a:ext cx="5885815" cy="2125980"/>
            </a:xfrm>
            <a:custGeom>
              <a:avLst/>
              <a:gdLst/>
              <a:ahLst/>
              <a:cxnLst/>
              <a:rect l="l" t="t" r="r" b="b"/>
              <a:pathLst>
                <a:path w="5885815" h="2125979">
                  <a:moveTo>
                    <a:pt x="5778148" y="2125501"/>
                  </a:moveTo>
                  <a:lnTo>
                    <a:pt x="107168" y="2125501"/>
                  </a:lnTo>
                  <a:lnTo>
                    <a:pt x="96610" y="2124991"/>
                  </a:lnTo>
                  <a:lnTo>
                    <a:pt x="56598" y="2112831"/>
                  </a:lnTo>
                  <a:lnTo>
                    <a:pt x="24284" y="2086286"/>
                  </a:lnTo>
                  <a:lnTo>
                    <a:pt x="4588" y="2049395"/>
                  </a:lnTo>
                  <a:lnTo>
                    <a:pt x="0" y="2018333"/>
                  </a:lnTo>
                  <a:lnTo>
                    <a:pt x="0" y="107168"/>
                  </a:lnTo>
                  <a:lnTo>
                    <a:pt x="8157" y="66156"/>
                  </a:lnTo>
                  <a:lnTo>
                    <a:pt x="31388" y="31388"/>
                  </a:lnTo>
                  <a:lnTo>
                    <a:pt x="66156" y="8157"/>
                  </a:lnTo>
                  <a:lnTo>
                    <a:pt x="107168" y="0"/>
                  </a:lnTo>
                  <a:lnTo>
                    <a:pt x="5778148" y="0"/>
                  </a:lnTo>
                  <a:lnTo>
                    <a:pt x="5819157" y="8157"/>
                  </a:lnTo>
                  <a:lnTo>
                    <a:pt x="5853926" y="31388"/>
                  </a:lnTo>
                  <a:lnTo>
                    <a:pt x="5877157" y="66156"/>
                  </a:lnTo>
                  <a:lnTo>
                    <a:pt x="5885316" y="107168"/>
                  </a:lnTo>
                  <a:lnTo>
                    <a:pt x="5885316" y="2018333"/>
                  </a:lnTo>
                  <a:lnTo>
                    <a:pt x="5877157" y="2059344"/>
                  </a:lnTo>
                  <a:lnTo>
                    <a:pt x="5853926" y="2094112"/>
                  </a:lnTo>
                  <a:lnTo>
                    <a:pt x="5819156" y="2117343"/>
                  </a:lnTo>
                  <a:lnTo>
                    <a:pt x="5778148" y="2125501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983318" y="3349004"/>
              <a:ext cx="5885815" cy="2125980"/>
            </a:xfrm>
            <a:custGeom>
              <a:avLst/>
              <a:gdLst/>
              <a:ahLst/>
              <a:cxnLst/>
              <a:rect l="l" t="t" r="r" b="b"/>
              <a:pathLst>
                <a:path w="5885815" h="2125979">
                  <a:moveTo>
                    <a:pt x="5778148" y="2125501"/>
                  </a:moveTo>
                  <a:lnTo>
                    <a:pt x="107168" y="2125501"/>
                  </a:lnTo>
                  <a:lnTo>
                    <a:pt x="96610" y="2124991"/>
                  </a:lnTo>
                  <a:lnTo>
                    <a:pt x="56598" y="2112831"/>
                  </a:lnTo>
                  <a:lnTo>
                    <a:pt x="24284" y="2086286"/>
                  </a:lnTo>
                  <a:lnTo>
                    <a:pt x="4588" y="2049395"/>
                  </a:lnTo>
                  <a:lnTo>
                    <a:pt x="0" y="2018333"/>
                  </a:lnTo>
                  <a:lnTo>
                    <a:pt x="0" y="107168"/>
                  </a:lnTo>
                  <a:lnTo>
                    <a:pt x="8157" y="66156"/>
                  </a:lnTo>
                  <a:lnTo>
                    <a:pt x="31388" y="31388"/>
                  </a:lnTo>
                  <a:lnTo>
                    <a:pt x="66156" y="8157"/>
                  </a:lnTo>
                  <a:lnTo>
                    <a:pt x="107168" y="0"/>
                  </a:lnTo>
                  <a:lnTo>
                    <a:pt x="5778148" y="0"/>
                  </a:lnTo>
                  <a:lnTo>
                    <a:pt x="5819157" y="8157"/>
                  </a:lnTo>
                  <a:lnTo>
                    <a:pt x="5820796" y="8930"/>
                  </a:lnTo>
                  <a:lnTo>
                    <a:pt x="100717" y="8930"/>
                  </a:lnTo>
                  <a:lnTo>
                    <a:pt x="94329" y="9559"/>
                  </a:lnTo>
                  <a:lnTo>
                    <a:pt x="57953" y="21902"/>
                  </a:lnTo>
                  <a:lnTo>
                    <a:pt x="29070" y="47226"/>
                  </a:lnTo>
                  <a:lnTo>
                    <a:pt x="12076" y="81676"/>
                  </a:lnTo>
                  <a:lnTo>
                    <a:pt x="8930" y="100717"/>
                  </a:lnTo>
                  <a:lnTo>
                    <a:pt x="8930" y="2024783"/>
                  </a:lnTo>
                  <a:lnTo>
                    <a:pt x="18876" y="2061885"/>
                  </a:lnTo>
                  <a:lnTo>
                    <a:pt x="42264" y="2092358"/>
                  </a:lnTo>
                  <a:lnTo>
                    <a:pt x="75533" y="2111560"/>
                  </a:lnTo>
                  <a:lnTo>
                    <a:pt x="100717" y="2116570"/>
                  </a:lnTo>
                  <a:lnTo>
                    <a:pt x="5820794" y="2116570"/>
                  </a:lnTo>
                  <a:lnTo>
                    <a:pt x="5819156" y="2117343"/>
                  </a:lnTo>
                  <a:lnTo>
                    <a:pt x="5809209" y="2120912"/>
                  </a:lnTo>
                  <a:lnTo>
                    <a:pt x="5799058" y="2123461"/>
                  </a:lnTo>
                  <a:lnTo>
                    <a:pt x="5788704" y="2124991"/>
                  </a:lnTo>
                  <a:lnTo>
                    <a:pt x="5778148" y="2125501"/>
                  </a:lnTo>
                  <a:close/>
                </a:path>
                <a:path w="5885815" h="2125979">
                  <a:moveTo>
                    <a:pt x="5820794" y="2116570"/>
                  </a:moveTo>
                  <a:lnTo>
                    <a:pt x="5784598" y="2116570"/>
                  </a:lnTo>
                  <a:lnTo>
                    <a:pt x="5790986" y="2115941"/>
                  </a:lnTo>
                  <a:lnTo>
                    <a:pt x="5803639" y="2113424"/>
                  </a:lnTo>
                  <a:lnTo>
                    <a:pt x="5838088" y="2096430"/>
                  </a:lnTo>
                  <a:lnTo>
                    <a:pt x="5863412" y="2067547"/>
                  </a:lnTo>
                  <a:lnTo>
                    <a:pt x="5875755" y="2031171"/>
                  </a:lnTo>
                  <a:lnTo>
                    <a:pt x="5876385" y="2024783"/>
                  </a:lnTo>
                  <a:lnTo>
                    <a:pt x="5876385" y="100717"/>
                  </a:lnTo>
                  <a:lnTo>
                    <a:pt x="5866438" y="63614"/>
                  </a:lnTo>
                  <a:lnTo>
                    <a:pt x="5843051" y="33142"/>
                  </a:lnTo>
                  <a:lnTo>
                    <a:pt x="5809781" y="13940"/>
                  </a:lnTo>
                  <a:lnTo>
                    <a:pt x="5784598" y="8930"/>
                  </a:lnTo>
                  <a:lnTo>
                    <a:pt x="5820796" y="8930"/>
                  </a:lnTo>
                  <a:lnTo>
                    <a:pt x="5853926" y="31388"/>
                  </a:lnTo>
                  <a:lnTo>
                    <a:pt x="5877157" y="66156"/>
                  </a:lnTo>
                  <a:lnTo>
                    <a:pt x="5885316" y="107168"/>
                  </a:lnTo>
                  <a:lnTo>
                    <a:pt x="5885316" y="2018333"/>
                  </a:lnTo>
                  <a:lnTo>
                    <a:pt x="5884806" y="2028890"/>
                  </a:lnTo>
                  <a:lnTo>
                    <a:pt x="5872646" y="2068902"/>
                  </a:lnTo>
                  <a:lnTo>
                    <a:pt x="5846101" y="2101216"/>
                  </a:lnTo>
                  <a:lnTo>
                    <a:pt x="5828716" y="2112831"/>
                  </a:lnTo>
                  <a:lnTo>
                    <a:pt x="5820794" y="2116570"/>
                  </a:lnTo>
                  <a:close/>
                </a:path>
              </a:pathLst>
            </a:custGeom>
            <a:solidFill>
              <a:srgbClr val="FFD600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206585" y="4251002"/>
              <a:ext cx="5439410" cy="71755"/>
            </a:xfrm>
            <a:custGeom>
              <a:avLst/>
              <a:gdLst/>
              <a:ahLst/>
              <a:cxnLst/>
              <a:rect l="l" t="t" r="r" b="b"/>
              <a:pathLst>
                <a:path w="5439409" h="71754">
                  <a:moveTo>
                    <a:pt x="5407796" y="71445"/>
                  </a:moveTo>
                  <a:lnTo>
                    <a:pt x="30985" y="71445"/>
                  </a:lnTo>
                  <a:lnTo>
                    <a:pt x="26428" y="70538"/>
                  </a:lnTo>
                  <a:lnTo>
                    <a:pt x="0" y="40459"/>
                  </a:lnTo>
                  <a:lnTo>
                    <a:pt x="0" y="35722"/>
                  </a:lnTo>
                  <a:lnTo>
                    <a:pt x="0" y="30985"/>
                  </a:lnTo>
                  <a:lnTo>
                    <a:pt x="26428" y="906"/>
                  </a:lnTo>
                  <a:lnTo>
                    <a:pt x="30985" y="0"/>
                  </a:lnTo>
                  <a:lnTo>
                    <a:pt x="5407796" y="0"/>
                  </a:lnTo>
                  <a:lnTo>
                    <a:pt x="5437875" y="26428"/>
                  </a:lnTo>
                  <a:lnTo>
                    <a:pt x="5438781" y="30985"/>
                  </a:lnTo>
                  <a:lnTo>
                    <a:pt x="5438781" y="40459"/>
                  </a:lnTo>
                  <a:lnTo>
                    <a:pt x="5412352" y="70538"/>
                  </a:lnTo>
                  <a:lnTo>
                    <a:pt x="5407796" y="71445"/>
                  </a:lnTo>
                  <a:close/>
                </a:path>
              </a:pathLst>
            </a:custGeom>
            <a:solidFill>
              <a:srgbClr val="374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206585" y="4251002"/>
              <a:ext cx="4947920" cy="71755"/>
            </a:xfrm>
            <a:custGeom>
              <a:avLst/>
              <a:gdLst/>
              <a:ahLst/>
              <a:cxnLst/>
              <a:rect l="l" t="t" r="r" b="b"/>
              <a:pathLst>
                <a:path w="4947920" h="71754">
                  <a:moveTo>
                    <a:pt x="4916609" y="71445"/>
                  </a:moveTo>
                  <a:lnTo>
                    <a:pt x="30985" y="71445"/>
                  </a:lnTo>
                  <a:lnTo>
                    <a:pt x="26428" y="70538"/>
                  </a:lnTo>
                  <a:lnTo>
                    <a:pt x="0" y="40459"/>
                  </a:lnTo>
                  <a:lnTo>
                    <a:pt x="0" y="35722"/>
                  </a:lnTo>
                  <a:lnTo>
                    <a:pt x="0" y="30985"/>
                  </a:lnTo>
                  <a:lnTo>
                    <a:pt x="26428" y="906"/>
                  </a:lnTo>
                  <a:lnTo>
                    <a:pt x="30985" y="0"/>
                  </a:lnTo>
                  <a:lnTo>
                    <a:pt x="4916609" y="0"/>
                  </a:lnTo>
                  <a:lnTo>
                    <a:pt x="4946688" y="26428"/>
                  </a:lnTo>
                  <a:lnTo>
                    <a:pt x="4947595" y="30985"/>
                  </a:lnTo>
                  <a:lnTo>
                    <a:pt x="4947595" y="40459"/>
                  </a:lnTo>
                  <a:lnTo>
                    <a:pt x="4921165" y="70538"/>
                  </a:lnTo>
                  <a:lnTo>
                    <a:pt x="4916609" y="71445"/>
                  </a:lnTo>
                  <a:close/>
                </a:path>
              </a:pathLst>
            </a:custGeom>
            <a:solidFill>
              <a:srgbClr val="FFD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206585" y="4715397"/>
              <a:ext cx="5439410" cy="71755"/>
            </a:xfrm>
            <a:custGeom>
              <a:avLst/>
              <a:gdLst/>
              <a:ahLst/>
              <a:cxnLst/>
              <a:rect l="l" t="t" r="r" b="b"/>
              <a:pathLst>
                <a:path w="5439409" h="71754">
                  <a:moveTo>
                    <a:pt x="5407796" y="71445"/>
                  </a:moveTo>
                  <a:lnTo>
                    <a:pt x="30985" y="71445"/>
                  </a:lnTo>
                  <a:lnTo>
                    <a:pt x="26428" y="70538"/>
                  </a:lnTo>
                  <a:lnTo>
                    <a:pt x="0" y="40459"/>
                  </a:lnTo>
                  <a:lnTo>
                    <a:pt x="0" y="35722"/>
                  </a:lnTo>
                  <a:lnTo>
                    <a:pt x="0" y="30985"/>
                  </a:lnTo>
                  <a:lnTo>
                    <a:pt x="26428" y="906"/>
                  </a:lnTo>
                  <a:lnTo>
                    <a:pt x="30985" y="0"/>
                  </a:lnTo>
                  <a:lnTo>
                    <a:pt x="5407796" y="0"/>
                  </a:lnTo>
                  <a:lnTo>
                    <a:pt x="5437875" y="26428"/>
                  </a:lnTo>
                  <a:lnTo>
                    <a:pt x="5438781" y="30985"/>
                  </a:lnTo>
                  <a:lnTo>
                    <a:pt x="5438781" y="40459"/>
                  </a:lnTo>
                  <a:lnTo>
                    <a:pt x="5412352" y="70538"/>
                  </a:lnTo>
                  <a:lnTo>
                    <a:pt x="5407796" y="71445"/>
                  </a:lnTo>
                  <a:close/>
                </a:path>
              </a:pathLst>
            </a:custGeom>
            <a:solidFill>
              <a:srgbClr val="374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206585" y="4715397"/>
              <a:ext cx="321945" cy="71755"/>
            </a:xfrm>
            <a:custGeom>
              <a:avLst/>
              <a:gdLst/>
              <a:ahLst/>
              <a:cxnLst/>
              <a:rect l="l" t="t" r="r" b="b"/>
              <a:pathLst>
                <a:path w="321945" h="71754">
                  <a:moveTo>
                    <a:pt x="290517" y="71445"/>
                  </a:moveTo>
                  <a:lnTo>
                    <a:pt x="30985" y="71445"/>
                  </a:lnTo>
                  <a:lnTo>
                    <a:pt x="26428" y="70538"/>
                  </a:lnTo>
                  <a:lnTo>
                    <a:pt x="0" y="40459"/>
                  </a:lnTo>
                  <a:lnTo>
                    <a:pt x="0" y="35722"/>
                  </a:lnTo>
                  <a:lnTo>
                    <a:pt x="0" y="30985"/>
                  </a:lnTo>
                  <a:lnTo>
                    <a:pt x="26428" y="906"/>
                  </a:lnTo>
                  <a:lnTo>
                    <a:pt x="30985" y="0"/>
                  </a:lnTo>
                  <a:lnTo>
                    <a:pt x="290517" y="0"/>
                  </a:lnTo>
                  <a:lnTo>
                    <a:pt x="320597" y="26428"/>
                  </a:lnTo>
                  <a:lnTo>
                    <a:pt x="321503" y="30985"/>
                  </a:lnTo>
                  <a:lnTo>
                    <a:pt x="321503" y="40459"/>
                  </a:lnTo>
                  <a:lnTo>
                    <a:pt x="295074" y="70538"/>
                  </a:lnTo>
                  <a:lnTo>
                    <a:pt x="290517" y="71445"/>
                  </a:lnTo>
                  <a:close/>
                </a:path>
              </a:pathLst>
            </a:custGeom>
            <a:solidFill>
              <a:srgbClr val="60A5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206585" y="5179793"/>
              <a:ext cx="5439410" cy="71755"/>
            </a:xfrm>
            <a:custGeom>
              <a:avLst/>
              <a:gdLst/>
              <a:ahLst/>
              <a:cxnLst/>
              <a:rect l="l" t="t" r="r" b="b"/>
              <a:pathLst>
                <a:path w="5439409" h="71754">
                  <a:moveTo>
                    <a:pt x="5407796" y="71445"/>
                  </a:moveTo>
                  <a:lnTo>
                    <a:pt x="30985" y="71445"/>
                  </a:lnTo>
                  <a:lnTo>
                    <a:pt x="26428" y="70538"/>
                  </a:lnTo>
                  <a:lnTo>
                    <a:pt x="0" y="40459"/>
                  </a:lnTo>
                  <a:lnTo>
                    <a:pt x="0" y="35722"/>
                  </a:lnTo>
                  <a:lnTo>
                    <a:pt x="0" y="30985"/>
                  </a:lnTo>
                  <a:lnTo>
                    <a:pt x="26428" y="906"/>
                  </a:lnTo>
                  <a:lnTo>
                    <a:pt x="30985" y="0"/>
                  </a:lnTo>
                  <a:lnTo>
                    <a:pt x="5407796" y="0"/>
                  </a:lnTo>
                  <a:lnTo>
                    <a:pt x="5437875" y="26428"/>
                  </a:lnTo>
                  <a:lnTo>
                    <a:pt x="5438781" y="30985"/>
                  </a:lnTo>
                  <a:lnTo>
                    <a:pt x="5438781" y="40459"/>
                  </a:lnTo>
                  <a:lnTo>
                    <a:pt x="5412352" y="70538"/>
                  </a:lnTo>
                  <a:lnTo>
                    <a:pt x="5407796" y="71445"/>
                  </a:lnTo>
                  <a:close/>
                </a:path>
              </a:pathLst>
            </a:custGeom>
            <a:solidFill>
              <a:srgbClr val="374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06585" y="5179793"/>
              <a:ext cx="160752" cy="71445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23821" y="3590555"/>
              <a:ext cx="212724" cy="212724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3752836" y="3617569"/>
            <a:ext cx="1375410" cy="2641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550" b="1" spc="-95" dirty="0">
                <a:solidFill>
                  <a:srgbClr val="FFFFFF"/>
                </a:solidFill>
                <a:latin typeface="Roboto"/>
                <a:cs typeface="Roboto"/>
              </a:rPr>
              <a:t>Data</a:t>
            </a:r>
            <a:r>
              <a:rPr sz="1550" b="1" spc="-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50" b="1" spc="-70" dirty="0">
                <a:solidFill>
                  <a:srgbClr val="FFFFFF"/>
                </a:solidFill>
                <a:latin typeface="Roboto"/>
                <a:cs typeface="Roboto"/>
              </a:rPr>
              <a:t>Distribution</a:t>
            </a:r>
            <a:endParaRPr sz="1550" dirty="0">
              <a:latin typeface="Roboto"/>
              <a:cs typeface="Roboto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362710" y="4011391"/>
            <a:ext cx="87376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75" dirty="0">
                <a:solidFill>
                  <a:srgbClr val="D0D5DA"/>
                </a:solidFill>
                <a:latin typeface="Arial MT"/>
                <a:cs typeface="Arial MT"/>
              </a:rPr>
              <a:t>Training</a:t>
            </a:r>
            <a:r>
              <a:rPr sz="1400" spc="-4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400" spc="-60" dirty="0">
                <a:solidFill>
                  <a:srgbClr val="D0D5DA"/>
                </a:solidFill>
                <a:latin typeface="Arial MT"/>
                <a:cs typeface="Arial MT"/>
              </a:rPr>
              <a:t>Set</a:t>
            </a:r>
            <a:endParaRPr sz="1400" dirty="0">
              <a:latin typeface="Arial MT"/>
              <a:cs typeface="Arial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401874" y="3978622"/>
            <a:ext cx="986155" cy="2571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500" b="1" spc="-55" dirty="0">
                <a:solidFill>
                  <a:srgbClr val="FFD600"/>
                </a:solidFill>
                <a:latin typeface="Roboto"/>
                <a:cs typeface="Roboto"/>
              </a:rPr>
              <a:t>2,697</a:t>
            </a:r>
            <a:r>
              <a:rPr sz="1500" b="1" dirty="0">
                <a:solidFill>
                  <a:srgbClr val="FFD600"/>
                </a:solidFill>
                <a:latin typeface="Roboto"/>
                <a:cs typeface="Roboto"/>
              </a:rPr>
              <a:t> </a:t>
            </a:r>
            <a:r>
              <a:rPr sz="1500" b="1" spc="-50" dirty="0">
                <a:solidFill>
                  <a:srgbClr val="FFD600"/>
                </a:solidFill>
                <a:latin typeface="Roboto"/>
                <a:cs typeface="Roboto"/>
              </a:rPr>
              <a:t>(91%)</a:t>
            </a:r>
            <a:endParaRPr sz="1500" dirty="0">
              <a:latin typeface="Roboto"/>
              <a:cs typeface="Roboto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334572" y="4477743"/>
            <a:ext cx="101346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65" dirty="0">
                <a:solidFill>
                  <a:srgbClr val="D0D5DA"/>
                </a:solidFill>
                <a:latin typeface="Arial MT"/>
                <a:cs typeface="Arial MT"/>
              </a:rPr>
              <a:t>Validation</a:t>
            </a:r>
            <a:r>
              <a:rPr sz="1400" spc="-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400" spc="-55" dirty="0">
                <a:solidFill>
                  <a:srgbClr val="D0D5DA"/>
                </a:solidFill>
                <a:latin typeface="Arial MT"/>
                <a:cs typeface="Arial MT"/>
              </a:rPr>
              <a:t>Set</a:t>
            </a:r>
            <a:endParaRPr sz="1400" dirty="0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506251" y="4539909"/>
            <a:ext cx="737235" cy="2571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500" b="1" spc="-45" dirty="0">
                <a:solidFill>
                  <a:srgbClr val="60A5FA"/>
                </a:solidFill>
                <a:latin typeface="Roboto"/>
                <a:cs typeface="Roboto"/>
              </a:rPr>
              <a:t>187</a:t>
            </a:r>
            <a:r>
              <a:rPr sz="1500" b="1" spc="-50" dirty="0">
                <a:solidFill>
                  <a:srgbClr val="60A5FA"/>
                </a:solidFill>
                <a:latin typeface="Roboto"/>
                <a:cs typeface="Roboto"/>
              </a:rPr>
              <a:t> </a:t>
            </a:r>
            <a:r>
              <a:rPr sz="1500" b="1" spc="-45" dirty="0">
                <a:solidFill>
                  <a:srgbClr val="60A5FA"/>
                </a:solidFill>
                <a:latin typeface="Roboto"/>
                <a:cs typeface="Roboto"/>
              </a:rPr>
              <a:t>(6%)</a:t>
            </a:r>
            <a:endParaRPr sz="1500" dirty="0">
              <a:latin typeface="Roboto"/>
              <a:cs typeface="Roboto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261787" y="4937892"/>
            <a:ext cx="60769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80" dirty="0">
                <a:solidFill>
                  <a:srgbClr val="D0D5DA"/>
                </a:solidFill>
                <a:latin typeface="Arial MT"/>
                <a:cs typeface="Arial MT"/>
              </a:rPr>
              <a:t>Test</a:t>
            </a:r>
            <a:r>
              <a:rPr sz="1400" spc="-7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400" spc="-65" dirty="0">
                <a:solidFill>
                  <a:srgbClr val="D0D5DA"/>
                </a:solidFill>
                <a:latin typeface="Arial MT"/>
                <a:cs typeface="Arial MT"/>
              </a:rPr>
              <a:t>Set</a:t>
            </a:r>
            <a:endParaRPr sz="1400" dirty="0">
              <a:latin typeface="Arial MT"/>
              <a:cs typeface="Arial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577451" y="4979719"/>
            <a:ext cx="635000" cy="2571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500" b="1" spc="-35" dirty="0">
                <a:solidFill>
                  <a:srgbClr val="BF83FB"/>
                </a:solidFill>
                <a:latin typeface="Roboto"/>
                <a:cs typeface="Roboto"/>
              </a:rPr>
              <a:t>90</a:t>
            </a:r>
            <a:r>
              <a:rPr sz="1500" b="1" spc="-60" dirty="0">
                <a:solidFill>
                  <a:srgbClr val="BF83FB"/>
                </a:solidFill>
                <a:latin typeface="Roboto"/>
                <a:cs typeface="Roboto"/>
              </a:rPr>
              <a:t> </a:t>
            </a:r>
            <a:r>
              <a:rPr sz="1500" b="1" spc="-45" dirty="0">
                <a:solidFill>
                  <a:srgbClr val="BF83FB"/>
                </a:solidFill>
                <a:latin typeface="Roboto"/>
                <a:cs typeface="Roboto"/>
              </a:rPr>
              <a:t>(3%)</a:t>
            </a:r>
            <a:endParaRPr sz="1500" dirty="0">
              <a:latin typeface="Roboto"/>
              <a:cs typeface="Roboto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3030928" y="5830111"/>
            <a:ext cx="5885815" cy="482600"/>
            <a:chOff x="4983318" y="5617396"/>
            <a:chExt cx="5885815" cy="482600"/>
          </a:xfrm>
        </p:grpSpPr>
        <p:sp>
          <p:nvSpPr>
            <p:cNvPr id="43" name="object 43"/>
            <p:cNvSpPr/>
            <p:nvPr/>
          </p:nvSpPr>
          <p:spPr>
            <a:xfrm>
              <a:off x="4983318" y="5617396"/>
              <a:ext cx="5885815" cy="482600"/>
            </a:xfrm>
            <a:custGeom>
              <a:avLst/>
              <a:gdLst/>
              <a:ahLst/>
              <a:cxnLst/>
              <a:rect l="l" t="t" r="r" b="b"/>
              <a:pathLst>
                <a:path w="5885815" h="482600">
                  <a:moveTo>
                    <a:pt x="5813871" y="482256"/>
                  </a:moveTo>
                  <a:lnTo>
                    <a:pt x="71445" y="482256"/>
                  </a:lnTo>
                  <a:lnTo>
                    <a:pt x="64407" y="481916"/>
                  </a:lnTo>
                  <a:lnTo>
                    <a:pt x="26142" y="466066"/>
                  </a:lnTo>
                  <a:lnTo>
                    <a:pt x="3059" y="431519"/>
                  </a:lnTo>
                  <a:lnTo>
                    <a:pt x="0" y="410811"/>
                  </a:lnTo>
                  <a:lnTo>
                    <a:pt x="0" y="71445"/>
                  </a:lnTo>
                  <a:lnTo>
                    <a:pt x="12029" y="31744"/>
                  </a:lnTo>
                  <a:lnTo>
                    <a:pt x="44103" y="5437"/>
                  </a:lnTo>
                  <a:lnTo>
                    <a:pt x="71445" y="0"/>
                  </a:lnTo>
                  <a:lnTo>
                    <a:pt x="5813871" y="0"/>
                  </a:lnTo>
                  <a:lnTo>
                    <a:pt x="5853569" y="12028"/>
                  </a:lnTo>
                  <a:lnTo>
                    <a:pt x="5879876" y="44103"/>
                  </a:lnTo>
                  <a:lnTo>
                    <a:pt x="5885316" y="71445"/>
                  </a:lnTo>
                  <a:lnTo>
                    <a:pt x="5885316" y="410811"/>
                  </a:lnTo>
                  <a:lnTo>
                    <a:pt x="5873285" y="450510"/>
                  </a:lnTo>
                  <a:lnTo>
                    <a:pt x="5841210" y="476817"/>
                  </a:lnTo>
                  <a:lnTo>
                    <a:pt x="5813871" y="482256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983318" y="5617396"/>
              <a:ext cx="5885815" cy="482600"/>
            </a:xfrm>
            <a:custGeom>
              <a:avLst/>
              <a:gdLst/>
              <a:ahLst/>
              <a:cxnLst/>
              <a:rect l="l" t="t" r="r" b="b"/>
              <a:pathLst>
                <a:path w="5885815" h="482600">
                  <a:moveTo>
                    <a:pt x="5813871" y="482256"/>
                  </a:moveTo>
                  <a:lnTo>
                    <a:pt x="71445" y="482256"/>
                  </a:lnTo>
                  <a:lnTo>
                    <a:pt x="64407" y="481916"/>
                  </a:lnTo>
                  <a:lnTo>
                    <a:pt x="26142" y="466066"/>
                  </a:lnTo>
                  <a:lnTo>
                    <a:pt x="3059" y="431519"/>
                  </a:lnTo>
                  <a:lnTo>
                    <a:pt x="0" y="410811"/>
                  </a:lnTo>
                  <a:lnTo>
                    <a:pt x="0" y="71445"/>
                  </a:lnTo>
                  <a:lnTo>
                    <a:pt x="12029" y="31744"/>
                  </a:lnTo>
                  <a:lnTo>
                    <a:pt x="44103" y="5437"/>
                  </a:lnTo>
                  <a:lnTo>
                    <a:pt x="71445" y="0"/>
                  </a:lnTo>
                  <a:lnTo>
                    <a:pt x="5813871" y="0"/>
                  </a:lnTo>
                  <a:lnTo>
                    <a:pt x="5848393" y="8930"/>
                  </a:lnTo>
                  <a:lnTo>
                    <a:pt x="67340" y="8930"/>
                  </a:lnTo>
                  <a:lnTo>
                    <a:pt x="63275" y="9330"/>
                  </a:lnTo>
                  <a:lnTo>
                    <a:pt x="24338" y="30143"/>
                  </a:lnTo>
                  <a:lnTo>
                    <a:pt x="8930" y="67340"/>
                  </a:lnTo>
                  <a:lnTo>
                    <a:pt x="8930" y="414915"/>
                  </a:lnTo>
                  <a:lnTo>
                    <a:pt x="24338" y="452113"/>
                  </a:lnTo>
                  <a:lnTo>
                    <a:pt x="63275" y="472925"/>
                  </a:lnTo>
                  <a:lnTo>
                    <a:pt x="67340" y="473325"/>
                  </a:lnTo>
                  <a:lnTo>
                    <a:pt x="5848391" y="473325"/>
                  </a:lnTo>
                  <a:lnTo>
                    <a:pt x="5847582" y="473810"/>
                  </a:lnTo>
                  <a:lnTo>
                    <a:pt x="5841210" y="476817"/>
                  </a:lnTo>
                  <a:lnTo>
                    <a:pt x="5834578" y="479196"/>
                  </a:lnTo>
                  <a:lnTo>
                    <a:pt x="5827811" y="480896"/>
                  </a:lnTo>
                  <a:lnTo>
                    <a:pt x="5820908" y="481916"/>
                  </a:lnTo>
                  <a:lnTo>
                    <a:pt x="5813871" y="482256"/>
                  </a:lnTo>
                  <a:close/>
                </a:path>
                <a:path w="5885815" h="482600">
                  <a:moveTo>
                    <a:pt x="5848391" y="473325"/>
                  </a:moveTo>
                  <a:lnTo>
                    <a:pt x="5817975" y="473325"/>
                  </a:lnTo>
                  <a:lnTo>
                    <a:pt x="5822041" y="472925"/>
                  </a:lnTo>
                  <a:lnTo>
                    <a:pt x="5830092" y="471323"/>
                  </a:lnTo>
                  <a:lnTo>
                    <a:pt x="5863568" y="448955"/>
                  </a:lnTo>
                  <a:lnTo>
                    <a:pt x="5876385" y="414915"/>
                  </a:lnTo>
                  <a:lnTo>
                    <a:pt x="5876385" y="67340"/>
                  </a:lnTo>
                  <a:lnTo>
                    <a:pt x="5860977" y="30143"/>
                  </a:lnTo>
                  <a:lnTo>
                    <a:pt x="5822041" y="9330"/>
                  </a:lnTo>
                  <a:lnTo>
                    <a:pt x="5817975" y="8930"/>
                  </a:lnTo>
                  <a:lnTo>
                    <a:pt x="5848393" y="8930"/>
                  </a:lnTo>
                  <a:lnTo>
                    <a:pt x="5876869" y="37731"/>
                  </a:lnTo>
                  <a:lnTo>
                    <a:pt x="5885316" y="410811"/>
                  </a:lnTo>
                  <a:lnTo>
                    <a:pt x="5884976" y="417849"/>
                  </a:lnTo>
                  <a:lnTo>
                    <a:pt x="5869125" y="456113"/>
                  </a:lnTo>
                  <a:lnTo>
                    <a:pt x="5853689" y="470137"/>
                  </a:lnTo>
                  <a:lnTo>
                    <a:pt x="5848391" y="473325"/>
                  </a:lnTo>
                  <a:close/>
                </a:path>
              </a:pathLst>
            </a:custGeom>
            <a:solidFill>
              <a:srgbClr val="FFD6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52375" y="5751779"/>
              <a:ext cx="212724" cy="212724"/>
            </a:xfrm>
            <a:prstGeom prst="rect">
              <a:avLst/>
            </a:prstGeom>
          </p:spPr>
        </p:pic>
      </p:grpSp>
      <p:sp>
        <p:nvSpPr>
          <p:cNvPr id="46" name="object 46"/>
          <p:cNvSpPr txBox="1"/>
          <p:nvPr/>
        </p:nvSpPr>
        <p:spPr>
          <a:xfrm>
            <a:off x="4349466" y="5949311"/>
            <a:ext cx="2891155" cy="21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105" dirty="0">
                <a:solidFill>
                  <a:srgbClr val="D0D5DA"/>
                </a:solidFill>
                <a:latin typeface="Arial MT"/>
                <a:cs typeface="Arial MT"/>
              </a:rPr>
              <a:t>Pre-</a:t>
            </a:r>
            <a:r>
              <a:rPr sz="1250" spc="-70" dirty="0">
                <a:solidFill>
                  <a:srgbClr val="D0D5DA"/>
                </a:solidFill>
                <a:latin typeface="Arial MT"/>
                <a:cs typeface="Arial MT"/>
              </a:rPr>
              <a:t>labeled</a:t>
            </a:r>
            <a:r>
              <a:rPr sz="1250" spc="-3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250" spc="-55" dirty="0">
                <a:solidFill>
                  <a:srgbClr val="D0D5DA"/>
                </a:solidFill>
                <a:latin typeface="Arial MT"/>
                <a:cs typeface="Arial MT"/>
              </a:rPr>
              <a:t>dataset</a:t>
            </a:r>
            <a:r>
              <a:rPr sz="1250" spc="-3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250" spc="-20" dirty="0">
                <a:solidFill>
                  <a:srgbClr val="D0D5DA"/>
                </a:solidFill>
                <a:latin typeface="Arial MT"/>
                <a:cs typeface="Arial MT"/>
              </a:rPr>
              <a:t>for</a:t>
            </a:r>
            <a:r>
              <a:rPr sz="1250" spc="-3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250" spc="-20" dirty="0">
                <a:solidFill>
                  <a:srgbClr val="D0D5DA"/>
                </a:solidFill>
                <a:latin typeface="Arial MT"/>
                <a:cs typeface="Arial MT"/>
              </a:rPr>
              <a:t>fast</a:t>
            </a:r>
            <a:r>
              <a:rPr sz="1250" spc="-3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250" spc="-60" dirty="0">
                <a:solidFill>
                  <a:srgbClr val="D0D5DA"/>
                </a:solidFill>
                <a:latin typeface="Arial MT"/>
                <a:cs typeface="Arial MT"/>
              </a:rPr>
              <a:t>model</a:t>
            </a:r>
            <a:r>
              <a:rPr sz="1250" spc="-3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250" spc="-65" dirty="0">
                <a:solidFill>
                  <a:srgbClr val="D0D5DA"/>
                </a:solidFill>
                <a:latin typeface="Arial MT"/>
                <a:cs typeface="Arial MT"/>
              </a:rPr>
              <a:t>fine-</a:t>
            </a:r>
            <a:r>
              <a:rPr sz="1250" spc="-40" dirty="0">
                <a:solidFill>
                  <a:srgbClr val="D0D5DA"/>
                </a:solidFill>
                <a:latin typeface="Arial MT"/>
                <a:cs typeface="Arial MT"/>
              </a:rPr>
              <a:t>tuning</a:t>
            </a:r>
            <a:endParaRPr sz="125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43180">
              <a:lnSpc>
                <a:spcPct val="100000"/>
              </a:lnSpc>
              <a:spcBef>
                <a:spcPts val="114"/>
              </a:spcBef>
            </a:pPr>
            <a:r>
              <a:rPr spc="-380" dirty="0"/>
              <a:t>Annotation</a:t>
            </a:r>
            <a:r>
              <a:rPr spc="-300" dirty="0"/>
              <a:t> </a:t>
            </a:r>
            <a:r>
              <a:rPr spc="-425" dirty="0"/>
              <a:t>Format</a:t>
            </a:r>
          </a:p>
        </p:txBody>
      </p:sp>
      <p:sp>
        <p:nvSpPr>
          <p:cNvPr id="3" name="object 3"/>
          <p:cNvSpPr/>
          <p:nvPr/>
        </p:nvSpPr>
        <p:spPr>
          <a:xfrm>
            <a:off x="619124" y="2276474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1219199" y="38099"/>
                </a:moveTo>
                <a:lnTo>
                  <a:pt x="0" y="38099"/>
                </a:lnTo>
                <a:lnTo>
                  <a:pt x="0" y="0"/>
                </a:lnTo>
                <a:lnTo>
                  <a:pt x="1219199" y="0"/>
                </a:lnTo>
                <a:lnTo>
                  <a:pt x="1219199" y="38099"/>
                </a:lnTo>
                <a:close/>
              </a:path>
            </a:pathLst>
          </a:custGeom>
          <a:solidFill>
            <a:srgbClr val="FFD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06424" y="1765005"/>
            <a:ext cx="1725930" cy="3956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00" b="1" spc="-160" dirty="0">
                <a:solidFill>
                  <a:srgbClr val="FFFFFF"/>
                </a:solidFill>
                <a:latin typeface="Roboto"/>
                <a:cs typeface="Roboto"/>
              </a:rPr>
              <a:t>YOLO</a:t>
            </a:r>
            <a:r>
              <a:rPr sz="2400" b="1" spc="-1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400" b="1" spc="-75" dirty="0">
                <a:solidFill>
                  <a:srgbClr val="FFFFFF"/>
                </a:solidFill>
                <a:latin typeface="Roboto"/>
                <a:cs typeface="Roboto"/>
              </a:rPr>
              <a:t>Format</a:t>
            </a:r>
            <a:endParaRPr sz="2400">
              <a:latin typeface="Roboto"/>
              <a:cs typeface="Roboto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19124" y="2543174"/>
            <a:ext cx="4086225" cy="2886075"/>
            <a:chOff x="619124" y="2543174"/>
            <a:chExt cx="4086225" cy="2886075"/>
          </a:xfrm>
        </p:grpSpPr>
        <p:sp>
          <p:nvSpPr>
            <p:cNvPr id="6" name="object 6"/>
            <p:cNvSpPr/>
            <p:nvPr/>
          </p:nvSpPr>
          <p:spPr>
            <a:xfrm>
              <a:off x="619124" y="2543174"/>
              <a:ext cx="4086225" cy="2886075"/>
            </a:xfrm>
            <a:custGeom>
              <a:avLst/>
              <a:gdLst/>
              <a:ahLst/>
              <a:cxnLst/>
              <a:rect l="l" t="t" r="r" b="b"/>
              <a:pathLst>
                <a:path w="4086225" h="2886075">
                  <a:moveTo>
                    <a:pt x="3971924" y="2886074"/>
                  </a:moveTo>
                  <a:lnTo>
                    <a:pt x="114299" y="2886074"/>
                  </a:lnTo>
                  <a:lnTo>
                    <a:pt x="103040" y="2885530"/>
                  </a:lnTo>
                  <a:lnTo>
                    <a:pt x="60364" y="2872562"/>
                  </a:lnTo>
                  <a:lnTo>
                    <a:pt x="25900" y="2844250"/>
                  </a:lnTo>
                  <a:lnTo>
                    <a:pt x="4894" y="2804904"/>
                  </a:lnTo>
                  <a:lnTo>
                    <a:pt x="0" y="2771774"/>
                  </a:lnTo>
                  <a:lnTo>
                    <a:pt x="0" y="114299"/>
                  </a:lnTo>
                  <a:lnTo>
                    <a:pt x="8700" y="70558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3971924" y="0"/>
                  </a:lnTo>
                  <a:lnTo>
                    <a:pt x="4015665" y="8700"/>
                  </a:lnTo>
                  <a:lnTo>
                    <a:pt x="4052746" y="33477"/>
                  </a:lnTo>
                  <a:lnTo>
                    <a:pt x="4077523" y="70558"/>
                  </a:lnTo>
                  <a:lnTo>
                    <a:pt x="4086224" y="114299"/>
                  </a:lnTo>
                  <a:lnTo>
                    <a:pt x="4086224" y="2771774"/>
                  </a:lnTo>
                  <a:lnTo>
                    <a:pt x="4077524" y="2815514"/>
                  </a:lnTo>
                  <a:lnTo>
                    <a:pt x="4052746" y="2852596"/>
                  </a:lnTo>
                  <a:lnTo>
                    <a:pt x="4015664" y="2877373"/>
                  </a:lnTo>
                  <a:lnTo>
                    <a:pt x="3971924" y="2886074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19124" y="2543174"/>
              <a:ext cx="4086225" cy="2886075"/>
            </a:xfrm>
            <a:custGeom>
              <a:avLst/>
              <a:gdLst/>
              <a:ahLst/>
              <a:cxnLst/>
              <a:rect l="l" t="t" r="r" b="b"/>
              <a:pathLst>
                <a:path w="4086225" h="2886075">
                  <a:moveTo>
                    <a:pt x="3971924" y="2886074"/>
                  </a:moveTo>
                  <a:lnTo>
                    <a:pt x="114299" y="2886074"/>
                  </a:lnTo>
                  <a:lnTo>
                    <a:pt x="103040" y="2885530"/>
                  </a:lnTo>
                  <a:lnTo>
                    <a:pt x="60364" y="2872562"/>
                  </a:lnTo>
                  <a:lnTo>
                    <a:pt x="25900" y="2844250"/>
                  </a:lnTo>
                  <a:lnTo>
                    <a:pt x="4894" y="2804904"/>
                  </a:lnTo>
                  <a:lnTo>
                    <a:pt x="0" y="2771774"/>
                  </a:lnTo>
                  <a:lnTo>
                    <a:pt x="0" y="114299"/>
                  </a:lnTo>
                  <a:lnTo>
                    <a:pt x="8700" y="70558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3971924" y="0"/>
                  </a:lnTo>
                  <a:lnTo>
                    <a:pt x="4015665" y="8700"/>
                  </a:lnTo>
                  <a:lnTo>
                    <a:pt x="4035112" y="19049"/>
                  </a:lnTo>
                  <a:lnTo>
                    <a:pt x="108045" y="19049"/>
                  </a:lnTo>
                  <a:lnTo>
                    <a:pt x="101851" y="19660"/>
                  </a:lnTo>
                  <a:lnTo>
                    <a:pt x="56181" y="38577"/>
                  </a:lnTo>
                  <a:lnTo>
                    <a:pt x="28693" y="72071"/>
                  </a:lnTo>
                  <a:lnTo>
                    <a:pt x="19049" y="108045"/>
                  </a:lnTo>
                  <a:lnTo>
                    <a:pt x="19049" y="2778029"/>
                  </a:lnTo>
                  <a:lnTo>
                    <a:pt x="19542" y="2783034"/>
                  </a:lnTo>
                  <a:lnTo>
                    <a:pt x="19660" y="2784223"/>
                  </a:lnTo>
                  <a:lnTo>
                    <a:pt x="38577" y="2829892"/>
                  </a:lnTo>
                  <a:lnTo>
                    <a:pt x="72071" y="2857380"/>
                  </a:lnTo>
                  <a:lnTo>
                    <a:pt x="108045" y="2867024"/>
                  </a:lnTo>
                  <a:lnTo>
                    <a:pt x="4035111" y="2867024"/>
                  </a:lnTo>
                  <a:lnTo>
                    <a:pt x="4025859" y="2872562"/>
                  </a:lnTo>
                  <a:lnTo>
                    <a:pt x="4015665" y="2877373"/>
                  </a:lnTo>
                  <a:lnTo>
                    <a:pt x="4005054" y="2881180"/>
                  </a:lnTo>
                  <a:lnTo>
                    <a:pt x="3994227" y="2883899"/>
                  </a:lnTo>
                  <a:lnTo>
                    <a:pt x="3983184" y="2885530"/>
                  </a:lnTo>
                  <a:lnTo>
                    <a:pt x="3971924" y="2886074"/>
                  </a:lnTo>
                  <a:close/>
                </a:path>
                <a:path w="4086225" h="2886075">
                  <a:moveTo>
                    <a:pt x="4035111" y="2867024"/>
                  </a:moveTo>
                  <a:lnTo>
                    <a:pt x="3978179" y="2867024"/>
                  </a:lnTo>
                  <a:lnTo>
                    <a:pt x="3984372" y="2866414"/>
                  </a:lnTo>
                  <a:lnTo>
                    <a:pt x="3996641" y="2863974"/>
                  </a:lnTo>
                  <a:lnTo>
                    <a:pt x="4034854" y="2843548"/>
                  </a:lnTo>
                  <a:lnTo>
                    <a:pt x="4062317" y="2802447"/>
                  </a:lnTo>
                  <a:lnTo>
                    <a:pt x="4067174" y="2778029"/>
                  </a:lnTo>
                  <a:lnTo>
                    <a:pt x="4067174" y="108045"/>
                  </a:lnTo>
                  <a:lnTo>
                    <a:pt x="4054596" y="66582"/>
                  </a:lnTo>
                  <a:lnTo>
                    <a:pt x="4019642" y="31627"/>
                  </a:lnTo>
                  <a:lnTo>
                    <a:pt x="3978179" y="19049"/>
                  </a:lnTo>
                  <a:lnTo>
                    <a:pt x="4035112" y="19049"/>
                  </a:lnTo>
                  <a:lnTo>
                    <a:pt x="4066979" y="50785"/>
                  </a:lnTo>
                  <a:lnTo>
                    <a:pt x="4084049" y="91996"/>
                  </a:lnTo>
                  <a:lnTo>
                    <a:pt x="4086224" y="2771774"/>
                  </a:lnTo>
                  <a:lnTo>
                    <a:pt x="4085681" y="2783034"/>
                  </a:lnTo>
                  <a:lnTo>
                    <a:pt x="4072712" y="2825709"/>
                  </a:lnTo>
                  <a:lnTo>
                    <a:pt x="4044400" y="2860174"/>
                  </a:lnTo>
                  <a:lnTo>
                    <a:pt x="4035438" y="2866829"/>
                  </a:lnTo>
                  <a:lnTo>
                    <a:pt x="4035111" y="2867024"/>
                  </a:lnTo>
                  <a:close/>
                </a:path>
              </a:pathLst>
            </a:custGeom>
            <a:solidFill>
              <a:srgbClr val="FFD600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42974" y="3790949"/>
              <a:ext cx="3438525" cy="933450"/>
            </a:xfrm>
            <a:custGeom>
              <a:avLst/>
              <a:gdLst/>
              <a:ahLst/>
              <a:cxnLst/>
              <a:rect l="l" t="t" r="r" b="b"/>
              <a:pathLst>
                <a:path w="3438525" h="933450">
                  <a:moveTo>
                    <a:pt x="3362324" y="933449"/>
                  </a:moveTo>
                  <a:lnTo>
                    <a:pt x="76199" y="933449"/>
                  </a:lnTo>
                  <a:lnTo>
                    <a:pt x="68693" y="933087"/>
                  </a:lnTo>
                  <a:lnTo>
                    <a:pt x="27882" y="916182"/>
                  </a:lnTo>
                  <a:lnTo>
                    <a:pt x="3262" y="879336"/>
                  </a:lnTo>
                  <a:lnTo>
                    <a:pt x="0" y="857249"/>
                  </a:lnTo>
                  <a:lnTo>
                    <a:pt x="0" y="76199"/>
                  </a:lnTo>
                  <a:lnTo>
                    <a:pt x="12830" y="33857"/>
                  </a:lnTo>
                  <a:lnTo>
                    <a:pt x="47039" y="5800"/>
                  </a:lnTo>
                  <a:lnTo>
                    <a:pt x="76199" y="0"/>
                  </a:lnTo>
                  <a:lnTo>
                    <a:pt x="3362324" y="0"/>
                  </a:lnTo>
                  <a:lnTo>
                    <a:pt x="3404666" y="12829"/>
                  </a:lnTo>
                  <a:lnTo>
                    <a:pt x="3432724" y="47038"/>
                  </a:lnTo>
                  <a:lnTo>
                    <a:pt x="3438524" y="76199"/>
                  </a:lnTo>
                  <a:lnTo>
                    <a:pt x="3438524" y="857249"/>
                  </a:lnTo>
                  <a:lnTo>
                    <a:pt x="3425694" y="899592"/>
                  </a:lnTo>
                  <a:lnTo>
                    <a:pt x="3391484" y="927648"/>
                  </a:lnTo>
                  <a:lnTo>
                    <a:pt x="3362324" y="933449"/>
                  </a:lnTo>
                  <a:close/>
                </a:path>
              </a:pathLst>
            </a:custGeom>
            <a:solidFill>
              <a:srgbClr val="0932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42974" y="3790950"/>
              <a:ext cx="3438525" cy="933450"/>
            </a:xfrm>
            <a:custGeom>
              <a:avLst/>
              <a:gdLst/>
              <a:ahLst/>
              <a:cxnLst/>
              <a:rect l="l" t="t" r="r" b="b"/>
              <a:pathLst>
                <a:path w="3438525" h="933450">
                  <a:moveTo>
                    <a:pt x="3362324" y="933449"/>
                  </a:moveTo>
                  <a:lnTo>
                    <a:pt x="76199" y="933449"/>
                  </a:lnTo>
                  <a:lnTo>
                    <a:pt x="68693" y="933087"/>
                  </a:lnTo>
                  <a:lnTo>
                    <a:pt x="27882" y="916182"/>
                  </a:lnTo>
                  <a:lnTo>
                    <a:pt x="3262" y="879336"/>
                  </a:lnTo>
                  <a:lnTo>
                    <a:pt x="0" y="857249"/>
                  </a:lnTo>
                  <a:lnTo>
                    <a:pt x="0" y="76199"/>
                  </a:lnTo>
                  <a:lnTo>
                    <a:pt x="12830" y="33857"/>
                  </a:lnTo>
                  <a:lnTo>
                    <a:pt x="47039" y="5800"/>
                  </a:lnTo>
                  <a:lnTo>
                    <a:pt x="76199" y="0"/>
                  </a:lnTo>
                  <a:lnTo>
                    <a:pt x="3362324" y="0"/>
                  </a:lnTo>
                  <a:lnTo>
                    <a:pt x="3399145" y="9524"/>
                  </a:lnTo>
                  <a:lnTo>
                    <a:pt x="71822" y="9524"/>
                  </a:lnTo>
                  <a:lnTo>
                    <a:pt x="67486" y="9951"/>
                  </a:lnTo>
                  <a:lnTo>
                    <a:pt x="32149" y="25957"/>
                  </a:lnTo>
                  <a:lnTo>
                    <a:pt x="11660" y="58898"/>
                  </a:lnTo>
                  <a:lnTo>
                    <a:pt x="9524" y="71821"/>
                  </a:lnTo>
                  <a:lnTo>
                    <a:pt x="9524" y="861627"/>
                  </a:lnTo>
                  <a:lnTo>
                    <a:pt x="9833" y="864756"/>
                  </a:lnTo>
                  <a:lnTo>
                    <a:pt x="9952" y="865963"/>
                  </a:lnTo>
                  <a:lnTo>
                    <a:pt x="25957" y="901300"/>
                  </a:lnTo>
                  <a:lnTo>
                    <a:pt x="58898" y="921789"/>
                  </a:lnTo>
                  <a:lnTo>
                    <a:pt x="71822" y="923924"/>
                  </a:lnTo>
                  <a:lnTo>
                    <a:pt x="3399144" y="923924"/>
                  </a:lnTo>
                  <a:lnTo>
                    <a:pt x="3398281" y="924441"/>
                  </a:lnTo>
                  <a:lnTo>
                    <a:pt x="3391484" y="927649"/>
                  </a:lnTo>
                  <a:lnTo>
                    <a:pt x="3384411" y="930186"/>
                  </a:lnTo>
                  <a:lnTo>
                    <a:pt x="3377193" y="931999"/>
                  </a:lnTo>
                  <a:lnTo>
                    <a:pt x="3369831" y="933087"/>
                  </a:lnTo>
                  <a:lnTo>
                    <a:pt x="3362324" y="933449"/>
                  </a:lnTo>
                  <a:close/>
                </a:path>
                <a:path w="3438525" h="933450">
                  <a:moveTo>
                    <a:pt x="3399144" y="923924"/>
                  </a:moveTo>
                  <a:lnTo>
                    <a:pt x="3366702" y="923924"/>
                  </a:lnTo>
                  <a:lnTo>
                    <a:pt x="3371038" y="923497"/>
                  </a:lnTo>
                  <a:lnTo>
                    <a:pt x="3379625" y="921789"/>
                  </a:lnTo>
                  <a:lnTo>
                    <a:pt x="3412566" y="901300"/>
                  </a:lnTo>
                  <a:lnTo>
                    <a:pt x="3428572" y="865963"/>
                  </a:lnTo>
                  <a:lnTo>
                    <a:pt x="3428999" y="861627"/>
                  </a:lnTo>
                  <a:lnTo>
                    <a:pt x="3428999" y="71821"/>
                  </a:lnTo>
                  <a:lnTo>
                    <a:pt x="3428691" y="68693"/>
                  </a:lnTo>
                  <a:lnTo>
                    <a:pt x="3428572" y="67486"/>
                  </a:lnTo>
                  <a:lnTo>
                    <a:pt x="3412566" y="32149"/>
                  </a:lnTo>
                  <a:lnTo>
                    <a:pt x="3379625" y="11660"/>
                  </a:lnTo>
                  <a:lnTo>
                    <a:pt x="3366702" y="9524"/>
                  </a:lnTo>
                  <a:lnTo>
                    <a:pt x="3399145" y="9524"/>
                  </a:lnTo>
                  <a:lnTo>
                    <a:pt x="3429516" y="40242"/>
                  </a:lnTo>
                  <a:lnTo>
                    <a:pt x="3438524" y="857249"/>
                  </a:lnTo>
                  <a:lnTo>
                    <a:pt x="3438162" y="864756"/>
                  </a:lnTo>
                  <a:lnTo>
                    <a:pt x="3421257" y="905567"/>
                  </a:lnTo>
                  <a:lnTo>
                    <a:pt x="3404794" y="920524"/>
                  </a:lnTo>
                  <a:lnTo>
                    <a:pt x="3399144" y="923924"/>
                  </a:lnTo>
                  <a:close/>
                </a:path>
              </a:pathLst>
            </a:custGeom>
            <a:solidFill>
              <a:srgbClr val="FFD600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0599" y="2892424"/>
              <a:ext cx="209550" cy="254000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1349374" y="2861468"/>
            <a:ext cx="1505585" cy="2800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650" b="1" spc="-85" dirty="0">
                <a:solidFill>
                  <a:srgbClr val="FFFFFF"/>
                </a:solidFill>
                <a:latin typeface="Roboto"/>
                <a:cs typeface="Roboto"/>
              </a:rPr>
              <a:t>Label</a:t>
            </a:r>
            <a:r>
              <a:rPr sz="1650" b="1" spc="-2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650" b="1" spc="-65" dirty="0">
                <a:solidFill>
                  <a:srgbClr val="FFFFFF"/>
                </a:solidFill>
                <a:latin typeface="Roboto"/>
                <a:cs typeface="Roboto"/>
              </a:rPr>
              <a:t>File</a:t>
            </a:r>
            <a:r>
              <a:rPr sz="1650" b="1" spc="-1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650" b="1" spc="-75" dirty="0">
                <a:solidFill>
                  <a:srgbClr val="FFFFFF"/>
                </a:solidFill>
                <a:latin typeface="Roboto"/>
                <a:cs typeface="Roboto"/>
              </a:rPr>
              <a:t>Format</a:t>
            </a:r>
            <a:endParaRPr sz="1650">
              <a:latin typeface="Roboto"/>
              <a:cs typeface="Robot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30275" y="3358912"/>
            <a:ext cx="244602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20" dirty="0">
                <a:solidFill>
                  <a:srgbClr val="9CA2AF"/>
                </a:solidFill>
                <a:latin typeface="Arial MT"/>
                <a:cs typeface="Arial MT"/>
              </a:rPr>
              <a:t>Each</a:t>
            </a:r>
            <a:r>
              <a:rPr sz="1500" spc="-65" dirty="0">
                <a:solidFill>
                  <a:srgbClr val="9CA2AF"/>
                </a:solidFill>
                <a:latin typeface="Arial MT"/>
                <a:cs typeface="Arial MT"/>
              </a:rPr>
              <a:t> </a:t>
            </a:r>
            <a:r>
              <a:rPr sz="1500" spc="-60" dirty="0">
                <a:solidFill>
                  <a:srgbClr val="9CA2AF"/>
                </a:solidFill>
                <a:latin typeface="Arial MT"/>
                <a:cs typeface="Arial MT"/>
              </a:rPr>
              <a:t>line</a:t>
            </a:r>
            <a:r>
              <a:rPr sz="1500" spc="-65" dirty="0">
                <a:solidFill>
                  <a:srgbClr val="9CA2AF"/>
                </a:solidFill>
                <a:latin typeface="Arial MT"/>
                <a:cs typeface="Arial MT"/>
              </a:rPr>
              <a:t> </a:t>
            </a:r>
            <a:r>
              <a:rPr sz="1500" spc="-85" dirty="0">
                <a:solidFill>
                  <a:srgbClr val="9CA2AF"/>
                </a:solidFill>
                <a:latin typeface="Arial MT"/>
                <a:cs typeface="Arial MT"/>
              </a:rPr>
              <a:t>represents</a:t>
            </a:r>
            <a:r>
              <a:rPr sz="1500" spc="-60" dirty="0">
                <a:solidFill>
                  <a:srgbClr val="9CA2AF"/>
                </a:solidFill>
                <a:latin typeface="Arial MT"/>
                <a:cs typeface="Arial MT"/>
              </a:rPr>
              <a:t> </a:t>
            </a:r>
            <a:r>
              <a:rPr sz="1500" spc="-95" dirty="0">
                <a:solidFill>
                  <a:srgbClr val="9CA2AF"/>
                </a:solidFill>
                <a:latin typeface="Arial MT"/>
                <a:cs typeface="Arial MT"/>
              </a:rPr>
              <a:t>one</a:t>
            </a:r>
            <a:r>
              <a:rPr sz="1500" spc="-65" dirty="0">
                <a:solidFill>
                  <a:srgbClr val="9CA2AF"/>
                </a:solidFill>
                <a:latin typeface="Arial MT"/>
                <a:cs typeface="Arial MT"/>
              </a:rPr>
              <a:t> </a:t>
            </a:r>
            <a:r>
              <a:rPr sz="1500" spc="-45" dirty="0">
                <a:solidFill>
                  <a:srgbClr val="9CA2AF"/>
                </a:solidFill>
                <a:latin typeface="Arial MT"/>
                <a:cs typeface="Arial MT"/>
              </a:rPr>
              <a:t>object: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62297" y="3921124"/>
            <a:ext cx="299847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12800" marR="5080" indent="-800735">
              <a:lnSpc>
                <a:spcPct val="116700"/>
              </a:lnSpc>
              <a:spcBef>
                <a:spcPts val="100"/>
              </a:spcBef>
            </a:pPr>
            <a:r>
              <a:rPr sz="1500" dirty="0">
                <a:solidFill>
                  <a:srgbClr val="60A5FA"/>
                </a:solidFill>
                <a:latin typeface="Courier New"/>
                <a:cs typeface="Courier New"/>
              </a:rPr>
              <a:t>class_id </a:t>
            </a:r>
            <a:r>
              <a:rPr sz="1500" dirty="0">
                <a:solidFill>
                  <a:srgbClr val="BF83FB"/>
                </a:solidFill>
                <a:latin typeface="Courier New"/>
                <a:cs typeface="Courier New"/>
              </a:rPr>
              <a:t>x_center </a:t>
            </a:r>
            <a:r>
              <a:rPr sz="1500" spc="-10" dirty="0">
                <a:solidFill>
                  <a:srgbClr val="4ADE80"/>
                </a:solidFill>
                <a:latin typeface="Courier New"/>
                <a:cs typeface="Courier New"/>
              </a:rPr>
              <a:t>y_center </a:t>
            </a:r>
            <a:r>
              <a:rPr sz="1500" dirty="0">
                <a:solidFill>
                  <a:srgbClr val="FACC15"/>
                </a:solidFill>
                <a:latin typeface="Courier New"/>
                <a:cs typeface="Courier New"/>
              </a:rPr>
              <a:t>width</a:t>
            </a:r>
            <a:r>
              <a:rPr sz="1500" spc="-10" dirty="0">
                <a:solidFill>
                  <a:srgbClr val="FACC15"/>
                </a:solidFill>
                <a:latin typeface="Courier New"/>
                <a:cs typeface="Courier New"/>
              </a:rPr>
              <a:t> </a:t>
            </a:r>
            <a:r>
              <a:rPr sz="1500" spc="-10" dirty="0">
                <a:solidFill>
                  <a:srgbClr val="FA913C"/>
                </a:solidFill>
                <a:latin typeface="Courier New"/>
                <a:cs typeface="Courier New"/>
              </a:rPr>
              <a:t>height</a:t>
            </a:r>
            <a:endParaRPr sz="1500">
              <a:latin typeface="Courier New"/>
              <a:cs typeface="Courier New"/>
            </a:endParaRPr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850" y="4911724"/>
            <a:ext cx="158750" cy="158750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196974" y="4856479"/>
            <a:ext cx="1996439" cy="2292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00" spc="-25" dirty="0">
                <a:solidFill>
                  <a:srgbClr val="9CA2AF"/>
                </a:solidFill>
                <a:latin typeface="Arial MT"/>
                <a:cs typeface="Arial MT"/>
              </a:rPr>
              <a:t>All</a:t>
            </a:r>
            <a:r>
              <a:rPr sz="1300" spc="-50" dirty="0">
                <a:solidFill>
                  <a:srgbClr val="9CA2AF"/>
                </a:solidFill>
                <a:latin typeface="Arial MT"/>
                <a:cs typeface="Arial MT"/>
              </a:rPr>
              <a:t> </a:t>
            </a:r>
            <a:r>
              <a:rPr sz="1300" spc="-60" dirty="0">
                <a:solidFill>
                  <a:srgbClr val="9CA2AF"/>
                </a:solidFill>
                <a:latin typeface="Arial MT"/>
                <a:cs typeface="Arial MT"/>
              </a:rPr>
              <a:t>values</a:t>
            </a:r>
            <a:r>
              <a:rPr sz="1300" spc="-45" dirty="0">
                <a:solidFill>
                  <a:srgbClr val="9CA2AF"/>
                </a:solidFill>
                <a:latin typeface="Arial MT"/>
                <a:cs typeface="Arial MT"/>
              </a:rPr>
              <a:t> normalized</a:t>
            </a:r>
            <a:r>
              <a:rPr sz="1300" spc="-50" dirty="0">
                <a:solidFill>
                  <a:srgbClr val="9CA2AF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9CA2AF"/>
                </a:solidFill>
                <a:latin typeface="Arial MT"/>
                <a:cs typeface="Arial MT"/>
              </a:rPr>
              <a:t>to</a:t>
            </a:r>
            <a:r>
              <a:rPr sz="1300" spc="-45" dirty="0">
                <a:solidFill>
                  <a:srgbClr val="9CA2AF"/>
                </a:solidFill>
                <a:latin typeface="Arial MT"/>
                <a:cs typeface="Arial MT"/>
              </a:rPr>
              <a:t> </a:t>
            </a:r>
            <a:r>
              <a:rPr sz="1300" spc="-85" dirty="0">
                <a:solidFill>
                  <a:srgbClr val="9CA2AF"/>
                </a:solidFill>
                <a:latin typeface="Arial MT"/>
                <a:cs typeface="Arial MT"/>
              </a:rPr>
              <a:t>[0,</a:t>
            </a:r>
            <a:r>
              <a:rPr sz="1300" spc="-50" dirty="0">
                <a:solidFill>
                  <a:srgbClr val="9CA2AF"/>
                </a:solidFill>
                <a:latin typeface="Arial MT"/>
                <a:cs typeface="Arial MT"/>
              </a:rPr>
              <a:t> </a:t>
            </a:r>
            <a:r>
              <a:rPr sz="1300" spc="-25" dirty="0">
                <a:solidFill>
                  <a:srgbClr val="9CA2AF"/>
                </a:solidFill>
                <a:latin typeface="Arial MT"/>
                <a:cs typeface="Arial MT"/>
              </a:rPr>
              <a:t>1]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314949" y="1743075"/>
            <a:ext cx="6276975" cy="1800225"/>
            <a:chOff x="5314949" y="1743075"/>
            <a:chExt cx="6276975" cy="1800225"/>
          </a:xfrm>
        </p:grpSpPr>
        <p:sp>
          <p:nvSpPr>
            <p:cNvPr id="17" name="object 17"/>
            <p:cNvSpPr/>
            <p:nvPr/>
          </p:nvSpPr>
          <p:spPr>
            <a:xfrm>
              <a:off x="5314949" y="1743075"/>
              <a:ext cx="6276975" cy="1800225"/>
            </a:xfrm>
            <a:custGeom>
              <a:avLst/>
              <a:gdLst/>
              <a:ahLst/>
              <a:cxnLst/>
              <a:rect l="l" t="t" r="r" b="b"/>
              <a:pathLst>
                <a:path w="6276975" h="1800225">
                  <a:moveTo>
                    <a:pt x="6162674" y="1800224"/>
                  </a:moveTo>
                  <a:lnTo>
                    <a:pt x="114299" y="1800224"/>
                  </a:lnTo>
                  <a:lnTo>
                    <a:pt x="103040" y="1799680"/>
                  </a:lnTo>
                  <a:lnTo>
                    <a:pt x="60364" y="1786712"/>
                  </a:lnTo>
                  <a:lnTo>
                    <a:pt x="25900" y="1758400"/>
                  </a:lnTo>
                  <a:lnTo>
                    <a:pt x="4894" y="1719054"/>
                  </a:lnTo>
                  <a:lnTo>
                    <a:pt x="0" y="1685924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8" y="8700"/>
                  </a:lnTo>
                  <a:lnTo>
                    <a:pt x="114299" y="0"/>
                  </a:lnTo>
                  <a:lnTo>
                    <a:pt x="6162674" y="0"/>
                  </a:lnTo>
                  <a:lnTo>
                    <a:pt x="6206413" y="8700"/>
                  </a:lnTo>
                  <a:lnTo>
                    <a:pt x="6243495" y="33477"/>
                  </a:lnTo>
                  <a:lnTo>
                    <a:pt x="6268272" y="70559"/>
                  </a:lnTo>
                  <a:lnTo>
                    <a:pt x="6276974" y="114299"/>
                  </a:lnTo>
                  <a:lnTo>
                    <a:pt x="6276974" y="1685924"/>
                  </a:lnTo>
                  <a:lnTo>
                    <a:pt x="6268271" y="1729665"/>
                  </a:lnTo>
                  <a:lnTo>
                    <a:pt x="6243495" y="1766746"/>
                  </a:lnTo>
                  <a:lnTo>
                    <a:pt x="6206413" y="1791523"/>
                  </a:lnTo>
                  <a:lnTo>
                    <a:pt x="6162674" y="1800224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314949" y="1743075"/>
              <a:ext cx="6276975" cy="1800225"/>
            </a:xfrm>
            <a:custGeom>
              <a:avLst/>
              <a:gdLst/>
              <a:ahLst/>
              <a:cxnLst/>
              <a:rect l="l" t="t" r="r" b="b"/>
              <a:pathLst>
                <a:path w="6276975" h="1800225">
                  <a:moveTo>
                    <a:pt x="6162674" y="1800224"/>
                  </a:moveTo>
                  <a:lnTo>
                    <a:pt x="114299" y="1800224"/>
                  </a:lnTo>
                  <a:lnTo>
                    <a:pt x="103040" y="1799680"/>
                  </a:lnTo>
                  <a:lnTo>
                    <a:pt x="60364" y="1786712"/>
                  </a:lnTo>
                  <a:lnTo>
                    <a:pt x="25900" y="1758400"/>
                  </a:lnTo>
                  <a:lnTo>
                    <a:pt x="4894" y="1719054"/>
                  </a:lnTo>
                  <a:lnTo>
                    <a:pt x="0" y="1685924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8" y="8700"/>
                  </a:lnTo>
                  <a:lnTo>
                    <a:pt x="114299" y="0"/>
                  </a:lnTo>
                  <a:lnTo>
                    <a:pt x="6162674" y="0"/>
                  </a:lnTo>
                  <a:lnTo>
                    <a:pt x="6206413" y="8700"/>
                  </a:lnTo>
                  <a:lnTo>
                    <a:pt x="6208160" y="9524"/>
                  </a:lnTo>
                  <a:lnTo>
                    <a:pt x="107420" y="9524"/>
                  </a:lnTo>
                  <a:lnTo>
                    <a:pt x="100606" y="10196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1692804"/>
                  </a:lnTo>
                  <a:lnTo>
                    <a:pt x="20133" y="1732376"/>
                  </a:lnTo>
                  <a:lnTo>
                    <a:pt x="45077" y="1764876"/>
                  </a:lnTo>
                  <a:lnTo>
                    <a:pt x="80560" y="1785356"/>
                  </a:lnTo>
                  <a:lnTo>
                    <a:pt x="107420" y="1790699"/>
                  </a:lnTo>
                  <a:lnTo>
                    <a:pt x="6208159" y="1790699"/>
                  </a:lnTo>
                  <a:lnTo>
                    <a:pt x="6206413" y="1791523"/>
                  </a:lnTo>
                  <a:lnTo>
                    <a:pt x="6195803" y="1795330"/>
                  </a:lnTo>
                  <a:lnTo>
                    <a:pt x="6184976" y="1798049"/>
                  </a:lnTo>
                  <a:lnTo>
                    <a:pt x="6173933" y="1799680"/>
                  </a:lnTo>
                  <a:lnTo>
                    <a:pt x="6162674" y="1800224"/>
                  </a:lnTo>
                  <a:close/>
                </a:path>
                <a:path w="6276975" h="1800225">
                  <a:moveTo>
                    <a:pt x="6208159" y="1790699"/>
                  </a:moveTo>
                  <a:lnTo>
                    <a:pt x="6169554" y="1790699"/>
                  </a:lnTo>
                  <a:lnTo>
                    <a:pt x="6176367" y="1790028"/>
                  </a:lnTo>
                  <a:lnTo>
                    <a:pt x="6189861" y="1787344"/>
                  </a:lnTo>
                  <a:lnTo>
                    <a:pt x="6226604" y="1769219"/>
                  </a:lnTo>
                  <a:lnTo>
                    <a:pt x="6253613" y="1738414"/>
                  </a:lnTo>
                  <a:lnTo>
                    <a:pt x="6266777" y="1699618"/>
                  </a:lnTo>
                  <a:lnTo>
                    <a:pt x="6267449" y="1692804"/>
                  </a:lnTo>
                  <a:lnTo>
                    <a:pt x="6267449" y="107420"/>
                  </a:lnTo>
                  <a:lnTo>
                    <a:pt x="6256840" y="67848"/>
                  </a:lnTo>
                  <a:lnTo>
                    <a:pt x="6231896" y="35348"/>
                  </a:lnTo>
                  <a:lnTo>
                    <a:pt x="6196413" y="14867"/>
                  </a:lnTo>
                  <a:lnTo>
                    <a:pt x="6169554" y="9524"/>
                  </a:lnTo>
                  <a:lnTo>
                    <a:pt x="6208160" y="9524"/>
                  </a:lnTo>
                  <a:lnTo>
                    <a:pt x="6243495" y="33477"/>
                  </a:lnTo>
                  <a:lnTo>
                    <a:pt x="6268272" y="70559"/>
                  </a:lnTo>
                  <a:lnTo>
                    <a:pt x="6276974" y="114299"/>
                  </a:lnTo>
                  <a:lnTo>
                    <a:pt x="6276974" y="1685924"/>
                  </a:lnTo>
                  <a:lnTo>
                    <a:pt x="6276430" y="1697184"/>
                  </a:lnTo>
                  <a:lnTo>
                    <a:pt x="6263461" y="1739859"/>
                  </a:lnTo>
                  <a:lnTo>
                    <a:pt x="6235149" y="1774323"/>
                  </a:lnTo>
                  <a:lnTo>
                    <a:pt x="6216608" y="1786712"/>
                  </a:lnTo>
                  <a:lnTo>
                    <a:pt x="6208159" y="1790699"/>
                  </a:lnTo>
                  <a:close/>
                </a:path>
              </a:pathLst>
            </a:custGeom>
            <a:solidFill>
              <a:srgbClr val="FFD600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553074" y="2438399"/>
              <a:ext cx="5800725" cy="866775"/>
            </a:xfrm>
            <a:custGeom>
              <a:avLst/>
              <a:gdLst/>
              <a:ahLst/>
              <a:cxnLst/>
              <a:rect l="l" t="t" r="r" b="b"/>
              <a:pathLst>
                <a:path w="5800725" h="866775">
                  <a:moveTo>
                    <a:pt x="5724524" y="866774"/>
                  </a:moveTo>
                  <a:lnTo>
                    <a:pt x="76199" y="866774"/>
                  </a:lnTo>
                  <a:lnTo>
                    <a:pt x="68693" y="866412"/>
                  </a:lnTo>
                  <a:lnTo>
                    <a:pt x="27882" y="849507"/>
                  </a:lnTo>
                  <a:lnTo>
                    <a:pt x="3262" y="812661"/>
                  </a:lnTo>
                  <a:lnTo>
                    <a:pt x="0" y="790574"/>
                  </a:lnTo>
                  <a:lnTo>
                    <a:pt x="0" y="76199"/>
                  </a:lnTo>
                  <a:lnTo>
                    <a:pt x="12829" y="33857"/>
                  </a:lnTo>
                  <a:lnTo>
                    <a:pt x="47039" y="5800"/>
                  </a:lnTo>
                  <a:lnTo>
                    <a:pt x="76199" y="0"/>
                  </a:lnTo>
                  <a:lnTo>
                    <a:pt x="5724524" y="0"/>
                  </a:lnTo>
                  <a:lnTo>
                    <a:pt x="5766865" y="12829"/>
                  </a:lnTo>
                  <a:lnTo>
                    <a:pt x="5794923" y="47039"/>
                  </a:lnTo>
                  <a:lnTo>
                    <a:pt x="5800724" y="76199"/>
                  </a:lnTo>
                  <a:lnTo>
                    <a:pt x="5800724" y="790574"/>
                  </a:lnTo>
                  <a:lnTo>
                    <a:pt x="5787893" y="832916"/>
                  </a:lnTo>
                  <a:lnTo>
                    <a:pt x="5753683" y="860974"/>
                  </a:lnTo>
                  <a:lnTo>
                    <a:pt x="5724524" y="866774"/>
                  </a:lnTo>
                  <a:close/>
                </a:path>
              </a:pathLst>
            </a:custGeom>
            <a:solidFill>
              <a:srgbClr val="0918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553074" y="2438400"/>
              <a:ext cx="5800725" cy="866775"/>
            </a:xfrm>
            <a:custGeom>
              <a:avLst/>
              <a:gdLst/>
              <a:ahLst/>
              <a:cxnLst/>
              <a:rect l="l" t="t" r="r" b="b"/>
              <a:pathLst>
                <a:path w="5800725" h="866775">
                  <a:moveTo>
                    <a:pt x="5724524" y="866774"/>
                  </a:moveTo>
                  <a:lnTo>
                    <a:pt x="76199" y="866774"/>
                  </a:lnTo>
                  <a:lnTo>
                    <a:pt x="68693" y="866412"/>
                  </a:lnTo>
                  <a:lnTo>
                    <a:pt x="27882" y="849507"/>
                  </a:lnTo>
                  <a:lnTo>
                    <a:pt x="3262" y="812661"/>
                  </a:lnTo>
                  <a:lnTo>
                    <a:pt x="0" y="790574"/>
                  </a:lnTo>
                  <a:lnTo>
                    <a:pt x="0" y="76199"/>
                  </a:lnTo>
                  <a:lnTo>
                    <a:pt x="12829" y="33857"/>
                  </a:lnTo>
                  <a:lnTo>
                    <a:pt x="47039" y="5800"/>
                  </a:lnTo>
                  <a:lnTo>
                    <a:pt x="5724524" y="0"/>
                  </a:lnTo>
                  <a:lnTo>
                    <a:pt x="5732030" y="362"/>
                  </a:lnTo>
                  <a:lnTo>
                    <a:pt x="5772841" y="17266"/>
                  </a:lnTo>
                  <a:lnTo>
                    <a:pt x="5774805" y="19049"/>
                  </a:lnTo>
                  <a:lnTo>
                    <a:pt x="72447" y="19049"/>
                  </a:lnTo>
                  <a:lnTo>
                    <a:pt x="68730" y="19415"/>
                  </a:lnTo>
                  <a:lnTo>
                    <a:pt x="33135" y="38442"/>
                  </a:lnTo>
                  <a:lnTo>
                    <a:pt x="19049" y="72447"/>
                  </a:lnTo>
                  <a:lnTo>
                    <a:pt x="19049" y="794327"/>
                  </a:lnTo>
                  <a:lnTo>
                    <a:pt x="38442" y="833639"/>
                  </a:lnTo>
                  <a:lnTo>
                    <a:pt x="72447" y="847724"/>
                  </a:lnTo>
                  <a:lnTo>
                    <a:pt x="5774805" y="847724"/>
                  </a:lnTo>
                  <a:lnTo>
                    <a:pt x="5772841" y="849507"/>
                  </a:lnTo>
                  <a:lnTo>
                    <a:pt x="5732030" y="866412"/>
                  </a:lnTo>
                  <a:lnTo>
                    <a:pt x="5724524" y="866774"/>
                  </a:lnTo>
                  <a:close/>
                </a:path>
                <a:path w="5800725" h="866775">
                  <a:moveTo>
                    <a:pt x="5774805" y="847724"/>
                  </a:moveTo>
                  <a:lnTo>
                    <a:pt x="5728277" y="847724"/>
                  </a:lnTo>
                  <a:lnTo>
                    <a:pt x="5731993" y="847358"/>
                  </a:lnTo>
                  <a:lnTo>
                    <a:pt x="5739353" y="845894"/>
                  </a:lnTo>
                  <a:lnTo>
                    <a:pt x="5774127" y="819205"/>
                  </a:lnTo>
                  <a:lnTo>
                    <a:pt x="5781674" y="794327"/>
                  </a:lnTo>
                  <a:lnTo>
                    <a:pt x="5781674" y="72447"/>
                  </a:lnTo>
                  <a:lnTo>
                    <a:pt x="5762282" y="33135"/>
                  </a:lnTo>
                  <a:lnTo>
                    <a:pt x="5728277" y="19049"/>
                  </a:lnTo>
                  <a:lnTo>
                    <a:pt x="5774805" y="19049"/>
                  </a:lnTo>
                  <a:lnTo>
                    <a:pt x="5797461" y="54113"/>
                  </a:lnTo>
                  <a:lnTo>
                    <a:pt x="5800724" y="790574"/>
                  </a:lnTo>
                  <a:lnTo>
                    <a:pt x="5800363" y="798043"/>
                  </a:lnTo>
                  <a:lnTo>
                    <a:pt x="5783456" y="838892"/>
                  </a:lnTo>
                  <a:lnTo>
                    <a:pt x="5778405" y="844456"/>
                  </a:lnTo>
                  <a:lnTo>
                    <a:pt x="5774805" y="847724"/>
                  </a:lnTo>
                  <a:close/>
                </a:path>
              </a:pathLst>
            </a:custGeom>
            <a:solidFill>
              <a:srgbClr val="FFD600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73365" y="2066925"/>
              <a:ext cx="222250" cy="133350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5881339" y="1942782"/>
            <a:ext cx="20904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60" dirty="0">
                <a:solidFill>
                  <a:srgbClr val="FFFFFF"/>
                </a:solidFill>
                <a:latin typeface="Trebuchet MS"/>
                <a:cs typeface="Trebuchet MS"/>
              </a:rPr>
              <a:t>Example</a:t>
            </a:r>
            <a:r>
              <a:rPr sz="2000" b="1" spc="-11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35" dirty="0">
                <a:solidFill>
                  <a:srgbClr val="FFFFFF"/>
                </a:solidFill>
                <a:latin typeface="Trebuchet MS"/>
                <a:cs typeface="Trebuchet MS"/>
              </a:rPr>
              <a:t>Annotation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999188" y="2682875"/>
            <a:ext cx="29070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D600"/>
                </a:solidFill>
                <a:latin typeface="Courier New"/>
                <a:cs typeface="Courier New"/>
              </a:rPr>
              <a:t>0 </a:t>
            </a:r>
            <a:r>
              <a:rPr sz="1800" dirty="0">
                <a:solidFill>
                  <a:srgbClr val="93C4FD"/>
                </a:solidFill>
                <a:latin typeface="Courier New"/>
                <a:cs typeface="Courier New"/>
              </a:rPr>
              <a:t>0.71 </a:t>
            </a:r>
            <a:r>
              <a:rPr sz="1800" dirty="0">
                <a:solidFill>
                  <a:srgbClr val="D8B4FE"/>
                </a:solidFill>
                <a:latin typeface="Courier New"/>
                <a:cs typeface="Courier New"/>
              </a:rPr>
              <a:t>0.84 </a:t>
            </a:r>
            <a:r>
              <a:rPr sz="1800" dirty="0">
                <a:solidFill>
                  <a:srgbClr val="86EFAB"/>
                </a:solidFill>
                <a:latin typeface="Courier New"/>
                <a:cs typeface="Courier New"/>
              </a:rPr>
              <a:t>0.15 </a:t>
            </a:r>
            <a:r>
              <a:rPr sz="1800" spc="-20" dirty="0">
                <a:solidFill>
                  <a:srgbClr val="FDDF46"/>
                </a:solidFill>
                <a:latin typeface="Courier New"/>
                <a:cs typeface="Courier New"/>
              </a:rPr>
              <a:t>0.23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314949" y="3733799"/>
            <a:ext cx="1162050" cy="1104900"/>
            <a:chOff x="5314949" y="3733799"/>
            <a:chExt cx="1162050" cy="1104900"/>
          </a:xfrm>
        </p:grpSpPr>
        <p:sp>
          <p:nvSpPr>
            <p:cNvPr id="25" name="object 25"/>
            <p:cNvSpPr/>
            <p:nvPr/>
          </p:nvSpPr>
          <p:spPr>
            <a:xfrm>
              <a:off x="5333999" y="3733799"/>
              <a:ext cx="1143000" cy="1104900"/>
            </a:xfrm>
            <a:custGeom>
              <a:avLst/>
              <a:gdLst/>
              <a:ahLst/>
              <a:cxnLst/>
              <a:rect l="l" t="t" r="r" b="b"/>
              <a:pathLst>
                <a:path w="1143000" h="1104900">
                  <a:moveTo>
                    <a:pt x="1071802" y="1104899"/>
                  </a:moveTo>
                  <a:lnTo>
                    <a:pt x="53397" y="1104899"/>
                  </a:lnTo>
                  <a:lnTo>
                    <a:pt x="49680" y="1104411"/>
                  </a:lnTo>
                  <a:lnTo>
                    <a:pt x="14085" y="1079042"/>
                  </a:lnTo>
                  <a:lnTo>
                    <a:pt x="365" y="1038658"/>
                  </a:lnTo>
                  <a:lnTo>
                    <a:pt x="0" y="1033703"/>
                  </a:lnTo>
                  <a:lnTo>
                    <a:pt x="0" y="1028699"/>
                  </a:lnTo>
                  <a:lnTo>
                    <a:pt x="0" y="71196"/>
                  </a:lnTo>
                  <a:lnTo>
                    <a:pt x="11716" y="29705"/>
                  </a:lnTo>
                  <a:lnTo>
                    <a:pt x="42320" y="2440"/>
                  </a:lnTo>
                  <a:lnTo>
                    <a:pt x="53397" y="0"/>
                  </a:lnTo>
                  <a:lnTo>
                    <a:pt x="1071802" y="0"/>
                  </a:lnTo>
                  <a:lnTo>
                    <a:pt x="1113294" y="15621"/>
                  </a:lnTo>
                  <a:lnTo>
                    <a:pt x="1139113" y="51661"/>
                  </a:lnTo>
                  <a:lnTo>
                    <a:pt x="1142999" y="71196"/>
                  </a:lnTo>
                  <a:lnTo>
                    <a:pt x="1142999" y="1033703"/>
                  </a:lnTo>
                  <a:lnTo>
                    <a:pt x="1127377" y="1075193"/>
                  </a:lnTo>
                  <a:lnTo>
                    <a:pt x="1091337" y="1101013"/>
                  </a:lnTo>
                  <a:lnTo>
                    <a:pt x="1076757" y="1104411"/>
                  </a:lnTo>
                  <a:lnTo>
                    <a:pt x="1071802" y="1104899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314949" y="3734077"/>
              <a:ext cx="70485" cy="1104900"/>
            </a:xfrm>
            <a:custGeom>
              <a:avLst/>
              <a:gdLst/>
              <a:ahLst/>
              <a:cxnLst/>
              <a:rect l="l" t="t" r="r" b="b"/>
              <a:pathLst>
                <a:path w="70485" h="1104900">
                  <a:moveTo>
                    <a:pt x="70450" y="1104344"/>
                  </a:moveTo>
                  <a:lnTo>
                    <a:pt x="33857" y="1091791"/>
                  </a:lnTo>
                  <a:lnTo>
                    <a:pt x="5800" y="1057582"/>
                  </a:lnTo>
                  <a:lnTo>
                    <a:pt x="0" y="1028422"/>
                  </a:lnTo>
                  <a:lnTo>
                    <a:pt x="0" y="75922"/>
                  </a:lnTo>
                  <a:lnTo>
                    <a:pt x="12830" y="33579"/>
                  </a:lnTo>
                  <a:lnTo>
                    <a:pt x="47039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1" y="9389"/>
                  </a:lnTo>
                  <a:lnTo>
                    <a:pt x="41000" y="46761"/>
                  </a:lnTo>
                  <a:lnTo>
                    <a:pt x="38100" y="75922"/>
                  </a:lnTo>
                  <a:lnTo>
                    <a:pt x="38100" y="1028422"/>
                  </a:lnTo>
                  <a:lnTo>
                    <a:pt x="44514" y="1070764"/>
                  </a:lnTo>
                  <a:lnTo>
                    <a:pt x="66287" y="1102688"/>
                  </a:lnTo>
                  <a:lnTo>
                    <a:pt x="70450" y="1104344"/>
                  </a:lnTo>
                  <a:close/>
                </a:path>
              </a:pathLst>
            </a:custGeom>
            <a:solidFill>
              <a:srgbClr val="FFD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5490815" y="3868022"/>
            <a:ext cx="511809" cy="2038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50" spc="-65" dirty="0">
                <a:solidFill>
                  <a:srgbClr val="9CA2AF"/>
                </a:solidFill>
                <a:latin typeface="Arial MT"/>
                <a:cs typeface="Arial MT"/>
              </a:rPr>
              <a:t>Class</a:t>
            </a:r>
            <a:r>
              <a:rPr sz="1150" spc="-45" dirty="0">
                <a:solidFill>
                  <a:srgbClr val="9CA2AF"/>
                </a:solidFill>
                <a:latin typeface="Arial MT"/>
                <a:cs typeface="Arial MT"/>
              </a:rPr>
              <a:t> </a:t>
            </a:r>
            <a:r>
              <a:rPr sz="1150" spc="-55" dirty="0">
                <a:solidFill>
                  <a:srgbClr val="9CA2AF"/>
                </a:solidFill>
                <a:latin typeface="Arial MT"/>
                <a:cs typeface="Arial MT"/>
              </a:rPr>
              <a:t>ID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490815" y="4083998"/>
            <a:ext cx="156845" cy="3219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50" b="1" spc="-50" dirty="0">
                <a:solidFill>
                  <a:srgbClr val="FFD600"/>
                </a:solidFill>
                <a:latin typeface="Gadugi"/>
                <a:cs typeface="Gadugi"/>
              </a:rPr>
              <a:t>0</a:t>
            </a:r>
            <a:endParaRPr sz="1950">
              <a:latin typeface="Gadugi"/>
              <a:cs typeface="Gadug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490815" y="4437379"/>
            <a:ext cx="414020" cy="2292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00" spc="-50" dirty="0">
                <a:solidFill>
                  <a:srgbClr val="D0D5DA"/>
                </a:solidFill>
                <a:latin typeface="Arial MT"/>
                <a:cs typeface="Arial MT"/>
              </a:rPr>
              <a:t>Apple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6591299" y="3733799"/>
            <a:ext cx="1162050" cy="1104900"/>
            <a:chOff x="6591299" y="3733799"/>
            <a:chExt cx="1162050" cy="1104900"/>
          </a:xfrm>
        </p:grpSpPr>
        <p:sp>
          <p:nvSpPr>
            <p:cNvPr id="31" name="object 31"/>
            <p:cNvSpPr/>
            <p:nvPr/>
          </p:nvSpPr>
          <p:spPr>
            <a:xfrm>
              <a:off x="6610348" y="3733799"/>
              <a:ext cx="1143000" cy="1104900"/>
            </a:xfrm>
            <a:custGeom>
              <a:avLst/>
              <a:gdLst/>
              <a:ahLst/>
              <a:cxnLst/>
              <a:rect l="l" t="t" r="r" b="b"/>
              <a:pathLst>
                <a:path w="1143000" h="1104900">
                  <a:moveTo>
                    <a:pt x="1071803" y="1104899"/>
                  </a:moveTo>
                  <a:lnTo>
                    <a:pt x="53397" y="1104899"/>
                  </a:lnTo>
                  <a:lnTo>
                    <a:pt x="49681" y="1104411"/>
                  </a:lnTo>
                  <a:lnTo>
                    <a:pt x="14085" y="1079042"/>
                  </a:lnTo>
                  <a:lnTo>
                    <a:pt x="366" y="1038658"/>
                  </a:lnTo>
                  <a:lnTo>
                    <a:pt x="0" y="1033703"/>
                  </a:lnTo>
                  <a:lnTo>
                    <a:pt x="0" y="1028699"/>
                  </a:lnTo>
                  <a:lnTo>
                    <a:pt x="0" y="71196"/>
                  </a:lnTo>
                  <a:lnTo>
                    <a:pt x="11716" y="29705"/>
                  </a:lnTo>
                  <a:lnTo>
                    <a:pt x="42319" y="2440"/>
                  </a:lnTo>
                  <a:lnTo>
                    <a:pt x="53397" y="0"/>
                  </a:lnTo>
                  <a:lnTo>
                    <a:pt x="1071803" y="0"/>
                  </a:lnTo>
                  <a:lnTo>
                    <a:pt x="1113294" y="15621"/>
                  </a:lnTo>
                  <a:lnTo>
                    <a:pt x="1139114" y="51661"/>
                  </a:lnTo>
                  <a:lnTo>
                    <a:pt x="1142999" y="71196"/>
                  </a:lnTo>
                  <a:lnTo>
                    <a:pt x="1142999" y="1033703"/>
                  </a:lnTo>
                  <a:lnTo>
                    <a:pt x="1127378" y="1075193"/>
                  </a:lnTo>
                  <a:lnTo>
                    <a:pt x="1091337" y="1101013"/>
                  </a:lnTo>
                  <a:lnTo>
                    <a:pt x="1076758" y="1104411"/>
                  </a:lnTo>
                  <a:lnTo>
                    <a:pt x="1071803" y="1104899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591299" y="3734077"/>
              <a:ext cx="70485" cy="1104900"/>
            </a:xfrm>
            <a:custGeom>
              <a:avLst/>
              <a:gdLst/>
              <a:ahLst/>
              <a:cxnLst/>
              <a:rect l="l" t="t" r="r" b="b"/>
              <a:pathLst>
                <a:path w="70484" h="1104900">
                  <a:moveTo>
                    <a:pt x="70450" y="1104344"/>
                  </a:moveTo>
                  <a:lnTo>
                    <a:pt x="33857" y="1091791"/>
                  </a:lnTo>
                  <a:lnTo>
                    <a:pt x="5799" y="1057582"/>
                  </a:lnTo>
                  <a:lnTo>
                    <a:pt x="0" y="1028422"/>
                  </a:lnTo>
                  <a:lnTo>
                    <a:pt x="0" y="75922"/>
                  </a:lnTo>
                  <a:lnTo>
                    <a:pt x="12829" y="33579"/>
                  </a:lnTo>
                  <a:lnTo>
                    <a:pt x="47038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1" y="9389"/>
                  </a:lnTo>
                  <a:lnTo>
                    <a:pt x="41000" y="46761"/>
                  </a:lnTo>
                  <a:lnTo>
                    <a:pt x="38100" y="75922"/>
                  </a:lnTo>
                  <a:lnTo>
                    <a:pt x="38100" y="1028422"/>
                  </a:lnTo>
                  <a:lnTo>
                    <a:pt x="44515" y="1070764"/>
                  </a:lnTo>
                  <a:lnTo>
                    <a:pt x="66287" y="1102688"/>
                  </a:lnTo>
                  <a:lnTo>
                    <a:pt x="70450" y="1104344"/>
                  </a:lnTo>
                  <a:close/>
                </a:path>
              </a:pathLst>
            </a:custGeom>
            <a:solidFill>
              <a:srgbClr val="60A5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6769397" y="3868022"/>
            <a:ext cx="532765" cy="2038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50" spc="-70" dirty="0">
                <a:solidFill>
                  <a:srgbClr val="9CA2AF"/>
                </a:solidFill>
                <a:latin typeface="Arial MT"/>
                <a:cs typeface="Arial MT"/>
              </a:rPr>
              <a:t>Center</a:t>
            </a:r>
            <a:r>
              <a:rPr sz="1150" spc="-45" dirty="0">
                <a:solidFill>
                  <a:srgbClr val="9CA2AF"/>
                </a:solidFill>
                <a:latin typeface="Arial MT"/>
                <a:cs typeface="Arial MT"/>
              </a:rPr>
              <a:t> </a:t>
            </a:r>
            <a:r>
              <a:rPr sz="1150" spc="-50" dirty="0">
                <a:solidFill>
                  <a:srgbClr val="9CA2AF"/>
                </a:solidFill>
                <a:latin typeface="Arial MT"/>
                <a:cs typeface="Arial MT"/>
              </a:rPr>
              <a:t>X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769397" y="4084084"/>
            <a:ext cx="485775" cy="3219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50" b="1" spc="-65" dirty="0">
                <a:solidFill>
                  <a:srgbClr val="60A5FA"/>
                </a:solidFill>
                <a:latin typeface="Gadugi"/>
                <a:cs typeface="Gadugi"/>
              </a:rPr>
              <a:t>0.71</a:t>
            </a:r>
            <a:endParaRPr sz="1950">
              <a:latin typeface="Gadugi"/>
              <a:cs typeface="Gadug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769397" y="4437379"/>
            <a:ext cx="725170" cy="2292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00" spc="-40" dirty="0">
                <a:solidFill>
                  <a:srgbClr val="D0D5DA"/>
                </a:solidFill>
                <a:latin typeface="Arial MT"/>
                <a:cs typeface="Arial MT"/>
              </a:rPr>
              <a:t>Horizontal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7867649" y="3733799"/>
            <a:ext cx="1171575" cy="1104900"/>
            <a:chOff x="7867649" y="3733799"/>
            <a:chExt cx="1171575" cy="1104900"/>
          </a:xfrm>
        </p:grpSpPr>
        <p:sp>
          <p:nvSpPr>
            <p:cNvPr id="37" name="object 37"/>
            <p:cNvSpPr/>
            <p:nvPr/>
          </p:nvSpPr>
          <p:spPr>
            <a:xfrm>
              <a:off x="7886699" y="3733799"/>
              <a:ext cx="1152525" cy="1104900"/>
            </a:xfrm>
            <a:custGeom>
              <a:avLst/>
              <a:gdLst/>
              <a:ahLst/>
              <a:cxnLst/>
              <a:rect l="l" t="t" r="r" b="b"/>
              <a:pathLst>
                <a:path w="1152525" h="1104900">
                  <a:moveTo>
                    <a:pt x="1081329" y="1104899"/>
                  </a:moveTo>
                  <a:lnTo>
                    <a:pt x="53397" y="1104899"/>
                  </a:lnTo>
                  <a:lnTo>
                    <a:pt x="49680" y="1104411"/>
                  </a:lnTo>
                  <a:lnTo>
                    <a:pt x="14085" y="1079042"/>
                  </a:lnTo>
                  <a:lnTo>
                    <a:pt x="365" y="1038658"/>
                  </a:lnTo>
                  <a:lnTo>
                    <a:pt x="0" y="1033703"/>
                  </a:lnTo>
                  <a:lnTo>
                    <a:pt x="0" y="1028699"/>
                  </a:lnTo>
                  <a:lnTo>
                    <a:pt x="0" y="71196"/>
                  </a:lnTo>
                  <a:lnTo>
                    <a:pt x="11716" y="29705"/>
                  </a:lnTo>
                  <a:lnTo>
                    <a:pt x="42319" y="2440"/>
                  </a:lnTo>
                  <a:lnTo>
                    <a:pt x="53397" y="0"/>
                  </a:lnTo>
                  <a:lnTo>
                    <a:pt x="1081329" y="0"/>
                  </a:lnTo>
                  <a:lnTo>
                    <a:pt x="1122819" y="15621"/>
                  </a:lnTo>
                  <a:lnTo>
                    <a:pt x="1148639" y="51661"/>
                  </a:lnTo>
                  <a:lnTo>
                    <a:pt x="1152524" y="71196"/>
                  </a:lnTo>
                  <a:lnTo>
                    <a:pt x="1152524" y="1033703"/>
                  </a:lnTo>
                  <a:lnTo>
                    <a:pt x="1136903" y="1075193"/>
                  </a:lnTo>
                  <a:lnTo>
                    <a:pt x="1100862" y="1101013"/>
                  </a:lnTo>
                  <a:lnTo>
                    <a:pt x="1086284" y="1104411"/>
                  </a:lnTo>
                  <a:lnTo>
                    <a:pt x="1081329" y="1104899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867649" y="3734077"/>
              <a:ext cx="70485" cy="1104900"/>
            </a:xfrm>
            <a:custGeom>
              <a:avLst/>
              <a:gdLst/>
              <a:ahLst/>
              <a:cxnLst/>
              <a:rect l="l" t="t" r="r" b="b"/>
              <a:pathLst>
                <a:path w="70484" h="1104900">
                  <a:moveTo>
                    <a:pt x="70449" y="1104344"/>
                  </a:moveTo>
                  <a:lnTo>
                    <a:pt x="33857" y="1091791"/>
                  </a:lnTo>
                  <a:lnTo>
                    <a:pt x="5799" y="1057582"/>
                  </a:lnTo>
                  <a:lnTo>
                    <a:pt x="0" y="1028422"/>
                  </a:lnTo>
                  <a:lnTo>
                    <a:pt x="0" y="75922"/>
                  </a:lnTo>
                  <a:lnTo>
                    <a:pt x="12829" y="33579"/>
                  </a:lnTo>
                  <a:lnTo>
                    <a:pt x="47039" y="5522"/>
                  </a:lnTo>
                  <a:lnTo>
                    <a:pt x="70448" y="0"/>
                  </a:lnTo>
                  <a:lnTo>
                    <a:pt x="66287" y="1655"/>
                  </a:lnTo>
                  <a:lnTo>
                    <a:pt x="56951" y="9389"/>
                  </a:lnTo>
                  <a:lnTo>
                    <a:pt x="40999" y="46761"/>
                  </a:lnTo>
                  <a:lnTo>
                    <a:pt x="38100" y="75922"/>
                  </a:lnTo>
                  <a:lnTo>
                    <a:pt x="38100" y="1028422"/>
                  </a:lnTo>
                  <a:lnTo>
                    <a:pt x="44514" y="1070764"/>
                  </a:lnTo>
                  <a:lnTo>
                    <a:pt x="66287" y="1102688"/>
                  </a:lnTo>
                  <a:lnTo>
                    <a:pt x="70449" y="1104344"/>
                  </a:lnTo>
                  <a:close/>
                </a:path>
              </a:pathLst>
            </a:custGeom>
            <a:solidFill>
              <a:srgbClr val="BF83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8047980" y="3868022"/>
            <a:ext cx="529590" cy="2038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50" spc="-70" dirty="0">
                <a:solidFill>
                  <a:srgbClr val="9CA2AF"/>
                </a:solidFill>
                <a:latin typeface="Arial MT"/>
                <a:cs typeface="Arial MT"/>
              </a:rPr>
              <a:t>Center</a:t>
            </a:r>
            <a:r>
              <a:rPr sz="1150" spc="-45" dirty="0">
                <a:solidFill>
                  <a:srgbClr val="9CA2AF"/>
                </a:solidFill>
                <a:latin typeface="Arial MT"/>
                <a:cs typeface="Arial MT"/>
              </a:rPr>
              <a:t> </a:t>
            </a:r>
            <a:r>
              <a:rPr sz="1150" spc="-65" dirty="0">
                <a:solidFill>
                  <a:srgbClr val="9CA2AF"/>
                </a:solidFill>
                <a:latin typeface="Arial MT"/>
                <a:cs typeface="Arial MT"/>
              </a:rPr>
              <a:t>Y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047980" y="4083998"/>
            <a:ext cx="485775" cy="3219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50" b="1" spc="-65" dirty="0">
                <a:solidFill>
                  <a:srgbClr val="BF83FB"/>
                </a:solidFill>
                <a:latin typeface="Gadugi"/>
                <a:cs typeface="Gadugi"/>
              </a:rPr>
              <a:t>0.84</a:t>
            </a:r>
            <a:endParaRPr sz="1950">
              <a:latin typeface="Gadugi"/>
              <a:cs typeface="Gadug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8047980" y="4437379"/>
            <a:ext cx="542290" cy="2292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00" spc="-35" dirty="0">
                <a:solidFill>
                  <a:srgbClr val="D0D5DA"/>
                </a:solidFill>
                <a:latin typeface="Arial MT"/>
                <a:cs typeface="Arial MT"/>
              </a:rPr>
              <a:t>Vertical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9153523" y="3733799"/>
            <a:ext cx="1162050" cy="1104900"/>
            <a:chOff x="9153523" y="3733799"/>
            <a:chExt cx="1162050" cy="1104900"/>
          </a:xfrm>
        </p:grpSpPr>
        <p:sp>
          <p:nvSpPr>
            <p:cNvPr id="43" name="object 43"/>
            <p:cNvSpPr/>
            <p:nvPr/>
          </p:nvSpPr>
          <p:spPr>
            <a:xfrm>
              <a:off x="9172573" y="3733799"/>
              <a:ext cx="1143000" cy="1104900"/>
            </a:xfrm>
            <a:custGeom>
              <a:avLst/>
              <a:gdLst/>
              <a:ahLst/>
              <a:cxnLst/>
              <a:rect l="l" t="t" r="r" b="b"/>
              <a:pathLst>
                <a:path w="1143000" h="1104900">
                  <a:moveTo>
                    <a:pt x="1071803" y="1104899"/>
                  </a:moveTo>
                  <a:lnTo>
                    <a:pt x="53397" y="1104899"/>
                  </a:lnTo>
                  <a:lnTo>
                    <a:pt x="49680" y="1104411"/>
                  </a:lnTo>
                  <a:lnTo>
                    <a:pt x="14084" y="1079042"/>
                  </a:lnTo>
                  <a:lnTo>
                    <a:pt x="366" y="1038658"/>
                  </a:lnTo>
                  <a:lnTo>
                    <a:pt x="0" y="1033703"/>
                  </a:lnTo>
                  <a:lnTo>
                    <a:pt x="0" y="1028699"/>
                  </a:lnTo>
                  <a:lnTo>
                    <a:pt x="0" y="71196"/>
                  </a:lnTo>
                  <a:lnTo>
                    <a:pt x="11715" y="29705"/>
                  </a:lnTo>
                  <a:lnTo>
                    <a:pt x="42319" y="2440"/>
                  </a:lnTo>
                  <a:lnTo>
                    <a:pt x="53397" y="0"/>
                  </a:lnTo>
                  <a:lnTo>
                    <a:pt x="1071803" y="0"/>
                  </a:lnTo>
                  <a:lnTo>
                    <a:pt x="1113292" y="15621"/>
                  </a:lnTo>
                  <a:lnTo>
                    <a:pt x="1139112" y="51661"/>
                  </a:lnTo>
                  <a:lnTo>
                    <a:pt x="1142999" y="71196"/>
                  </a:lnTo>
                  <a:lnTo>
                    <a:pt x="1142999" y="1033703"/>
                  </a:lnTo>
                  <a:lnTo>
                    <a:pt x="1127376" y="1075193"/>
                  </a:lnTo>
                  <a:lnTo>
                    <a:pt x="1091336" y="1101013"/>
                  </a:lnTo>
                  <a:lnTo>
                    <a:pt x="1076757" y="1104411"/>
                  </a:lnTo>
                  <a:lnTo>
                    <a:pt x="1071803" y="1104899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9153523" y="3734077"/>
              <a:ext cx="70485" cy="1104900"/>
            </a:xfrm>
            <a:custGeom>
              <a:avLst/>
              <a:gdLst/>
              <a:ahLst/>
              <a:cxnLst/>
              <a:rect l="l" t="t" r="r" b="b"/>
              <a:pathLst>
                <a:path w="70484" h="1104900">
                  <a:moveTo>
                    <a:pt x="70449" y="1104344"/>
                  </a:moveTo>
                  <a:lnTo>
                    <a:pt x="33857" y="1091791"/>
                  </a:lnTo>
                  <a:lnTo>
                    <a:pt x="5800" y="1057582"/>
                  </a:lnTo>
                  <a:lnTo>
                    <a:pt x="0" y="1028422"/>
                  </a:lnTo>
                  <a:lnTo>
                    <a:pt x="0" y="75922"/>
                  </a:lnTo>
                  <a:lnTo>
                    <a:pt x="12830" y="33579"/>
                  </a:lnTo>
                  <a:lnTo>
                    <a:pt x="47039" y="5522"/>
                  </a:lnTo>
                  <a:lnTo>
                    <a:pt x="70448" y="0"/>
                  </a:lnTo>
                  <a:lnTo>
                    <a:pt x="66287" y="1655"/>
                  </a:lnTo>
                  <a:lnTo>
                    <a:pt x="56951" y="9389"/>
                  </a:lnTo>
                  <a:lnTo>
                    <a:pt x="40999" y="46761"/>
                  </a:lnTo>
                  <a:lnTo>
                    <a:pt x="38100" y="75922"/>
                  </a:lnTo>
                  <a:lnTo>
                    <a:pt x="38100" y="1028422"/>
                  </a:lnTo>
                  <a:lnTo>
                    <a:pt x="44515" y="1070764"/>
                  </a:lnTo>
                  <a:lnTo>
                    <a:pt x="66287" y="1102688"/>
                  </a:lnTo>
                  <a:lnTo>
                    <a:pt x="70449" y="1104344"/>
                  </a:lnTo>
                  <a:close/>
                </a:path>
              </a:pathLst>
            </a:custGeom>
            <a:solidFill>
              <a:srgbClr val="4ADE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9326561" y="3868022"/>
            <a:ext cx="368935" cy="2038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50" spc="-45" dirty="0">
                <a:solidFill>
                  <a:srgbClr val="9CA2AF"/>
                </a:solidFill>
                <a:latin typeface="Arial MT"/>
                <a:cs typeface="Arial MT"/>
              </a:rPr>
              <a:t>Width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9326561" y="4084084"/>
            <a:ext cx="485775" cy="3219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50" b="1" spc="-65" dirty="0">
                <a:solidFill>
                  <a:srgbClr val="4ADE80"/>
                </a:solidFill>
                <a:latin typeface="Gadugi"/>
                <a:cs typeface="Gadugi"/>
              </a:rPr>
              <a:t>0.15</a:t>
            </a:r>
            <a:endParaRPr sz="1950">
              <a:latin typeface="Gadugi"/>
              <a:cs typeface="Gadug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9326561" y="4437379"/>
            <a:ext cx="711200" cy="2292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00" spc="-85" dirty="0">
                <a:solidFill>
                  <a:srgbClr val="D0D5DA"/>
                </a:solidFill>
                <a:latin typeface="Arial MT"/>
                <a:cs typeface="Arial MT"/>
              </a:rPr>
              <a:t>Box</a:t>
            </a:r>
            <a:r>
              <a:rPr sz="1300" spc="-45" dirty="0">
                <a:solidFill>
                  <a:srgbClr val="D0D5DA"/>
                </a:solidFill>
                <a:latin typeface="Arial MT"/>
                <a:cs typeface="Arial MT"/>
              </a:rPr>
              <a:t> Width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10429873" y="3733799"/>
            <a:ext cx="1162050" cy="1104900"/>
            <a:chOff x="10429873" y="3733799"/>
            <a:chExt cx="1162050" cy="1104900"/>
          </a:xfrm>
        </p:grpSpPr>
        <p:sp>
          <p:nvSpPr>
            <p:cNvPr id="49" name="object 49"/>
            <p:cNvSpPr/>
            <p:nvPr/>
          </p:nvSpPr>
          <p:spPr>
            <a:xfrm>
              <a:off x="10448923" y="3733799"/>
              <a:ext cx="1143000" cy="1104900"/>
            </a:xfrm>
            <a:custGeom>
              <a:avLst/>
              <a:gdLst/>
              <a:ahLst/>
              <a:cxnLst/>
              <a:rect l="l" t="t" r="r" b="b"/>
              <a:pathLst>
                <a:path w="1143000" h="1104900">
                  <a:moveTo>
                    <a:pt x="1071803" y="1104899"/>
                  </a:moveTo>
                  <a:lnTo>
                    <a:pt x="53396" y="1104899"/>
                  </a:lnTo>
                  <a:lnTo>
                    <a:pt x="49679" y="1104411"/>
                  </a:lnTo>
                  <a:lnTo>
                    <a:pt x="14082" y="1079042"/>
                  </a:lnTo>
                  <a:lnTo>
                    <a:pt x="366" y="1038658"/>
                  </a:lnTo>
                  <a:lnTo>
                    <a:pt x="0" y="1033703"/>
                  </a:lnTo>
                  <a:lnTo>
                    <a:pt x="0" y="1028699"/>
                  </a:lnTo>
                  <a:lnTo>
                    <a:pt x="0" y="71196"/>
                  </a:lnTo>
                  <a:lnTo>
                    <a:pt x="11714" y="29705"/>
                  </a:lnTo>
                  <a:lnTo>
                    <a:pt x="42319" y="2440"/>
                  </a:lnTo>
                  <a:lnTo>
                    <a:pt x="53396" y="0"/>
                  </a:lnTo>
                  <a:lnTo>
                    <a:pt x="1071803" y="0"/>
                  </a:lnTo>
                  <a:lnTo>
                    <a:pt x="1113293" y="15621"/>
                  </a:lnTo>
                  <a:lnTo>
                    <a:pt x="1139112" y="51661"/>
                  </a:lnTo>
                  <a:lnTo>
                    <a:pt x="1142999" y="71196"/>
                  </a:lnTo>
                  <a:lnTo>
                    <a:pt x="1142999" y="1033703"/>
                  </a:lnTo>
                  <a:lnTo>
                    <a:pt x="1127376" y="1075193"/>
                  </a:lnTo>
                  <a:lnTo>
                    <a:pt x="1091336" y="1101013"/>
                  </a:lnTo>
                  <a:lnTo>
                    <a:pt x="1076757" y="1104411"/>
                  </a:lnTo>
                  <a:lnTo>
                    <a:pt x="1071803" y="1104899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0429873" y="3734077"/>
              <a:ext cx="70485" cy="1104900"/>
            </a:xfrm>
            <a:custGeom>
              <a:avLst/>
              <a:gdLst/>
              <a:ahLst/>
              <a:cxnLst/>
              <a:rect l="l" t="t" r="r" b="b"/>
              <a:pathLst>
                <a:path w="70484" h="1104900">
                  <a:moveTo>
                    <a:pt x="70450" y="1104344"/>
                  </a:moveTo>
                  <a:lnTo>
                    <a:pt x="33856" y="1091791"/>
                  </a:lnTo>
                  <a:lnTo>
                    <a:pt x="5799" y="1057582"/>
                  </a:lnTo>
                  <a:lnTo>
                    <a:pt x="0" y="1028422"/>
                  </a:lnTo>
                  <a:lnTo>
                    <a:pt x="0" y="75922"/>
                  </a:lnTo>
                  <a:lnTo>
                    <a:pt x="12829" y="33579"/>
                  </a:lnTo>
                  <a:lnTo>
                    <a:pt x="47038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1" y="9389"/>
                  </a:lnTo>
                  <a:lnTo>
                    <a:pt x="40999" y="46761"/>
                  </a:lnTo>
                  <a:lnTo>
                    <a:pt x="38100" y="75922"/>
                  </a:lnTo>
                  <a:lnTo>
                    <a:pt x="38100" y="1028422"/>
                  </a:lnTo>
                  <a:lnTo>
                    <a:pt x="44514" y="1070764"/>
                  </a:lnTo>
                  <a:lnTo>
                    <a:pt x="66287" y="1102688"/>
                  </a:lnTo>
                  <a:lnTo>
                    <a:pt x="70450" y="1104344"/>
                  </a:lnTo>
                  <a:close/>
                </a:path>
              </a:pathLst>
            </a:custGeom>
            <a:solidFill>
              <a:srgbClr val="FACC1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10605144" y="3868022"/>
            <a:ext cx="415925" cy="2038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50" spc="-40" dirty="0">
                <a:solidFill>
                  <a:srgbClr val="9CA2AF"/>
                </a:solidFill>
                <a:latin typeface="Arial MT"/>
                <a:cs typeface="Arial MT"/>
              </a:rPr>
              <a:t>Height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0605144" y="4083998"/>
            <a:ext cx="485775" cy="3219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50" b="1" spc="-65" dirty="0">
                <a:solidFill>
                  <a:srgbClr val="FACC15"/>
                </a:solidFill>
                <a:latin typeface="Gadugi"/>
                <a:cs typeface="Gadugi"/>
              </a:rPr>
              <a:t>0.23</a:t>
            </a:r>
            <a:endParaRPr sz="1950">
              <a:latin typeface="Gadugi"/>
              <a:cs typeface="Gadug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0605144" y="4437379"/>
            <a:ext cx="765175" cy="2292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00" spc="-85" dirty="0">
                <a:solidFill>
                  <a:srgbClr val="D0D5DA"/>
                </a:solidFill>
                <a:latin typeface="Arial MT"/>
                <a:cs typeface="Arial MT"/>
              </a:rPr>
              <a:t>Box</a:t>
            </a:r>
            <a:r>
              <a:rPr sz="1300" spc="-4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300" spc="-40" dirty="0">
                <a:solidFill>
                  <a:srgbClr val="D0D5DA"/>
                </a:solidFill>
                <a:latin typeface="Arial MT"/>
                <a:cs typeface="Arial MT"/>
              </a:rPr>
              <a:t>Height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5314949" y="5029199"/>
            <a:ext cx="6276975" cy="476250"/>
            <a:chOff x="5314949" y="5029199"/>
            <a:chExt cx="6276975" cy="476250"/>
          </a:xfrm>
        </p:grpSpPr>
        <p:sp>
          <p:nvSpPr>
            <p:cNvPr id="55" name="object 55"/>
            <p:cNvSpPr/>
            <p:nvPr/>
          </p:nvSpPr>
          <p:spPr>
            <a:xfrm>
              <a:off x="5314949" y="5029199"/>
              <a:ext cx="6276975" cy="476250"/>
            </a:xfrm>
            <a:custGeom>
              <a:avLst/>
              <a:gdLst/>
              <a:ahLst/>
              <a:cxnLst/>
              <a:rect l="l" t="t" r="r" b="b"/>
              <a:pathLst>
                <a:path w="6276975" h="476250">
                  <a:moveTo>
                    <a:pt x="6200774" y="476249"/>
                  </a:moveTo>
                  <a:lnTo>
                    <a:pt x="76199" y="476249"/>
                  </a:lnTo>
                  <a:lnTo>
                    <a:pt x="68693" y="475887"/>
                  </a:lnTo>
                  <a:lnTo>
                    <a:pt x="27882" y="458982"/>
                  </a:lnTo>
                  <a:lnTo>
                    <a:pt x="3262" y="422135"/>
                  </a:lnTo>
                  <a:lnTo>
                    <a:pt x="0" y="400049"/>
                  </a:lnTo>
                  <a:lnTo>
                    <a:pt x="0" y="76199"/>
                  </a:lnTo>
                  <a:lnTo>
                    <a:pt x="12829" y="33856"/>
                  </a:lnTo>
                  <a:lnTo>
                    <a:pt x="47038" y="5800"/>
                  </a:lnTo>
                  <a:lnTo>
                    <a:pt x="76199" y="0"/>
                  </a:lnTo>
                  <a:lnTo>
                    <a:pt x="6200774" y="0"/>
                  </a:lnTo>
                  <a:lnTo>
                    <a:pt x="6243114" y="12829"/>
                  </a:lnTo>
                  <a:lnTo>
                    <a:pt x="6271172" y="47038"/>
                  </a:lnTo>
                  <a:lnTo>
                    <a:pt x="6276974" y="76199"/>
                  </a:lnTo>
                  <a:lnTo>
                    <a:pt x="6276974" y="400049"/>
                  </a:lnTo>
                  <a:lnTo>
                    <a:pt x="6264142" y="442391"/>
                  </a:lnTo>
                  <a:lnTo>
                    <a:pt x="6229932" y="470449"/>
                  </a:lnTo>
                  <a:lnTo>
                    <a:pt x="6200774" y="476249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314949" y="5029199"/>
              <a:ext cx="6276975" cy="476250"/>
            </a:xfrm>
            <a:custGeom>
              <a:avLst/>
              <a:gdLst/>
              <a:ahLst/>
              <a:cxnLst/>
              <a:rect l="l" t="t" r="r" b="b"/>
              <a:pathLst>
                <a:path w="6276975" h="476250">
                  <a:moveTo>
                    <a:pt x="6200774" y="476249"/>
                  </a:moveTo>
                  <a:lnTo>
                    <a:pt x="76199" y="476249"/>
                  </a:lnTo>
                  <a:lnTo>
                    <a:pt x="68693" y="475887"/>
                  </a:lnTo>
                  <a:lnTo>
                    <a:pt x="27882" y="458982"/>
                  </a:lnTo>
                  <a:lnTo>
                    <a:pt x="3262" y="422135"/>
                  </a:lnTo>
                  <a:lnTo>
                    <a:pt x="0" y="400049"/>
                  </a:lnTo>
                  <a:lnTo>
                    <a:pt x="0" y="76199"/>
                  </a:lnTo>
                  <a:lnTo>
                    <a:pt x="12829" y="33856"/>
                  </a:lnTo>
                  <a:lnTo>
                    <a:pt x="47038" y="5800"/>
                  </a:lnTo>
                  <a:lnTo>
                    <a:pt x="6200774" y="0"/>
                  </a:lnTo>
                  <a:lnTo>
                    <a:pt x="6208280" y="362"/>
                  </a:lnTo>
                  <a:lnTo>
                    <a:pt x="6237593" y="9524"/>
                  </a:lnTo>
                  <a:lnTo>
                    <a:pt x="71821" y="9524"/>
                  </a:lnTo>
                  <a:lnTo>
                    <a:pt x="67486" y="9951"/>
                  </a:lnTo>
                  <a:lnTo>
                    <a:pt x="32149" y="25957"/>
                  </a:lnTo>
                  <a:lnTo>
                    <a:pt x="11660" y="58898"/>
                  </a:lnTo>
                  <a:lnTo>
                    <a:pt x="9524" y="71821"/>
                  </a:lnTo>
                  <a:lnTo>
                    <a:pt x="9524" y="404427"/>
                  </a:lnTo>
                  <a:lnTo>
                    <a:pt x="9833" y="407556"/>
                  </a:lnTo>
                  <a:lnTo>
                    <a:pt x="9951" y="408763"/>
                  </a:lnTo>
                  <a:lnTo>
                    <a:pt x="25957" y="444100"/>
                  </a:lnTo>
                  <a:lnTo>
                    <a:pt x="58898" y="464589"/>
                  </a:lnTo>
                  <a:lnTo>
                    <a:pt x="71821" y="466724"/>
                  </a:lnTo>
                  <a:lnTo>
                    <a:pt x="6237592" y="466724"/>
                  </a:lnTo>
                  <a:lnTo>
                    <a:pt x="6236729" y="467241"/>
                  </a:lnTo>
                  <a:lnTo>
                    <a:pt x="6229932" y="470449"/>
                  </a:lnTo>
                  <a:lnTo>
                    <a:pt x="6222858" y="472986"/>
                  </a:lnTo>
                  <a:lnTo>
                    <a:pt x="6215641" y="474799"/>
                  </a:lnTo>
                  <a:lnTo>
                    <a:pt x="6208279" y="475887"/>
                  </a:lnTo>
                  <a:lnTo>
                    <a:pt x="6200774" y="476249"/>
                  </a:lnTo>
                  <a:close/>
                </a:path>
                <a:path w="6276975" h="476250">
                  <a:moveTo>
                    <a:pt x="6237592" y="466724"/>
                  </a:moveTo>
                  <a:lnTo>
                    <a:pt x="6205152" y="466724"/>
                  </a:lnTo>
                  <a:lnTo>
                    <a:pt x="6209488" y="466297"/>
                  </a:lnTo>
                  <a:lnTo>
                    <a:pt x="6218075" y="464589"/>
                  </a:lnTo>
                  <a:lnTo>
                    <a:pt x="6251015" y="444100"/>
                  </a:lnTo>
                  <a:lnTo>
                    <a:pt x="6267021" y="408763"/>
                  </a:lnTo>
                  <a:lnTo>
                    <a:pt x="6267449" y="404427"/>
                  </a:lnTo>
                  <a:lnTo>
                    <a:pt x="6267449" y="71821"/>
                  </a:lnTo>
                  <a:lnTo>
                    <a:pt x="6267140" y="68693"/>
                  </a:lnTo>
                  <a:lnTo>
                    <a:pt x="6267021" y="67486"/>
                  </a:lnTo>
                  <a:lnTo>
                    <a:pt x="6251015" y="32149"/>
                  </a:lnTo>
                  <a:lnTo>
                    <a:pt x="6218075" y="11660"/>
                  </a:lnTo>
                  <a:lnTo>
                    <a:pt x="6205152" y="9524"/>
                  </a:lnTo>
                  <a:lnTo>
                    <a:pt x="6237593" y="9524"/>
                  </a:lnTo>
                  <a:lnTo>
                    <a:pt x="6267965" y="40242"/>
                  </a:lnTo>
                  <a:lnTo>
                    <a:pt x="6276974" y="400049"/>
                  </a:lnTo>
                  <a:lnTo>
                    <a:pt x="6276611" y="407556"/>
                  </a:lnTo>
                  <a:lnTo>
                    <a:pt x="6259706" y="448366"/>
                  </a:lnTo>
                  <a:lnTo>
                    <a:pt x="6243242" y="463324"/>
                  </a:lnTo>
                  <a:lnTo>
                    <a:pt x="6237592" y="466724"/>
                  </a:lnTo>
                  <a:close/>
                </a:path>
              </a:pathLst>
            </a:custGeom>
            <a:solidFill>
              <a:srgbClr val="FFD6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60665" y="5172074"/>
              <a:ext cx="133350" cy="190500"/>
            </a:xfrm>
            <a:prstGeom prst="rect">
              <a:avLst/>
            </a:prstGeom>
          </p:spPr>
        </p:pic>
      </p:grpSp>
      <p:sp>
        <p:nvSpPr>
          <p:cNvPr id="58" name="object 58"/>
          <p:cNvSpPr txBox="1"/>
          <p:nvPr/>
        </p:nvSpPr>
        <p:spPr>
          <a:xfrm>
            <a:off x="5843239" y="5132704"/>
            <a:ext cx="3085465" cy="2292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00" spc="-55" dirty="0">
                <a:solidFill>
                  <a:srgbClr val="D0D5DA"/>
                </a:solidFill>
                <a:latin typeface="Arial MT"/>
                <a:cs typeface="Arial MT"/>
              </a:rPr>
              <a:t>Coordinates</a:t>
            </a:r>
            <a:r>
              <a:rPr sz="1300" spc="-4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300" spc="-75" dirty="0">
                <a:solidFill>
                  <a:srgbClr val="D0D5DA"/>
                </a:solidFill>
                <a:latin typeface="Arial MT"/>
                <a:cs typeface="Arial MT"/>
              </a:rPr>
              <a:t>are</a:t>
            </a:r>
            <a:r>
              <a:rPr sz="1300" spc="-4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300" spc="-45" dirty="0">
                <a:solidFill>
                  <a:srgbClr val="D0D5DA"/>
                </a:solidFill>
                <a:latin typeface="Arial MT"/>
                <a:cs typeface="Arial MT"/>
              </a:rPr>
              <a:t>relative </a:t>
            </a:r>
            <a:r>
              <a:rPr sz="1300" spc="-10" dirty="0">
                <a:solidFill>
                  <a:srgbClr val="D0D5DA"/>
                </a:solidFill>
                <a:latin typeface="Arial MT"/>
                <a:cs typeface="Arial MT"/>
              </a:rPr>
              <a:t>to</a:t>
            </a:r>
            <a:r>
              <a:rPr sz="1300" spc="-4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300" spc="-50" dirty="0">
                <a:solidFill>
                  <a:srgbClr val="D0D5DA"/>
                </a:solidFill>
                <a:latin typeface="Arial MT"/>
                <a:cs typeface="Arial MT"/>
              </a:rPr>
              <a:t>image</a:t>
            </a:r>
            <a:r>
              <a:rPr sz="1300" spc="-40" dirty="0">
                <a:solidFill>
                  <a:srgbClr val="D0D5DA"/>
                </a:solidFill>
                <a:latin typeface="Arial MT"/>
                <a:cs typeface="Arial MT"/>
              </a:rPr>
              <a:t> dimensions</a:t>
            </a:r>
            <a:endParaRPr sz="1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66" y="0"/>
            <a:ext cx="12186168" cy="6869430"/>
          </a:xfrm>
          <a:custGeom>
            <a:avLst/>
            <a:gdLst/>
            <a:ahLst/>
            <a:cxnLst/>
            <a:rect l="l" t="t" r="r" b="b"/>
            <a:pathLst>
              <a:path w="11860530" h="6869430">
                <a:moveTo>
                  <a:pt x="11860493" y="6869153"/>
                </a:moveTo>
                <a:lnTo>
                  <a:pt x="0" y="6869153"/>
                </a:lnTo>
                <a:lnTo>
                  <a:pt x="0" y="0"/>
                </a:lnTo>
                <a:lnTo>
                  <a:pt x="11860493" y="0"/>
                </a:lnTo>
                <a:lnTo>
                  <a:pt x="11860493" y="6869153"/>
                </a:lnTo>
                <a:close/>
              </a:path>
            </a:pathLst>
          </a:custGeom>
          <a:solidFill>
            <a:srgbClr val="0932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266" y="769078"/>
            <a:ext cx="11860530" cy="19050"/>
          </a:xfrm>
          <a:custGeom>
            <a:avLst/>
            <a:gdLst/>
            <a:ahLst/>
            <a:cxnLst/>
            <a:rect l="l" t="t" r="r" b="b"/>
            <a:pathLst>
              <a:path w="11860530" h="19050">
                <a:moveTo>
                  <a:pt x="11860494" y="18532"/>
                </a:moveTo>
                <a:lnTo>
                  <a:pt x="0" y="18532"/>
                </a:lnTo>
                <a:lnTo>
                  <a:pt x="0" y="0"/>
                </a:lnTo>
                <a:lnTo>
                  <a:pt x="11860494" y="0"/>
                </a:lnTo>
                <a:lnTo>
                  <a:pt x="11860494" y="18532"/>
                </a:lnTo>
                <a:close/>
              </a:path>
            </a:pathLst>
          </a:custGeom>
          <a:solidFill>
            <a:srgbClr val="FFD600">
              <a:alpha val="3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6034">
              <a:lnSpc>
                <a:spcPct val="100000"/>
              </a:lnSpc>
              <a:spcBef>
                <a:spcPts val="120"/>
              </a:spcBef>
            </a:pPr>
            <a:r>
              <a:rPr sz="3350" spc="-365" dirty="0"/>
              <a:t>Methodology</a:t>
            </a:r>
            <a:r>
              <a:rPr sz="3350" spc="-270" dirty="0"/>
              <a:t> </a:t>
            </a:r>
            <a:r>
              <a:rPr sz="3350" spc="-340" dirty="0"/>
              <a:t>Pipeline</a:t>
            </a:r>
            <a:endParaRPr sz="3350"/>
          </a:p>
        </p:txBody>
      </p:sp>
      <p:sp>
        <p:nvSpPr>
          <p:cNvPr id="5" name="object 5"/>
          <p:cNvSpPr/>
          <p:nvPr/>
        </p:nvSpPr>
        <p:spPr>
          <a:xfrm>
            <a:off x="5170434" y="1528891"/>
            <a:ext cx="1186180" cy="37465"/>
          </a:xfrm>
          <a:custGeom>
            <a:avLst/>
            <a:gdLst/>
            <a:ahLst/>
            <a:cxnLst/>
            <a:rect l="l" t="t" r="r" b="b"/>
            <a:pathLst>
              <a:path w="1186179" h="37465">
                <a:moveTo>
                  <a:pt x="1186049" y="37064"/>
                </a:moveTo>
                <a:lnTo>
                  <a:pt x="0" y="37064"/>
                </a:lnTo>
                <a:lnTo>
                  <a:pt x="0" y="0"/>
                </a:lnTo>
                <a:lnTo>
                  <a:pt x="1186049" y="0"/>
                </a:lnTo>
                <a:lnTo>
                  <a:pt x="1186049" y="37064"/>
                </a:lnTo>
                <a:close/>
              </a:path>
            </a:pathLst>
          </a:custGeom>
          <a:solidFill>
            <a:srgbClr val="FFD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155851" y="1018340"/>
            <a:ext cx="2675890" cy="4006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450" b="1" spc="-165" dirty="0">
                <a:solidFill>
                  <a:srgbClr val="FFFFFF"/>
                </a:solidFill>
                <a:latin typeface="Trebuchet MS"/>
                <a:cs typeface="Trebuchet MS"/>
              </a:rPr>
              <a:t>End-</a:t>
            </a:r>
            <a:r>
              <a:rPr sz="2450" b="1" spc="-160" dirty="0">
                <a:solidFill>
                  <a:srgbClr val="FFFFFF"/>
                </a:solidFill>
                <a:latin typeface="Trebuchet MS"/>
                <a:cs typeface="Trebuchet MS"/>
              </a:rPr>
              <a:t>to-</a:t>
            </a:r>
            <a:r>
              <a:rPr sz="2450" b="1" spc="-204" dirty="0">
                <a:solidFill>
                  <a:srgbClr val="FFFFFF"/>
                </a:solidFill>
                <a:latin typeface="Trebuchet MS"/>
                <a:cs typeface="Trebuchet MS"/>
              </a:rPr>
              <a:t>End</a:t>
            </a:r>
            <a:r>
              <a:rPr sz="2450" b="1" spc="-1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50" b="1" spc="-195" dirty="0">
                <a:solidFill>
                  <a:srgbClr val="FFFFFF"/>
                </a:solidFill>
                <a:latin typeface="Trebuchet MS"/>
                <a:cs typeface="Trebuchet MS"/>
              </a:rPr>
              <a:t>Workflow</a:t>
            </a:r>
            <a:endParaRPr sz="245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170433" y="1751276"/>
            <a:ext cx="1936750" cy="1816735"/>
            <a:chOff x="5170433" y="1751276"/>
            <a:chExt cx="1936750" cy="1816735"/>
          </a:xfrm>
        </p:grpSpPr>
        <p:sp>
          <p:nvSpPr>
            <p:cNvPr id="8" name="object 8"/>
            <p:cNvSpPr/>
            <p:nvPr/>
          </p:nvSpPr>
          <p:spPr>
            <a:xfrm>
              <a:off x="5170433" y="1751276"/>
              <a:ext cx="1936750" cy="1816735"/>
            </a:xfrm>
            <a:custGeom>
              <a:avLst/>
              <a:gdLst/>
              <a:ahLst/>
              <a:cxnLst/>
              <a:rect l="l" t="t" r="r" b="b"/>
              <a:pathLst>
                <a:path w="1936750" h="1816735">
                  <a:moveTo>
                    <a:pt x="1825403" y="1816137"/>
                  </a:moveTo>
                  <a:lnTo>
                    <a:pt x="111192" y="1816137"/>
                  </a:lnTo>
                  <a:lnTo>
                    <a:pt x="100238" y="1815608"/>
                  </a:lnTo>
                  <a:lnTo>
                    <a:pt x="58723" y="1802993"/>
                  </a:lnTo>
                  <a:lnTo>
                    <a:pt x="25196" y="1775450"/>
                  </a:lnTo>
                  <a:lnTo>
                    <a:pt x="4760" y="1737174"/>
                  </a:lnTo>
                  <a:lnTo>
                    <a:pt x="0" y="1704945"/>
                  </a:lnTo>
                  <a:lnTo>
                    <a:pt x="0" y="111192"/>
                  </a:lnTo>
                  <a:lnTo>
                    <a:pt x="8463" y="68640"/>
                  </a:lnTo>
                  <a:lnTo>
                    <a:pt x="32567" y="32567"/>
                  </a:lnTo>
                  <a:lnTo>
                    <a:pt x="68640" y="8463"/>
                  </a:lnTo>
                  <a:lnTo>
                    <a:pt x="111192" y="0"/>
                  </a:lnTo>
                  <a:lnTo>
                    <a:pt x="1825403" y="0"/>
                  </a:lnTo>
                  <a:lnTo>
                    <a:pt x="1867954" y="8463"/>
                  </a:lnTo>
                  <a:lnTo>
                    <a:pt x="1904028" y="32567"/>
                  </a:lnTo>
                  <a:lnTo>
                    <a:pt x="1928131" y="68640"/>
                  </a:lnTo>
                  <a:lnTo>
                    <a:pt x="1936596" y="111192"/>
                  </a:lnTo>
                  <a:lnTo>
                    <a:pt x="1936596" y="1704945"/>
                  </a:lnTo>
                  <a:lnTo>
                    <a:pt x="1928131" y="1747496"/>
                  </a:lnTo>
                  <a:lnTo>
                    <a:pt x="1904028" y="1783570"/>
                  </a:lnTo>
                  <a:lnTo>
                    <a:pt x="1867954" y="1807673"/>
                  </a:lnTo>
                  <a:lnTo>
                    <a:pt x="1825403" y="1816137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170434" y="1751276"/>
              <a:ext cx="1936750" cy="1816735"/>
            </a:xfrm>
            <a:custGeom>
              <a:avLst/>
              <a:gdLst/>
              <a:ahLst/>
              <a:cxnLst/>
              <a:rect l="l" t="t" r="r" b="b"/>
              <a:pathLst>
                <a:path w="1936750" h="1816735">
                  <a:moveTo>
                    <a:pt x="1825403" y="1816137"/>
                  </a:moveTo>
                  <a:lnTo>
                    <a:pt x="111192" y="1816137"/>
                  </a:lnTo>
                  <a:lnTo>
                    <a:pt x="100238" y="1815608"/>
                  </a:lnTo>
                  <a:lnTo>
                    <a:pt x="58723" y="1802993"/>
                  </a:lnTo>
                  <a:lnTo>
                    <a:pt x="25196" y="1775450"/>
                  </a:lnTo>
                  <a:lnTo>
                    <a:pt x="4760" y="1737174"/>
                  </a:lnTo>
                  <a:lnTo>
                    <a:pt x="0" y="1704945"/>
                  </a:lnTo>
                  <a:lnTo>
                    <a:pt x="0" y="111192"/>
                  </a:lnTo>
                  <a:lnTo>
                    <a:pt x="8463" y="68640"/>
                  </a:lnTo>
                  <a:lnTo>
                    <a:pt x="32567" y="32567"/>
                  </a:lnTo>
                  <a:lnTo>
                    <a:pt x="68640" y="8463"/>
                  </a:lnTo>
                  <a:lnTo>
                    <a:pt x="111192" y="0"/>
                  </a:lnTo>
                  <a:lnTo>
                    <a:pt x="1825403" y="0"/>
                  </a:lnTo>
                  <a:lnTo>
                    <a:pt x="1867954" y="8463"/>
                  </a:lnTo>
                  <a:lnTo>
                    <a:pt x="1886873" y="18532"/>
                  </a:lnTo>
                  <a:lnTo>
                    <a:pt x="105108" y="18532"/>
                  </a:lnTo>
                  <a:lnTo>
                    <a:pt x="99082" y="19125"/>
                  </a:lnTo>
                  <a:lnTo>
                    <a:pt x="54654" y="37528"/>
                  </a:lnTo>
                  <a:lnTo>
                    <a:pt x="27913" y="70111"/>
                  </a:lnTo>
                  <a:lnTo>
                    <a:pt x="18532" y="105107"/>
                  </a:lnTo>
                  <a:lnTo>
                    <a:pt x="18532" y="1711030"/>
                  </a:lnTo>
                  <a:lnTo>
                    <a:pt x="30767" y="1751365"/>
                  </a:lnTo>
                  <a:lnTo>
                    <a:pt x="64771" y="1785369"/>
                  </a:lnTo>
                  <a:lnTo>
                    <a:pt x="105108" y="1797605"/>
                  </a:lnTo>
                  <a:lnTo>
                    <a:pt x="1886872" y="1797605"/>
                  </a:lnTo>
                  <a:lnTo>
                    <a:pt x="1877872" y="1802993"/>
                  </a:lnTo>
                  <a:lnTo>
                    <a:pt x="1867954" y="1807673"/>
                  </a:lnTo>
                  <a:lnTo>
                    <a:pt x="1857632" y="1811376"/>
                  </a:lnTo>
                  <a:lnTo>
                    <a:pt x="1847100" y="1814021"/>
                  </a:lnTo>
                  <a:lnTo>
                    <a:pt x="1836357" y="1815608"/>
                  </a:lnTo>
                  <a:lnTo>
                    <a:pt x="1825403" y="1816137"/>
                  </a:lnTo>
                  <a:close/>
                </a:path>
                <a:path w="1936750" h="1816735">
                  <a:moveTo>
                    <a:pt x="1886872" y="1797605"/>
                  </a:moveTo>
                  <a:lnTo>
                    <a:pt x="1831488" y="1797605"/>
                  </a:lnTo>
                  <a:lnTo>
                    <a:pt x="1837513" y="1797012"/>
                  </a:lnTo>
                  <a:lnTo>
                    <a:pt x="1849448" y="1794638"/>
                  </a:lnTo>
                  <a:lnTo>
                    <a:pt x="1886622" y="1774768"/>
                  </a:lnTo>
                  <a:lnTo>
                    <a:pt x="1913338" y="1734784"/>
                  </a:lnTo>
                  <a:lnTo>
                    <a:pt x="1918063" y="1711030"/>
                  </a:lnTo>
                  <a:lnTo>
                    <a:pt x="1918063" y="105107"/>
                  </a:lnTo>
                  <a:lnTo>
                    <a:pt x="1917584" y="100238"/>
                  </a:lnTo>
                  <a:lnTo>
                    <a:pt x="1917470" y="99082"/>
                  </a:lnTo>
                  <a:lnTo>
                    <a:pt x="1899067" y="54654"/>
                  </a:lnTo>
                  <a:lnTo>
                    <a:pt x="1866484" y="27913"/>
                  </a:lnTo>
                  <a:lnTo>
                    <a:pt x="1831488" y="18532"/>
                  </a:lnTo>
                  <a:lnTo>
                    <a:pt x="1886873" y="18532"/>
                  </a:lnTo>
                  <a:lnTo>
                    <a:pt x="1917873" y="49405"/>
                  </a:lnTo>
                  <a:lnTo>
                    <a:pt x="1934479" y="89495"/>
                  </a:lnTo>
                  <a:lnTo>
                    <a:pt x="1936596" y="111192"/>
                  </a:lnTo>
                  <a:lnTo>
                    <a:pt x="1936596" y="1704945"/>
                  </a:lnTo>
                  <a:lnTo>
                    <a:pt x="1928131" y="1747496"/>
                  </a:lnTo>
                  <a:lnTo>
                    <a:pt x="1904028" y="1783570"/>
                  </a:lnTo>
                  <a:lnTo>
                    <a:pt x="1887190" y="1797415"/>
                  </a:lnTo>
                  <a:lnTo>
                    <a:pt x="1886872" y="1797605"/>
                  </a:lnTo>
                  <a:close/>
                </a:path>
              </a:pathLst>
            </a:custGeom>
            <a:solidFill>
              <a:srgbClr val="FFD600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837587" y="1918064"/>
              <a:ext cx="593090" cy="593090"/>
            </a:xfrm>
            <a:custGeom>
              <a:avLst/>
              <a:gdLst/>
              <a:ahLst/>
              <a:cxnLst/>
              <a:rect l="l" t="t" r="r" b="b"/>
              <a:pathLst>
                <a:path w="593089" h="593089">
                  <a:moveTo>
                    <a:pt x="296512" y="593024"/>
                  </a:moveTo>
                  <a:lnTo>
                    <a:pt x="253004" y="589815"/>
                  </a:lnTo>
                  <a:lnTo>
                    <a:pt x="210438" y="580256"/>
                  </a:lnTo>
                  <a:lnTo>
                    <a:pt x="169735" y="564556"/>
                  </a:lnTo>
                  <a:lnTo>
                    <a:pt x="131778" y="543052"/>
                  </a:lnTo>
                  <a:lnTo>
                    <a:pt x="97386" y="516213"/>
                  </a:lnTo>
                  <a:lnTo>
                    <a:pt x="67305" y="484617"/>
                  </a:lnTo>
                  <a:lnTo>
                    <a:pt x="42184" y="448949"/>
                  </a:lnTo>
                  <a:lnTo>
                    <a:pt x="22570" y="409982"/>
                  </a:lnTo>
                  <a:lnTo>
                    <a:pt x="8885" y="368558"/>
                  </a:lnTo>
                  <a:lnTo>
                    <a:pt x="1427" y="325575"/>
                  </a:lnTo>
                  <a:lnTo>
                    <a:pt x="0" y="296512"/>
                  </a:lnTo>
                  <a:lnTo>
                    <a:pt x="357" y="281963"/>
                  </a:lnTo>
                  <a:lnTo>
                    <a:pt x="5697" y="238665"/>
                  </a:lnTo>
                  <a:lnTo>
                    <a:pt x="17332" y="196620"/>
                  </a:lnTo>
                  <a:lnTo>
                    <a:pt x="35011" y="156737"/>
                  </a:lnTo>
                  <a:lnTo>
                    <a:pt x="58351" y="119879"/>
                  </a:lnTo>
                  <a:lnTo>
                    <a:pt x="86846" y="86846"/>
                  </a:lnTo>
                  <a:lnTo>
                    <a:pt x="119879" y="58351"/>
                  </a:lnTo>
                  <a:lnTo>
                    <a:pt x="156736" y="35011"/>
                  </a:lnTo>
                  <a:lnTo>
                    <a:pt x="196619" y="17332"/>
                  </a:lnTo>
                  <a:lnTo>
                    <a:pt x="238664" y="5697"/>
                  </a:lnTo>
                  <a:lnTo>
                    <a:pt x="281963" y="357"/>
                  </a:lnTo>
                  <a:lnTo>
                    <a:pt x="296512" y="0"/>
                  </a:lnTo>
                  <a:lnTo>
                    <a:pt x="311061" y="357"/>
                  </a:lnTo>
                  <a:lnTo>
                    <a:pt x="354358" y="5697"/>
                  </a:lnTo>
                  <a:lnTo>
                    <a:pt x="396403" y="17332"/>
                  </a:lnTo>
                  <a:lnTo>
                    <a:pt x="436286" y="35011"/>
                  </a:lnTo>
                  <a:lnTo>
                    <a:pt x="473144" y="58351"/>
                  </a:lnTo>
                  <a:lnTo>
                    <a:pt x="506177" y="86846"/>
                  </a:lnTo>
                  <a:lnTo>
                    <a:pt x="534672" y="119879"/>
                  </a:lnTo>
                  <a:lnTo>
                    <a:pt x="558012" y="156737"/>
                  </a:lnTo>
                  <a:lnTo>
                    <a:pt x="575691" y="196620"/>
                  </a:lnTo>
                  <a:lnTo>
                    <a:pt x="587326" y="238665"/>
                  </a:lnTo>
                  <a:lnTo>
                    <a:pt x="592668" y="281963"/>
                  </a:lnTo>
                  <a:lnTo>
                    <a:pt x="593024" y="296512"/>
                  </a:lnTo>
                  <a:lnTo>
                    <a:pt x="592668" y="311061"/>
                  </a:lnTo>
                  <a:lnTo>
                    <a:pt x="587326" y="354358"/>
                  </a:lnTo>
                  <a:lnTo>
                    <a:pt x="575691" y="396404"/>
                  </a:lnTo>
                  <a:lnTo>
                    <a:pt x="558012" y="436286"/>
                  </a:lnTo>
                  <a:lnTo>
                    <a:pt x="534672" y="473144"/>
                  </a:lnTo>
                  <a:lnTo>
                    <a:pt x="506177" y="506177"/>
                  </a:lnTo>
                  <a:lnTo>
                    <a:pt x="473144" y="534673"/>
                  </a:lnTo>
                  <a:lnTo>
                    <a:pt x="436286" y="558012"/>
                  </a:lnTo>
                  <a:lnTo>
                    <a:pt x="396403" y="575692"/>
                  </a:lnTo>
                  <a:lnTo>
                    <a:pt x="354358" y="587327"/>
                  </a:lnTo>
                  <a:lnTo>
                    <a:pt x="311061" y="592667"/>
                  </a:lnTo>
                  <a:lnTo>
                    <a:pt x="296512" y="593024"/>
                  </a:lnTo>
                  <a:close/>
                </a:path>
              </a:pathLst>
            </a:custGeom>
            <a:solidFill>
              <a:srgbClr val="0932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11108" y="2089782"/>
              <a:ext cx="250824" cy="250824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5493916" y="2609349"/>
            <a:ext cx="1286510" cy="248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50" b="1" spc="-12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sz="145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50" b="1" spc="-110" dirty="0">
                <a:solidFill>
                  <a:srgbClr val="FFFFFF"/>
                </a:solidFill>
                <a:latin typeface="Arial"/>
                <a:cs typeface="Arial"/>
              </a:rPr>
              <a:t>Preparation</a:t>
            </a:r>
            <a:endParaRPr sz="14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481030" y="2911632"/>
            <a:ext cx="1312545" cy="47053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77520" marR="5080" indent="-465455">
              <a:lnSpc>
                <a:spcPct val="112200"/>
              </a:lnSpc>
              <a:spcBef>
                <a:spcPts val="95"/>
              </a:spcBef>
            </a:pPr>
            <a:r>
              <a:rPr sz="1300" spc="-70" dirty="0">
                <a:solidFill>
                  <a:srgbClr val="9CA2AF"/>
                </a:solidFill>
                <a:latin typeface="Arial MT"/>
                <a:cs typeface="Arial MT"/>
              </a:rPr>
              <a:t>Roboflow</a:t>
            </a:r>
            <a:r>
              <a:rPr sz="1300" spc="-35" dirty="0">
                <a:solidFill>
                  <a:srgbClr val="9CA2AF"/>
                </a:solidFill>
                <a:latin typeface="Arial MT"/>
                <a:cs typeface="Arial MT"/>
              </a:rPr>
              <a:t> </a:t>
            </a:r>
            <a:r>
              <a:rPr sz="1300" spc="-60" dirty="0">
                <a:solidFill>
                  <a:srgbClr val="9CA2AF"/>
                </a:solidFill>
                <a:latin typeface="Arial MT"/>
                <a:cs typeface="Arial MT"/>
              </a:rPr>
              <a:t>dataset</a:t>
            </a:r>
            <a:r>
              <a:rPr sz="1300" spc="-30" dirty="0">
                <a:solidFill>
                  <a:srgbClr val="9CA2AF"/>
                </a:solidFill>
                <a:latin typeface="Arial MT"/>
                <a:cs typeface="Arial MT"/>
              </a:rPr>
              <a:t> </a:t>
            </a:r>
            <a:r>
              <a:rPr sz="1300" spc="-155" dirty="0">
                <a:solidFill>
                  <a:srgbClr val="9CA2AF"/>
                </a:solidFill>
                <a:latin typeface="Arial MT"/>
                <a:cs typeface="Arial MT"/>
              </a:rPr>
              <a:t>&amp; </a:t>
            </a:r>
            <a:r>
              <a:rPr sz="1300" spc="-10" dirty="0">
                <a:solidFill>
                  <a:srgbClr val="9CA2AF"/>
                </a:solidFill>
                <a:latin typeface="Arial MT"/>
                <a:cs typeface="Arial MT"/>
              </a:rPr>
              <a:t>splits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255285" y="1751276"/>
            <a:ext cx="1936750" cy="1816735"/>
            <a:chOff x="7255285" y="1751276"/>
            <a:chExt cx="1936750" cy="1816735"/>
          </a:xfrm>
        </p:grpSpPr>
        <p:sp>
          <p:nvSpPr>
            <p:cNvPr id="15" name="object 15"/>
            <p:cNvSpPr/>
            <p:nvPr/>
          </p:nvSpPr>
          <p:spPr>
            <a:xfrm>
              <a:off x="7255285" y="1751276"/>
              <a:ext cx="1936750" cy="1816735"/>
            </a:xfrm>
            <a:custGeom>
              <a:avLst/>
              <a:gdLst/>
              <a:ahLst/>
              <a:cxnLst/>
              <a:rect l="l" t="t" r="r" b="b"/>
              <a:pathLst>
                <a:path w="1936750" h="1816735">
                  <a:moveTo>
                    <a:pt x="1825403" y="1816137"/>
                  </a:moveTo>
                  <a:lnTo>
                    <a:pt x="111192" y="1816137"/>
                  </a:lnTo>
                  <a:lnTo>
                    <a:pt x="100238" y="1815608"/>
                  </a:lnTo>
                  <a:lnTo>
                    <a:pt x="58722" y="1802993"/>
                  </a:lnTo>
                  <a:lnTo>
                    <a:pt x="25195" y="1775450"/>
                  </a:lnTo>
                  <a:lnTo>
                    <a:pt x="4760" y="1737174"/>
                  </a:lnTo>
                  <a:lnTo>
                    <a:pt x="0" y="1704945"/>
                  </a:lnTo>
                  <a:lnTo>
                    <a:pt x="0" y="111192"/>
                  </a:lnTo>
                  <a:lnTo>
                    <a:pt x="8463" y="68640"/>
                  </a:lnTo>
                  <a:lnTo>
                    <a:pt x="32567" y="32567"/>
                  </a:lnTo>
                  <a:lnTo>
                    <a:pt x="68640" y="8463"/>
                  </a:lnTo>
                  <a:lnTo>
                    <a:pt x="111192" y="0"/>
                  </a:lnTo>
                  <a:lnTo>
                    <a:pt x="1825403" y="0"/>
                  </a:lnTo>
                  <a:lnTo>
                    <a:pt x="1867954" y="8463"/>
                  </a:lnTo>
                  <a:lnTo>
                    <a:pt x="1904028" y="32567"/>
                  </a:lnTo>
                  <a:lnTo>
                    <a:pt x="1928131" y="68640"/>
                  </a:lnTo>
                  <a:lnTo>
                    <a:pt x="1936596" y="111192"/>
                  </a:lnTo>
                  <a:lnTo>
                    <a:pt x="1936596" y="1704945"/>
                  </a:lnTo>
                  <a:lnTo>
                    <a:pt x="1928131" y="1747496"/>
                  </a:lnTo>
                  <a:lnTo>
                    <a:pt x="1904028" y="1783570"/>
                  </a:lnTo>
                  <a:lnTo>
                    <a:pt x="1867954" y="1807673"/>
                  </a:lnTo>
                  <a:lnTo>
                    <a:pt x="1825403" y="1816137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255285" y="1751276"/>
              <a:ext cx="1936750" cy="1816735"/>
            </a:xfrm>
            <a:custGeom>
              <a:avLst/>
              <a:gdLst/>
              <a:ahLst/>
              <a:cxnLst/>
              <a:rect l="l" t="t" r="r" b="b"/>
              <a:pathLst>
                <a:path w="1936750" h="1816735">
                  <a:moveTo>
                    <a:pt x="1825403" y="1816137"/>
                  </a:moveTo>
                  <a:lnTo>
                    <a:pt x="111192" y="1816137"/>
                  </a:lnTo>
                  <a:lnTo>
                    <a:pt x="100238" y="1815608"/>
                  </a:lnTo>
                  <a:lnTo>
                    <a:pt x="58722" y="1802993"/>
                  </a:lnTo>
                  <a:lnTo>
                    <a:pt x="25195" y="1775450"/>
                  </a:lnTo>
                  <a:lnTo>
                    <a:pt x="4760" y="1737174"/>
                  </a:lnTo>
                  <a:lnTo>
                    <a:pt x="0" y="1704945"/>
                  </a:lnTo>
                  <a:lnTo>
                    <a:pt x="0" y="111192"/>
                  </a:lnTo>
                  <a:lnTo>
                    <a:pt x="8463" y="68640"/>
                  </a:lnTo>
                  <a:lnTo>
                    <a:pt x="32567" y="32567"/>
                  </a:lnTo>
                  <a:lnTo>
                    <a:pt x="68640" y="8463"/>
                  </a:lnTo>
                  <a:lnTo>
                    <a:pt x="111192" y="0"/>
                  </a:lnTo>
                  <a:lnTo>
                    <a:pt x="1825403" y="0"/>
                  </a:lnTo>
                  <a:lnTo>
                    <a:pt x="1867954" y="8463"/>
                  </a:lnTo>
                  <a:lnTo>
                    <a:pt x="1886872" y="18532"/>
                  </a:lnTo>
                  <a:lnTo>
                    <a:pt x="105108" y="18532"/>
                  </a:lnTo>
                  <a:lnTo>
                    <a:pt x="99082" y="19125"/>
                  </a:lnTo>
                  <a:lnTo>
                    <a:pt x="54654" y="37528"/>
                  </a:lnTo>
                  <a:lnTo>
                    <a:pt x="27913" y="70111"/>
                  </a:lnTo>
                  <a:lnTo>
                    <a:pt x="18532" y="105107"/>
                  </a:lnTo>
                  <a:lnTo>
                    <a:pt x="18532" y="1711030"/>
                  </a:lnTo>
                  <a:lnTo>
                    <a:pt x="30767" y="1751365"/>
                  </a:lnTo>
                  <a:lnTo>
                    <a:pt x="64771" y="1785369"/>
                  </a:lnTo>
                  <a:lnTo>
                    <a:pt x="105108" y="1797605"/>
                  </a:lnTo>
                  <a:lnTo>
                    <a:pt x="1886871" y="1797605"/>
                  </a:lnTo>
                  <a:lnTo>
                    <a:pt x="1877871" y="1802993"/>
                  </a:lnTo>
                  <a:lnTo>
                    <a:pt x="1867954" y="1807673"/>
                  </a:lnTo>
                  <a:lnTo>
                    <a:pt x="1857632" y="1811376"/>
                  </a:lnTo>
                  <a:lnTo>
                    <a:pt x="1847099" y="1814021"/>
                  </a:lnTo>
                  <a:lnTo>
                    <a:pt x="1836356" y="1815608"/>
                  </a:lnTo>
                  <a:lnTo>
                    <a:pt x="1825403" y="1816137"/>
                  </a:lnTo>
                  <a:close/>
                </a:path>
                <a:path w="1936750" h="1816735">
                  <a:moveTo>
                    <a:pt x="1886871" y="1797605"/>
                  </a:moveTo>
                  <a:lnTo>
                    <a:pt x="1831488" y="1797605"/>
                  </a:lnTo>
                  <a:lnTo>
                    <a:pt x="1837513" y="1797012"/>
                  </a:lnTo>
                  <a:lnTo>
                    <a:pt x="1849448" y="1794638"/>
                  </a:lnTo>
                  <a:lnTo>
                    <a:pt x="1886622" y="1774768"/>
                  </a:lnTo>
                  <a:lnTo>
                    <a:pt x="1913338" y="1734784"/>
                  </a:lnTo>
                  <a:lnTo>
                    <a:pt x="1918064" y="1711030"/>
                  </a:lnTo>
                  <a:lnTo>
                    <a:pt x="1918064" y="105107"/>
                  </a:lnTo>
                  <a:lnTo>
                    <a:pt x="1905827" y="64771"/>
                  </a:lnTo>
                  <a:lnTo>
                    <a:pt x="1871824" y="30767"/>
                  </a:lnTo>
                  <a:lnTo>
                    <a:pt x="1831488" y="18532"/>
                  </a:lnTo>
                  <a:lnTo>
                    <a:pt x="1886872" y="18532"/>
                  </a:lnTo>
                  <a:lnTo>
                    <a:pt x="1917873" y="49405"/>
                  </a:lnTo>
                  <a:lnTo>
                    <a:pt x="1934479" y="89495"/>
                  </a:lnTo>
                  <a:lnTo>
                    <a:pt x="1936596" y="111192"/>
                  </a:lnTo>
                  <a:lnTo>
                    <a:pt x="1936596" y="1704945"/>
                  </a:lnTo>
                  <a:lnTo>
                    <a:pt x="1928131" y="1747496"/>
                  </a:lnTo>
                  <a:lnTo>
                    <a:pt x="1904028" y="1783570"/>
                  </a:lnTo>
                  <a:lnTo>
                    <a:pt x="1887189" y="1797415"/>
                  </a:lnTo>
                  <a:lnTo>
                    <a:pt x="1886871" y="1797605"/>
                  </a:lnTo>
                  <a:close/>
                </a:path>
              </a:pathLst>
            </a:custGeom>
            <a:solidFill>
              <a:srgbClr val="60A5FA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922439" y="1918064"/>
              <a:ext cx="593090" cy="593090"/>
            </a:xfrm>
            <a:custGeom>
              <a:avLst/>
              <a:gdLst/>
              <a:ahLst/>
              <a:cxnLst/>
              <a:rect l="l" t="t" r="r" b="b"/>
              <a:pathLst>
                <a:path w="593090" h="593089">
                  <a:moveTo>
                    <a:pt x="296512" y="593024"/>
                  </a:moveTo>
                  <a:lnTo>
                    <a:pt x="253005" y="589815"/>
                  </a:lnTo>
                  <a:lnTo>
                    <a:pt x="210438" y="580256"/>
                  </a:lnTo>
                  <a:lnTo>
                    <a:pt x="169736" y="564556"/>
                  </a:lnTo>
                  <a:lnTo>
                    <a:pt x="131777" y="543052"/>
                  </a:lnTo>
                  <a:lnTo>
                    <a:pt x="97386" y="516213"/>
                  </a:lnTo>
                  <a:lnTo>
                    <a:pt x="67305" y="484617"/>
                  </a:lnTo>
                  <a:lnTo>
                    <a:pt x="42185" y="448949"/>
                  </a:lnTo>
                  <a:lnTo>
                    <a:pt x="22570" y="409982"/>
                  </a:lnTo>
                  <a:lnTo>
                    <a:pt x="8885" y="368558"/>
                  </a:lnTo>
                  <a:lnTo>
                    <a:pt x="1427" y="325575"/>
                  </a:lnTo>
                  <a:lnTo>
                    <a:pt x="0" y="296512"/>
                  </a:lnTo>
                  <a:lnTo>
                    <a:pt x="356" y="281963"/>
                  </a:lnTo>
                  <a:lnTo>
                    <a:pt x="5696" y="238665"/>
                  </a:lnTo>
                  <a:lnTo>
                    <a:pt x="17332" y="196620"/>
                  </a:lnTo>
                  <a:lnTo>
                    <a:pt x="35011" y="156737"/>
                  </a:lnTo>
                  <a:lnTo>
                    <a:pt x="58351" y="119879"/>
                  </a:lnTo>
                  <a:lnTo>
                    <a:pt x="86846" y="86846"/>
                  </a:lnTo>
                  <a:lnTo>
                    <a:pt x="119879" y="58351"/>
                  </a:lnTo>
                  <a:lnTo>
                    <a:pt x="156736" y="35011"/>
                  </a:lnTo>
                  <a:lnTo>
                    <a:pt x="196619" y="17332"/>
                  </a:lnTo>
                  <a:lnTo>
                    <a:pt x="238664" y="5697"/>
                  </a:lnTo>
                  <a:lnTo>
                    <a:pt x="281963" y="357"/>
                  </a:lnTo>
                  <a:lnTo>
                    <a:pt x="296512" y="0"/>
                  </a:lnTo>
                  <a:lnTo>
                    <a:pt x="311062" y="357"/>
                  </a:lnTo>
                  <a:lnTo>
                    <a:pt x="354358" y="5697"/>
                  </a:lnTo>
                  <a:lnTo>
                    <a:pt x="396404" y="17332"/>
                  </a:lnTo>
                  <a:lnTo>
                    <a:pt x="436286" y="35011"/>
                  </a:lnTo>
                  <a:lnTo>
                    <a:pt x="473143" y="58351"/>
                  </a:lnTo>
                  <a:lnTo>
                    <a:pt x="506177" y="86846"/>
                  </a:lnTo>
                  <a:lnTo>
                    <a:pt x="534672" y="119879"/>
                  </a:lnTo>
                  <a:lnTo>
                    <a:pt x="558011" y="156737"/>
                  </a:lnTo>
                  <a:lnTo>
                    <a:pt x="575690" y="196620"/>
                  </a:lnTo>
                  <a:lnTo>
                    <a:pt x="587326" y="238665"/>
                  </a:lnTo>
                  <a:lnTo>
                    <a:pt x="592667" y="281963"/>
                  </a:lnTo>
                  <a:lnTo>
                    <a:pt x="593024" y="296512"/>
                  </a:lnTo>
                  <a:lnTo>
                    <a:pt x="592667" y="311061"/>
                  </a:lnTo>
                  <a:lnTo>
                    <a:pt x="587326" y="354358"/>
                  </a:lnTo>
                  <a:lnTo>
                    <a:pt x="575690" y="396404"/>
                  </a:lnTo>
                  <a:lnTo>
                    <a:pt x="558011" y="436286"/>
                  </a:lnTo>
                  <a:lnTo>
                    <a:pt x="534673" y="473144"/>
                  </a:lnTo>
                  <a:lnTo>
                    <a:pt x="506177" y="506177"/>
                  </a:lnTo>
                  <a:lnTo>
                    <a:pt x="473143" y="534673"/>
                  </a:lnTo>
                  <a:lnTo>
                    <a:pt x="436285" y="558012"/>
                  </a:lnTo>
                  <a:lnTo>
                    <a:pt x="396403" y="575692"/>
                  </a:lnTo>
                  <a:lnTo>
                    <a:pt x="354358" y="587327"/>
                  </a:lnTo>
                  <a:lnTo>
                    <a:pt x="311062" y="592667"/>
                  </a:lnTo>
                  <a:lnTo>
                    <a:pt x="296512" y="593024"/>
                  </a:lnTo>
                  <a:close/>
                </a:path>
              </a:pathLst>
            </a:custGeom>
            <a:solidFill>
              <a:srgbClr val="0932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09240" y="2102482"/>
              <a:ext cx="225424" cy="225424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7667375" y="2609349"/>
            <a:ext cx="1110615" cy="248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50" b="1" spc="-125" dirty="0">
                <a:solidFill>
                  <a:srgbClr val="FFFFFF"/>
                </a:solidFill>
                <a:latin typeface="Arial"/>
                <a:cs typeface="Arial"/>
              </a:rPr>
              <a:t>Preprocessing</a:t>
            </a:r>
            <a:endParaRPr sz="14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663031" y="2911632"/>
            <a:ext cx="1118870" cy="47053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8279" marR="5080" indent="-196215">
              <a:lnSpc>
                <a:spcPct val="112200"/>
              </a:lnSpc>
              <a:spcBef>
                <a:spcPts val="95"/>
              </a:spcBef>
            </a:pPr>
            <a:r>
              <a:rPr sz="1300" spc="-135" dirty="0">
                <a:solidFill>
                  <a:srgbClr val="9CA2AF"/>
                </a:solidFill>
                <a:latin typeface="Arial MT"/>
                <a:cs typeface="Arial MT"/>
              </a:rPr>
              <a:t>OpenCV</a:t>
            </a:r>
            <a:r>
              <a:rPr sz="1300" spc="-60" dirty="0">
                <a:solidFill>
                  <a:srgbClr val="9CA2AF"/>
                </a:solidFill>
                <a:latin typeface="Arial MT"/>
                <a:cs typeface="Arial MT"/>
              </a:rPr>
              <a:t> </a:t>
            </a:r>
            <a:r>
              <a:rPr sz="1300" spc="-145" dirty="0">
                <a:solidFill>
                  <a:srgbClr val="9CA2AF"/>
                </a:solidFill>
                <a:latin typeface="Arial MT"/>
                <a:cs typeface="Arial MT"/>
              </a:rPr>
              <a:t>&amp;</a:t>
            </a:r>
            <a:r>
              <a:rPr sz="1300" spc="-60" dirty="0">
                <a:solidFill>
                  <a:srgbClr val="9CA2AF"/>
                </a:solidFill>
                <a:latin typeface="Arial MT"/>
                <a:cs typeface="Arial MT"/>
              </a:rPr>
              <a:t> </a:t>
            </a:r>
            <a:r>
              <a:rPr sz="1300" spc="-75" dirty="0">
                <a:solidFill>
                  <a:srgbClr val="9CA2AF"/>
                </a:solidFill>
                <a:latin typeface="Arial MT"/>
                <a:cs typeface="Arial MT"/>
              </a:rPr>
              <a:t>resize </a:t>
            </a:r>
            <a:r>
              <a:rPr sz="1300" spc="-10" dirty="0">
                <a:solidFill>
                  <a:srgbClr val="9CA2AF"/>
                </a:solidFill>
                <a:latin typeface="Arial MT"/>
                <a:cs typeface="Arial MT"/>
              </a:rPr>
              <a:t>operations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9340137" y="1751276"/>
            <a:ext cx="1936750" cy="1816735"/>
            <a:chOff x="9340137" y="1751276"/>
            <a:chExt cx="1936750" cy="1816735"/>
          </a:xfrm>
        </p:grpSpPr>
        <p:sp>
          <p:nvSpPr>
            <p:cNvPr id="22" name="object 22"/>
            <p:cNvSpPr/>
            <p:nvPr/>
          </p:nvSpPr>
          <p:spPr>
            <a:xfrm>
              <a:off x="9340137" y="1751276"/>
              <a:ext cx="1936750" cy="1816735"/>
            </a:xfrm>
            <a:custGeom>
              <a:avLst/>
              <a:gdLst/>
              <a:ahLst/>
              <a:cxnLst/>
              <a:rect l="l" t="t" r="r" b="b"/>
              <a:pathLst>
                <a:path w="1936750" h="1816735">
                  <a:moveTo>
                    <a:pt x="1825403" y="1816137"/>
                  </a:moveTo>
                  <a:lnTo>
                    <a:pt x="111192" y="1816137"/>
                  </a:lnTo>
                  <a:lnTo>
                    <a:pt x="100238" y="1815608"/>
                  </a:lnTo>
                  <a:lnTo>
                    <a:pt x="58722" y="1802993"/>
                  </a:lnTo>
                  <a:lnTo>
                    <a:pt x="25195" y="1775450"/>
                  </a:lnTo>
                  <a:lnTo>
                    <a:pt x="4759" y="1737174"/>
                  </a:lnTo>
                  <a:lnTo>
                    <a:pt x="0" y="1704945"/>
                  </a:lnTo>
                  <a:lnTo>
                    <a:pt x="0" y="111192"/>
                  </a:lnTo>
                  <a:lnTo>
                    <a:pt x="8463" y="68640"/>
                  </a:lnTo>
                  <a:lnTo>
                    <a:pt x="32566" y="32567"/>
                  </a:lnTo>
                  <a:lnTo>
                    <a:pt x="68639" y="8463"/>
                  </a:lnTo>
                  <a:lnTo>
                    <a:pt x="111192" y="0"/>
                  </a:lnTo>
                  <a:lnTo>
                    <a:pt x="1825403" y="0"/>
                  </a:lnTo>
                  <a:lnTo>
                    <a:pt x="1867953" y="8463"/>
                  </a:lnTo>
                  <a:lnTo>
                    <a:pt x="1904027" y="32567"/>
                  </a:lnTo>
                  <a:lnTo>
                    <a:pt x="1928130" y="68640"/>
                  </a:lnTo>
                  <a:lnTo>
                    <a:pt x="1936596" y="111192"/>
                  </a:lnTo>
                  <a:lnTo>
                    <a:pt x="1936596" y="1704945"/>
                  </a:lnTo>
                  <a:lnTo>
                    <a:pt x="1928130" y="1747496"/>
                  </a:lnTo>
                  <a:lnTo>
                    <a:pt x="1904027" y="1783570"/>
                  </a:lnTo>
                  <a:lnTo>
                    <a:pt x="1867953" y="1807673"/>
                  </a:lnTo>
                  <a:lnTo>
                    <a:pt x="1825403" y="1816137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340137" y="1751276"/>
              <a:ext cx="1936750" cy="1816735"/>
            </a:xfrm>
            <a:custGeom>
              <a:avLst/>
              <a:gdLst/>
              <a:ahLst/>
              <a:cxnLst/>
              <a:rect l="l" t="t" r="r" b="b"/>
              <a:pathLst>
                <a:path w="1936750" h="1816735">
                  <a:moveTo>
                    <a:pt x="1825403" y="1816137"/>
                  </a:moveTo>
                  <a:lnTo>
                    <a:pt x="111192" y="1816137"/>
                  </a:lnTo>
                  <a:lnTo>
                    <a:pt x="100238" y="1815608"/>
                  </a:lnTo>
                  <a:lnTo>
                    <a:pt x="58722" y="1802993"/>
                  </a:lnTo>
                  <a:lnTo>
                    <a:pt x="25195" y="1775450"/>
                  </a:lnTo>
                  <a:lnTo>
                    <a:pt x="4759" y="1737174"/>
                  </a:lnTo>
                  <a:lnTo>
                    <a:pt x="0" y="1704945"/>
                  </a:lnTo>
                  <a:lnTo>
                    <a:pt x="0" y="111192"/>
                  </a:lnTo>
                  <a:lnTo>
                    <a:pt x="8463" y="68640"/>
                  </a:lnTo>
                  <a:lnTo>
                    <a:pt x="32566" y="32567"/>
                  </a:lnTo>
                  <a:lnTo>
                    <a:pt x="68639" y="8463"/>
                  </a:lnTo>
                  <a:lnTo>
                    <a:pt x="111192" y="0"/>
                  </a:lnTo>
                  <a:lnTo>
                    <a:pt x="1825403" y="0"/>
                  </a:lnTo>
                  <a:lnTo>
                    <a:pt x="1867953" y="8463"/>
                  </a:lnTo>
                  <a:lnTo>
                    <a:pt x="1886872" y="18532"/>
                  </a:lnTo>
                  <a:lnTo>
                    <a:pt x="105108" y="18532"/>
                  </a:lnTo>
                  <a:lnTo>
                    <a:pt x="99082" y="19125"/>
                  </a:lnTo>
                  <a:lnTo>
                    <a:pt x="54654" y="37528"/>
                  </a:lnTo>
                  <a:lnTo>
                    <a:pt x="27913" y="70111"/>
                  </a:lnTo>
                  <a:lnTo>
                    <a:pt x="18532" y="105107"/>
                  </a:lnTo>
                  <a:lnTo>
                    <a:pt x="18532" y="1711030"/>
                  </a:lnTo>
                  <a:lnTo>
                    <a:pt x="30767" y="1751365"/>
                  </a:lnTo>
                  <a:lnTo>
                    <a:pt x="64771" y="1785369"/>
                  </a:lnTo>
                  <a:lnTo>
                    <a:pt x="105108" y="1797605"/>
                  </a:lnTo>
                  <a:lnTo>
                    <a:pt x="1886871" y="1797605"/>
                  </a:lnTo>
                  <a:lnTo>
                    <a:pt x="1877871" y="1802993"/>
                  </a:lnTo>
                  <a:lnTo>
                    <a:pt x="1867953" y="1807673"/>
                  </a:lnTo>
                  <a:lnTo>
                    <a:pt x="1857631" y="1811376"/>
                  </a:lnTo>
                  <a:lnTo>
                    <a:pt x="1847099" y="1814021"/>
                  </a:lnTo>
                  <a:lnTo>
                    <a:pt x="1836356" y="1815608"/>
                  </a:lnTo>
                  <a:lnTo>
                    <a:pt x="1825403" y="1816137"/>
                  </a:lnTo>
                  <a:close/>
                </a:path>
                <a:path w="1936750" h="1816735">
                  <a:moveTo>
                    <a:pt x="1886871" y="1797605"/>
                  </a:moveTo>
                  <a:lnTo>
                    <a:pt x="1831488" y="1797605"/>
                  </a:lnTo>
                  <a:lnTo>
                    <a:pt x="1837513" y="1797012"/>
                  </a:lnTo>
                  <a:lnTo>
                    <a:pt x="1849448" y="1794638"/>
                  </a:lnTo>
                  <a:lnTo>
                    <a:pt x="1886622" y="1774768"/>
                  </a:lnTo>
                  <a:lnTo>
                    <a:pt x="1913338" y="1734784"/>
                  </a:lnTo>
                  <a:lnTo>
                    <a:pt x="1918064" y="1711030"/>
                  </a:lnTo>
                  <a:lnTo>
                    <a:pt x="1918064" y="105107"/>
                  </a:lnTo>
                  <a:lnTo>
                    <a:pt x="1905827" y="64771"/>
                  </a:lnTo>
                  <a:lnTo>
                    <a:pt x="1871824" y="30767"/>
                  </a:lnTo>
                  <a:lnTo>
                    <a:pt x="1831488" y="18532"/>
                  </a:lnTo>
                  <a:lnTo>
                    <a:pt x="1886872" y="18532"/>
                  </a:lnTo>
                  <a:lnTo>
                    <a:pt x="1917872" y="49405"/>
                  </a:lnTo>
                  <a:lnTo>
                    <a:pt x="1934479" y="89495"/>
                  </a:lnTo>
                  <a:lnTo>
                    <a:pt x="1936596" y="111192"/>
                  </a:lnTo>
                  <a:lnTo>
                    <a:pt x="1936596" y="1704945"/>
                  </a:lnTo>
                  <a:lnTo>
                    <a:pt x="1928130" y="1747496"/>
                  </a:lnTo>
                  <a:lnTo>
                    <a:pt x="1904027" y="1783570"/>
                  </a:lnTo>
                  <a:lnTo>
                    <a:pt x="1887189" y="1797415"/>
                  </a:lnTo>
                  <a:lnTo>
                    <a:pt x="1886871" y="1797605"/>
                  </a:lnTo>
                  <a:close/>
                </a:path>
              </a:pathLst>
            </a:custGeom>
            <a:solidFill>
              <a:srgbClr val="BF83FB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0007291" y="1918064"/>
              <a:ext cx="593090" cy="593090"/>
            </a:xfrm>
            <a:custGeom>
              <a:avLst/>
              <a:gdLst/>
              <a:ahLst/>
              <a:cxnLst/>
              <a:rect l="l" t="t" r="r" b="b"/>
              <a:pathLst>
                <a:path w="593090" h="593089">
                  <a:moveTo>
                    <a:pt x="296512" y="593024"/>
                  </a:moveTo>
                  <a:lnTo>
                    <a:pt x="253004" y="589815"/>
                  </a:lnTo>
                  <a:lnTo>
                    <a:pt x="210438" y="580256"/>
                  </a:lnTo>
                  <a:lnTo>
                    <a:pt x="169735" y="564556"/>
                  </a:lnTo>
                  <a:lnTo>
                    <a:pt x="131778" y="543052"/>
                  </a:lnTo>
                  <a:lnTo>
                    <a:pt x="97387" y="516213"/>
                  </a:lnTo>
                  <a:lnTo>
                    <a:pt x="67305" y="484617"/>
                  </a:lnTo>
                  <a:lnTo>
                    <a:pt x="42184" y="448949"/>
                  </a:lnTo>
                  <a:lnTo>
                    <a:pt x="22568" y="409982"/>
                  </a:lnTo>
                  <a:lnTo>
                    <a:pt x="8884" y="368558"/>
                  </a:lnTo>
                  <a:lnTo>
                    <a:pt x="1428" y="325575"/>
                  </a:lnTo>
                  <a:lnTo>
                    <a:pt x="0" y="296512"/>
                  </a:lnTo>
                  <a:lnTo>
                    <a:pt x="357" y="281963"/>
                  </a:lnTo>
                  <a:lnTo>
                    <a:pt x="5696" y="238665"/>
                  </a:lnTo>
                  <a:lnTo>
                    <a:pt x="17331" y="196620"/>
                  </a:lnTo>
                  <a:lnTo>
                    <a:pt x="35009" y="156737"/>
                  </a:lnTo>
                  <a:lnTo>
                    <a:pt x="58350" y="119879"/>
                  </a:lnTo>
                  <a:lnTo>
                    <a:pt x="86846" y="86846"/>
                  </a:lnTo>
                  <a:lnTo>
                    <a:pt x="119880" y="58351"/>
                  </a:lnTo>
                  <a:lnTo>
                    <a:pt x="156736" y="35011"/>
                  </a:lnTo>
                  <a:lnTo>
                    <a:pt x="196619" y="17332"/>
                  </a:lnTo>
                  <a:lnTo>
                    <a:pt x="238665" y="5697"/>
                  </a:lnTo>
                  <a:lnTo>
                    <a:pt x="281963" y="357"/>
                  </a:lnTo>
                  <a:lnTo>
                    <a:pt x="296512" y="0"/>
                  </a:lnTo>
                  <a:lnTo>
                    <a:pt x="311061" y="357"/>
                  </a:lnTo>
                  <a:lnTo>
                    <a:pt x="354358" y="5697"/>
                  </a:lnTo>
                  <a:lnTo>
                    <a:pt x="396404" y="17332"/>
                  </a:lnTo>
                  <a:lnTo>
                    <a:pt x="436285" y="35011"/>
                  </a:lnTo>
                  <a:lnTo>
                    <a:pt x="473143" y="58351"/>
                  </a:lnTo>
                  <a:lnTo>
                    <a:pt x="506177" y="86846"/>
                  </a:lnTo>
                  <a:lnTo>
                    <a:pt x="534672" y="119879"/>
                  </a:lnTo>
                  <a:lnTo>
                    <a:pt x="558012" y="156737"/>
                  </a:lnTo>
                  <a:lnTo>
                    <a:pt x="575692" y="196620"/>
                  </a:lnTo>
                  <a:lnTo>
                    <a:pt x="587326" y="238665"/>
                  </a:lnTo>
                  <a:lnTo>
                    <a:pt x="592667" y="281963"/>
                  </a:lnTo>
                  <a:lnTo>
                    <a:pt x="593024" y="296512"/>
                  </a:lnTo>
                  <a:lnTo>
                    <a:pt x="592667" y="311061"/>
                  </a:lnTo>
                  <a:lnTo>
                    <a:pt x="587326" y="354358"/>
                  </a:lnTo>
                  <a:lnTo>
                    <a:pt x="575691" y="396404"/>
                  </a:lnTo>
                  <a:lnTo>
                    <a:pt x="558013" y="436286"/>
                  </a:lnTo>
                  <a:lnTo>
                    <a:pt x="534673" y="473144"/>
                  </a:lnTo>
                  <a:lnTo>
                    <a:pt x="506177" y="506177"/>
                  </a:lnTo>
                  <a:lnTo>
                    <a:pt x="473142" y="534673"/>
                  </a:lnTo>
                  <a:lnTo>
                    <a:pt x="436285" y="558012"/>
                  </a:lnTo>
                  <a:lnTo>
                    <a:pt x="396404" y="575692"/>
                  </a:lnTo>
                  <a:lnTo>
                    <a:pt x="354358" y="587327"/>
                  </a:lnTo>
                  <a:lnTo>
                    <a:pt x="311061" y="592667"/>
                  </a:lnTo>
                  <a:lnTo>
                    <a:pt x="296512" y="593024"/>
                  </a:lnTo>
                  <a:close/>
                </a:path>
              </a:pathLst>
            </a:custGeom>
            <a:solidFill>
              <a:srgbClr val="0932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194671" y="2077082"/>
              <a:ext cx="225424" cy="250824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9734563" y="2609349"/>
            <a:ext cx="1146810" cy="248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50" b="1" spc="-114" dirty="0">
                <a:solidFill>
                  <a:srgbClr val="FFFFFF"/>
                </a:solidFill>
                <a:latin typeface="Arial"/>
                <a:cs typeface="Arial"/>
              </a:rPr>
              <a:t>Model</a:t>
            </a:r>
            <a:r>
              <a:rPr sz="145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50" b="1" spc="-105" dirty="0">
                <a:solidFill>
                  <a:srgbClr val="FFFFFF"/>
                </a:solidFill>
                <a:latin typeface="Arial"/>
                <a:cs typeface="Arial"/>
              </a:rPr>
              <a:t>Training</a:t>
            </a:r>
            <a:endParaRPr sz="145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745422" y="2933996"/>
            <a:ext cx="1125220" cy="2254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00" spc="-195" dirty="0">
                <a:solidFill>
                  <a:srgbClr val="9CA2AF"/>
                </a:solidFill>
                <a:latin typeface="Arial MT"/>
                <a:cs typeface="Arial MT"/>
              </a:rPr>
              <a:t>YOLO</a:t>
            </a:r>
            <a:r>
              <a:rPr sz="1300" spc="-25" dirty="0">
                <a:solidFill>
                  <a:srgbClr val="9CA2AF"/>
                </a:solidFill>
                <a:latin typeface="Arial MT"/>
                <a:cs typeface="Arial MT"/>
              </a:rPr>
              <a:t> </a:t>
            </a:r>
            <a:r>
              <a:rPr sz="1300" spc="-70" dirty="0">
                <a:solidFill>
                  <a:srgbClr val="9CA2AF"/>
                </a:solidFill>
                <a:latin typeface="Arial MT"/>
                <a:cs typeface="Arial MT"/>
              </a:rPr>
              <a:t>fine-</a:t>
            </a:r>
            <a:r>
              <a:rPr sz="1300" spc="-40" dirty="0">
                <a:solidFill>
                  <a:srgbClr val="9CA2AF"/>
                </a:solidFill>
                <a:latin typeface="Arial MT"/>
                <a:cs typeface="Arial MT"/>
              </a:rPr>
              <a:t>tuning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5170433" y="3715670"/>
            <a:ext cx="1936750" cy="1816735"/>
            <a:chOff x="5170433" y="3715670"/>
            <a:chExt cx="1936750" cy="1816735"/>
          </a:xfrm>
        </p:grpSpPr>
        <p:sp>
          <p:nvSpPr>
            <p:cNvPr id="29" name="object 29"/>
            <p:cNvSpPr/>
            <p:nvPr/>
          </p:nvSpPr>
          <p:spPr>
            <a:xfrm>
              <a:off x="5170433" y="3715670"/>
              <a:ext cx="1936750" cy="1816735"/>
            </a:xfrm>
            <a:custGeom>
              <a:avLst/>
              <a:gdLst/>
              <a:ahLst/>
              <a:cxnLst/>
              <a:rect l="l" t="t" r="r" b="b"/>
              <a:pathLst>
                <a:path w="1936750" h="1816735">
                  <a:moveTo>
                    <a:pt x="1825403" y="1816137"/>
                  </a:moveTo>
                  <a:lnTo>
                    <a:pt x="111192" y="1816137"/>
                  </a:lnTo>
                  <a:lnTo>
                    <a:pt x="100238" y="1815608"/>
                  </a:lnTo>
                  <a:lnTo>
                    <a:pt x="58723" y="1802992"/>
                  </a:lnTo>
                  <a:lnTo>
                    <a:pt x="25196" y="1775450"/>
                  </a:lnTo>
                  <a:lnTo>
                    <a:pt x="4761" y="1737174"/>
                  </a:lnTo>
                  <a:lnTo>
                    <a:pt x="0" y="1704945"/>
                  </a:lnTo>
                  <a:lnTo>
                    <a:pt x="0" y="111192"/>
                  </a:lnTo>
                  <a:lnTo>
                    <a:pt x="8463" y="68640"/>
                  </a:lnTo>
                  <a:lnTo>
                    <a:pt x="32567" y="32567"/>
                  </a:lnTo>
                  <a:lnTo>
                    <a:pt x="68640" y="8463"/>
                  </a:lnTo>
                  <a:lnTo>
                    <a:pt x="111192" y="0"/>
                  </a:lnTo>
                  <a:lnTo>
                    <a:pt x="1825403" y="0"/>
                  </a:lnTo>
                  <a:lnTo>
                    <a:pt x="1867954" y="8463"/>
                  </a:lnTo>
                  <a:lnTo>
                    <a:pt x="1904028" y="32567"/>
                  </a:lnTo>
                  <a:lnTo>
                    <a:pt x="1928131" y="68640"/>
                  </a:lnTo>
                  <a:lnTo>
                    <a:pt x="1936596" y="111192"/>
                  </a:lnTo>
                  <a:lnTo>
                    <a:pt x="1936596" y="1704945"/>
                  </a:lnTo>
                  <a:lnTo>
                    <a:pt x="1928131" y="1747496"/>
                  </a:lnTo>
                  <a:lnTo>
                    <a:pt x="1904028" y="1783570"/>
                  </a:lnTo>
                  <a:lnTo>
                    <a:pt x="1867953" y="1807673"/>
                  </a:lnTo>
                  <a:lnTo>
                    <a:pt x="1825403" y="1816137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170434" y="3715670"/>
              <a:ext cx="1936750" cy="1816735"/>
            </a:xfrm>
            <a:custGeom>
              <a:avLst/>
              <a:gdLst/>
              <a:ahLst/>
              <a:cxnLst/>
              <a:rect l="l" t="t" r="r" b="b"/>
              <a:pathLst>
                <a:path w="1936750" h="1816735">
                  <a:moveTo>
                    <a:pt x="1825403" y="1816137"/>
                  </a:moveTo>
                  <a:lnTo>
                    <a:pt x="111192" y="1816137"/>
                  </a:lnTo>
                  <a:lnTo>
                    <a:pt x="100238" y="1815608"/>
                  </a:lnTo>
                  <a:lnTo>
                    <a:pt x="58723" y="1802992"/>
                  </a:lnTo>
                  <a:lnTo>
                    <a:pt x="25196" y="1775450"/>
                  </a:lnTo>
                  <a:lnTo>
                    <a:pt x="4761" y="1737174"/>
                  </a:lnTo>
                  <a:lnTo>
                    <a:pt x="0" y="1704945"/>
                  </a:lnTo>
                  <a:lnTo>
                    <a:pt x="0" y="111192"/>
                  </a:lnTo>
                  <a:lnTo>
                    <a:pt x="8463" y="68640"/>
                  </a:lnTo>
                  <a:lnTo>
                    <a:pt x="32567" y="32567"/>
                  </a:lnTo>
                  <a:lnTo>
                    <a:pt x="68640" y="8463"/>
                  </a:lnTo>
                  <a:lnTo>
                    <a:pt x="111192" y="0"/>
                  </a:lnTo>
                  <a:lnTo>
                    <a:pt x="1825403" y="0"/>
                  </a:lnTo>
                  <a:lnTo>
                    <a:pt x="1836357" y="528"/>
                  </a:lnTo>
                  <a:lnTo>
                    <a:pt x="1877872" y="13144"/>
                  </a:lnTo>
                  <a:lnTo>
                    <a:pt x="1886873" y="18532"/>
                  </a:lnTo>
                  <a:lnTo>
                    <a:pt x="105108" y="18532"/>
                  </a:lnTo>
                  <a:lnTo>
                    <a:pt x="99082" y="19125"/>
                  </a:lnTo>
                  <a:lnTo>
                    <a:pt x="54654" y="37528"/>
                  </a:lnTo>
                  <a:lnTo>
                    <a:pt x="27913" y="70111"/>
                  </a:lnTo>
                  <a:lnTo>
                    <a:pt x="18532" y="105107"/>
                  </a:lnTo>
                  <a:lnTo>
                    <a:pt x="18532" y="1711029"/>
                  </a:lnTo>
                  <a:lnTo>
                    <a:pt x="19011" y="1715899"/>
                  </a:lnTo>
                  <a:lnTo>
                    <a:pt x="19125" y="1717055"/>
                  </a:lnTo>
                  <a:lnTo>
                    <a:pt x="37528" y="1761483"/>
                  </a:lnTo>
                  <a:lnTo>
                    <a:pt x="70111" y="1788223"/>
                  </a:lnTo>
                  <a:lnTo>
                    <a:pt x="105108" y="1797605"/>
                  </a:lnTo>
                  <a:lnTo>
                    <a:pt x="1886872" y="1797605"/>
                  </a:lnTo>
                  <a:lnTo>
                    <a:pt x="1877871" y="1802992"/>
                  </a:lnTo>
                  <a:lnTo>
                    <a:pt x="1867953" y="1807673"/>
                  </a:lnTo>
                  <a:lnTo>
                    <a:pt x="1857631" y="1811376"/>
                  </a:lnTo>
                  <a:lnTo>
                    <a:pt x="1847099" y="1814021"/>
                  </a:lnTo>
                  <a:lnTo>
                    <a:pt x="1836357" y="1815608"/>
                  </a:lnTo>
                  <a:lnTo>
                    <a:pt x="1825403" y="1816137"/>
                  </a:lnTo>
                  <a:close/>
                </a:path>
                <a:path w="1936750" h="1816735">
                  <a:moveTo>
                    <a:pt x="1886872" y="1797605"/>
                  </a:moveTo>
                  <a:lnTo>
                    <a:pt x="1831488" y="1797605"/>
                  </a:lnTo>
                  <a:lnTo>
                    <a:pt x="1837513" y="1797012"/>
                  </a:lnTo>
                  <a:lnTo>
                    <a:pt x="1849448" y="1794638"/>
                  </a:lnTo>
                  <a:lnTo>
                    <a:pt x="1886622" y="1774768"/>
                  </a:lnTo>
                  <a:lnTo>
                    <a:pt x="1913338" y="1734784"/>
                  </a:lnTo>
                  <a:lnTo>
                    <a:pt x="1918063" y="1711029"/>
                  </a:lnTo>
                  <a:lnTo>
                    <a:pt x="1918063" y="105107"/>
                  </a:lnTo>
                  <a:lnTo>
                    <a:pt x="1917584" y="100238"/>
                  </a:lnTo>
                  <a:lnTo>
                    <a:pt x="1917470" y="99082"/>
                  </a:lnTo>
                  <a:lnTo>
                    <a:pt x="1899067" y="54654"/>
                  </a:lnTo>
                  <a:lnTo>
                    <a:pt x="1866484" y="27913"/>
                  </a:lnTo>
                  <a:lnTo>
                    <a:pt x="1831488" y="18532"/>
                  </a:lnTo>
                  <a:lnTo>
                    <a:pt x="1886873" y="18532"/>
                  </a:lnTo>
                  <a:lnTo>
                    <a:pt x="1917873" y="49405"/>
                  </a:lnTo>
                  <a:lnTo>
                    <a:pt x="1934479" y="89495"/>
                  </a:lnTo>
                  <a:lnTo>
                    <a:pt x="1936596" y="111192"/>
                  </a:lnTo>
                  <a:lnTo>
                    <a:pt x="1936596" y="1704945"/>
                  </a:lnTo>
                  <a:lnTo>
                    <a:pt x="1928131" y="1747496"/>
                  </a:lnTo>
                  <a:lnTo>
                    <a:pt x="1904028" y="1783570"/>
                  </a:lnTo>
                  <a:lnTo>
                    <a:pt x="1887190" y="1797415"/>
                  </a:lnTo>
                  <a:lnTo>
                    <a:pt x="1886872" y="1797605"/>
                  </a:lnTo>
                  <a:close/>
                </a:path>
              </a:pathLst>
            </a:custGeom>
            <a:solidFill>
              <a:srgbClr val="4ADE80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837587" y="3882458"/>
              <a:ext cx="593090" cy="593090"/>
            </a:xfrm>
            <a:custGeom>
              <a:avLst/>
              <a:gdLst/>
              <a:ahLst/>
              <a:cxnLst/>
              <a:rect l="l" t="t" r="r" b="b"/>
              <a:pathLst>
                <a:path w="593089" h="593089">
                  <a:moveTo>
                    <a:pt x="296512" y="593024"/>
                  </a:moveTo>
                  <a:lnTo>
                    <a:pt x="253004" y="589815"/>
                  </a:lnTo>
                  <a:lnTo>
                    <a:pt x="210438" y="580256"/>
                  </a:lnTo>
                  <a:lnTo>
                    <a:pt x="169735" y="564556"/>
                  </a:lnTo>
                  <a:lnTo>
                    <a:pt x="131778" y="543053"/>
                  </a:lnTo>
                  <a:lnTo>
                    <a:pt x="97386" y="516213"/>
                  </a:lnTo>
                  <a:lnTo>
                    <a:pt x="67305" y="484617"/>
                  </a:lnTo>
                  <a:lnTo>
                    <a:pt x="42184" y="448950"/>
                  </a:lnTo>
                  <a:lnTo>
                    <a:pt x="22570" y="409982"/>
                  </a:lnTo>
                  <a:lnTo>
                    <a:pt x="8885" y="368558"/>
                  </a:lnTo>
                  <a:lnTo>
                    <a:pt x="1427" y="325575"/>
                  </a:lnTo>
                  <a:lnTo>
                    <a:pt x="0" y="296512"/>
                  </a:lnTo>
                  <a:lnTo>
                    <a:pt x="357" y="281963"/>
                  </a:lnTo>
                  <a:lnTo>
                    <a:pt x="5697" y="238664"/>
                  </a:lnTo>
                  <a:lnTo>
                    <a:pt x="17332" y="196619"/>
                  </a:lnTo>
                  <a:lnTo>
                    <a:pt x="35011" y="156736"/>
                  </a:lnTo>
                  <a:lnTo>
                    <a:pt x="58351" y="119879"/>
                  </a:lnTo>
                  <a:lnTo>
                    <a:pt x="86846" y="86845"/>
                  </a:lnTo>
                  <a:lnTo>
                    <a:pt x="119879" y="58351"/>
                  </a:lnTo>
                  <a:lnTo>
                    <a:pt x="156736" y="35011"/>
                  </a:lnTo>
                  <a:lnTo>
                    <a:pt x="196619" y="17332"/>
                  </a:lnTo>
                  <a:lnTo>
                    <a:pt x="238664" y="5697"/>
                  </a:lnTo>
                  <a:lnTo>
                    <a:pt x="281963" y="357"/>
                  </a:lnTo>
                  <a:lnTo>
                    <a:pt x="296512" y="0"/>
                  </a:lnTo>
                  <a:lnTo>
                    <a:pt x="311061" y="357"/>
                  </a:lnTo>
                  <a:lnTo>
                    <a:pt x="354358" y="5697"/>
                  </a:lnTo>
                  <a:lnTo>
                    <a:pt x="396403" y="17332"/>
                  </a:lnTo>
                  <a:lnTo>
                    <a:pt x="436286" y="35011"/>
                  </a:lnTo>
                  <a:lnTo>
                    <a:pt x="473144" y="58351"/>
                  </a:lnTo>
                  <a:lnTo>
                    <a:pt x="506177" y="86845"/>
                  </a:lnTo>
                  <a:lnTo>
                    <a:pt x="534672" y="119879"/>
                  </a:lnTo>
                  <a:lnTo>
                    <a:pt x="558012" y="156736"/>
                  </a:lnTo>
                  <a:lnTo>
                    <a:pt x="575691" y="196619"/>
                  </a:lnTo>
                  <a:lnTo>
                    <a:pt x="587326" y="238665"/>
                  </a:lnTo>
                  <a:lnTo>
                    <a:pt x="592668" y="281963"/>
                  </a:lnTo>
                  <a:lnTo>
                    <a:pt x="593024" y="296512"/>
                  </a:lnTo>
                  <a:lnTo>
                    <a:pt x="592668" y="311061"/>
                  </a:lnTo>
                  <a:lnTo>
                    <a:pt x="587326" y="354358"/>
                  </a:lnTo>
                  <a:lnTo>
                    <a:pt x="575691" y="396404"/>
                  </a:lnTo>
                  <a:lnTo>
                    <a:pt x="558012" y="436286"/>
                  </a:lnTo>
                  <a:lnTo>
                    <a:pt x="534672" y="473144"/>
                  </a:lnTo>
                  <a:lnTo>
                    <a:pt x="506177" y="506178"/>
                  </a:lnTo>
                  <a:lnTo>
                    <a:pt x="473144" y="534673"/>
                  </a:lnTo>
                  <a:lnTo>
                    <a:pt x="436286" y="558012"/>
                  </a:lnTo>
                  <a:lnTo>
                    <a:pt x="396403" y="575691"/>
                  </a:lnTo>
                  <a:lnTo>
                    <a:pt x="354358" y="587326"/>
                  </a:lnTo>
                  <a:lnTo>
                    <a:pt x="311061" y="592667"/>
                  </a:lnTo>
                  <a:lnTo>
                    <a:pt x="296512" y="593024"/>
                  </a:lnTo>
                  <a:close/>
                </a:path>
              </a:pathLst>
            </a:custGeom>
            <a:solidFill>
              <a:srgbClr val="0932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23808" y="4066876"/>
              <a:ext cx="225424" cy="225424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5734832" y="4573743"/>
            <a:ext cx="805180" cy="248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50" b="1" spc="-125" dirty="0">
                <a:solidFill>
                  <a:srgbClr val="FFFFFF"/>
                </a:solidFill>
                <a:latin typeface="Arial"/>
                <a:cs typeface="Arial"/>
              </a:rPr>
              <a:t>Evaluation</a:t>
            </a:r>
            <a:endParaRPr sz="145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388515" y="4876026"/>
            <a:ext cx="1497330" cy="47053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7540" marR="5080" indent="-625475">
              <a:lnSpc>
                <a:spcPct val="112200"/>
              </a:lnSpc>
              <a:spcBef>
                <a:spcPts val="95"/>
              </a:spcBef>
            </a:pPr>
            <a:r>
              <a:rPr sz="1300" spc="-70" dirty="0">
                <a:solidFill>
                  <a:srgbClr val="9CA2AF"/>
                </a:solidFill>
                <a:latin typeface="Arial MT"/>
                <a:cs typeface="Arial MT"/>
              </a:rPr>
              <a:t>Precision,</a:t>
            </a:r>
            <a:r>
              <a:rPr sz="1300" spc="-40" dirty="0">
                <a:solidFill>
                  <a:srgbClr val="9CA2AF"/>
                </a:solidFill>
                <a:latin typeface="Arial MT"/>
                <a:cs typeface="Arial MT"/>
              </a:rPr>
              <a:t> </a:t>
            </a:r>
            <a:r>
              <a:rPr sz="1300" spc="-90" dirty="0">
                <a:solidFill>
                  <a:srgbClr val="9CA2AF"/>
                </a:solidFill>
                <a:latin typeface="Arial MT"/>
                <a:cs typeface="Arial MT"/>
              </a:rPr>
              <a:t>Recall,</a:t>
            </a:r>
            <a:r>
              <a:rPr sz="1300" spc="-35" dirty="0">
                <a:solidFill>
                  <a:srgbClr val="9CA2AF"/>
                </a:solidFill>
                <a:latin typeface="Arial MT"/>
                <a:cs typeface="Arial MT"/>
              </a:rPr>
              <a:t> </a:t>
            </a:r>
            <a:r>
              <a:rPr sz="1300" spc="-165" dirty="0">
                <a:solidFill>
                  <a:srgbClr val="9CA2AF"/>
                </a:solidFill>
                <a:latin typeface="Arial MT"/>
                <a:cs typeface="Arial MT"/>
              </a:rPr>
              <a:t>mAP,</a:t>
            </a:r>
            <a:r>
              <a:rPr sz="1300" spc="-25" dirty="0">
                <a:solidFill>
                  <a:srgbClr val="9CA2AF"/>
                </a:solidFill>
                <a:latin typeface="Arial MT"/>
                <a:cs typeface="Arial MT"/>
              </a:rPr>
              <a:t> IoU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7255285" y="3715670"/>
            <a:ext cx="1936750" cy="1816735"/>
            <a:chOff x="7255285" y="3715670"/>
            <a:chExt cx="1936750" cy="1816735"/>
          </a:xfrm>
        </p:grpSpPr>
        <p:sp>
          <p:nvSpPr>
            <p:cNvPr id="36" name="object 36"/>
            <p:cNvSpPr/>
            <p:nvPr/>
          </p:nvSpPr>
          <p:spPr>
            <a:xfrm>
              <a:off x="7255285" y="3715670"/>
              <a:ext cx="1936750" cy="1816735"/>
            </a:xfrm>
            <a:custGeom>
              <a:avLst/>
              <a:gdLst/>
              <a:ahLst/>
              <a:cxnLst/>
              <a:rect l="l" t="t" r="r" b="b"/>
              <a:pathLst>
                <a:path w="1936750" h="1816735">
                  <a:moveTo>
                    <a:pt x="1825403" y="1816137"/>
                  </a:moveTo>
                  <a:lnTo>
                    <a:pt x="111192" y="1816137"/>
                  </a:lnTo>
                  <a:lnTo>
                    <a:pt x="100238" y="1815608"/>
                  </a:lnTo>
                  <a:lnTo>
                    <a:pt x="58722" y="1802992"/>
                  </a:lnTo>
                  <a:lnTo>
                    <a:pt x="25195" y="1775450"/>
                  </a:lnTo>
                  <a:lnTo>
                    <a:pt x="4760" y="1737174"/>
                  </a:lnTo>
                  <a:lnTo>
                    <a:pt x="0" y="1704945"/>
                  </a:lnTo>
                  <a:lnTo>
                    <a:pt x="0" y="111192"/>
                  </a:lnTo>
                  <a:lnTo>
                    <a:pt x="8463" y="68640"/>
                  </a:lnTo>
                  <a:lnTo>
                    <a:pt x="32567" y="32567"/>
                  </a:lnTo>
                  <a:lnTo>
                    <a:pt x="68640" y="8463"/>
                  </a:lnTo>
                  <a:lnTo>
                    <a:pt x="111192" y="0"/>
                  </a:lnTo>
                  <a:lnTo>
                    <a:pt x="1825403" y="0"/>
                  </a:lnTo>
                  <a:lnTo>
                    <a:pt x="1867954" y="8463"/>
                  </a:lnTo>
                  <a:lnTo>
                    <a:pt x="1904028" y="32567"/>
                  </a:lnTo>
                  <a:lnTo>
                    <a:pt x="1928131" y="68640"/>
                  </a:lnTo>
                  <a:lnTo>
                    <a:pt x="1936596" y="111192"/>
                  </a:lnTo>
                  <a:lnTo>
                    <a:pt x="1936596" y="1704945"/>
                  </a:lnTo>
                  <a:lnTo>
                    <a:pt x="1928131" y="1747496"/>
                  </a:lnTo>
                  <a:lnTo>
                    <a:pt x="1904028" y="1783570"/>
                  </a:lnTo>
                  <a:lnTo>
                    <a:pt x="1867953" y="1807673"/>
                  </a:lnTo>
                  <a:lnTo>
                    <a:pt x="1825403" y="1816137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255285" y="3715670"/>
              <a:ext cx="1936750" cy="1816735"/>
            </a:xfrm>
            <a:custGeom>
              <a:avLst/>
              <a:gdLst/>
              <a:ahLst/>
              <a:cxnLst/>
              <a:rect l="l" t="t" r="r" b="b"/>
              <a:pathLst>
                <a:path w="1936750" h="1816735">
                  <a:moveTo>
                    <a:pt x="1825403" y="1816137"/>
                  </a:moveTo>
                  <a:lnTo>
                    <a:pt x="111192" y="1816137"/>
                  </a:lnTo>
                  <a:lnTo>
                    <a:pt x="100238" y="1815608"/>
                  </a:lnTo>
                  <a:lnTo>
                    <a:pt x="58722" y="1802992"/>
                  </a:lnTo>
                  <a:lnTo>
                    <a:pt x="25195" y="1775450"/>
                  </a:lnTo>
                  <a:lnTo>
                    <a:pt x="4760" y="1737174"/>
                  </a:lnTo>
                  <a:lnTo>
                    <a:pt x="0" y="1704945"/>
                  </a:lnTo>
                  <a:lnTo>
                    <a:pt x="0" y="111192"/>
                  </a:lnTo>
                  <a:lnTo>
                    <a:pt x="8463" y="68640"/>
                  </a:lnTo>
                  <a:lnTo>
                    <a:pt x="32567" y="32567"/>
                  </a:lnTo>
                  <a:lnTo>
                    <a:pt x="68640" y="8463"/>
                  </a:lnTo>
                  <a:lnTo>
                    <a:pt x="111192" y="0"/>
                  </a:lnTo>
                  <a:lnTo>
                    <a:pt x="1825403" y="0"/>
                  </a:lnTo>
                  <a:lnTo>
                    <a:pt x="1836356" y="528"/>
                  </a:lnTo>
                  <a:lnTo>
                    <a:pt x="1877871" y="13144"/>
                  </a:lnTo>
                  <a:lnTo>
                    <a:pt x="1886873" y="18532"/>
                  </a:lnTo>
                  <a:lnTo>
                    <a:pt x="105108" y="18532"/>
                  </a:lnTo>
                  <a:lnTo>
                    <a:pt x="99082" y="19125"/>
                  </a:lnTo>
                  <a:lnTo>
                    <a:pt x="54654" y="37528"/>
                  </a:lnTo>
                  <a:lnTo>
                    <a:pt x="27913" y="70111"/>
                  </a:lnTo>
                  <a:lnTo>
                    <a:pt x="18532" y="105107"/>
                  </a:lnTo>
                  <a:lnTo>
                    <a:pt x="18532" y="1711029"/>
                  </a:lnTo>
                  <a:lnTo>
                    <a:pt x="19011" y="1715899"/>
                  </a:lnTo>
                  <a:lnTo>
                    <a:pt x="19125" y="1717055"/>
                  </a:lnTo>
                  <a:lnTo>
                    <a:pt x="37528" y="1761483"/>
                  </a:lnTo>
                  <a:lnTo>
                    <a:pt x="70111" y="1788223"/>
                  </a:lnTo>
                  <a:lnTo>
                    <a:pt x="105108" y="1797605"/>
                  </a:lnTo>
                  <a:lnTo>
                    <a:pt x="1886871" y="1797605"/>
                  </a:lnTo>
                  <a:lnTo>
                    <a:pt x="1877871" y="1802992"/>
                  </a:lnTo>
                  <a:lnTo>
                    <a:pt x="1867953" y="1807673"/>
                  </a:lnTo>
                  <a:lnTo>
                    <a:pt x="1857631" y="1811376"/>
                  </a:lnTo>
                  <a:lnTo>
                    <a:pt x="1847099" y="1814021"/>
                  </a:lnTo>
                  <a:lnTo>
                    <a:pt x="1836356" y="1815608"/>
                  </a:lnTo>
                  <a:lnTo>
                    <a:pt x="1825403" y="1816137"/>
                  </a:lnTo>
                  <a:close/>
                </a:path>
                <a:path w="1936750" h="1816735">
                  <a:moveTo>
                    <a:pt x="1886871" y="1797605"/>
                  </a:moveTo>
                  <a:lnTo>
                    <a:pt x="1831488" y="1797605"/>
                  </a:lnTo>
                  <a:lnTo>
                    <a:pt x="1837513" y="1797012"/>
                  </a:lnTo>
                  <a:lnTo>
                    <a:pt x="1849448" y="1794638"/>
                  </a:lnTo>
                  <a:lnTo>
                    <a:pt x="1886622" y="1774768"/>
                  </a:lnTo>
                  <a:lnTo>
                    <a:pt x="1913338" y="1734784"/>
                  </a:lnTo>
                  <a:lnTo>
                    <a:pt x="1918064" y="1711029"/>
                  </a:lnTo>
                  <a:lnTo>
                    <a:pt x="1918064" y="105107"/>
                  </a:lnTo>
                  <a:lnTo>
                    <a:pt x="1917584" y="100238"/>
                  </a:lnTo>
                  <a:lnTo>
                    <a:pt x="1917470" y="99082"/>
                  </a:lnTo>
                  <a:lnTo>
                    <a:pt x="1899067" y="54654"/>
                  </a:lnTo>
                  <a:lnTo>
                    <a:pt x="1866484" y="27913"/>
                  </a:lnTo>
                  <a:lnTo>
                    <a:pt x="1831488" y="18532"/>
                  </a:lnTo>
                  <a:lnTo>
                    <a:pt x="1886873" y="18532"/>
                  </a:lnTo>
                  <a:lnTo>
                    <a:pt x="1917873" y="49405"/>
                  </a:lnTo>
                  <a:lnTo>
                    <a:pt x="1934479" y="89495"/>
                  </a:lnTo>
                  <a:lnTo>
                    <a:pt x="1936596" y="111192"/>
                  </a:lnTo>
                  <a:lnTo>
                    <a:pt x="1936596" y="1704945"/>
                  </a:lnTo>
                  <a:lnTo>
                    <a:pt x="1928131" y="1747496"/>
                  </a:lnTo>
                  <a:lnTo>
                    <a:pt x="1904028" y="1783570"/>
                  </a:lnTo>
                  <a:lnTo>
                    <a:pt x="1887189" y="1797415"/>
                  </a:lnTo>
                  <a:lnTo>
                    <a:pt x="1886871" y="1797605"/>
                  </a:lnTo>
                  <a:close/>
                </a:path>
              </a:pathLst>
            </a:custGeom>
            <a:solidFill>
              <a:srgbClr val="FFD600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922439" y="3882458"/>
              <a:ext cx="593090" cy="593090"/>
            </a:xfrm>
            <a:custGeom>
              <a:avLst/>
              <a:gdLst/>
              <a:ahLst/>
              <a:cxnLst/>
              <a:rect l="l" t="t" r="r" b="b"/>
              <a:pathLst>
                <a:path w="593090" h="593089">
                  <a:moveTo>
                    <a:pt x="296512" y="593024"/>
                  </a:moveTo>
                  <a:lnTo>
                    <a:pt x="253005" y="589815"/>
                  </a:lnTo>
                  <a:lnTo>
                    <a:pt x="210438" y="580256"/>
                  </a:lnTo>
                  <a:lnTo>
                    <a:pt x="169736" y="564556"/>
                  </a:lnTo>
                  <a:lnTo>
                    <a:pt x="131777" y="543053"/>
                  </a:lnTo>
                  <a:lnTo>
                    <a:pt x="97386" y="516213"/>
                  </a:lnTo>
                  <a:lnTo>
                    <a:pt x="67305" y="484617"/>
                  </a:lnTo>
                  <a:lnTo>
                    <a:pt x="42185" y="448950"/>
                  </a:lnTo>
                  <a:lnTo>
                    <a:pt x="22570" y="409982"/>
                  </a:lnTo>
                  <a:lnTo>
                    <a:pt x="8885" y="368558"/>
                  </a:lnTo>
                  <a:lnTo>
                    <a:pt x="1427" y="325575"/>
                  </a:lnTo>
                  <a:lnTo>
                    <a:pt x="0" y="296512"/>
                  </a:lnTo>
                  <a:lnTo>
                    <a:pt x="356" y="281963"/>
                  </a:lnTo>
                  <a:lnTo>
                    <a:pt x="5696" y="238664"/>
                  </a:lnTo>
                  <a:lnTo>
                    <a:pt x="17332" y="196619"/>
                  </a:lnTo>
                  <a:lnTo>
                    <a:pt x="35011" y="156736"/>
                  </a:lnTo>
                  <a:lnTo>
                    <a:pt x="58351" y="119879"/>
                  </a:lnTo>
                  <a:lnTo>
                    <a:pt x="86846" y="86845"/>
                  </a:lnTo>
                  <a:lnTo>
                    <a:pt x="119879" y="58351"/>
                  </a:lnTo>
                  <a:lnTo>
                    <a:pt x="156736" y="35011"/>
                  </a:lnTo>
                  <a:lnTo>
                    <a:pt x="196619" y="17332"/>
                  </a:lnTo>
                  <a:lnTo>
                    <a:pt x="238664" y="5697"/>
                  </a:lnTo>
                  <a:lnTo>
                    <a:pt x="281963" y="357"/>
                  </a:lnTo>
                  <a:lnTo>
                    <a:pt x="296512" y="0"/>
                  </a:lnTo>
                  <a:lnTo>
                    <a:pt x="311062" y="357"/>
                  </a:lnTo>
                  <a:lnTo>
                    <a:pt x="354358" y="5697"/>
                  </a:lnTo>
                  <a:lnTo>
                    <a:pt x="396404" y="17332"/>
                  </a:lnTo>
                  <a:lnTo>
                    <a:pt x="436286" y="35011"/>
                  </a:lnTo>
                  <a:lnTo>
                    <a:pt x="473143" y="58351"/>
                  </a:lnTo>
                  <a:lnTo>
                    <a:pt x="506177" y="86845"/>
                  </a:lnTo>
                  <a:lnTo>
                    <a:pt x="534672" y="119879"/>
                  </a:lnTo>
                  <a:lnTo>
                    <a:pt x="558011" y="156736"/>
                  </a:lnTo>
                  <a:lnTo>
                    <a:pt x="575690" y="196619"/>
                  </a:lnTo>
                  <a:lnTo>
                    <a:pt x="587326" y="238665"/>
                  </a:lnTo>
                  <a:lnTo>
                    <a:pt x="592667" y="281963"/>
                  </a:lnTo>
                  <a:lnTo>
                    <a:pt x="593024" y="296512"/>
                  </a:lnTo>
                  <a:lnTo>
                    <a:pt x="592667" y="311061"/>
                  </a:lnTo>
                  <a:lnTo>
                    <a:pt x="587326" y="354358"/>
                  </a:lnTo>
                  <a:lnTo>
                    <a:pt x="575690" y="396404"/>
                  </a:lnTo>
                  <a:lnTo>
                    <a:pt x="558011" y="436286"/>
                  </a:lnTo>
                  <a:lnTo>
                    <a:pt x="534673" y="473144"/>
                  </a:lnTo>
                  <a:lnTo>
                    <a:pt x="506177" y="506178"/>
                  </a:lnTo>
                  <a:lnTo>
                    <a:pt x="473143" y="534673"/>
                  </a:lnTo>
                  <a:lnTo>
                    <a:pt x="436285" y="558012"/>
                  </a:lnTo>
                  <a:lnTo>
                    <a:pt x="396403" y="575691"/>
                  </a:lnTo>
                  <a:lnTo>
                    <a:pt x="354358" y="587326"/>
                  </a:lnTo>
                  <a:lnTo>
                    <a:pt x="311062" y="592667"/>
                  </a:lnTo>
                  <a:lnTo>
                    <a:pt x="296512" y="593024"/>
                  </a:lnTo>
                  <a:close/>
                </a:path>
              </a:pathLst>
            </a:custGeom>
            <a:solidFill>
              <a:srgbClr val="0932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096540" y="4079576"/>
              <a:ext cx="250824" cy="200024"/>
            </a:xfrm>
            <a:prstGeom prst="rect">
              <a:avLst/>
            </a:prstGeom>
          </p:spPr>
        </p:pic>
      </p:grpSp>
      <p:sp>
        <p:nvSpPr>
          <p:cNvPr id="40" name="object 40"/>
          <p:cNvSpPr txBox="1"/>
          <p:nvPr/>
        </p:nvSpPr>
        <p:spPr>
          <a:xfrm>
            <a:off x="7760903" y="4573743"/>
            <a:ext cx="923290" cy="248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50" b="1" spc="-130" dirty="0">
                <a:solidFill>
                  <a:srgbClr val="FFFFFF"/>
                </a:solidFill>
                <a:latin typeface="Arial"/>
                <a:cs typeface="Arial"/>
              </a:rPr>
              <a:t>Deployment</a:t>
            </a:r>
            <a:endParaRPr sz="145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615253" y="4898390"/>
            <a:ext cx="1214755" cy="2254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00" spc="-60" dirty="0">
                <a:solidFill>
                  <a:srgbClr val="9CA2AF"/>
                </a:solidFill>
                <a:latin typeface="Arial MT"/>
                <a:cs typeface="Arial MT"/>
              </a:rPr>
              <a:t>Streamlit</a:t>
            </a:r>
            <a:r>
              <a:rPr sz="1300" spc="-40" dirty="0">
                <a:solidFill>
                  <a:srgbClr val="9CA2AF"/>
                </a:solidFill>
                <a:latin typeface="Arial MT"/>
                <a:cs typeface="Arial MT"/>
              </a:rPr>
              <a:t> </a:t>
            </a:r>
            <a:r>
              <a:rPr sz="1300" spc="-80" dirty="0">
                <a:solidFill>
                  <a:srgbClr val="9CA2AF"/>
                </a:solidFill>
                <a:latin typeface="Arial MT"/>
                <a:cs typeface="Arial MT"/>
              </a:rPr>
              <a:t>web</a:t>
            </a:r>
            <a:r>
              <a:rPr sz="1300" spc="-40" dirty="0">
                <a:solidFill>
                  <a:srgbClr val="9CA2AF"/>
                </a:solidFill>
                <a:latin typeface="Arial MT"/>
                <a:cs typeface="Arial MT"/>
              </a:rPr>
              <a:t> </a:t>
            </a:r>
            <a:r>
              <a:rPr sz="1300" spc="-60" dirty="0">
                <a:solidFill>
                  <a:srgbClr val="9CA2AF"/>
                </a:solidFill>
                <a:latin typeface="Arial MT"/>
                <a:cs typeface="Arial MT"/>
              </a:rPr>
              <a:t>app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9340137" y="3715670"/>
            <a:ext cx="1936750" cy="1816735"/>
            <a:chOff x="9340137" y="3715670"/>
            <a:chExt cx="1936750" cy="1816735"/>
          </a:xfrm>
        </p:grpSpPr>
        <p:sp>
          <p:nvSpPr>
            <p:cNvPr id="43" name="object 43"/>
            <p:cNvSpPr/>
            <p:nvPr/>
          </p:nvSpPr>
          <p:spPr>
            <a:xfrm>
              <a:off x="9340137" y="3715670"/>
              <a:ext cx="1936750" cy="1816735"/>
            </a:xfrm>
            <a:custGeom>
              <a:avLst/>
              <a:gdLst/>
              <a:ahLst/>
              <a:cxnLst/>
              <a:rect l="l" t="t" r="r" b="b"/>
              <a:pathLst>
                <a:path w="1936750" h="1816735">
                  <a:moveTo>
                    <a:pt x="1825403" y="1816137"/>
                  </a:moveTo>
                  <a:lnTo>
                    <a:pt x="111192" y="1816137"/>
                  </a:lnTo>
                  <a:lnTo>
                    <a:pt x="100238" y="1815608"/>
                  </a:lnTo>
                  <a:lnTo>
                    <a:pt x="58722" y="1802992"/>
                  </a:lnTo>
                  <a:lnTo>
                    <a:pt x="25195" y="1775450"/>
                  </a:lnTo>
                  <a:lnTo>
                    <a:pt x="4759" y="1737174"/>
                  </a:lnTo>
                  <a:lnTo>
                    <a:pt x="0" y="1704945"/>
                  </a:lnTo>
                  <a:lnTo>
                    <a:pt x="0" y="111192"/>
                  </a:lnTo>
                  <a:lnTo>
                    <a:pt x="8463" y="68640"/>
                  </a:lnTo>
                  <a:lnTo>
                    <a:pt x="32566" y="32567"/>
                  </a:lnTo>
                  <a:lnTo>
                    <a:pt x="68639" y="8463"/>
                  </a:lnTo>
                  <a:lnTo>
                    <a:pt x="111192" y="0"/>
                  </a:lnTo>
                  <a:lnTo>
                    <a:pt x="1825403" y="0"/>
                  </a:lnTo>
                  <a:lnTo>
                    <a:pt x="1867953" y="8463"/>
                  </a:lnTo>
                  <a:lnTo>
                    <a:pt x="1904027" y="32567"/>
                  </a:lnTo>
                  <a:lnTo>
                    <a:pt x="1928130" y="68640"/>
                  </a:lnTo>
                  <a:lnTo>
                    <a:pt x="1936596" y="111192"/>
                  </a:lnTo>
                  <a:lnTo>
                    <a:pt x="1936596" y="1704945"/>
                  </a:lnTo>
                  <a:lnTo>
                    <a:pt x="1928130" y="1747496"/>
                  </a:lnTo>
                  <a:lnTo>
                    <a:pt x="1904027" y="1783570"/>
                  </a:lnTo>
                  <a:lnTo>
                    <a:pt x="1867952" y="1807673"/>
                  </a:lnTo>
                  <a:lnTo>
                    <a:pt x="1825403" y="1816137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9340137" y="3715670"/>
              <a:ext cx="1936750" cy="1816735"/>
            </a:xfrm>
            <a:custGeom>
              <a:avLst/>
              <a:gdLst/>
              <a:ahLst/>
              <a:cxnLst/>
              <a:rect l="l" t="t" r="r" b="b"/>
              <a:pathLst>
                <a:path w="1936750" h="1816735">
                  <a:moveTo>
                    <a:pt x="1825403" y="1816137"/>
                  </a:moveTo>
                  <a:lnTo>
                    <a:pt x="111192" y="1816137"/>
                  </a:lnTo>
                  <a:lnTo>
                    <a:pt x="100238" y="1815608"/>
                  </a:lnTo>
                  <a:lnTo>
                    <a:pt x="58722" y="1802992"/>
                  </a:lnTo>
                  <a:lnTo>
                    <a:pt x="25195" y="1775450"/>
                  </a:lnTo>
                  <a:lnTo>
                    <a:pt x="4759" y="1737174"/>
                  </a:lnTo>
                  <a:lnTo>
                    <a:pt x="0" y="1704945"/>
                  </a:lnTo>
                  <a:lnTo>
                    <a:pt x="0" y="111192"/>
                  </a:lnTo>
                  <a:lnTo>
                    <a:pt x="8463" y="68640"/>
                  </a:lnTo>
                  <a:lnTo>
                    <a:pt x="32566" y="32567"/>
                  </a:lnTo>
                  <a:lnTo>
                    <a:pt x="68639" y="8463"/>
                  </a:lnTo>
                  <a:lnTo>
                    <a:pt x="111192" y="0"/>
                  </a:lnTo>
                  <a:lnTo>
                    <a:pt x="1825403" y="0"/>
                  </a:lnTo>
                  <a:lnTo>
                    <a:pt x="1836356" y="528"/>
                  </a:lnTo>
                  <a:lnTo>
                    <a:pt x="1877870" y="13144"/>
                  </a:lnTo>
                  <a:lnTo>
                    <a:pt x="1886872" y="18532"/>
                  </a:lnTo>
                  <a:lnTo>
                    <a:pt x="105108" y="18532"/>
                  </a:lnTo>
                  <a:lnTo>
                    <a:pt x="99082" y="19125"/>
                  </a:lnTo>
                  <a:lnTo>
                    <a:pt x="54654" y="37528"/>
                  </a:lnTo>
                  <a:lnTo>
                    <a:pt x="27913" y="70111"/>
                  </a:lnTo>
                  <a:lnTo>
                    <a:pt x="18532" y="105107"/>
                  </a:lnTo>
                  <a:lnTo>
                    <a:pt x="18532" y="1711029"/>
                  </a:lnTo>
                  <a:lnTo>
                    <a:pt x="19011" y="1715899"/>
                  </a:lnTo>
                  <a:lnTo>
                    <a:pt x="19125" y="1717055"/>
                  </a:lnTo>
                  <a:lnTo>
                    <a:pt x="37528" y="1761483"/>
                  </a:lnTo>
                  <a:lnTo>
                    <a:pt x="70111" y="1788223"/>
                  </a:lnTo>
                  <a:lnTo>
                    <a:pt x="105108" y="1797605"/>
                  </a:lnTo>
                  <a:lnTo>
                    <a:pt x="1886871" y="1797605"/>
                  </a:lnTo>
                  <a:lnTo>
                    <a:pt x="1877870" y="1802992"/>
                  </a:lnTo>
                  <a:lnTo>
                    <a:pt x="1867952" y="1807673"/>
                  </a:lnTo>
                  <a:lnTo>
                    <a:pt x="1857631" y="1811376"/>
                  </a:lnTo>
                  <a:lnTo>
                    <a:pt x="1847099" y="1814021"/>
                  </a:lnTo>
                  <a:lnTo>
                    <a:pt x="1836356" y="1815608"/>
                  </a:lnTo>
                  <a:lnTo>
                    <a:pt x="1825403" y="1816137"/>
                  </a:lnTo>
                  <a:close/>
                </a:path>
                <a:path w="1936750" h="1816735">
                  <a:moveTo>
                    <a:pt x="1886871" y="1797605"/>
                  </a:moveTo>
                  <a:lnTo>
                    <a:pt x="1831488" y="1797605"/>
                  </a:lnTo>
                  <a:lnTo>
                    <a:pt x="1837513" y="1797012"/>
                  </a:lnTo>
                  <a:lnTo>
                    <a:pt x="1849448" y="1794638"/>
                  </a:lnTo>
                  <a:lnTo>
                    <a:pt x="1886622" y="1774768"/>
                  </a:lnTo>
                  <a:lnTo>
                    <a:pt x="1913338" y="1734784"/>
                  </a:lnTo>
                  <a:lnTo>
                    <a:pt x="1918064" y="1711029"/>
                  </a:lnTo>
                  <a:lnTo>
                    <a:pt x="1918064" y="105107"/>
                  </a:lnTo>
                  <a:lnTo>
                    <a:pt x="1905827" y="64771"/>
                  </a:lnTo>
                  <a:lnTo>
                    <a:pt x="1871824" y="30767"/>
                  </a:lnTo>
                  <a:lnTo>
                    <a:pt x="1831488" y="18532"/>
                  </a:lnTo>
                  <a:lnTo>
                    <a:pt x="1886872" y="18532"/>
                  </a:lnTo>
                  <a:lnTo>
                    <a:pt x="1917872" y="49405"/>
                  </a:lnTo>
                  <a:lnTo>
                    <a:pt x="1934479" y="89495"/>
                  </a:lnTo>
                  <a:lnTo>
                    <a:pt x="1936596" y="111192"/>
                  </a:lnTo>
                  <a:lnTo>
                    <a:pt x="1936596" y="1704945"/>
                  </a:lnTo>
                  <a:lnTo>
                    <a:pt x="1928130" y="1747496"/>
                  </a:lnTo>
                  <a:lnTo>
                    <a:pt x="1904027" y="1783570"/>
                  </a:lnTo>
                  <a:lnTo>
                    <a:pt x="1887189" y="1797415"/>
                  </a:lnTo>
                  <a:lnTo>
                    <a:pt x="1886871" y="1797605"/>
                  </a:lnTo>
                  <a:close/>
                </a:path>
              </a:pathLst>
            </a:custGeom>
            <a:solidFill>
              <a:srgbClr val="FA913C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0007291" y="3882458"/>
              <a:ext cx="593090" cy="593090"/>
            </a:xfrm>
            <a:custGeom>
              <a:avLst/>
              <a:gdLst/>
              <a:ahLst/>
              <a:cxnLst/>
              <a:rect l="l" t="t" r="r" b="b"/>
              <a:pathLst>
                <a:path w="593090" h="593089">
                  <a:moveTo>
                    <a:pt x="296512" y="593024"/>
                  </a:moveTo>
                  <a:lnTo>
                    <a:pt x="253004" y="589815"/>
                  </a:lnTo>
                  <a:lnTo>
                    <a:pt x="210438" y="580256"/>
                  </a:lnTo>
                  <a:lnTo>
                    <a:pt x="169735" y="564556"/>
                  </a:lnTo>
                  <a:lnTo>
                    <a:pt x="131778" y="543053"/>
                  </a:lnTo>
                  <a:lnTo>
                    <a:pt x="97387" y="516213"/>
                  </a:lnTo>
                  <a:lnTo>
                    <a:pt x="67305" y="484617"/>
                  </a:lnTo>
                  <a:lnTo>
                    <a:pt x="42184" y="448950"/>
                  </a:lnTo>
                  <a:lnTo>
                    <a:pt x="22568" y="409982"/>
                  </a:lnTo>
                  <a:lnTo>
                    <a:pt x="8884" y="368558"/>
                  </a:lnTo>
                  <a:lnTo>
                    <a:pt x="1428" y="325575"/>
                  </a:lnTo>
                  <a:lnTo>
                    <a:pt x="0" y="296512"/>
                  </a:lnTo>
                  <a:lnTo>
                    <a:pt x="357" y="281963"/>
                  </a:lnTo>
                  <a:lnTo>
                    <a:pt x="5696" y="238664"/>
                  </a:lnTo>
                  <a:lnTo>
                    <a:pt x="17331" y="196619"/>
                  </a:lnTo>
                  <a:lnTo>
                    <a:pt x="35009" y="156736"/>
                  </a:lnTo>
                  <a:lnTo>
                    <a:pt x="58350" y="119879"/>
                  </a:lnTo>
                  <a:lnTo>
                    <a:pt x="86846" y="86845"/>
                  </a:lnTo>
                  <a:lnTo>
                    <a:pt x="119880" y="58351"/>
                  </a:lnTo>
                  <a:lnTo>
                    <a:pt x="156736" y="35011"/>
                  </a:lnTo>
                  <a:lnTo>
                    <a:pt x="196619" y="17332"/>
                  </a:lnTo>
                  <a:lnTo>
                    <a:pt x="238665" y="5697"/>
                  </a:lnTo>
                  <a:lnTo>
                    <a:pt x="281963" y="357"/>
                  </a:lnTo>
                  <a:lnTo>
                    <a:pt x="296512" y="0"/>
                  </a:lnTo>
                  <a:lnTo>
                    <a:pt x="311061" y="357"/>
                  </a:lnTo>
                  <a:lnTo>
                    <a:pt x="354358" y="5697"/>
                  </a:lnTo>
                  <a:lnTo>
                    <a:pt x="396404" y="17332"/>
                  </a:lnTo>
                  <a:lnTo>
                    <a:pt x="436285" y="35011"/>
                  </a:lnTo>
                  <a:lnTo>
                    <a:pt x="473143" y="58351"/>
                  </a:lnTo>
                  <a:lnTo>
                    <a:pt x="506177" y="86845"/>
                  </a:lnTo>
                  <a:lnTo>
                    <a:pt x="534672" y="119879"/>
                  </a:lnTo>
                  <a:lnTo>
                    <a:pt x="558012" y="156736"/>
                  </a:lnTo>
                  <a:lnTo>
                    <a:pt x="575692" y="196619"/>
                  </a:lnTo>
                  <a:lnTo>
                    <a:pt x="587326" y="238665"/>
                  </a:lnTo>
                  <a:lnTo>
                    <a:pt x="592667" y="281963"/>
                  </a:lnTo>
                  <a:lnTo>
                    <a:pt x="593024" y="296512"/>
                  </a:lnTo>
                  <a:lnTo>
                    <a:pt x="592667" y="311061"/>
                  </a:lnTo>
                  <a:lnTo>
                    <a:pt x="587326" y="354358"/>
                  </a:lnTo>
                  <a:lnTo>
                    <a:pt x="575691" y="396404"/>
                  </a:lnTo>
                  <a:lnTo>
                    <a:pt x="558013" y="436286"/>
                  </a:lnTo>
                  <a:lnTo>
                    <a:pt x="534673" y="473144"/>
                  </a:lnTo>
                  <a:lnTo>
                    <a:pt x="506177" y="506178"/>
                  </a:lnTo>
                  <a:lnTo>
                    <a:pt x="473142" y="534673"/>
                  </a:lnTo>
                  <a:lnTo>
                    <a:pt x="436285" y="558012"/>
                  </a:lnTo>
                  <a:lnTo>
                    <a:pt x="396404" y="575691"/>
                  </a:lnTo>
                  <a:lnTo>
                    <a:pt x="354358" y="587326"/>
                  </a:lnTo>
                  <a:lnTo>
                    <a:pt x="311061" y="592667"/>
                  </a:lnTo>
                  <a:lnTo>
                    <a:pt x="296512" y="593024"/>
                  </a:lnTo>
                  <a:close/>
                </a:path>
              </a:pathLst>
            </a:custGeom>
            <a:solidFill>
              <a:srgbClr val="0932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169271" y="4085926"/>
              <a:ext cx="276224" cy="187324"/>
            </a:xfrm>
            <a:prstGeom prst="rect">
              <a:avLst/>
            </a:prstGeom>
          </p:spPr>
        </p:pic>
      </p:grpSp>
      <p:sp>
        <p:nvSpPr>
          <p:cNvPr id="47" name="object 47"/>
          <p:cNvSpPr txBox="1"/>
          <p:nvPr/>
        </p:nvSpPr>
        <p:spPr>
          <a:xfrm>
            <a:off x="9525355" y="4573743"/>
            <a:ext cx="1565275" cy="248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50" b="1" spc="-100" dirty="0">
                <a:solidFill>
                  <a:srgbClr val="FFFFFF"/>
                </a:solidFill>
                <a:latin typeface="Arial"/>
                <a:cs typeface="Arial"/>
              </a:rPr>
              <a:t>Real-</a:t>
            </a:r>
            <a:r>
              <a:rPr sz="1450" b="1" spc="-105" dirty="0">
                <a:solidFill>
                  <a:srgbClr val="FFFFFF"/>
                </a:solidFill>
                <a:latin typeface="Arial"/>
                <a:cs typeface="Arial"/>
              </a:rPr>
              <a:t>Time</a:t>
            </a:r>
            <a:r>
              <a:rPr sz="145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50" b="1" spc="-105" dirty="0">
                <a:solidFill>
                  <a:srgbClr val="FFFFFF"/>
                </a:solidFill>
                <a:latin typeface="Arial"/>
                <a:cs typeface="Arial"/>
              </a:rPr>
              <a:t>Detection</a:t>
            </a:r>
            <a:endParaRPr sz="145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9568789" y="4898390"/>
            <a:ext cx="1478280" cy="2254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00" spc="-35" dirty="0">
                <a:solidFill>
                  <a:srgbClr val="9CA2AF"/>
                </a:solidFill>
                <a:latin typeface="Arial MT"/>
                <a:cs typeface="Arial MT"/>
              </a:rPr>
              <a:t>~30</a:t>
            </a:r>
            <a:r>
              <a:rPr sz="1300" spc="-70" dirty="0">
                <a:solidFill>
                  <a:srgbClr val="9CA2AF"/>
                </a:solidFill>
                <a:latin typeface="Arial MT"/>
                <a:cs typeface="Arial MT"/>
              </a:rPr>
              <a:t> </a:t>
            </a:r>
            <a:r>
              <a:rPr sz="1300" spc="-155" dirty="0">
                <a:solidFill>
                  <a:srgbClr val="9CA2AF"/>
                </a:solidFill>
                <a:latin typeface="Arial MT"/>
                <a:cs typeface="Arial MT"/>
              </a:rPr>
              <a:t>FPS</a:t>
            </a:r>
            <a:r>
              <a:rPr sz="1300" spc="-65" dirty="0">
                <a:solidFill>
                  <a:srgbClr val="9CA2AF"/>
                </a:solidFill>
                <a:latin typeface="Arial MT"/>
                <a:cs typeface="Arial MT"/>
              </a:rPr>
              <a:t> </a:t>
            </a:r>
            <a:r>
              <a:rPr sz="1300" spc="-60" dirty="0">
                <a:solidFill>
                  <a:srgbClr val="9CA2AF"/>
                </a:solidFill>
                <a:latin typeface="Arial MT"/>
                <a:cs typeface="Arial MT"/>
              </a:rPr>
              <a:t>performance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5170433" y="5717128"/>
            <a:ext cx="6106795" cy="463550"/>
            <a:chOff x="5170433" y="5717128"/>
            <a:chExt cx="6106795" cy="463550"/>
          </a:xfrm>
        </p:grpSpPr>
        <p:sp>
          <p:nvSpPr>
            <p:cNvPr id="50" name="object 50"/>
            <p:cNvSpPr/>
            <p:nvPr/>
          </p:nvSpPr>
          <p:spPr>
            <a:xfrm>
              <a:off x="5170433" y="5717128"/>
              <a:ext cx="6106795" cy="463550"/>
            </a:xfrm>
            <a:custGeom>
              <a:avLst/>
              <a:gdLst/>
              <a:ahLst/>
              <a:cxnLst/>
              <a:rect l="l" t="t" r="r" b="b"/>
              <a:pathLst>
                <a:path w="6106795" h="463550">
                  <a:moveTo>
                    <a:pt x="6032172" y="463300"/>
                  </a:moveTo>
                  <a:lnTo>
                    <a:pt x="74128" y="463300"/>
                  </a:lnTo>
                  <a:lnTo>
                    <a:pt x="66825" y="462947"/>
                  </a:lnTo>
                  <a:lnTo>
                    <a:pt x="27124" y="446502"/>
                  </a:lnTo>
                  <a:lnTo>
                    <a:pt x="3173" y="410657"/>
                  </a:lnTo>
                  <a:lnTo>
                    <a:pt x="0" y="389172"/>
                  </a:lnTo>
                  <a:lnTo>
                    <a:pt x="0" y="74128"/>
                  </a:lnTo>
                  <a:lnTo>
                    <a:pt x="12480" y="32936"/>
                  </a:lnTo>
                  <a:lnTo>
                    <a:pt x="45759" y="5642"/>
                  </a:lnTo>
                  <a:lnTo>
                    <a:pt x="74128" y="0"/>
                  </a:lnTo>
                  <a:lnTo>
                    <a:pt x="6032172" y="0"/>
                  </a:lnTo>
                  <a:lnTo>
                    <a:pt x="6073361" y="12480"/>
                  </a:lnTo>
                  <a:lnTo>
                    <a:pt x="6100656" y="45759"/>
                  </a:lnTo>
                  <a:lnTo>
                    <a:pt x="6106300" y="74128"/>
                  </a:lnTo>
                  <a:lnTo>
                    <a:pt x="6106300" y="389172"/>
                  </a:lnTo>
                  <a:lnTo>
                    <a:pt x="6093817" y="430362"/>
                  </a:lnTo>
                  <a:lnTo>
                    <a:pt x="6060537" y="457657"/>
                  </a:lnTo>
                  <a:lnTo>
                    <a:pt x="6032172" y="463300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170434" y="5717128"/>
              <a:ext cx="6106795" cy="463550"/>
            </a:xfrm>
            <a:custGeom>
              <a:avLst/>
              <a:gdLst/>
              <a:ahLst/>
              <a:cxnLst/>
              <a:rect l="l" t="t" r="r" b="b"/>
              <a:pathLst>
                <a:path w="6106795" h="463550">
                  <a:moveTo>
                    <a:pt x="6032172" y="463300"/>
                  </a:moveTo>
                  <a:lnTo>
                    <a:pt x="74128" y="463300"/>
                  </a:lnTo>
                  <a:lnTo>
                    <a:pt x="66825" y="462947"/>
                  </a:lnTo>
                  <a:lnTo>
                    <a:pt x="27124" y="446502"/>
                  </a:lnTo>
                  <a:lnTo>
                    <a:pt x="3173" y="410657"/>
                  </a:lnTo>
                  <a:lnTo>
                    <a:pt x="0" y="389172"/>
                  </a:lnTo>
                  <a:lnTo>
                    <a:pt x="0" y="74128"/>
                  </a:lnTo>
                  <a:lnTo>
                    <a:pt x="12480" y="32936"/>
                  </a:lnTo>
                  <a:lnTo>
                    <a:pt x="45759" y="5642"/>
                  </a:lnTo>
                  <a:lnTo>
                    <a:pt x="74128" y="0"/>
                  </a:lnTo>
                  <a:lnTo>
                    <a:pt x="6032172" y="0"/>
                  </a:lnTo>
                  <a:lnTo>
                    <a:pt x="6067991" y="9266"/>
                  </a:lnTo>
                  <a:lnTo>
                    <a:pt x="69869" y="9266"/>
                  </a:lnTo>
                  <a:lnTo>
                    <a:pt x="65651" y="9681"/>
                  </a:lnTo>
                  <a:lnTo>
                    <a:pt x="25252" y="31275"/>
                  </a:lnTo>
                  <a:lnTo>
                    <a:pt x="9266" y="69869"/>
                  </a:lnTo>
                  <a:lnTo>
                    <a:pt x="9266" y="393431"/>
                  </a:lnTo>
                  <a:lnTo>
                    <a:pt x="9565" y="396474"/>
                  </a:lnTo>
                  <a:lnTo>
                    <a:pt x="9681" y="397649"/>
                  </a:lnTo>
                  <a:lnTo>
                    <a:pt x="31275" y="438048"/>
                  </a:lnTo>
                  <a:lnTo>
                    <a:pt x="69869" y="454034"/>
                  </a:lnTo>
                  <a:lnTo>
                    <a:pt x="6067989" y="454034"/>
                  </a:lnTo>
                  <a:lnTo>
                    <a:pt x="6067149" y="454536"/>
                  </a:lnTo>
                  <a:lnTo>
                    <a:pt x="6060538" y="457657"/>
                  </a:lnTo>
                  <a:lnTo>
                    <a:pt x="6053657" y="460126"/>
                  </a:lnTo>
                  <a:lnTo>
                    <a:pt x="6046635" y="461889"/>
                  </a:lnTo>
                  <a:lnTo>
                    <a:pt x="6039474" y="462947"/>
                  </a:lnTo>
                  <a:lnTo>
                    <a:pt x="6032172" y="463300"/>
                  </a:lnTo>
                  <a:close/>
                </a:path>
                <a:path w="6106795" h="463550">
                  <a:moveTo>
                    <a:pt x="6067989" y="454034"/>
                  </a:moveTo>
                  <a:lnTo>
                    <a:pt x="6036431" y="454034"/>
                  </a:lnTo>
                  <a:lnTo>
                    <a:pt x="6040649" y="453619"/>
                  </a:lnTo>
                  <a:lnTo>
                    <a:pt x="6049002" y="451957"/>
                  </a:lnTo>
                  <a:lnTo>
                    <a:pt x="6083735" y="428748"/>
                  </a:lnTo>
                  <a:lnTo>
                    <a:pt x="6097034" y="393431"/>
                  </a:lnTo>
                  <a:lnTo>
                    <a:pt x="6097034" y="69869"/>
                  </a:lnTo>
                  <a:lnTo>
                    <a:pt x="6096734" y="66825"/>
                  </a:lnTo>
                  <a:lnTo>
                    <a:pt x="6096618" y="65651"/>
                  </a:lnTo>
                  <a:lnTo>
                    <a:pt x="6075024" y="25252"/>
                  </a:lnTo>
                  <a:lnTo>
                    <a:pt x="6036431" y="9266"/>
                  </a:lnTo>
                  <a:lnTo>
                    <a:pt x="6067991" y="9266"/>
                  </a:lnTo>
                  <a:lnTo>
                    <a:pt x="6097535" y="39148"/>
                  </a:lnTo>
                  <a:lnTo>
                    <a:pt x="6106300" y="74128"/>
                  </a:lnTo>
                  <a:lnTo>
                    <a:pt x="6106300" y="389172"/>
                  </a:lnTo>
                  <a:lnTo>
                    <a:pt x="6093817" y="430362"/>
                  </a:lnTo>
                  <a:lnTo>
                    <a:pt x="6073484" y="450727"/>
                  </a:lnTo>
                  <a:lnTo>
                    <a:pt x="6067989" y="454034"/>
                  </a:lnTo>
                  <a:close/>
                </a:path>
              </a:pathLst>
            </a:custGeom>
            <a:solidFill>
              <a:srgbClr val="FFD6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398063" y="5872645"/>
              <a:ext cx="152399" cy="152399"/>
            </a:xfrm>
            <a:prstGeom prst="rect">
              <a:avLst/>
            </a:prstGeom>
          </p:spPr>
        </p:pic>
      </p:grpSp>
      <p:sp>
        <p:nvSpPr>
          <p:cNvPr id="53" name="object 53"/>
          <p:cNvSpPr txBox="1"/>
          <p:nvPr/>
        </p:nvSpPr>
        <p:spPr>
          <a:xfrm>
            <a:off x="5684014" y="5817473"/>
            <a:ext cx="294513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60" dirty="0">
                <a:solidFill>
                  <a:srgbClr val="D0D5DA"/>
                </a:solidFill>
                <a:latin typeface="Arial MT"/>
                <a:cs typeface="Arial MT"/>
              </a:rPr>
              <a:t>Iterative</a:t>
            </a:r>
            <a:r>
              <a:rPr sz="1300" spc="-4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300" spc="-65" dirty="0">
                <a:solidFill>
                  <a:srgbClr val="D0D5DA"/>
                </a:solidFill>
                <a:latin typeface="Arial MT"/>
                <a:cs typeface="Arial MT"/>
              </a:rPr>
              <a:t>refinement</a:t>
            </a:r>
            <a:r>
              <a:rPr sz="1300" spc="-4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300" spc="-25" dirty="0">
                <a:solidFill>
                  <a:srgbClr val="D0D5DA"/>
                </a:solidFill>
                <a:latin typeface="Arial MT"/>
                <a:cs typeface="Arial MT"/>
              </a:rPr>
              <a:t>for</a:t>
            </a:r>
            <a:r>
              <a:rPr sz="1300" spc="-4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300" spc="-45" dirty="0">
                <a:solidFill>
                  <a:srgbClr val="D0D5DA"/>
                </a:solidFill>
                <a:latin typeface="Arial MT"/>
                <a:cs typeface="Arial MT"/>
              </a:rPr>
              <a:t>optimal </a:t>
            </a:r>
            <a:r>
              <a:rPr sz="1300" spc="-55" dirty="0">
                <a:solidFill>
                  <a:srgbClr val="D0D5DA"/>
                </a:solidFill>
                <a:latin typeface="Arial MT"/>
                <a:cs typeface="Arial MT"/>
              </a:rPr>
              <a:t>performance</a:t>
            </a:r>
            <a:endParaRPr sz="1300">
              <a:latin typeface="Arial MT"/>
              <a:cs typeface="Arial MT"/>
            </a:endParaRPr>
          </a:p>
        </p:txBody>
      </p:sp>
      <p:pic>
        <p:nvPicPr>
          <p:cNvPr id="55" name="object 5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-431535" y="95724"/>
            <a:ext cx="5690071" cy="6572641"/>
          </a:xfrm>
          <a:prstGeom prst="rect">
            <a:avLst/>
          </a:prstGeom>
        </p:spPr>
      </p:pic>
      <p:pic>
        <p:nvPicPr>
          <p:cNvPr id="57" name="Picture 56" descr="A person riding a bicycle on a street&#10;&#10;AI-generated content may be incorrect.">
            <a:extLst>
              <a:ext uri="{FF2B5EF4-FFF2-40B4-BE49-F238E27FC236}">
                <a16:creationId xmlns:a16="http://schemas.microsoft.com/office/drawing/2014/main" id="{D70C5E3D-1C71-C3DE-4A87-0E483788E95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194" y="1936090"/>
            <a:ext cx="4753994" cy="334608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43180">
              <a:lnSpc>
                <a:spcPct val="100000"/>
              </a:lnSpc>
              <a:spcBef>
                <a:spcPts val="114"/>
              </a:spcBef>
            </a:pPr>
            <a:r>
              <a:rPr spc="-200" dirty="0">
                <a:latin typeface="Tahoma"/>
                <a:cs typeface="Tahoma"/>
              </a:rPr>
              <a:t>Training</a:t>
            </a:r>
            <a:r>
              <a:rPr spc="-95" dirty="0">
                <a:latin typeface="Tahoma"/>
                <a:cs typeface="Tahoma"/>
              </a:rPr>
              <a:t> </a:t>
            </a:r>
            <a:r>
              <a:rPr spc="-145" dirty="0">
                <a:latin typeface="Tahoma"/>
                <a:cs typeface="Tahoma"/>
              </a:rPr>
              <a:t>Setup</a:t>
            </a:r>
          </a:p>
        </p:txBody>
      </p:sp>
      <p:sp>
        <p:nvSpPr>
          <p:cNvPr id="3" name="object 3"/>
          <p:cNvSpPr/>
          <p:nvPr/>
        </p:nvSpPr>
        <p:spPr>
          <a:xfrm>
            <a:off x="619124" y="1885949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1219199" y="38099"/>
                </a:moveTo>
                <a:lnTo>
                  <a:pt x="0" y="38099"/>
                </a:lnTo>
                <a:lnTo>
                  <a:pt x="0" y="0"/>
                </a:lnTo>
                <a:lnTo>
                  <a:pt x="1219199" y="0"/>
                </a:lnTo>
                <a:lnTo>
                  <a:pt x="1219199" y="38099"/>
                </a:lnTo>
                <a:close/>
              </a:path>
            </a:pathLst>
          </a:custGeom>
          <a:solidFill>
            <a:srgbClr val="FFD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619124" y="2114549"/>
            <a:ext cx="4086225" cy="1447800"/>
            <a:chOff x="619124" y="2114549"/>
            <a:chExt cx="4086225" cy="1447800"/>
          </a:xfrm>
        </p:grpSpPr>
        <p:sp>
          <p:nvSpPr>
            <p:cNvPr id="5" name="object 5"/>
            <p:cNvSpPr/>
            <p:nvPr/>
          </p:nvSpPr>
          <p:spPr>
            <a:xfrm>
              <a:off x="619124" y="2114549"/>
              <a:ext cx="4086225" cy="1447800"/>
            </a:xfrm>
            <a:custGeom>
              <a:avLst/>
              <a:gdLst/>
              <a:ahLst/>
              <a:cxnLst/>
              <a:rect l="l" t="t" r="r" b="b"/>
              <a:pathLst>
                <a:path w="4086225" h="1447800">
                  <a:moveTo>
                    <a:pt x="3971924" y="1447799"/>
                  </a:moveTo>
                  <a:lnTo>
                    <a:pt x="114299" y="1447799"/>
                  </a:lnTo>
                  <a:lnTo>
                    <a:pt x="103040" y="1447255"/>
                  </a:lnTo>
                  <a:lnTo>
                    <a:pt x="60364" y="1434287"/>
                  </a:lnTo>
                  <a:lnTo>
                    <a:pt x="25900" y="1405975"/>
                  </a:lnTo>
                  <a:lnTo>
                    <a:pt x="4894" y="1366629"/>
                  </a:lnTo>
                  <a:lnTo>
                    <a:pt x="0" y="1333499"/>
                  </a:lnTo>
                  <a:lnTo>
                    <a:pt x="0" y="114299"/>
                  </a:lnTo>
                  <a:lnTo>
                    <a:pt x="8700" y="70558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3971924" y="0"/>
                  </a:lnTo>
                  <a:lnTo>
                    <a:pt x="4015665" y="8700"/>
                  </a:lnTo>
                  <a:lnTo>
                    <a:pt x="4052746" y="33477"/>
                  </a:lnTo>
                  <a:lnTo>
                    <a:pt x="4077523" y="70558"/>
                  </a:lnTo>
                  <a:lnTo>
                    <a:pt x="4086224" y="114299"/>
                  </a:lnTo>
                  <a:lnTo>
                    <a:pt x="4086224" y="1333499"/>
                  </a:lnTo>
                  <a:lnTo>
                    <a:pt x="4077524" y="1377240"/>
                  </a:lnTo>
                  <a:lnTo>
                    <a:pt x="4052746" y="1414322"/>
                  </a:lnTo>
                  <a:lnTo>
                    <a:pt x="4015664" y="1439099"/>
                  </a:lnTo>
                  <a:lnTo>
                    <a:pt x="3971924" y="1447799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19124" y="2114550"/>
              <a:ext cx="4086225" cy="1447800"/>
            </a:xfrm>
            <a:custGeom>
              <a:avLst/>
              <a:gdLst/>
              <a:ahLst/>
              <a:cxnLst/>
              <a:rect l="l" t="t" r="r" b="b"/>
              <a:pathLst>
                <a:path w="4086225" h="1447800">
                  <a:moveTo>
                    <a:pt x="3971924" y="1447799"/>
                  </a:moveTo>
                  <a:lnTo>
                    <a:pt x="114299" y="1447799"/>
                  </a:lnTo>
                  <a:lnTo>
                    <a:pt x="103040" y="1447255"/>
                  </a:lnTo>
                  <a:lnTo>
                    <a:pt x="60364" y="1434287"/>
                  </a:lnTo>
                  <a:lnTo>
                    <a:pt x="25900" y="1405975"/>
                  </a:lnTo>
                  <a:lnTo>
                    <a:pt x="4894" y="1366629"/>
                  </a:lnTo>
                  <a:lnTo>
                    <a:pt x="0" y="1333499"/>
                  </a:lnTo>
                  <a:lnTo>
                    <a:pt x="0" y="114299"/>
                  </a:lnTo>
                  <a:lnTo>
                    <a:pt x="8700" y="70558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3971924" y="0"/>
                  </a:lnTo>
                  <a:lnTo>
                    <a:pt x="4015665" y="8700"/>
                  </a:lnTo>
                  <a:lnTo>
                    <a:pt x="4035112" y="19049"/>
                  </a:lnTo>
                  <a:lnTo>
                    <a:pt x="108045" y="19049"/>
                  </a:lnTo>
                  <a:lnTo>
                    <a:pt x="101851" y="19660"/>
                  </a:lnTo>
                  <a:lnTo>
                    <a:pt x="56181" y="38577"/>
                  </a:lnTo>
                  <a:lnTo>
                    <a:pt x="28693" y="72071"/>
                  </a:lnTo>
                  <a:lnTo>
                    <a:pt x="19049" y="108045"/>
                  </a:lnTo>
                  <a:lnTo>
                    <a:pt x="19049" y="1339754"/>
                  </a:lnTo>
                  <a:lnTo>
                    <a:pt x="19542" y="1344759"/>
                  </a:lnTo>
                  <a:lnTo>
                    <a:pt x="19660" y="1345948"/>
                  </a:lnTo>
                  <a:lnTo>
                    <a:pt x="38577" y="1391617"/>
                  </a:lnTo>
                  <a:lnTo>
                    <a:pt x="72071" y="1419105"/>
                  </a:lnTo>
                  <a:lnTo>
                    <a:pt x="108045" y="1428749"/>
                  </a:lnTo>
                  <a:lnTo>
                    <a:pt x="4035112" y="1428749"/>
                  </a:lnTo>
                  <a:lnTo>
                    <a:pt x="4025859" y="1434287"/>
                  </a:lnTo>
                  <a:lnTo>
                    <a:pt x="4015665" y="1439099"/>
                  </a:lnTo>
                  <a:lnTo>
                    <a:pt x="4005054" y="1442905"/>
                  </a:lnTo>
                  <a:lnTo>
                    <a:pt x="3994227" y="1445624"/>
                  </a:lnTo>
                  <a:lnTo>
                    <a:pt x="3983184" y="1447255"/>
                  </a:lnTo>
                  <a:lnTo>
                    <a:pt x="3971924" y="1447799"/>
                  </a:lnTo>
                  <a:close/>
                </a:path>
                <a:path w="4086225" h="1447800">
                  <a:moveTo>
                    <a:pt x="4035112" y="1428749"/>
                  </a:moveTo>
                  <a:lnTo>
                    <a:pt x="3978179" y="1428749"/>
                  </a:lnTo>
                  <a:lnTo>
                    <a:pt x="3984372" y="1428139"/>
                  </a:lnTo>
                  <a:lnTo>
                    <a:pt x="3996641" y="1425699"/>
                  </a:lnTo>
                  <a:lnTo>
                    <a:pt x="4034854" y="1405274"/>
                  </a:lnTo>
                  <a:lnTo>
                    <a:pt x="4062317" y="1364172"/>
                  </a:lnTo>
                  <a:lnTo>
                    <a:pt x="4067174" y="1339754"/>
                  </a:lnTo>
                  <a:lnTo>
                    <a:pt x="4067174" y="108045"/>
                  </a:lnTo>
                  <a:lnTo>
                    <a:pt x="4066681" y="103040"/>
                  </a:lnTo>
                  <a:lnTo>
                    <a:pt x="4066564" y="101851"/>
                  </a:lnTo>
                  <a:lnTo>
                    <a:pt x="4047647" y="56181"/>
                  </a:lnTo>
                  <a:lnTo>
                    <a:pt x="4014153" y="28693"/>
                  </a:lnTo>
                  <a:lnTo>
                    <a:pt x="3978179" y="19049"/>
                  </a:lnTo>
                  <a:lnTo>
                    <a:pt x="4035112" y="19049"/>
                  </a:lnTo>
                  <a:lnTo>
                    <a:pt x="4066979" y="50786"/>
                  </a:lnTo>
                  <a:lnTo>
                    <a:pt x="4084049" y="91996"/>
                  </a:lnTo>
                  <a:lnTo>
                    <a:pt x="4086224" y="1333499"/>
                  </a:lnTo>
                  <a:lnTo>
                    <a:pt x="4085681" y="1344759"/>
                  </a:lnTo>
                  <a:lnTo>
                    <a:pt x="4072712" y="1387434"/>
                  </a:lnTo>
                  <a:lnTo>
                    <a:pt x="4044400" y="1421899"/>
                  </a:lnTo>
                  <a:lnTo>
                    <a:pt x="4035438" y="1428554"/>
                  </a:lnTo>
                  <a:lnTo>
                    <a:pt x="4035112" y="1428749"/>
                  </a:lnTo>
                  <a:close/>
                </a:path>
              </a:pathLst>
            </a:custGeom>
            <a:solidFill>
              <a:srgbClr val="FFD600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8674" y="2371724"/>
              <a:ext cx="304800" cy="209550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619124" y="3714749"/>
            <a:ext cx="4086225" cy="1485900"/>
            <a:chOff x="619124" y="3714749"/>
            <a:chExt cx="4086225" cy="1485900"/>
          </a:xfrm>
        </p:grpSpPr>
        <p:sp>
          <p:nvSpPr>
            <p:cNvPr id="9" name="object 9"/>
            <p:cNvSpPr/>
            <p:nvPr/>
          </p:nvSpPr>
          <p:spPr>
            <a:xfrm>
              <a:off x="619124" y="3714749"/>
              <a:ext cx="4086225" cy="1485900"/>
            </a:xfrm>
            <a:custGeom>
              <a:avLst/>
              <a:gdLst/>
              <a:ahLst/>
              <a:cxnLst/>
              <a:rect l="l" t="t" r="r" b="b"/>
              <a:pathLst>
                <a:path w="4086225" h="1485900">
                  <a:moveTo>
                    <a:pt x="3971924" y="1485899"/>
                  </a:moveTo>
                  <a:lnTo>
                    <a:pt x="114299" y="1485899"/>
                  </a:lnTo>
                  <a:lnTo>
                    <a:pt x="103040" y="1485355"/>
                  </a:lnTo>
                  <a:lnTo>
                    <a:pt x="60364" y="1472387"/>
                  </a:lnTo>
                  <a:lnTo>
                    <a:pt x="25900" y="1444075"/>
                  </a:lnTo>
                  <a:lnTo>
                    <a:pt x="4894" y="1404729"/>
                  </a:lnTo>
                  <a:lnTo>
                    <a:pt x="0" y="1371599"/>
                  </a:lnTo>
                  <a:lnTo>
                    <a:pt x="0" y="114299"/>
                  </a:lnTo>
                  <a:lnTo>
                    <a:pt x="8700" y="70558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3971924" y="0"/>
                  </a:lnTo>
                  <a:lnTo>
                    <a:pt x="4015665" y="8700"/>
                  </a:lnTo>
                  <a:lnTo>
                    <a:pt x="4052746" y="33477"/>
                  </a:lnTo>
                  <a:lnTo>
                    <a:pt x="4077523" y="70558"/>
                  </a:lnTo>
                  <a:lnTo>
                    <a:pt x="4086224" y="114299"/>
                  </a:lnTo>
                  <a:lnTo>
                    <a:pt x="4086224" y="1371599"/>
                  </a:lnTo>
                  <a:lnTo>
                    <a:pt x="4077524" y="1415340"/>
                  </a:lnTo>
                  <a:lnTo>
                    <a:pt x="4052746" y="1452422"/>
                  </a:lnTo>
                  <a:lnTo>
                    <a:pt x="4015664" y="1477199"/>
                  </a:lnTo>
                  <a:lnTo>
                    <a:pt x="3971924" y="1485899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19124" y="3714749"/>
              <a:ext cx="4086225" cy="1485900"/>
            </a:xfrm>
            <a:custGeom>
              <a:avLst/>
              <a:gdLst/>
              <a:ahLst/>
              <a:cxnLst/>
              <a:rect l="l" t="t" r="r" b="b"/>
              <a:pathLst>
                <a:path w="4086225" h="1485900">
                  <a:moveTo>
                    <a:pt x="3971924" y="1485899"/>
                  </a:moveTo>
                  <a:lnTo>
                    <a:pt x="114299" y="1485899"/>
                  </a:lnTo>
                  <a:lnTo>
                    <a:pt x="103040" y="1485355"/>
                  </a:lnTo>
                  <a:lnTo>
                    <a:pt x="60364" y="1472387"/>
                  </a:lnTo>
                  <a:lnTo>
                    <a:pt x="25900" y="1444075"/>
                  </a:lnTo>
                  <a:lnTo>
                    <a:pt x="4894" y="1404729"/>
                  </a:lnTo>
                  <a:lnTo>
                    <a:pt x="0" y="1371599"/>
                  </a:lnTo>
                  <a:lnTo>
                    <a:pt x="0" y="114299"/>
                  </a:lnTo>
                  <a:lnTo>
                    <a:pt x="8700" y="70558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3971924" y="0"/>
                  </a:lnTo>
                  <a:lnTo>
                    <a:pt x="4015665" y="8700"/>
                  </a:lnTo>
                  <a:lnTo>
                    <a:pt x="4035112" y="19049"/>
                  </a:lnTo>
                  <a:lnTo>
                    <a:pt x="108045" y="19049"/>
                  </a:lnTo>
                  <a:lnTo>
                    <a:pt x="101851" y="19659"/>
                  </a:lnTo>
                  <a:lnTo>
                    <a:pt x="56181" y="38577"/>
                  </a:lnTo>
                  <a:lnTo>
                    <a:pt x="28693" y="72071"/>
                  </a:lnTo>
                  <a:lnTo>
                    <a:pt x="19049" y="108045"/>
                  </a:lnTo>
                  <a:lnTo>
                    <a:pt x="19049" y="1377854"/>
                  </a:lnTo>
                  <a:lnTo>
                    <a:pt x="19542" y="1382859"/>
                  </a:lnTo>
                  <a:lnTo>
                    <a:pt x="19660" y="1384048"/>
                  </a:lnTo>
                  <a:lnTo>
                    <a:pt x="38577" y="1429717"/>
                  </a:lnTo>
                  <a:lnTo>
                    <a:pt x="72071" y="1457205"/>
                  </a:lnTo>
                  <a:lnTo>
                    <a:pt x="108045" y="1466849"/>
                  </a:lnTo>
                  <a:lnTo>
                    <a:pt x="4035111" y="1466849"/>
                  </a:lnTo>
                  <a:lnTo>
                    <a:pt x="4025859" y="1472387"/>
                  </a:lnTo>
                  <a:lnTo>
                    <a:pt x="4015665" y="1477199"/>
                  </a:lnTo>
                  <a:lnTo>
                    <a:pt x="4005054" y="1481005"/>
                  </a:lnTo>
                  <a:lnTo>
                    <a:pt x="3994227" y="1483724"/>
                  </a:lnTo>
                  <a:lnTo>
                    <a:pt x="3983184" y="1485355"/>
                  </a:lnTo>
                  <a:lnTo>
                    <a:pt x="3971924" y="1485899"/>
                  </a:lnTo>
                  <a:close/>
                </a:path>
                <a:path w="4086225" h="1485900">
                  <a:moveTo>
                    <a:pt x="4035111" y="1466849"/>
                  </a:moveTo>
                  <a:lnTo>
                    <a:pt x="3978179" y="1466849"/>
                  </a:lnTo>
                  <a:lnTo>
                    <a:pt x="3984372" y="1466239"/>
                  </a:lnTo>
                  <a:lnTo>
                    <a:pt x="3996641" y="1463799"/>
                  </a:lnTo>
                  <a:lnTo>
                    <a:pt x="4034854" y="1443374"/>
                  </a:lnTo>
                  <a:lnTo>
                    <a:pt x="4062317" y="1402272"/>
                  </a:lnTo>
                  <a:lnTo>
                    <a:pt x="4067174" y="1377854"/>
                  </a:lnTo>
                  <a:lnTo>
                    <a:pt x="4067174" y="108045"/>
                  </a:lnTo>
                  <a:lnTo>
                    <a:pt x="4066681" y="103040"/>
                  </a:lnTo>
                  <a:lnTo>
                    <a:pt x="4066564" y="101851"/>
                  </a:lnTo>
                  <a:lnTo>
                    <a:pt x="4047647" y="56181"/>
                  </a:lnTo>
                  <a:lnTo>
                    <a:pt x="4014153" y="28693"/>
                  </a:lnTo>
                  <a:lnTo>
                    <a:pt x="3978179" y="19049"/>
                  </a:lnTo>
                  <a:lnTo>
                    <a:pt x="4035112" y="19049"/>
                  </a:lnTo>
                  <a:lnTo>
                    <a:pt x="4066979" y="50785"/>
                  </a:lnTo>
                  <a:lnTo>
                    <a:pt x="4084049" y="91996"/>
                  </a:lnTo>
                  <a:lnTo>
                    <a:pt x="4086224" y="1371599"/>
                  </a:lnTo>
                  <a:lnTo>
                    <a:pt x="4085681" y="1382859"/>
                  </a:lnTo>
                  <a:lnTo>
                    <a:pt x="4072712" y="1425534"/>
                  </a:lnTo>
                  <a:lnTo>
                    <a:pt x="4044400" y="1459999"/>
                  </a:lnTo>
                  <a:lnTo>
                    <a:pt x="4035438" y="1466654"/>
                  </a:lnTo>
                  <a:lnTo>
                    <a:pt x="4035111" y="1466849"/>
                  </a:lnTo>
                  <a:close/>
                </a:path>
              </a:pathLst>
            </a:custGeom>
            <a:solidFill>
              <a:srgbClr val="60A5FA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6774" y="3962399"/>
              <a:ext cx="228600" cy="228600"/>
            </a:xfrm>
            <a:prstGeom prst="rect">
              <a:avLst/>
            </a:prstGeom>
          </p:spPr>
        </p:pic>
      </p:grpSp>
      <p:grpSp>
        <p:nvGrpSpPr>
          <p:cNvPr id="12" name="object 12"/>
          <p:cNvGrpSpPr/>
          <p:nvPr/>
        </p:nvGrpSpPr>
        <p:grpSpPr>
          <a:xfrm>
            <a:off x="619124" y="5353049"/>
            <a:ext cx="4086225" cy="476250"/>
            <a:chOff x="619124" y="5353049"/>
            <a:chExt cx="4086225" cy="476250"/>
          </a:xfrm>
        </p:grpSpPr>
        <p:sp>
          <p:nvSpPr>
            <p:cNvPr id="13" name="object 13"/>
            <p:cNvSpPr/>
            <p:nvPr/>
          </p:nvSpPr>
          <p:spPr>
            <a:xfrm>
              <a:off x="619124" y="5353049"/>
              <a:ext cx="4086225" cy="476250"/>
            </a:xfrm>
            <a:custGeom>
              <a:avLst/>
              <a:gdLst/>
              <a:ahLst/>
              <a:cxnLst/>
              <a:rect l="l" t="t" r="r" b="b"/>
              <a:pathLst>
                <a:path w="4086225" h="476250">
                  <a:moveTo>
                    <a:pt x="4010024" y="476249"/>
                  </a:moveTo>
                  <a:lnTo>
                    <a:pt x="76199" y="476249"/>
                  </a:lnTo>
                  <a:lnTo>
                    <a:pt x="68693" y="475887"/>
                  </a:lnTo>
                  <a:lnTo>
                    <a:pt x="27882" y="458982"/>
                  </a:lnTo>
                  <a:lnTo>
                    <a:pt x="3262" y="422136"/>
                  </a:lnTo>
                  <a:lnTo>
                    <a:pt x="0" y="400049"/>
                  </a:lnTo>
                  <a:lnTo>
                    <a:pt x="0" y="76199"/>
                  </a:lnTo>
                  <a:lnTo>
                    <a:pt x="12829" y="33857"/>
                  </a:lnTo>
                  <a:lnTo>
                    <a:pt x="47039" y="5799"/>
                  </a:lnTo>
                  <a:lnTo>
                    <a:pt x="76199" y="0"/>
                  </a:lnTo>
                  <a:lnTo>
                    <a:pt x="4010024" y="0"/>
                  </a:lnTo>
                  <a:lnTo>
                    <a:pt x="4052366" y="12829"/>
                  </a:lnTo>
                  <a:lnTo>
                    <a:pt x="4080424" y="47038"/>
                  </a:lnTo>
                  <a:lnTo>
                    <a:pt x="4086224" y="76199"/>
                  </a:lnTo>
                  <a:lnTo>
                    <a:pt x="4086224" y="400049"/>
                  </a:lnTo>
                  <a:lnTo>
                    <a:pt x="4073394" y="442392"/>
                  </a:lnTo>
                  <a:lnTo>
                    <a:pt x="4039184" y="470449"/>
                  </a:lnTo>
                  <a:lnTo>
                    <a:pt x="4010024" y="476249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19124" y="5353049"/>
              <a:ext cx="4086225" cy="476250"/>
            </a:xfrm>
            <a:custGeom>
              <a:avLst/>
              <a:gdLst/>
              <a:ahLst/>
              <a:cxnLst/>
              <a:rect l="l" t="t" r="r" b="b"/>
              <a:pathLst>
                <a:path w="4086225" h="476250">
                  <a:moveTo>
                    <a:pt x="4010024" y="476249"/>
                  </a:moveTo>
                  <a:lnTo>
                    <a:pt x="76199" y="476249"/>
                  </a:lnTo>
                  <a:lnTo>
                    <a:pt x="68693" y="475887"/>
                  </a:lnTo>
                  <a:lnTo>
                    <a:pt x="27882" y="458982"/>
                  </a:lnTo>
                  <a:lnTo>
                    <a:pt x="3262" y="422136"/>
                  </a:lnTo>
                  <a:lnTo>
                    <a:pt x="0" y="400049"/>
                  </a:lnTo>
                  <a:lnTo>
                    <a:pt x="0" y="76199"/>
                  </a:lnTo>
                  <a:lnTo>
                    <a:pt x="12829" y="33857"/>
                  </a:lnTo>
                  <a:lnTo>
                    <a:pt x="47039" y="5799"/>
                  </a:lnTo>
                  <a:lnTo>
                    <a:pt x="76199" y="0"/>
                  </a:lnTo>
                  <a:lnTo>
                    <a:pt x="4010024" y="0"/>
                  </a:lnTo>
                  <a:lnTo>
                    <a:pt x="4046845" y="9524"/>
                  </a:lnTo>
                  <a:lnTo>
                    <a:pt x="71822" y="9524"/>
                  </a:lnTo>
                  <a:lnTo>
                    <a:pt x="67486" y="9951"/>
                  </a:lnTo>
                  <a:lnTo>
                    <a:pt x="32149" y="25957"/>
                  </a:lnTo>
                  <a:lnTo>
                    <a:pt x="11660" y="58898"/>
                  </a:lnTo>
                  <a:lnTo>
                    <a:pt x="9524" y="71821"/>
                  </a:lnTo>
                  <a:lnTo>
                    <a:pt x="9524" y="404427"/>
                  </a:lnTo>
                  <a:lnTo>
                    <a:pt x="23194" y="440732"/>
                  </a:lnTo>
                  <a:lnTo>
                    <a:pt x="54729" y="463324"/>
                  </a:lnTo>
                  <a:lnTo>
                    <a:pt x="71822" y="466724"/>
                  </a:lnTo>
                  <a:lnTo>
                    <a:pt x="4046844" y="466724"/>
                  </a:lnTo>
                  <a:lnTo>
                    <a:pt x="4045981" y="467241"/>
                  </a:lnTo>
                  <a:lnTo>
                    <a:pt x="4039185" y="470449"/>
                  </a:lnTo>
                  <a:lnTo>
                    <a:pt x="4032111" y="472986"/>
                  </a:lnTo>
                  <a:lnTo>
                    <a:pt x="4024893" y="474799"/>
                  </a:lnTo>
                  <a:lnTo>
                    <a:pt x="4017531" y="475887"/>
                  </a:lnTo>
                  <a:lnTo>
                    <a:pt x="4010024" y="476249"/>
                  </a:lnTo>
                  <a:close/>
                </a:path>
                <a:path w="4086225" h="476250">
                  <a:moveTo>
                    <a:pt x="4046844" y="466724"/>
                  </a:moveTo>
                  <a:lnTo>
                    <a:pt x="4014402" y="466724"/>
                  </a:lnTo>
                  <a:lnTo>
                    <a:pt x="4018738" y="466297"/>
                  </a:lnTo>
                  <a:lnTo>
                    <a:pt x="4027326" y="464589"/>
                  </a:lnTo>
                  <a:lnTo>
                    <a:pt x="4060266" y="444100"/>
                  </a:lnTo>
                  <a:lnTo>
                    <a:pt x="4076272" y="408763"/>
                  </a:lnTo>
                  <a:lnTo>
                    <a:pt x="4076699" y="404427"/>
                  </a:lnTo>
                  <a:lnTo>
                    <a:pt x="4076699" y="71821"/>
                  </a:lnTo>
                  <a:lnTo>
                    <a:pt x="4063030" y="35517"/>
                  </a:lnTo>
                  <a:lnTo>
                    <a:pt x="4031181" y="12829"/>
                  </a:lnTo>
                  <a:lnTo>
                    <a:pt x="4014402" y="9524"/>
                  </a:lnTo>
                  <a:lnTo>
                    <a:pt x="4046845" y="9524"/>
                  </a:lnTo>
                  <a:lnTo>
                    <a:pt x="4077216" y="40242"/>
                  </a:lnTo>
                  <a:lnTo>
                    <a:pt x="4086224" y="400049"/>
                  </a:lnTo>
                  <a:lnTo>
                    <a:pt x="4085862" y="407556"/>
                  </a:lnTo>
                  <a:lnTo>
                    <a:pt x="4068957" y="448367"/>
                  </a:lnTo>
                  <a:lnTo>
                    <a:pt x="4052494" y="463324"/>
                  </a:lnTo>
                  <a:lnTo>
                    <a:pt x="4046844" y="466724"/>
                  </a:lnTo>
                  <a:close/>
                </a:path>
              </a:pathLst>
            </a:custGeom>
            <a:solidFill>
              <a:srgbClr val="FFD6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5974" y="5511799"/>
              <a:ext cx="158750" cy="158750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606424" y="1369152"/>
            <a:ext cx="3729990" cy="122936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50" b="1" spc="-125" dirty="0">
                <a:solidFill>
                  <a:srgbClr val="FFFFFF"/>
                </a:solidFill>
                <a:latin typeface="Roboto"/>
                <a:cs typeface="Roboto"/>
              </a:rPr>
              <a:t>Environment</a:t>
            </a:r>
            <a:r>
              <a:rPr sz="2450" b="1" spc="-1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450" b="1" spc="-130" dirty="0">
                <a:solidFill>
                  <a:srgbClr val="FFFFFF"/>
                </a:solidFill>
                <a:latin typeface="Roboto"/>
                <a:cs typeface="Roboto"/>
              </a:rPr>
              <a:t>&amp;</a:t>
            </a:r>
            <a:r>
              <a:rPr sz="2450" b="1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450" b="1" spc="-90" dirty="0">
                <a:solidFill>
                  <a:srgbClr val="FFFFFF"/>
                </a:solidFill>
                <a:latin typeface="Roboto"/>
                <a:cs typeface="Roboto"/>
              </a:rPr>
              <a:t>Configuration</a:t>
            </a:r>
            <a:endParaRPr sz="245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830"/>
              </a:spcBef>
            </a:pPr>
            <a:endParaRPr sz="2250">
              <a:latin typeface="Roboto"/>
              <a:cs typeface="Roboto"/>
            </a:endParaRPr>
          </a:p>
          <a:p>
            <a:pPr marL="640715">
              <a:lnSpc>
                <a:spcPct val="100000"/>
              </a:lnSpc>
            </a:pPr>
            <a:r>
              <a:rPr sz="1650" b="1" spc="-10" dirty="0">
                <a:solidFill>
                  <a:srgbClr val="FFFFFF"/>
                </a:solidFill>
                <a:latin typeface="Arial"/>
                <a:cs typeface="Arial"/>
              </a:rPr>
              <a:t>Platform</a:t>
            </a:r>
            <a:endParaRPr sz="165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844550" y="2797174"/>
            <a:ext cx="158750" cy="501650"/>
            <a:chOff x="844550" y="2797174"/>
            <a:chExt cx="158750" cy="501650"/>
          </a:xfrm>
        </p:grpSpPr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44550" y="2797174"/>
              <a:ext cx="158750" cy="15875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44550" y="3140074"/>
              <a:ext cx="158750" cy="158750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815975" y="2616247"/>
            <a:ext cx="3148330" cy="2343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8765" marR="1529080">
              <a:lnSpc>
                <a:spcPct val="150000"/>
              </a:lnSpc>
              <a:spcBef>
                <a:spcPts val="100"/>
              </a:spcBef>
            </a:pPr>
            <a:r>
              <a:rPr sz="1500" spc="-70" dirty="0">
                <a:solidFill>
                  <a:srgbClr val="D0D5DA"/>
                </a:solidFill>
                <a:latin typeface="Tahoma"/>
                <a:cs typeface="Tahoma"/>
              </a:rPr>
              <a:t>Google</a:t>
            </a:r>
            <a:r>
              <a:rPr sz="1500" spc="-105" dirty="0">
                <a:solidFill>
                  <a:srgbClr val="D0D5DA"/>
                </a:solidFill>
                <a:latin typeface="Tahoma"/>
                <a:cs typeface="Tahoma"/>
              </a:rPr>
              <a:t> </a:t>
            </a:r>
            <a:r>
              <a:rPr sz="1500" spc="-20" dirty="0">
                <a:solidFill>
                  <a:srgbClr val="D0D5DA"/>
                </a:solidFill>
                <a:latin typeface="Tahoma"/>
                <a:cs typeface="Tahoma"/>
              </a:rPr>
              <a:t>Colab </a:t>
            </a:r>
            <a:r>
              <a:rPr sz="1500" spc="-70" dirty="0">
                <a:solidFill>
                  <a:srgbClr val="D0D5DA"/>
                </a:solidFill>
                <a:latin typeface="Tahoma"/>
                <a:cs typeface="Tahoma"/>
              </a:rPr>
              <a:t>GPU</a:t>
            </a:r>
            <a:r>
              <a:rPr sz="1500" spc="-120" dirty="0">
                <a:solidFill>
                  <a:srgbClr val="D0D5DA"/>
                </a:solidFill>
                <a:latin typeface="Tahoma"/>
                <a:cs typeface="Tahoma"/>
              </a:rPr>
              <a:t> </a:t>
            </a:r>
            <a:r>
              <a:rPr sz="1500" spc="-50" dirty="0">
                <a:solidFill>
                  <a:srgbClr val="D0D5DA"/>
                </a:solidFill>
                <a:latin typeface="Tahoma"/>
                <a:cs typeface="Tahoma"/>
              </a:rPr>
              <a:t>Acceleration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3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614"/>
              </a:spcBef>
            </a:pPr>
            <a:endParaRPr sz="1350">
              <a:latin typeface="Tahoma"/>
              <a:cs typeface="Tahoma"/>
            </a:endParaRPr>
          </a:p>
          <a:p>
            <a:pPr marL="431165">
              <a:lnSpc>
                <a:spcPct val="100000"/>
              </a:lnSpc>
            </a:pPr>
            <a:r>
              <a:rPr sz="1650" b="1" spc="-70" dirty="0">
                <a:solidFill>
                  <a:srgbClr val="FFFFFF"/>
                </a:solidFill>
                <a:latin typeface="Arial"/>
                <a:cs typeface="Arial"/>
              </a:rPr>
              <a:t>Hyperparameters</a:t>
            </a:r>
            <a:endParaRPr sz="1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  <a:tabLst>
                <a:tab pos="1901825" algn="l"/>
              </a:tabLst>
            </a:pPr>
            <a:r>
              <a:rPr sz="1300" spc="-45" dirty="0">
                <a:solidFill>
                  <a:srgbClr val="9CA2AF"/>
                </a:solidFill>
                <a:latin typeface="Arial MT"/>
                <a:cs typeface="Arial MT"/>
              </a:rPr>
              <a:t>Epochs:</a:t>
            </a:r>
            <a:r>
              <a:rPr sz="1300" spc="80" dirty="0">
                <a:solidFill>
                  <a:srgbClr val="9CA2AF"/>
                </a:solidFill>
                <a:latin typeface="Arial MT"/>
                <a:cs typeface="Arial MT"/>
              </a:rPr>
              <a:t> </a:t>
            </a:r>
            <a:r>
              <a:rPr sz="2400" b="1" spc="-37" baseline="-5208" dirty="0">
                <a:solidFill>
                  <a:srgbClr val="93C4FD"/>
                </a:solidFill>
                <a:latin typeface="Trebuchet MS"/>
                <a:cs typeface="Trebuchet MS"/>
              </a:rPr>
              <a:t>50</a:t>
            </a:r>
            <a:r>
              <a:rPr sz="2400" b="1" baseline="-5208" dirty="0">
                <a:solidFill>
                  <a:srgbClr val="93C4FD"/>
                </a:solidFill>
                <a:latin typeface="Trebuchet MS"/>
                <a:cs typeface="Trebuchet MS"/>
              </a:rPr>
              <a:t>	</a:t>
            </a:r>
            <a:r>
              <a:rPr sz="1300" spc="-50" dirty="0">
                <a:solidFill>
                  <a:srgbClr val="9CA2AF"/>
                </a:solidFill>
                <a:latin typeface="Arial MT"/>
                <a:cs typeface="Arial MT"/>
              </a:rPr>
              <a:t>Img</a:t>
            </a:r>
            <a:r>
              <a:rPr sz="1300" spc="-65" dirty="0">
                <a:solidFill>
                  <a:srgbClr val="9CA2AF"/>
                </a:solidFill>
                <a:latin typeface="Arial MT"/>
                <a:cs typeface="Arial MT"/>
              </a:rPr>
              <a:t> </a:t>
            </a:r>
            <a:r>
              <a:rPr sz="1300" spc="-40" dirty="0">
                <a:solidFill>
                  <a:srgbClr val="9CA2AF"/>
                </a:solidFill>
                <a:latin typeface="Arial MT"/>
                <a:cs typeface="Arial MT"/>
              </a:rPr>
              <a:t>Size:</a:t>
            </a:r>
            <a:r>
              <a:rPr sz="1300" spc="80" dirty="0">
                <a:solidFill>
                  <a:srgbClr val="9CA2AF"/>
                </a:solidFill>
                <a:latin typeface="Arial MT"/>
                <a:cs typeface="Arial MT"/>
              </a:rPr>
              <a:t> </a:t>
            </a:r>
            <a:r>
              <a:rPr sz="2400" b="1" spc="-37" baseline="-5208" dirty="0">
                <a:solidFill>
                  <a:srgbClr val="93C4FD"/>
                </a:solidFill>
                <a:latin typeface="Trebuchet MS"/>
                <a:cs typeface="Trebuchet MS"/>
              </a:rPr>
              <a:t>640</a:t>
            </a:r>
            <a:endParaRPr sz="2400" baseline="-5208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  <a:tabLst>
                <a:tab pos="1901825" algn="l"/>
              </a:tabLst>
            </a:pPr>
            <a:r>
              <a:rPr sz="1300" spc="-25" dirty="0">
                <a:solidFill>
                  <a:srgbClr val="9CA2AF"/>
                </a:solidFill>
                <a:latin typeface="Arial MT"/>
                <a:cs typeface="Arial MT"/>
              </a:rPr>
              <a:t>Batch:</a:t>
            </a:r>
            <a:r>
              <a:rPr sz="1300" spc="55" dirty="0">
                <a:solidFill>
                  <a:srgbClr val="9CA2AF"/>
                </a:solidFill>
                <a:latin typeface="Arial MT"/>
                <a:cs typeface="Arial MT"/>
              </a:rPr>
              <a:t> </a:t>
            </a:r>
            <a:r>
              <a:rPr sz="2400" b="1" spc="-37" baseline="-5208" dirty="0">
                <a:solidFill>
                  <a:srgbClr val="93C4FD"/>
                </a:solidFill>
                <a:latin typeface="Trebuchet MS"/>
                <a:cs typeface="Trebuchet MS"/>
              </a:rPr>
              <a:t>16</a:t>
            </a:r>
            <a:r>
              <a:rPr sz="2400" b="1" baseline="-5208" dirty="0">
                <a:solidFill>
                  <a:srgbClr val="93C4FD"/>
                </a:solidFill>
                <a:latin typeface="Trebuchet MS"/>
                <a:cs typeface="Trebuchet MS"/>
              </a:rPr>
              <a:t>	</a:t>
            </a:r>
            <a:r>
              <a:rPr sz="1300" spc="-50" dirty="0">
                <a:solidFill>
                  <a:srgbClr val="9CA2AF"/>
                </a:solidFill>
                <a:latin typeface="Arial MT"/>
                <a:cs typeface="Arial MT"/>
              </a:rPr>
              <a:t>Device:</a:t>
            </a:r>
            <a:r>
              <a:rPr sz="1300" spc="80" dirty="0">
                <a:solidFill>
                  <a:srgbClr val="9CA2AF"/>
                </a:solidFill>
                <a:latin typeface="Arial MT"/>
                <a:cs typeface="Arial MT"/>
              </a:rPr>
              <a:t> </a:t>
            </a:r>
            <a:r>
              <a:rPr sz="2400" b="1" spc="-112" baseline="-5208" dirty="0">
                <a:solidFill>
                  <a:srgbClr val="93C4FD"/>
                </a:solidFill>
                <a:latin typeface="Trebuchet MS"/>
                <a:cs typeface="Trebuchet MS"/>
              </a:rPr>
              <a:t>0</a:t>
            </a:r>
            <a:r>
              <a:rPr sz="2400" b="1" spc="-165" baseline="-5208" dirty="0">
                <a:solidFill>
                  <a:srgbClr val="93C4FD"/>
                </a:solidFill>
                <a:latin typeface="Trebuchet MS"/>
                <a:cs typeface="Trebuchet MS"/>
              </a:rPr>
              <a:t> </a:t>
            </a:r>
            <a:r>
              <a:rPr sz="2400" b="1" spc="-67" baseline="-5208" dirty="0">
                <a:solidFill>
                  <a:srgbClr val="93C4FD"/>
                </a:solidFill>
                <a:latin typeface="Trebuchet MS"/>
                <a:cs typeface="Trebuchet MS"/>
              </a:rPr>
              <a:t>(GPU)</a:t>
            </a:r>
            <a:endParaRPr sz="2400" baseline="-5208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111250" y="5456554"/>
            <a:ext cx="3322320" cy="2292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00" spc="-35" dirty="0">
                <a:solidFill>
                  <a:srgbClr val="D0D5DA"/>
                </a:solidFill>
                <a:latin typeface="Tahoma"/>
                <a:cs typeface="Tahoma"/>
              </a:rPr>
              <a:t>Consistent</a:t>
            </a:r>
            <a:r>
              <a:rPr sz="1300" spc="-75" dirty="0">
                <a:solidFill>
                  <a:srgbClr val="D0D5DA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D0D5DA"/>
                </a:solidFill>
                <a:latin typeface="Tahoma"/>
                <a:cs typeface="Tahoma"/>
              </a:rPr>
              <a:t>across</a:t>
            </a:r>
            <a:r>
              <a:rPr sz="1300" spc="-70" dirty="0">
                <a:solidFill>
                  <a:srgbClr val="D0D5DA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D0D5DA"/>
                </a:solidFill>
                <a:latin typeface="Tahoma"/>
                <a:cs typeface="Tahoma"/>
              </a:rPr>
              <a:t>all</a:t>
            </a:r>
            <a:r>
              <a:rPr sz="1300" spc="-70" dirty="0">
                <a:solidFill>
                  <a:srgbClr val="D0D5DA"/>
                </a:solidFill>
                <a:latin typeface="Tahoma"/>
                <a:cs typeface="Tahoma"/>
              </a:rPr>
              <a:t> </a:t>
            </a:r>
            <a:r>
              <a:rPr sz="1300" spc="-30" dirty="0">
                <a:solidFill>
                  <a:srgbClr val="D0D5DA"/>
                </a:solidFill>
                <a:latin typeface="Tahoma"/>
                <a:cs typeface="Tahoma"/>
              </a:rPr>
              <a:t>models</a:t>
            </a:r>
            <a:r>
              <a:rPr sz="1300" spc="-70" dirty="0">
                <a:solidFill>
                  <a:srgbClr val="D0D5DA"/>
                </a:solidFill>
                <a:latin typeface="Tahoma"/>
                <a:cs typeface="Tahoma"/>
              </a:rPr>
              <a:t> </a:t>
            </a:r>
            <a:r>
              <a:rPr sz="1300" spc="-40" dirty="0">
                <a:solidFill>
                  <a:srgbClr val="D0D5DA"/>
                </a:solidFill>
                <a:latin typeface="Tahoma"/>
                <a:cs typeface="Tahoma"/>
              </a:rPr>
              <a:t>for</a:t>
            </a:r>
            <a:r>
              <a:rPr sz="1300" spc="-70" dirty="0">
                <a:solidFill>
                  <a:srgbClr val="D0D5DA"/>
                </a:solidFill>
                <a:latin typeface="Tahoma"/>
                <a:cs typeface="Tahoma"/>
              </a:rPr>
              <a:t> </a:t>
            </a:r>
            <a:r>
              <a:rPr sz="1300" spc="-35" dirty="0">
                <a:solidFill>
                  <a:srgbClr val="D0D5DA"/>
                </a:solidFill>
                <a:latin typeface="Tahoma"/>
                <a:cs typeface="Tahoma"/>
              </a:rPr>
              <a:t>fair</a:t>
            </a:r>
            <a:r>
              <a:rPr sz="1300" spc="-70" dirty="0">
                <a:solidFill>
                  <a:srgbClr val="D0D5DA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D0D5DA"/>
                </a:solidFill>
                <a:latin typeface="Tahoma"/>
                <a:cs typeface="Tahoma"/>
              </a:rPr>
              <a:t>comparison</a:t>
            </a:r>
            <a:endParaRPr sz="1300">
              <a:latin typeface="Tahoma"/>
              <a:cs typeface="Tahom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5314949" y="1304924"/>
            <a:ext cx="6276975" cy="3971925"/>
            <a:chOff x="5314949" y="1304924"/>
            <a:chExt cx="6276975" cy="3971925"/>
          </a:xfrm>
        </p:grpSpPr>
        <p:sp>
          <p:nvSpPr>
            <p:cNvPr id="23" name="object 23"/>
            <p:cNvSpPr/>
            <p:nvPr/>
          </p:nvSpPr>
          <p:spPr>
            <a:xfrm>
              <a:off x="5314949" y="1304924"/>
              <a:ext cx="6276975" cy="3971925"/>
            </a:xfrm>
            <a:custGeom>
              <a:avLst/>
              <a:gdLst/>
              <a:ahLst/>
              <a:cxnLst/>
              <a:rect l="l" t="t" r="r" b="b"/>
              <a:pathLst>
                <a:path w="6276975" h="3971925">
                  <a:moveTo>
                    <a:pt x="6162674" y="3971924"/>
                  </a:moveTo>
                  <a:lnTo>
                    <a:pt x="114299" y="3971924"/>
                  </a:lnTo>
                  <a:lnTo>
                    <a:pt x="103040" y="3971380"/>
                  </a:lnTo>
                  <a:lnTo>
                    <a:pt x="60364" y="3958412"/>
                  </a:lnTo>
                  <a:lnTo>
                    <a:pt x="25900" y="3930100"/>
                  </a:lnTo>
                  <a:lnTo>
                    <a:pt x="4894" y="3890754"/>
                  </a:lnTo>
                  <a:lnTo>
                    <a:pt x="0" y="3857624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8" y="8700"/>
                  </a:lnTo>
                  <a:lnTo>
                    <a:pt x="114299" y="0"/>
                  </a:lnTo>
                  <a:lnTo>
                    <a:pt x="6162674" y="0"/>
                  </a:lnTo>
                  <a:lnTo>
                    <a:pt x="6206413" y="8700"/>
                  </a:lnTo>
                  <a:lnTo>
                    <a:pt x="6243495" y="33477"/>
                  </a:lnTo>
                  <a:lnTo>
                    <a:pt x="6268272" y="70559"/>
                  </a:lnTo>
                  <a:lnTo>
                    <a:pt x="6276974" y="114299"/>
                  </a:lnTo>
                  <a:lnTo>
                    <a:pt x="6276974" y="3857624"/>
                  </a:lnTo>
                  <a:lnTo>
                    <a:pt x="6268271" y="3901365"/>
                  </a:lnTo>
                  <a:lnTo>
                    <a:pt x="6243495" y="3938447"/>
                  </a:lnTo>
                  <a:lnTo>
                    <a:pt x="6206413" y="3963223"/>
                  </a:lnTo>
                  <a:lnTo>
                    <a:pt x="6162674" y="3971924"/>
                  </a:lnTo>
                  <a:close/>
                </a:path>
              </a:pathLst>
            </a:custGeom>
            <a:solidFill>
              <a:srgbClr val="0918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314949" y="1304925"/>
              <a:ext cx="6276975" cy="3971925"/>
            </a:xfrm>
            <a:custGeom>
              <a:avLst/>
              <a:gdLst/>
              <a:ahLst/>
              <a:cxnLst/>
              <a:rect l="l" t="t" r="r" b="b"/>
              <a:pathLst>
                <a:path w="6276975" h="3971925">
                  <a:moveTo>
                    <a:pt x="6162674" y="3971924"/>
                  </a:moveTo>
                  <a:lnTo>
                    <a:pt x="114299" y="3971924"/>
                  </a:lnTo>
                  <a:lnTo>
                    <a:pt x="103040" y="3971380"/>
                  </a:lnTo>
                  <a:lnTo>
                    <a:pt x="60364" y="3958412"/>
                  </a:lnTo>
                  <a:lnTo>
                    <a:pt x="25900" y="3930100"/>
                  </a:lnTo>
                  <a:lnTo>
                    <a:pt x="4894" y="3890754"/>
                  </a:lnTo>
                  <a:lnTo>
                    <a:pt x="0" y="3857624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8" y="8700"/>
                  </a:lnTo>
                  <a:lnTo>
                    <a:pt x="114299" y="0"/>
                  </a:lnTo>
                  <a:lnTo>
                    <a:pt x="6162674" y="0"/>
                  </a:lnTo>
                  <a:lnTo>
                    <a:pt x="6206413" y="8700"/>
                  </a:lnTo>
                  <a:lnTo>
                    <a:pt x="6225860" y="19049"/>
                  </a:lnTo>
                  <a:lnTo>
                    <a:pt x="108045" y="19049"/>
                  </a:lnTo>
                  <a:lnTo>
                    <a:pt x="101851" y="19660"/>
                  </a:lnTo>
                  <a:lnTo>
                    <a:pt x="56181" y="38577"/>
                  </a:lnTo>
                  <a:lnTo>
                    <a:pt x="28693" y="72071"/>
                  </a:lnTo>
                  <a:lnTo>
                    <a:pt x="19049" y="108045"/>
                  </a:lnTo>
                  <a:lnTo>
                    <a:pt x="19049" y="3863878"/>
                  </a:lnTo>
                  <a:lnTo>
                    <a:pt x="19542" y="3868884"/>
                  </a:lnTo>
                  <a:lnTo>
                    <a:pt x="19659" y="3870072"/>
                  </a:lnTo>
                  <a:lnTo>
                    <a:pt x="38577" y="3915742"/>
                  </a:lnTo>
                  <a:lnTo>
                    <a:pt x="72071" y="3943230"/>
                  </a:lnTo>
                  <a:lnTo>
                    <a:pt x="108045" y="3952874"/>
                  </a:lnTo>
                  <a:lnTo>
                    <a:pt x="6225860" y="3952874"/>
                  </a:lnTo>
                  <a:lnTo>
                    <a:pt x="6216608" y="3958412"/>
                  </a:lnTo>
                  <a:lnTo>
                    <a:pt x="6206413" y="3963224"/>
                  </a:lnTo>
                  <a:lnTo>
                    <a:pt x="6195803" y="3967030"/>
                  </a:lnTo>
                  <a:lnTo>
                    <a:pt x="6184976" y="3969749"/>
                  </a:lnTo>
                  <a:lnTo>
                    <a:pt x="6173933" y="3971380"/>
                  </a:lnTo>
                  <a:lnTo>
                    <a:pt x="6162674" y="3971924"/>
                  </a:lnTo>
                  <a:close/>
                </a:path>
                <a:path w="6276975" h="3971925">
                  <a:moveTo>
                    <a:pt x="6225860" y="3952874"/>
                  </a:moveTo>
                  <a:lnTo>
                    <a:pt x="6168928" y="3952874"/>
                  </a:lnTo>
                  <a:lnTo>
                    <a:pt x="6175123" y="3952264"/>
                  </a:lnTo>
                  <a:lnTo>
                    <a:pt x="6187390" y="3949824"/>
                  </a:lnTo>
                  <a:lnTo>
                    <a:pt x="6225603" y="3929398"/>
                  </a:lnTo>
                  <a:lnTo>
                    <a:pt x="6253067" y="3888296"/>
                  </a:lnTo>
                  <a:lnTo>
                    <a:pt x="6257924" y="3863878"/>
                  </a:lnTo>
                  <a:lnTo>
                    <a:pt x="6257924" y="108045"/>
                  </a:lnTo>
                  <a:lnTo>
                    <a:pt x="6257431" y="103040"/>
                  </a:lnTo>
                  <a:lnTo>
                    <a:pt x="6257314" y="101851"/>
                  </a:lnTo>
                  <a:lnTo>
                    <a:pt x="6238397" y="56181"/>
                  </a:lnTo>
                  <a:lnTo>
                    <a:pt x="6204902" y="28693"/>
                  </a:lnTo>
                  <a:lnTo>
                    <a:pt x="6168928" y="19049"/>
                  </a:lnTo>
                  <a:lnTo>
                    <a:pt x="6225860" y="19049"/>
                  </a:lnTo>
                  <a:lnTo>
                    <a:pt x="6257728" y="50786"/>
                  </a:lnTo>
                  <a:lnTo>
                    <a:pt x="6274798" y="91996"/>
                  </a:lnTo>
                  <a:lnTo>
                    <a:pt x="6276974" y="3857624"/>
                  </a:lnTo>
                  <a:lnTo>
                    <a:pt x="6276430" y="3868884"/>
                  </a:lnTo>
                  <a:lnTo>
                    <a:pt x="6263461" y="3911559"/>
                  </a:lnTo>
                  <a:lnTo>
                    <a:pt x="6235149" y="3946024"/>
                  </a:lnTo>
                  <a:lnTo>
                    <a:pt x="6226186" y="3952679"/>
                  </a:lnTo>
                  <a:lnTo>
                    <a:pt x="6225860" y="3952874"/>
                  </a:lnTo>
                  <a:close/>
                </a:path>
              </a:pathLst>
            </a:custGeom>
            <a:solidFill>
              <a:srgbClr val="FFD600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562599" y="1971674"/>
              <a:ext cx="5781675" cy="3057525"/>
            </a:xfrm>
            <a:custGeom>
              <a:avLst/>
              <a:gdLst/>
              <a:ahLst/>
              <a:cxnLst/>
              <a:rect l="l" t="t" r="r" b="b"/>
              <a:pathLst>
                <a:path w="5781675" h="3057525">
                  <a:moveTo>
                    <a:pt x="5705474" y="3057524"/>
                  </a:moveTo>
                  <a:lnTo>
                    <a:pt x="76199" y="3057524"/>
                  </a:lnTo>
                  <a:lnTo>
                    <a:pt x="68693" y="3057161"/>
                  </a:lnTo>
                  <a:lnTo>
                    <a:pt x="27881" y="3040257"/>
                  </a:lnTo>
                  <a:lnTo>
                    <a:pt x="3261" y="3003410"/>
                  </a:lnTo>
                  <a:lnTo>
                    <a:pt x="0" y="2981324"/>
                  </a:lnTo>
                  <a:lnTo>
                    <a:pt x="0" y="76199"/>
                  </a:lnTo>
                  <a:lnTo>
                    <a:pt x="12829" y="33857"/>
                  </a:lnTo>
                  <a:lnTo>
                    <a:pt x="47038" y="5800"/>
                  </a:lnTo>
                  <a:lnTo>
                    <a:pt x="76199" y="0"/>
                  </a:lnTo>
                  <a:lnTo>
                    <a:pt x="5705474" y="0"/>
                  </a:lnTo>
                  <a:lnTo>
                    <a:pt x="5747815" y="12829"/>
                  </a:lnTo>
                  <a:lnTo>
                    <a:pt x="5775872" y="47039"/>
                  </a:lnTo>
                  <a:lnTo>
                    <a:pt x="5781674" y="76199"/>
                  </a:lnTo>
                  <a:lnTo>
                    <a:pt x="5781674" y="2981324"/>
                  </a:lnTo>
                  <a:lnTo>
                    <a:pt x="5768842" y="3023666"/>
                  </a:lnTo>
                  <a:lnTo>
                    <a:pt x="5734632" y="3051723"/>
                  </a:lnTo>
                  <a:lnTo>
                    <a:pt x="5705474" y="3057524"/>
                  </a:lnTo>
                  <a:close/>
                </a:path>
              </a:pathLst>
            </a:custGeom>
            <a:solidFill>
              <a:srgbClr val="0932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562600" y="1971675"/>
              <a:ext cx="5781675" cy="3057525"/>
            </a:xfrm>
            <a:custGeom>
              <a:avLst/>
              <a:gdLst/>
              <a:ahLst/>
              <a:cxnLst/>
              <a:rect l="l" t="t" r="r" b="b"/>
              <a:pathLst>
                <a:path w="5781675" h="3057525">
                  <a:moveTo>
                    <a:pt x="5705474" y="3057524"/>
                  </a:moveTo>
                  <a:lnTo>
                    <a:pt x="76199" y="3057524"/>
                  </a:lnTo>
                  <a:lnTo>
                    <a:pt x="68693" y="3057162"/>
                  </a:lnTo>
                  <a:lnTo>
                    <a:pt x="27881" y="3040257"/>
                  </a:lnTo>
                  <a:lnTo>
                    <a:pt x="3261" y="3003411"/>
                  </a:lnTo>
                  <a:lnTo>
                    <a:pt x="0" y="2981324"/>
                  </a:lnTo>
                  <a:lnTo>
                    <a:pt x="0" y="76199"/>
                  </a:lnTo>
                  <a:lnTo>
                    <a:pt x="12829" y="33857"/>
                  </a:lnTo>
                  <a:lnTo>
                    <a:pt x="47038" y="5800"/>
                  </a:lnTo>
                  <a:lnTo>
                    <a:pt x="76199" y="0"/>
                  </a:lnTo>
                  <a:lnTo>
                    <a:pt x="5705474" y="0"/>
                  </a:lnTo>
                  <a:lnTo>
                    <a:pt x="5742294" y="9524"/>
                  </a:lnTo>
                  <a:lnTo>
                    <a:pt x="71821" y="9524"/>
                  </a:lnTo>
                  <a:lnTo>
                    <a:pt x="67486" y="9952"/>
                  </a:lnTo>
                  <a:lnTo>
                    <a:pt x="32149" y="25957"/>
                  </a:lnTo>
                  <a:lnTo>
                    <a:pt x="11660" y="58898"/>
                  </a:lnTo>
                  <a:lnTo>
                    <a:pt x="9524" y="71822"/>
                  </a:lnTo>
                  <a:lnTo>
                    <a:pt x="9524" y="2985702"/>
                  </a:lnTo>
                  <a:lnTo>
                    <a:pt x="23193" y="3022007"/>
                  </a:lnTo>
                  <a:lnTo>
                    <a:pt x="54729" y="3044599"/>
                  </a:lnTo>
                  <a:lnTo>
                    <a:pt x="71821" y="3047999"/>
                  </a:lnTo>
                  <a:lnTo>
                    <a:pt x="5742292" y="3047999"/>
                  </a:lnTo>
                  <a:lnTo>
                    <a:pt x="5741429" y="3048516"/>
                  </a:lnTo>
                  <a:lnTo>
                    <a:pt x="5734633" y="3051723"/>
                  </a:lnTo>
                  <a:lnTo>
                    <a:pt x="5727559" y="3054261"/>
                  </a:lnTo>
                  <a:lnTo>
                    <a:pt x="5720342" y="3056074"/>
                  </a:lnTo>
                  <a:lnTo>
                    <a:pt x="5712980" y="3057162"/>
                  </a:lnTo>
                  <a:lnTo>
                    <a:pt x="5705474" y="3057524"/>
                  </a:lnTo>
                  <a:close/>
                </a:path>
                <a:path w="5781675" h="3057525">
                  <a:moveTo>
                    <a:pt x="5742292" y="3047999"/>
                  </a:moveTo>
                  <a:lnTo>
                    <a:pt x="5709852" y="3047999"/>
                  </a:lnTo>
                  <a:lnTo>
                    <a:pt x="5714187" y="3047572"/>
                  </a:lnTo>
                  <a:lnTo>
                    <a:pt x="5722775" y="3045864"/>
                  </a:lnTo>
                  <a:lnTo>
                    <a:pt x="5755716" y="3025375"/>
                  </a:lnTo>
                  <a:lnTo>
                    <a:pt x="5771721" y="2990038"/>
                  </a:lnTo>
                  <a:lnTo>
                    <a:pt x="5772149" y="2985702"/>
                  </a:lnTo>
                  <a:lnTo>
                    <a:pt x="5772149" y="71822"/>
                  </a:lnTo>
                  <a:lnTo>
                    <a:pt x="5758479" y="35517"/>
                  </a:lnTo>
                  <a:lnTo>
                    <a:pt x="5726631" y="12829"/>
                  </a:lnTo>
                  <a:lnTo>
                    <a:pt x="5709852" y="9524"/>
                  </a:lnTo>
                  <a:lnTo>
                    <a:pt x="5742294" y="9524"/>
                  </a:lnTo>
                  <a:lnTo>
                    <a:pt x="5772664" y="40242"/>
                  </a:lnTo>
                  <a:lnTo>
                    <a:pt x="5781674" y="2981324"/>
                  </a:lnTo>
                  <a:lnTo>
                    <a:pt x="5781311" y="2988831"/>
                  </a:lnTo>
                  <a:lnTo>
                    <a:pt x="5764406" y="3029641"/>
                  </a:lnTo>
                  <a:lnTo>
                    <a:pt x="5747942" y="3044599"/>
                  </a:lnTo>
                  <a:lnTo>
                    <a:pt x="5742292" y="3047999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82890" y="1619249"/>
              <a:ext cx="222250" cy="133350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5890864" y="1527968"/>
            <a:ext cx="1997710" cy="2800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650" b="1" spc="-130" dirty="0">
                <a:solidFill>
                  <a:srgbClr val="FFFFFF"/>
                </a:solidFill>
                <a:latin typeface="Arial"/>
                <a:cs typeface="Arial"/>
              </a:rPr>
              <a:t>Training</a:t>
            </a:r>
            <a:r>
              <a:rPr sz="165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50" b="1" spc="-165" dirty="0">
                <a:solidFill>
                  <a:srgbClr val="FFFFFF"/>
                </a:solidFill>
                <a:latin typeface="Arial"/>
                <a:cs typeface="Arial"/>
              </a:rPr>
              <a:t>Code</a:t>
            </a:r>
            <a:r>
              <a:rPr sz="165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50" b="1" spc="-145" dirty="0">
                <a:solidFill>
                  <a:srgbClr val="FFFFFF"/>
                </a:solidFill>
                <a:latin typeface="Arial"/>
                <a:cs typeface="Arial"/>
              </a:rPr>
              <a:t>Example</a:t>
            </a:r>
            <a:endParaRPr sz="165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760690" y="2159000"/>
            <a:ext cx="2881630" cy="2336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FFD600"/>
                </a:solidFill>
                <a:latin typeface="Courier New"/>
                <a:cs typeface="Courier New"/>
              </a:rPr>
              <a:t>from</a:t>
            </a:r>
            <a:r>
              <a:rPr sz="1350" spc="-60" dirty="0">
                <a:solidFill>
                  <a:srgbClr val="FFD600"/>
                </a:solidFill>
                <a:latin typeface="Courier New"/>
                <a:cs typeface="Courier New"/>
              </a:rPr>
              <a:t> </a:t>
            </a:r>
            <a:r>
              <a:rPr sz="1350" dirty="0">
                <a:solidFill>
                  <a:srgbClr val="D0D5DA"/>
                </a:solidFill>
                <a:latin typeface="Courier New"/>
                <a:cs typeface="Courier New"/>
              </a:rPr>
              <a:t>ultralytics</a:t>
            </a:r>
            <a:r>
              <a:rPr sz="1350" spc="-55" dirty="0">
                <a:solidFill>
                  <a:srgbClr val="D0D5DA"/>
                </a:solidFill>
                <a:latin typeface="Courier New"/>
                <a:cs typeface="Courier New"/>
              </a:rPr>
              <a:t> </a:t>
            </a:r>
            <a:r>
              <a:rPr sz="1350" dirty="0">
                <a:solidFill>
                  <a:srgbClr val="FFD600"/>
                </a:solidFill>
                <a:latin typeface="Courier New"/>
                <a:cs typeface="Courier New"/>
              </a:rPr>
              <a:t>import</a:t>
            </a:r>
            <a:r>
              <a:rPr sz="1350" spc="-60" dirty="0">
                <a:solidFill>
                  <a:srgbClr val="FFD600"/>
                </a:solidFill>
                <a:latin typeface="Courier New"/>
                <a:cs typeface="Courier New"/>
              </a:rPr>
              <a:t> </a:t>
            </a:r>
            <a:r>
              <a:rPr sz="1350" spc="-20" dirty="0">
                <a:solidFill>
                  <a:srgbClr val="D0D5DA"/>
                </a:solidFill>
                <a:latin typeface="Courier New"/>
                <a:cs typeface="Courier New"/>
              </a:rPr>
              <a:t>YOLO</a:t>
            </a:r>
            <a:endParaRPr sz="1350">
              <a:latin typeface="Courier New"/>
              <a:cs typeface="Courier New"/>
            </a:endParaRPr>
          </a:p>
          <a:p>
            <a:pPr marR="197485">
              <a:lnSpc>
                <a:spcPct val="171300"/>
              </a:lnSpc>
            </a:pPr>
            <a:r>
              <a:rPr sz="1350" dirty="0">
                <a:solidFill>
                  <a:srgbClr val="BF83FB"/>
                </a:solidFill>
                <a:latin typeface="Courier New"/>
                <a:cs typeface="Courier New"/>
              </a:rPr>
              <a:t>model</a:t>
            </a:r>
            <a:r>
              <a:rPr sz="1350" spc="-25" dirty="0">
                <a:solidFill>
                  <a:srgbClr val="BF83FB"/>
                </a:solidFill>
                <a:latin typeface="Courier New"/>
                <a:cs typeface="Courier New"/>
              </a:rPr>
              <a:t> </a:t>
            </a:r>
            <a:r>
              <a:rPr sz="1350" dirty="0">
                <a:solidFill>
                  <a:srgbClr val="D0D5DA"/>
                </a:solidFill>
                <a:latin typeface="Courier New"/>
                <a:cs typeface="Courier New"/>
              </a:rPr>
              <a:t>=</a:t>
            </a:r>
            <a:r>
              <a:rPr sz="1350" spc="-25" dirty="0">
                <a:solidFill>
                  <a:srgbClr val="D0D5DA"/>
                </a:solidFill>
                <a:latin typeface="Courier New"/>
                <a:cs typeface="Courier New"/>
              </a:rPr>
              <a:t> </a:t>
            </a:r>
            <a:r>
              <a:rPr sz="1350" spc="-10" dirty="0">
                <a:solidFill>
                  <a:srgbClr val="BF83FB"/>
                </a:solidFill>
                <a:latin typeface="Courier New"/>
                <a:cs typeface="Courier New"/>
              </a:rPr>
              <a:t>YOLO</a:t>
            </a:r>
            <a:r>
              <a:rPr sz="1350" spc="-10" dirty="0">
                <a:solidFill>
                  <a:srgbClr val="D0D5DA"/>
                </a:solidFill>
                <a:latin typeface="Courier New"/>
                <a:cs typeface="Courier New"/>
              </a:rPr>
              <a:t>(</a:t>
            </a:r>
            <a:r>
              <a:rPr sz="1350" spc="-10" dirty="0">
                <a:solidFill>
                  <a:srgbClr val="86EFAB"/>
                </a:solidFill>
                <a:latin typeface="Courier New"/>
                <a:cs typeface="Courier New"/>
              </a:rPr>
              <a:t>'yolov8m.pt'</a:t>
            </a:r>
            <a:r>
              <a:rPr sz="1350" spc="-10" dirty="0">
                <a:solidFill>
                  <a:srgbClr val="D0D5DA"/>
                </a:solidFill>
                <a:latin typeface="Courier New"/>
                <a:cs typeface="Courier New"/>
              </a:rPr>
              <a:t>) </a:t>
            </a:r>
            <a:r>
              <a:rPr sz="1350" dirty="0">
                <a:solidFill>
                  <a:srgbClr val="BF83FB"/>
                </a:solidFill>
                <a:latin typeface="Courier New"/>
                <a:cs typeface="Courier New"/>
              </a:rPr>
              <a:t>results</a:t>
            </a:r>
            <a:r>
              <a:rPr sz="1350" spc="-45" dirty="0">
                <a:solidFill>
                  <a:srgbClr val="BF83FB"/>
                </a:solidFill>
                <a:latin typeface="Courier New"/>
                <a:cs typeface="Courier New"/>
              </a:rPr>
              <a:t> </a:t>
            </a:r>
            <a:r>
              <a:rPr sz="1350" dirty="0">
                <a:solidFill>
                  <a:srgbClr val="D0D5DA"/>
                </a:solidFill>
                <a:latin typeface="Courier New"/>
                <a:cs typeface="Courier New"/>
              </a:rPr>
              <a:t>=</a:t>
            </a:r>
            <a:r>
              <a:rPr sz="1350" spc="-30" dirty="0">
                <a:solidFill>
                  <a:srgbClr val="D0D5DA"/>
                </a:solidFill>
                <a:latin typeface="Courier New"/>
                <a:cs typeface="Courier New"/>
              </a:rPr>
              <a:t> </a:t>
            </a:r>
            <a:r>
              <a:rPr sz="1350" spc="-10" dirty="0">
                <a:solidFill>
                  <a:srgbClr val="BF83FB"/>
                </a:solidFill>
                <a:latin typeface="Courier New"/>
                <a:cs typeface="Courier New"/>
              </a:rPr>
              <a:t>model</a:t>
            </a:r>
            <a:r>
              <a:rPr sz="1350" spc="-10" dirty="0">
                <a:solidFill>
                  <a:srgbClr val="D0D5DA"/>
                </a:solidFill>
                <a:latin typeface="Courier New"/>
                <a:cs typeface="Courier New"/>
              </a:rPr>
              <a:t>.train(</a:t>
            </a:r>
            <a:endParaRPr sz="1350">
              <a:latin typeface="Courier New"/>
              <a:cs typeface="Courier New"/>
            </a:endParaRPr>
          </a:p>
          <a:p>
            <a:pPr marL="227965" marR="895350">
              <a:lnSpc>
                <a:spcPct val="134300"/>
              </a:lnSpc>
              <a:spcBef>
                <a:spcPts val="75"/>
              </a:spcBef>
            </a:pPr>
            <a:r>
              <a:rPr sz="1350" spc="-10" dirty="0">
                <a:solidFill>
                  <a:srgbClr val="93C4FD"/>
                </a:solidFill>
                <a:latin typeface="Courier New"/>
                <a:cs typeface="Courier New"/>
              </a:rPr>
              <a:t>data</a:t>
            </a:r>
            <a:r>
              <a:rPr sz="1350" spc="-10" dirty="0">
                <a:solidFill>
                  <a:srgbClr val="D0D5DA"/>
                </a:solidFill>
                <a:latin typeface="Courier New"/>
                <a:cs typeface="Courier New"/>
              </a:rPr>
              <a:t>=</a:t>
            </a:r>
            <a:r>
              <a:rPr sz="1350" spc="-10" dirty="0">
                <a:solidFill>
                  <a:srgbClr val="86EFAB"/>
                </a:solidFill>
                <a:latin typeface="Courier New"/>
                <a:cs typeface="Courier New"/>
              </a:rPr>
              <a:t>'data.yaml'</a:t>
            </a:r>
            <a:r>
              <a:rPr sz="1350" spc="-10" dirty="0">
                <a:solidFill>
                  <a:srgbClr val="D0D5DA"/>
                </a:solidFill>
                <a:latin typeface="Courier New"/>
                <a:cs typeface="Courier New"/>
              </a:rPr>
              <a:t>, </a:t>
            </a:r>
            <a:r>
              <a:rPr sz="1350" spc="-10" dirty="0">
                <a:solidFill>
                  <a:srgbClr val="93C4FD"/>
                </a:solidFill>
                <a:latin typeface="Courier New"/>
                <a:cs typeface="Courier New"/>
              </a:rPr>
              <a:t>epochs</a:t>
            </a:r>
            <a:r>
              <a:rPr sz="1350" spc="-10" dirty="0">
                <a:solidFill>
                  <a:srgbClr val="D0D5DA"/>
                </a:solidFill>
                <a:latin typeface="Courier New"/>
                <a:cs typeface="Courier New"/>
              </a:rPr>
              <a:t>=</a:t>
            </a:r>
            <a:r>
              <a:rPr sz="1350" spc="-10" dirty="0">
                <a:solidFill>
                  <a:srgbClr val="FDDF46"/>
                </a:solidFill>
                <a:latin typeface="Courier New"/>
                <a:cs typeface="Courier New"/>
              </a:rPr>
              <a:t>50</a:t>
            </a:r>
            <a:r>
              <a:rPr sz="1350" spc="-10" dirty="0">
                <a:solidFill>
                  <a:srgbClr val="D0D5DA"/>
                </a:solidFill>
                <a:latin typeface="Courier New"/>
                <a:cs typeface="Courier New"/>
              </a:rPr>
              <a:t>,</a:t>
            </a:r>
            <a:endParaRPr sz="1350">
              <a:latin typeface="Courier New"/>
              <a:cs typeface="Courier New"/>
            </a:endParaRPr>
          </a:p>
          <a:p>
            <a:pPr marL="227965" marR="1615440">
              <a:lnSpc>
                <a:spcPct val="134300"/>
              </a:lnSpc>
            </a:pPr>
            <a:r>
              <a:rPr sz="1350" spc="-10" dirty="0">
                <a:solidFill>
                  <a:srgbClr val="93C4FD"/>
                </a:solidFill>
                <a:latin typeface="Courier New"/>
                <a:cs typeface="Courier New"/>
              </a:rPr>
              <a:t>imgsz</a:t>
            </a:r>
            <a:r>
              <a:rPr sz="1350" spc="-10" dirty="0">
                <a:solidFill>
                  <a:srgbClr val="D0D5DA"/>
                </a:solidFill>
                <a:latin typeface="Courier New"/>
                <a:cs typeface="Courier New"/>
              </a:rPr>
              <a:t>=</a:t>
            </a:r>
            <a:r>
              <a:rPr sz="1350" spc="-10" dirty="0">
                <a:solidFill>
                  <a:srgbClr val="FDDF46"/>
                </a:solidFill>
                <a:latin typeface="Courier New"/>
                <a:cs typeface="Courier New"/>
              </a:rPr>
              <a:t>640</a:t>
            </a:r>
            <a:r>
              <a:rPr sz="1350" spc="-10" dirty="0">
                <a:solidFill>
                  <a:srgbClr val="D0D5DA"/>
                </a:solidFill>
                <a:latin typeface="Courier New"/>
                <a:cs typeface="Courier New"/>
              </a:rPr>
              <a:t>, </a:t>
            </a:r>
            <a:r>
              <a:rPr sz="1350" spc="-10" dirty="0">
                <a:solidFill>
                  <a:srgbClr val="93C4FD"/>
                </a:solidFill>
                <a:latin typeface="Courier New"/>
                <a:cs typeface="Courier New"/>
              </a:rPr>
              <a:t>batch</a:t>
            </a:r>
            <a:r>
              <a:rPr sz="1350" spc="-10" dirty="0">
                <a:solidFill>
                  <a:srgbClr val="D0D5DA"/>
                </a:solidFill>
                <a:latin typeface="Courier New"/>
                <a:cs typeface="Courier New"/>
              </a:rPr>
              <a:t>=</a:t>
            </a:r>
            <a:r>
              <a:rPr sz="1350" spc="-10" dirty="0">
                <a:solidFill>
                  <a:srgbClr val="FDDF46"/>
                </a:solidFill>
                <a:latin typeface="Courier New"/>
                <a:cs typeface="Courier New"/>
              </a:rPr>
              <a:t>16</a:t>
            </a:r>
            <a:r>
              <a:rPr sz="1350" spc="-10" dirty="0">
                <a:solidFill>
                  <a:srgbClr val="D0D5DA"/>
                </a:solidFill>
                <a:latin typeface="Courier New"/>
                <a:cs typeface="Courier New"/>
              </a:rPr>
              <a:t>,</a:t>
            </a:r>
            <a:endParaRPr sz="1350">
              <a:latin typeface="Courier New"/>
              <a:cs typeface="Courier New"/>
            </a:endParaRPr>
          </a:p>
          <a:p>
            <a:pPr marL="227965">
              <a:lnSpc>
                <a:spcPct val="100000"/>
              </a:lnSpc>
              <a:spcBef>
                <a:spcPts val="625"/>
              </a:spcBef>
            </a:pPr>
            <a:r>
              <a:rPr sz="1350" spc="-10" dirty="0">
                <a:solidFill>
                  <a:srgbClr val="93C4FD"/>
                </a:solidFill>
                <a:latin typeface="Courier New"/>
                <a:cs typeface="Courier New"/>
              </a:rPr>
              <a:t>device</a:t>
            </a:r>
            <a:r>
              <a:rPr sz="1350" spc="-10" dirty="0">
                <a:solidFill>
                  <a:srgbClr val="D0D5DA"/>
                </a:solidFill>
                <a:latin typeface="Courier New"/>
                <a:cs typeface="Courier New"/>
              </a:rPr>
              <a:t>=</a:t>
            </a:r>
            <a:r>
              <a:rPr sz="1350" spc="-10" dirty="0">
                <a:solidFill>
                  <a:srgbClr val="FDDF46"/>
                </a:solidFill>
                <a:latin typeface="Courier New"/>
                <a:cs typeface="Courier New"/>
              </a:rPr>
              <a:t>0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760690" y="4540250"/>
            <a:ext cx="10350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350" spc="-50" dirty="0">
                <a:solidFill>
                  <a:srgbClr val="D0D5DA"/>
                </a:solidFill>
                <a:latin typeface="Courier New"/>
                <a:cs typeface="Courier New"/>
              </a:rPr>
              <a:t>)</a:t>
            </a:r>
            <a:endParaRPr sz="1350">
              <a:latin typeface="Courier New"/>
              <a:cs typeface="Courier New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5314949" y="5467349"/>
            <a:ext cx="6276975" cy="476250"/>
            <a:chOff x="5314949" y="5467349"/>
            <a:chExt cx="6276975" cy="476250"/>
          </a:xfrm>
        </p:grpSpPr>
        <p:sp>
          <p:nvSpPr>
            <p:cNvPr id="32" name="object 32"/>
            <p:cNvSpPr/>
            <p:nvPr/>
          </p:nvSpPr>
          <p:spPr>
            <a:xfrm>
              <a:off x="5314949" y="5467349"/>
              <a:ext cx="6276975" cy="476250"/>
            </a:xfrm>
            <a:custGeom>
              <a:avLst/>
              <a:gdLst/>
              <a:ahLst/>
              <a:cxnLst/>
              <a:rect l="l" t="t" r="r" b="b"/>
              <a:pathLst>
                <a:path w="6276975" h="476250">
                  <a:moveTo>
                    <a:pt x="6200774" y="476249"/>
                  </a:moveTo>
                  <a:lnTo>
                    <a:pt x="76199" y="476249"/>
                  </a:lnTo>
                  <a:lnTo>
                    <a:pt x="68693" y="475887"/>
                  </a:lnTo>
                  <a:lnTo>
                    <a:pt x="27882" y="458982"/>
                  </a:lnTo>
                  <a:lnTo>
                    <a:pt x="3262" y="422136"/>
                  </a:lnTo>
                  <a:lnTo>
                    <a:pt x="0" y="400049"/>
                  </a:lnTo>
                  <a:lnTo>
                    <a:pt x="0" y="76199"/>
                  </a:lnTo>
                  <a:lnTo>
                    <a:pt x="12829" y="33857"/>
                  </a:lnTo>
                  <a:lnTo>
                    <a:pt x="47038" y="5799"/>
                  </a:lnTo>
                  <a:lnTo>
                    <a:pt x="76199" y="0"/>
                  </a:lnTo>
                  <a:lnTo>
                    <a:pt x="6200774" y="0"/>
                  </a:lnTo>
                  <a:lnTo>
                    <a:pt x="6243114" y="12829"/>
                  </a:lnTo>
                  <a:lnTo>
                    <a:pt x="6271172" y="47038"/>
                  </a:lnTo>
                  <a:lnTo>
                    <a:pt x="6276974" y="76199"/>
                  </a:lnTo>
                  <a:lnTo>
                    <a:pt x="6276974" y="400049"/>
                  </a:lnTo>
                  <a:lnTo>
                    <a:pt x="6264142" y="442391"/>
                  </a:lnTo>
                  <a:lnTo>
                    <a:pt x="6229932" y="470449"/>
                  </a:lnTo>
                  <a:lnTo>
                    <a:pt x="6200774" y="476249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314949" y="5467349"/>
              <a:ext cx="6276975" cy="476250"/>
            </a:xfrm>
            <a:custGeom>
              <a:avLst/>
              <a:gdLst/>
              <a:ahLst/>
              <a:cxnLst/>
              <a:rect l="l" t="t" r="r" b="b"/>
              <a:pathLst>
                <a:path w="6276975" h="476250">
                  <a:moveTo>
                    <a:pt x="6200774" y="476249"/>
                  </a:moveTo>
                  <a:lnTo>
                    <a:pt x="76199" y="476249"/>
                  </a:lnTo>
                  <a:lnTo>
                    <a:pt x="68693" y="475887"/>
                  </a:lnTo>
                  <a:lnTo>
                    <a:pt x="27882" y="458982"/>
                  </a:lnTo>
                  <a:lnTo>
                    <a:pt x="3262" y="422136"/>
                  </a:lnTo>
                  <a:lnTo>
                    <a:pt x="0" y="400049"/>
                  </a:lnTo>
                  <a:lnTo>
                    <a:pt x="0" y="76199"/>
                  </a:lnTo>
                  <a:lnTo>
                    <a:pt x="12829" y="33857"/>
                  </a:lnTo>
                  <a:lnTo>
                    <a:pt x="47038" y="5799"/>
                  </a:lnTo>
                  <a:lnTo>
                    <a:pt x="76199" y="0"/>
                  </a:lnTo>
                  <a:lnTo>
                    <a:pt x="6200774" y="0"/>
                  </a:lnTo>
                  <a:lnTo>
                    <a:pt x="6237594" y="9524"/>
                  </a:lnTo>
                  <a:lnTo>
                    <a:pt x="71821" y="9524"/>
                  </a:lnTo>
                  <a:lnTo>
                    <a:pt x="67486" y="9951"/>
                  </a:lnTo>
                  <a:lnTo>
                    <a:pt x="32149" y="25957"/>
                  </a:lnTo>
                  <a:lnTo>
                    <a:pt x="11660" y="58898"/>
                  </a:lnTo>
                  <a:lnTo>
                    <a:pt x="9524" y="71821"/>
                  </a:lnTo>
                  <a:lnTo>
                    <a:pt x="9524" y="404427"/>
                  </a:lnTo>
                  <a:lnTo>
                    <a:pt x="23193" y="440732"/>
                  </a:lnTo>
                  <a:lnTo>
                    <a:pt x="54729" y="463324"/>
                  </a:lnTo>
                  <a:lnTo>
                    <a:pt x="71821" y="466724"/>
                  </a:lnTo>
                  <a:lnTo>
                    <a:pt x="6237592" y="466724"/>
                  </a:lnTo>
                  <a:lnTo>
                    <a:pt x="6236729" y="467241"/>
                  </a:lnTo>
                  <a:lnTo>
                    <a:pt x="6229933" y="470449"/>
                  </a:lnTo>
                  <a:lnTo>
                    <a:pt x="6222859" y="472986"/>
                  </a:lnTo>
                  <a:lnTo>
                    <a:pt x="6215642" y="474799"/>
                  </a:lnTo>
                  <a:lnTo>
                    <a:pt x="6208280" y="475887"/>
                  </a:lnTo>
                  <a:lnTo>
                    <a:pt x="6200774" y="476249"/>
                  </a:lnTo>
                  <a:close/>
                </a:path>
                <a:path w="6276975" h="476250">
                  <a:moveTo>
                    <a:pt x="6237592" y="466724"/>
                  </a:moveTo>
                  <a:lnTo>
                    <a:pt x="6205152" y="466724"/>
                  </a:lnTo>
                  <a:lnTo>
                    <a:pt x="6209488" y="466297"/>
                  </a:lnTo>
                  <a:lnTo>
                    <a:pt x="6218075" y="464589"/>
                  </a:lnTo>
                  <a:lnTo>
                    <a:pt x="6251015" y="444100"/>
                  </a:lnTo>
                  <a:lnTo>
                    <a:pt x="6267021" y="408763"/>
                  </a:lnTo>
                  <a:lnTo>
                    <a:pt x="6267449" y="404427"/>
                  </a:lnTo>
                  <a:lnTo>
                    <a:pt x="6267449" y="71821"/>
                  </a:lnTo>
                  <a:lnTo>
                    <a:pt x="6253779" y="35517"/>
                  </a:lnTo>
                  <a:lnTo>
                    <a:pt x="6221930" y="12829"/>
                  </a:lnTo>
                  <a:lnTo>
                    <a:pt x="6205152" y="9524"/>
                  </a:lnTo>
                  <a:lnTo>
                    <a:pt x="6237594" y="9524"/>
                  </a:lnTo>
                  <a:lnTo>
                    <a:pt x="6267964" y="40242"/>
                  </a:lnTo>
                  <a:lnTo>
                    <a:pt x="6276974" y="400049"/>
                  </a:lnTo>
                  <a:lnTo>
                    <a:pt x="6276611" y="407556"/>
                  </a:lnTo>
                  <a:lnTo>
                    <a:pt x="6259706" y="448366"/>
                  </a:lnTo>
                  <a:lnTo>
                    <a:pt x="6243242" y="463324"/>
                  </a:lnTo>
                  <a:lnTo>
                    <a:pt x="6237592" y="466724"/>
                  </a:lnTo>
                  <a:close/>
                </a:path>
              </a:pathLst>
            </a:custGeom>
            <a:solidFill>
              <a:srgbClr val="60A5FA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41615" y="5619749"/>
              <a:ext cx="171450" cy="171450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5843239" y="5570854"/>
            <a:ext cx="3005455" cy="2292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00" spc="-30" dirty="0">
                <a:solidFill>
                  <a:srgbClr val="D0D5DA"/>
                </a:solidFill>
                <a:latin typeface="Tahoma"/>
                <a:cs typeface="Tahoma"/>
              </a:rPr>
              <a:t>Best</a:t>
            </a:r>
            <a:r>
              <a:rPr sz="1300" spc="-90" dirty="0">
                <a:solidFill>
                  <a:srgbClr val="D0D5DA"/>
                </a:solidFill>
                <a:latin typeface="Tahoma"/>
                <a:cs typeface="Tahoma"/>
              </a:rPr>
              <a:t> </a:t>
            </a:r>
            <a:r>
              <a:rPr sz="1300" spc="-45" dirty="0">
                <a:solidFill>
                  <a:srgbClr val="D0D5DA"/>
                </a:solidFill>
                <a:latin typeface="Tahoma"/>
                <a:cs typeface="Tahoma"/>
              </a:rPr>
              <a:t>model</a:t>
            </a:r>
            <a:r>
              <a:rPr sz="1300" spc="-85" dirty="0">
                <a:solidFill>
                  <a:srgbClr val="D0D5DA"/>
                </a:solidFill>
                <a:latin typeface="Tahoma"/>
                <a:cs typeface="Tahoma"/>
              </a:rPr>
              <a:t> </a:t>
            </a:r>
            <a:r>
              <a:rPr sz="1300" spc="-45" dirty="0">
                <a:solidFill>
                  <a:srgbClr val="D0D5DA"/>
                </a:solidFill>
                <a:latin typeface="Tahoma"/>
                <a:cs typeface="Tahoma"/>
              </a:rPr>
              <a:t>saved</a:t>
            </a:r>
            <a:r>
              <a:rPr sz="1300" spc="-85" dirty="0">
                <a:solidFill>
                  <a:srgbClr val="D0D5DA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D0D5DA"/>
                </a:solidFill>
                <a:latin typeface="Tahoma"/>
                <a:cs typeface="Tahoma"/>
              </a:rPr>
              <a:t>as</a:t>
            </a:r>
            <a:r>
              <a:rPr sz="1300" spc="-85" dirty="0">
                <a:solidFill>
                  <a:srgbClr val="D0D5DA"/>
                </a:solidFill>
                <a:latin typeface="Tahoma"/>
                <a:cs typeface="Tahoma"/>
              </a:rPr>
              <a:t> </a:t>
            </a:r>
            <a:r>
              <a:rPr sz="1300" spc="-50" dirty="0">
                <a:solidFill>
                  <a:srgbClr val="93C4FD"/>
                </a:solidFill>
                <a:latin typeface="Roboto Lt"/>
                <a:cs typeface="Roboto Lt"/>
              </a:rPr>
              <a:t>best.pt</a:t>
            </a:r>
            <a:r>
              <a:rPr sz="1300" spc="-10" dirty="0">
                <a:solidFill>
                  <a:srgbClr val="93C4FD"/>
                </a:solidFill>
                <a:latin typeface="Roboto Lt"/>
                <a:cs typeface="Roboto Lt"/>
              </a:rPr>
              <a:t> </a:t>
            </a:r>
            <a:r>
              <a:rPr sz="1300" spc="-40" dirty="0">
                <a:solidFill>
                  <a:srgbClr val="D0D5DA"/>
                </a:solidFill>
                <a:latin typeface="Tahoma"/>
                <a:cs typeface="Tahoma"/>
              </a:rPr>
              <a:t>for</a:t>
            </a:r>
            <a:r>
              <a:rPr sz="1300" spc="-85" dirty="0">
                <a:solidFill>
                  <a:srgbClr val="D0D5DA"/>
                </a:solidFill>
                <a:latin typeface="Tahoma"/>
                <a:cs typeface="Tahoma"/>
              </a:rPr>
              <a:t> </a:t>
            </a:r>
            <a:r>
              <a:rPr sz="1300" spc="-35" dirty="0">
                <a:solidFill>
                  <a:srgbClr val="D0D5DA"/>
                </a:solidFill>
                <a:latin typeface="Tahoma"/>
                <a:cs typeface="Tahoma"/>
              </a:rPr>
              <a:t>deployment</a:t>
            </a:r>
            <a:endParaRPr sz="1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43180">
              <a:lnSpc>
                <a:spcPct val="100000"/>
              </a:lnSpc>
              <a:spcBef>
                <a:spcPts val="110"/>
              </a:spcBef>
            </a:pPr>
            <a:r>
              <a:rPr sz="3300" spc="-160" dirty="0">
                <a:latin typeface="Tahoma"/>
                <a:cs typeface="Tahoma"/>
              </a:rPr>
              <a:t>YOLOv5</a:t>
            </a:r>
            <a:r>
              <a:rPr sz="3300" spc="-80" dirty="0">
                <a:latin typeface="Tahoma"/>
                <a:cs typeface="Tahoma"/>
              </a:rPr>
              <a:t> </a:t>
            </a:r>
            <a:r>
              <a:rPr sz="3300" spc="-85" dirty="0">
                <a:latin typeface="Tahoma"/>
                <a:cs typeface="Tahoma"/>
              </a:rPr>
              <a:t>Results</a:t>
            </a:r>
            <a:endParaRPr sz="3300" dirty="0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238749" y="1133474"/>
            <a:ext cx="6353175" cy="1562100"/>
            <a:chOff x="5238749" y="1133474"/>
            <a:chExt cx="6353175" cy="1562100"/>
          </a:xfrm>
        </p:grpSpPr>
        <p:sp>
          <p:nvSpPr>
            <p:cNvPr id="4" name="object 4"/>
            <p:cNvSpPr/>
            <p:nvPr/>
          </p:nvSpPr>
          <p:spPr>
            <a:xfrm>
              <a:off x="5238749" y="1133474"/>
              <a:ext cx="6353175" cy="1562100"/>
            </a:xfrm>
            <a:custGeom>
              <a:avLst/>
              <a:gdLst/>
              <a:ahLst/>
              <a:cxnLst/>
              <a:rect l="l" t="t" r="r" b="b"/>
              <a:pathLst>
                <a:path w="6353175" h="1562100">
                  <a:moveTo>
                    <a:pt x="6238874" y="1562099"/>
                  </a:moveTo>
                  <a:lnTo>
                    <a:pt x="114299" y="1562099"/>
                  </a:lnTo>
                  <a:lnTo>
                    <a:pt x="103040" y="1561555"/>
                  </a:lnTo>
                  <a:lnTo>
                    <a:pt x="60364" y="1548587"/>
                  </a:lnTo>
                  <a:lnTo>
                    <a:pt x="25899" y="1520275"/>
                  </a:lnTo>
                  <a:lnTo>
                    <a:pt x="4893" y="1480929"/>
                  </a:lnTo>
                  <a:lnTo>
                    <a:pt x="0" y="144779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6238874" y="0"/>
                  </a:lnTo>
                  <a:lnTo>
                    <a:pt x="6282613" y="8700"/>
                  </a:lnTo>
                  <a:lnTo>
                    <a:pt x="6319695" y="33477"/>
                  </a:lnTo>
                  <a:lnTo>
                    <a:pt x="6344472" y="70559"/>
                  </a:lnTo>
                  <a:lnTo>
                    <a:pt x="6353174" y="114299"/>
                  </a:lnTo>
                  <a:lnTo>
                    <a:pt x="6353174" y="1447799"/>
                  </a:lnTo>
                  <a:lnTo>
                    <a:pt x="6344471" y="1491540"/>
                  </a:lnTo>
                  <a:lnTo>
                    <a:pt x="6319695" y="1528621"/>
                  </a:lnTo>
                  <a:lnTo>
                    <a:pt x="6282613" y="1553398"/>
                  </a:lnTo>
                  <a:lnTo>
                    <a:pt x="6238874" y="1562099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238749" y="1133474"/>
              <a:ext cx="6353175" cy="1562100"/>
            </a:xfrm>
            <a:custGeom>
              <a:avLst/>
              <a:gdLst/>
              <a:ahLst/>
              <a:cxnLst/>
              <a:rect l="l" t="t" r="r" b="b"/>
              <a:pathLst>
                <a:path w="6353175" h="1562100">
                  <a:moveTo>
                    <a:pt x="6238874" y="1562099"/>
                  </a:moveTo>
                  <a:lnTo>
                    <a:pt x="114299" y="1562099"/>
                  </a:lnTo>
                  <a:lnTo>
                    <a:pt x="103040" y="1561556"/>
                  </a:lnTo>
                  <a:lnTo>
                    <a:pt x="60364" y="1548587"/>
                  </a:lnTo>
                  <a:lnTo>
                    <a:pt x="25899" y="1520275"/>
                  </a:lnTo>
                  <a:lnTo>
                    <a:pt x="4893" y="1480929"/>
                  </a:lnTo>
                  <a:lnTo>
                    <a:pt x="0" y="144779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6238874" y="0"/>
                  </a:lnTo>
                  <a:lnTo>
                    <a:pt x="6282613" y="8700"/>
                  </a:lnTo>
                  <a:lnTo>
                    <a:pt x="6302061" y="19049"/>
                  </a:lnTo>
                  <a:lnTo>
                    <a:pt x="108045" y="19049"/>
                  </a:lnTo>
                  <a:lnTo>
                    <a:pt x="101851" y="19660"/>
                  </a:lnTo>
                  <a:lnTo>
                    <a:pt x="56181" y="38577"/>
                  </a:lnTo>
                  <a:lnTo>
                    <a:pt x="28693" y="72071"/>
                  </a:lnTo>
                  <a:lnTo>
                    <a:pt x="19049" y="108045"/>
                  </a:lnTo>
                  <a:lnTo>
                    <a:pt x="19049" y="1454054"/>
                  </a:lnTo>
                  <a:lnTo>
                    <a:pt x="31627" y="1495517"/>
                  </a:lnTo>
                  <a:lnTo>
                    <a:pt x="66582" y="1530471"/>
                  </a:lnTo>
                  <a:lnTo>
                    <a:pt x="108045" y="1543049"/>
                  </a:lnTo>
                  <a:lnTo>
                    <a:pt x="6302060" y="1543049"/>
                  </a:lnTo>
                  <a:lnTo>
                    <a:pt x="6292808" y="1548587"/>
                  </a:lnTo>
                  <a:lnTo>
                    <a:pt x="6282613" y="1553398"/>
                  </a:lnTo>
                  <a:lnTo>
                    <a:pt x="6272003" y="1557205"/>
                  </a:lnTo>
                  <a:lnTo>
                    <a:pt x="6261176" y="1559924"/>
                  </a:lnTo>
                  <a:lnTo>
                    <a:pt x="6250133" y="1561556"/>
                  </a:lnTo>
                  <a:lnTo>
                    <a:pt x="6238874" y="1562099"/>
                  </a:lnTo>
                  <a:close/>
                </a:path>
                <a:path w="6353175" h="1562100">
                  <a:moveTo>
                    <a:pt x="6302060" y="1543049"/>
                  </a:moveTo>
                  <a:lnTo>
                    <a:pt x="6245129" y="1543049"/>
                  </a:lnTo>
                  <a:lnTo>
                    <a:pt x="6251322" y="1542439"/>
                  </a:lnTo>
                  <a:lnTo>
                    <a:pt x="6263590" y="1539999"/>
                  </a:lnTo>
                  <a:lnTo>
                    <a:pt x="6301803" y="1519574"/>
                  </a:lnTo>
                  <a:lnTo>
                    <a:pt x="6329267" y="1478472"/>
                  </a:lnTo>
                  <a:lnTo>
                    <a:pt x="6334124" y="1454054"/>
                  </a:lnTo>
                  <a:lnTo>
                    <a:pt x="6334124" y="108045"/>
                  </a:lnTo>
                  <a:lnTo>
                    <a:pt x="6333630" y="103040"/>
                  </a:lnTo>
                  <a:lnTo>
                    <a:pt x="6333513" y="101851"/>
                  </a:lnTo>
                  <a:lnTo>
                    <a:pt x="6314597" y="56181"/>
                  </a:lnTo>
                  <a:lnTo>
                    <a:pt x="6281103" y="28693"/>
                  </a:lnTo>
                  <a:lnTo>
                    <a:pt x="6245129" y="19049"/>
                  </a:lnTo>
                  <a:lnTo>
                    <a:pt x="6302061" y="19049"/>
                  </a:lnTo>
                  <a:lnTo>
                    <a:pt x="6333928" y="50786"/>
                  </a:lnTo>
                  <a:lnTo>
                    <a:pt x="6350998" y="91996"/>
                  </a:lnTo>
                  <a:lnTo>
                    <a:pt x="6353174" y="1447799"/>
                  </a:lnTo>
                  <a:lnTo>
                    <a:pt x="6352630" y="1459059"/>
                  </a:lnTo>
                  <a:lnTo>
                    <a:pt x="6339661" y="1501734"/>
                  </a:lnTo>
                  <a:lnTo>
                    <a:pt x="6311349" y="1536199"/>
                  </a:lnTo>
                  <a:lnTo>
                    <a:pt x="6302386" y="1542854"/>
                  </a:lnTo>
                  <a:lnTo>
                    <a:pt x="6302060" y="1543049"/>
                  </a:lnTo>
                  <a:close/>
                </a:path>
              </a:pathLst>
            </a:custGeom>
            <a:solidFill>
              <a:srgbClr val="FFD600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68590" y="1428749"/>
              <a:ext cx="222250" cy="13335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5776565" y="1308047"/>
            <a:ext cx="2267585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b="1" spc="-140" dirty="0">
                <a:solidFill>
                  <a:srgbClr val="FFFFFF"/>
                </a:solidFill>
                <a:latin typeface="Arial"/>
                <a:cs typeface="Arial"/>
              </a:rPr>
              <a:t>Training</a:t>
            </a:r>
            <a:r>
              <a:rPr sz="195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b="1" spc="-120" dirty="0">
                <a:solidFill>
                  <a:srgbClr val="FFFFFF"/>
                </a:solidFill>
                <a:latin typeface="Arial"/>
                <a:cs typeface="Arial"/>
              </a:rPr>
              <a:t>Performance</a:t>
            </a:r>
            <a:endParaRPr sz="19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448299" y="1762124"/>
            <a:ext cx="1905000" cy="723900"/>
          </a:xfrm>
          <a:custGeom>
            <a:avLst/>
            <a:gdLst/>
            <a:ahLst/>
            <a:cxnLst/>
            <a:rect l="l" t="t" r="r" b="b"/>
            <a:pathLst>
              <a:path w="1905000" h="723900">
                <a:moveTo>
                  <a:pt x="1833803" y="723899"/>
                </a:moveTo>
                <a:lnTo>
                  <a:pt x="71196" y="723899"/>
                </a:lnTo>
                <a:lnTo>
                  <a:pt x="66240" y="723411"/>
                </a:lnTo>
                <a:lnTo>
                  <a:pt x="29705" y="708277"/>
                </a:lnTo>
                <a:lnTo>
                  <a:pt x="3885" y="672237"/>
                </a:lnTo>
                <a:lnTo>
                  <a:pt x="0" y="652703"/>
                </a:lnTo>
                <a:lnTo>
                  <a:pt x="0" y="647699"/>
                </a:lnTo>
                <a:lnTo>
                  <a:pt x="0" y="71196"/>
                </a:lnTo>
                <a:lnTo>
                  <a:pt x="15621" y="29705"/>
                </a:lnTo>
                <a:lnTo>
                  <a:pt x="51661" y="3885"/>
                </a:lnTo>
                <a:lnTo>
                  <a:pt x="71196" y="0"/>
                </a:lnTo>
                <a:lnTo>
                  <a:pt x="1833803" y="0"/>
                </a:lnTo>
                <a:lnTo>
                  <a:pt x="1875294" y="15621"/>
                </a:lnTo>
                <a:lnTo>
                  <a:pt x="1901114" y="51661"/>
                </a:lnTo>
                <a:lnTo>
                  <a:pt x="1904999" y="71196"/>
                </a:lnTo>
                <a:lnTo>
                  <a:pt x="1904999" y="652703"/>
                </a:lnTo>
                <a:lnTo>
                  <a:pt x="1889377" y="694194"/>
                </a:lnTo>
                <a:lnTo>
                  <a:pt x="1853337" y="720013"/>
                </a:lnTo>
                <a:lnTo>
                  <a:pt x="1838757" y="723411"/>
                </a:lnTo>
                <a:lnTo>
                  <a:pt x="1833803" y="723899"/>
                </a:lnTo>
                <a:close/>
              </a:path>
            </a:pathLst>
          </a:custGeom>
          <a:solidFill>
            <a:srgbClr val="09182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903366" y="1827344"/>
            <a:ext cx="988060" cy="53340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60"/>
              </a:spcBef>
            </a:pPr>
            <a:r>
              <a:rPr sz="1150" spc="-55" dirty="0">
                <a:solidFill>
                  <a:srgbClr val="9CA2AF"/>
                </a:solidFill>
                <a:latin typeface="Tahoma"/>
                <a:cs typeface="Tahoma"/>
              </a:rPr>
              <a:t>Box</a:t>
            </a:r>
            <a:r>
              <a:rPr sz="1150" spc="-75" dirty="0">
                <a:solidFill>
                  <a:srgbClr val="9CA2AF"/>
                </a:solidFill>
                <a:latin typeface="Tahoma"/>
                <a:cs typeface="Tahoma"/>
              </a:rPr>
              <a:t> </a:t>
            </a:r>
            <a:r>
              <a:rPr sz="1150" spc="-20" dirty="0">
                <a:solidFill>
                  <a:srgbClr val="9CA2AF"/>
                </a:solidFill>
                <a:latin typeface="Tahoma"/>
                <a:cs typeface="Tahoma"/>
              </a:rPr>
              <a:t>Loss</a:t>
            </a:r>
            <a:endParaRPr sz="115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370"/>
              </a:spcBef>
            </a:pPr>
            <a:r>
              <a:rPr sz="1650" b="1" spc="-65" dirty="0">
                <a:solidFill>
                  <a:srgbClr val="FFD600"/>
                </a:solidFill>
                <a:latin typeface="Roboto"/>
                <a:cs typeface="Roboto"/>
              </a:rPr>
              <a:t>Decreasing</a:t>
            </a:r>
            <a:endParaRPr sz="1650">
              <a:latin typeface="Roboto"/>
              <a:cs typeface="Roboto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467598" y="1762124"/>
            <a:ext cx="1895475" cy="723900"/>
          </a:xfrm>
          <a:custGeom>
            <a:avLst/>
            <a:gdLst/>
            <a:ahLst/>
            <a:cxnLst/>
            <a:rect l="l" t="t" r="r" b="b"/>
            <a:pathLst>
              <a:path w="1895475" h="723900">
                <a:moveTo>
                  <a:pt x="1824278" y="723899"/>
                </a:moveTo>
                <a:lnTo>
                  <a:pt x="71196" y="723899"/>
                </a:lnTo>
                <a:lnTo>
                  <a:pt x="66241" y="723411"/>
                </a:lnTo>
                <a:lnTo>
                  <a:pt x="29704" y="708277"/>
                </a:lnTo>
                <a:lnTo>
                  <a:pt x="3885" y="672237"/>
                </a:lnTo>
                <a:lnTo>
                  <a:pt x="0" y="652703"/>
                </a:lnTo>
                <a:lnTo>
                  <a:pt x="0" y="647699"/>
                </a:lnTo>
                <a:lnTo>
                  <a:pt x="0" y="71196"/>
                </a:lnTo>
                <a:lnTo>
                  <a:pt x="15621" y="29705"/>
                </a:lnTo>
                <a:lnTo>
                  <a:pt x="51661" y="3885"/>
                </a:lnTo>
                <a:lnTo>
                  <a:pt x="71196" y="0"/>
                </a:lnTo>
                <a:lnTo>
                  <a:pt x="1824278" y="0"/>
                </a:lnTo>
                <a:lnTo>
                  <a:pt x="1865769" y="15621"/>
                </a:lnTo>
                <a:lnTo>
                  <a:pt x="1891588" y="51661"/>
                </a:lnTo>
                <a:lnTo>
                  <a:pt x="1895474" y="71196"/>
                </a:lnTo>
                <a:lnTo>
                  <a:pt x="1895474" y="652703"/>
                </a:lnTo>
                <a:lnTo>
                  <a:pt x="1879853" y="694194"/>
                </a:lnTo>
                <a:lnTo>
                  <a:pt x="1843812" y="720013"/>
                </a:lnTo>
                <a:lnTo>
                  <a:pt x="1829233" y="723411"/>
                </a:lnTo>
                <a:lnTo>
                  <a:pt x="1824278" y="723899"/>
                </a:lnTo>
                <a:close/>
              </a:path>
            </a:pathLst>
          </a:custGeom>
          <a:solidFill>
            <a:srgbClr val="09182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939484" y="1827344"/>
            <a:ext cx="949960" cy="53340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60"/>
              </a:spcBef>
            </a:pPr>
            <a:r>
              <a:rPr sz="1150" dirty="0">
                <a:solidFill>
                  <a:srgbClr val="9CA2AF"/>
                </a:solidFill>
                <a:latin typeface="Tahoma"/>
                <a:cs typeface="Tahoma"/>
              </a:rPr>
              <a:t>Cls</a:t>
            </a:r>
            <a:r>
              <a:rPr sz="1150" spc="-85" dirty="0">
                <a:solidFill>
                  <a:srgbClr val="9CA2AF"/>
                </a:solidFill>
                <a:latin typeface="Tahoma"/>
                <a:cs typeface="Tahoma"/>
              </a:rPr>
              <a:t> </a:t>
            </a:r>
            <a:r>
              <a:rPr sz="1150" spc="-20" dirty="0">
                <a:solidFill>
                  <a:srgbClr val="9CA2AF"/>
                </a:solidFill>
                <a:latin typeface="Tahoma"/>
                <a:cs typeface="Tahoma"/>
              </a:rPr>
              <a:t>Loss</a:t>
            </a:r>
            <a:endParaRPr sz="115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370"/>
              </a:spcBef>
            </a:pPr>
            <a:r>
              <a:rPr sz="1650" b="1" spc="-65" dirty="0">
                <a:solidFill>
                  <a:srgbClr val="FFD600"/>
                </a:solidFill>
                <a:latin typeface="Roboto"/>
                <a:cs typeface="Roboto"/>
              </a:rPr>
              <a:t>Converged</a:t>
            </a:r>
            <a:endParaRPr sz="1650">
              <a:latin typeface="Roboto"/>
              <a:cs typeface="Roboto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477374" y="1762124"/>
            <a:ext cx="1905000" cy="723900"/>
          </a:xfrm>
          <a:custGeom>
            <a:avLst/>
            <a:gdLst/>
            <a:ahLst/>
            <a:cxnLst/>
            <a:rect l="l" t="t" r="r" b="b"/>
            <a:pathLst>
              <a:path w="1905000" h="723900">
                <a:moveTo>
                  <a:pt x="1833803" y="723899"/>
                </a:moveTo>
                <a:lnTo>
                  <a:pt x="71196" y="723899"/>
                </a:lnTo>
                <a:lnTo>
                  <a:pt x="66240" y="723411"/>
                </a:lnTo>
                <a:lnTo>
                  <a:pt x="29705" y="708277"/>
                </a:lnTo>
                <a:lnTo>
                  <a:pt x="3884" y="672237"/>
                </a:lnTo>
                <a:lnTo>
                  <a:pt x="0" y="652703"/>
                </a:lnTo>
                <a:lnTo>
                  <a:pt x="0" y="647699"/>
                </a:lnTo>
                <a:lnTo>
                  <a:pt x="0" y="71196"/>
                </a:lnTo>
                <a:lnTo>
                  <a:pt x="15621" y="29705"/>
                </a:lnTo>
                <a:lnTo>
                  <a:pt x="51660" y="3885"/>
                </a:lnTo>
                <a:lnTo>
                  <a:pt x="71196" y="0"/>
                </a:lnTo>
                <a:lnTo>
                  <a:pt x="1833803" y="0"/>
                </a:lnTo>
                <a:lnTo>
                  <a:pt x="1875293" y="15621"/>
                </a:lnTo>
                <a:lnTo>
                  <a:pt x="1901114" y="51661"/>
                </a:lnTo>
                <a:lnTo>
                  <a:pt x="1904999" y="71196"/>
                </a:lnTo>
                <a:lnTo>
                  <a:pt x="1904999" y="652703"/>
                </a:lnTo>
                <a:lnTo>
                  <a:pt x="1889377" y="694194"/>
                </a:lnTo>
                <a:lnTo>
                  <a:pt x="1853337" y="720013"/>
                </a:lnTo>
                <a:lnTo>
                  <a:pt x="1838758" y="723411"/>
                </a:lnTo>
                <a:lnTo>
                  <a:pt x="1833803" y="723899"/>
                </a:lnTo>
                <a:close/>
              </a:path>
            </a:pathLst>
          </a:custGeom>
          <a:solidFill>
            <a:srgbClr val="09182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0142437" y="1827344"/>
            <a:ext cx="577215" cy="53340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1150" spc="-50" dirty="0">
                <a:solidFill>
                  <a:srgbClr val="9CA2AF"/>
                </a:solidFill>
                <a:latin typeface="Tahoma"/>
                <a:cs typeface="Tahoma"/>
              </a:rPr>
              <a:t>DFL</a:t>
            </a:r>
            <a:r>
              <a:rPr sz="1150" spc="-80" dirty="0">
                <a:solidFill>
                  <a:srgbClr val="9CA2AF"/>
                </a:solidFill>
                <a:latin typeface="Tahoma"/>
                <a:cs typeface="Tahoma"/>
              </a:rPr>
              <a:t> </a:t>
            </a:r>
            <a:r>
              <a:rPr sz="1150" spc="-20" dirty="0">
                <a:solidFill>
                  <a:srgbClr val="9CA2AF"/>
                </a:solidFill>
                <a:latin typeface="Tahoma"/>
                <a:cs typeface="Tahoma"/>
              </a:rPr>
              <a:t>Loss</a:t>
            </a:r>
            <a:endParaRPr sz="1150">
              <a:latin typeface="Tahoma"/>
              <a:cs typeface="Tahoma"/>
            </a:endParaRPr>
          </a:p>
          <a:p>
            <a:pPr marL="15875">
              <a:lnSpc>
                <a:spcPct val="100000"/>
              </a:lnSpc>
              <a:spcBef>
                <a:spcPts val="370"/>
              </a:spcBef>
            </a:pPr>
            <a:r>
              <a:rPr sz="1650" b="1" spc="-65" dirty="0">
                <a:solidFill>
                  <a:srgbClr val="FFD600"/>
                </a:solidFill>
                <a:latin typeface="Roboto"/>
                <a:cs typeface="Roboto"/>
              </a:rPr>
              <a:t>Stable</a:t>
            </a:r>
            <a:endParaRPr sz="1650">
              <a:latin typeface="Roboto"/>
              <a:cs typeface="Roboto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238749" y="2847974"/>
            <a:ext cx="6353175" cy="3276600"/>
            <a:chOff x="5238749" y="2847974"/>
            <a:chExt cx="6353175" cy="3276600"/>
          </a:xfrm>
        </p:grpSpPr>
        <p:sp>
          <p:nvSpPr>
            <p:cNvPr id="15" name="object 15"/>
            <p:cNvSpPr/>
            <p:nvPr/>
          </p:nvSpPr>
          <p:spPr>
            <a:xfrm>
              <a:off x="5238749" y="2847974"/>
              <a:ext cx="6353175" cy="1638300"/>
            </a:xfrm>
            <a:custGeom>
              <a:avLst/>
              <a:gdLst/>
              <a:ahLst/>
              <a:cxnLst/>
              <a:rect l="l" t="t" r="r" b="b"/>
              <a:pathLst>
                <a:path w="6353175" h="1638300">
                  <a:moveTo>
                    <a:pt x="6238874" y="1638299"/>
                  </a:moveTo>
                  <a:lnTo>
                    <a:pt x="114299" y="1638299"/>
                  </a:lnTo>
                  <a:lnTo>
                    <a:pt x="103040" y="1637755"/>
                  </a:lnTo>
                  <a:lnTo>
                    <a:pt x="60364" y="1624787"/>
                  </a:lnTo>
                  <a:lnTo>
                    <a:pt x="25899" y="1596475"/>
                  </a:lnTo>
                  <a:lnTo>
                    <a:pt x="4893" y="1557129"/>
                  </a:lnTo>
                  <a:lnTo>
                    <a:pt x="0" y="1523999"/>
                  </a:lnTo>
                  <a:lnTo>
                    <a:pt x="0" y="114299"/>
                  </a:lnTo>
                  <a:lnTo>
                    <a:pt x="8700" y="70558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6238874" y="0"/>
                  </a:lnTo>
                  <a:lnTo>
                    <a:pt x="6282613" y="8700"/>
                  </a:lnTo>
                  <a:lnTo>
                    <a:pt x="6319695" y="33477"/>
                  </a:lnTo>
                  <a:lnTo>
                    <a:pt x="6344472" y="70558"/>
                  </a:lnTo>
                  <a:lnTo>
                    <a:pt x="6353174" y="114299"/>
                  </a:lnTo>
                  <a:lnTo>
                    <a:pt x="6353174" y="1523999"/>
                  </a:lnTo>
                  <a:lnTo>
                    <a:pt x="6344471" y="1567740"/>
                  </a:lnTo>
                  <a:lnTo>
                    <a:pt x="6319695" y="1604822"/>
                  </a:lnTo>
                  <a:lnTo>
                    <a:pt x="6282613" y="1629599"/>
                  </a:lnTo>
                  <a:lnTo>
                    <a:pt x="6238874" y="1638299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238749" y="2847975"/>
              <a:ext cx="6353175" cy="1638300"/>
            </a:xfrm>
            <a:custGeom>
              <a:avLst/>
              <a:gdLst/>
              <a:ahLst/>
              <a:cxnLst/>
              <a:rect l="l" t="t" r="r" b="b"/>
              <a:pathLst>
                <a:path w="6353175" h="1638300">
                  <a:moveTo>
                    <a:pt x="6238874" y="1638299"/>
                  </a:moveTo>
                  <a:lnTo>
                    <a:pt x="114299" y="1638299"/>
                  </a:lnTo>
                  <a:lnTo>
                    <a:pt x="103040" y="1637755"/>
                  </a:lnTo>
                  <a:lnTo>
                    <a:pt x="60364" y="1624787"/>
                  </a:lnTo>
                  <a:lnTo>
                    <a:pt x="25899" y="1596475"/>
                  </a:lnTo>
                  <a:lnTo>
                    <a:pt x="4893" y="1557129"/>
                  </a:lnTo>
                  <a:lnTo>
                    <a:pt x="0" y="1523999"/>
                  </a:lnTo>
                  <a:lnTo>
                    <a:pt x="0" y="114299"/>
                  </a:lnTo>
                  <a:lnTo>
                    <a:pt x="8700" y="70558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6238874" y="0"/>
                  </a:lnTo>
                  <a:lnTo>
                    <a:pt x="6282613" y="8700"/>
                  </a:lnTo>
                  <a:lnTo>
                    <a:pt x="6302061" y="19049"/>
                  </a:lnTo>
                  <a:lnTo>
                    <a:pt x="108045" y="19049"/>
                  </a:lnTo>
                  <a:lnTo>
                    <a:pt x="101851" y="19660"/>
                  </a:lnTo>
                  <a:lnTo>
                    <a:pt x="56181" y="38577"/>
                  </a:lnTo>
                  <a:lnTo>
                    <a:pt x="28693" y="72071"/>
                  </a:lnTo>
                  <a:lnTo>
                    <a:pt x="19049" y="108045"/>
                  </a:lnTo>
                  <a:lnTo>
                    <a:pt x="19049" y="1530254"/>
                  </a:lnTo>
                  <a:lnTo>
                    <a:pt x="31627" y="1571717"/>
                  </a:lnTo>
                  <a:lnTo>
                    <a:pt x="66582" y="1606671"/>
                  </a:lnTo>
                  <a:lnTo>
                    <a:pt x="108045" y="1619249"/>
                  </a:lnTo>
                  <a:lnTo>
                    <a:pt x="6302060" y="1619249"/>
                  </a:lnTo>
                  <a:lnTo>
                    <a:pt x="6292808" y="1624787"/>
                  </a:lnTo>
                  <a:lnTo>
                    <a:pt x="6282613" y="1629599"/>
                  </a:lnTo>
                  <a:lnTo>
                    <a:pt x="6272003" y="1633405"/>
                  </a:lnTo>
                  <a:lnTo>
                    <a:pt x="6261176" y="1636124"/>
                  </a:lnTo>
                  <a:lnTo>
                    <a:pt x="6250133" y="1637755"/>
                  </a:lnTo>
                  <a:lnTo>
                    <a:pt x="6238874" y="1638299"/>
                  </a:lnTo>
                  <a:close/>
                </a:path>
                <a:path w="6353175" h="1638300">
                  <a:moveTo>
                    <a:pt x="6302060" y="1619249"/>
                  </a:moveTo>
                  <a:lnTo>
                    <a:pt x="6245129" y="1619249"/>
                  </a:lnTo>
                  <a:lnTo>
                    <a:pt x="6251322" y="1618639"/>
                  </a:lnTo>
                  <a:lnTo>
                    <a:pt x="6263590" y="1616199"/>
                  </a:lnTo>
                  <a:lnTo>
                    <a:pt x="6301803" y="1595773"/>
                  </a:lnTo>
                  <a:lnTo>
                    <a:pt x="6329267" y="1554672"/>
                  </a:lnTo>
                  <a:lnTo>
                    <a:pt x="6334124" y="1530254"/>
                  </a:lnTo>
                  <a:lnTo>
                    <a:pt x="6334124" y="108045"/>
                  </a:lnTo>
                  <a:lnTo>
                    <a:pt x="6333630" y="103040"/>
                  </a:lnTo>
                  <a:lnTo>
                    <a:pt x="6333513" y="101851"/>
                  </a:lnTo>
                  <a:lnTo>
                    <a:pt x="6314597" y="56181"/>
                  </a:lnTo>
                  <a:lnTo>
                    <a:pt x="6281103" y="28693"/>
                  </a:lnTo>
                  <a:lnTo>
                    <a:pt x="6245129" y="19049"/>
                  </a:lnTo>
                  <a:lnTo>
                    <a:pt x="6302061" y="19049"/>
                  </a:lnTo>
                  <a:lnTo>
                    <a:pt x="6333928" y="50785"/>
                  </a:lnTo>
                  <a:lnTo>
                    <a:pt x="6350998" y="91996"/>
                  </a:lnTo>
                  <a:lnTo>
                    <a:pt x="6353174" y="1523999"/>
                  </a:lnTo>
                  <a:lnTo>
                    <a:pt x="6352630" y="1535259"/>
                  </a:lnTo>
                  <a:lnTo>
                    <a:pt x="6339661" y="1577934"/>
                  </a:lnTo>
                  <a:lnTo>
                    <a:pt x="6311349" y="1612399"/>
                  </a:lnTo>
                  <a:lnTo>
                    <a:pt x="6302386" y="1619054"/>
                  </a:lnTo>
                  <a:lnTo>
                    <a:pt x="6302060" y="1619249"/>
                  </a:lnTo>
                  <a:close/>
                </a:path>
              </a:pathLst>
            </a:custGeom>
            <a:solidFill>
              <a:srgbClr val="60A5FA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68590" y="3098799"/>
              <a:ext cx="222250" cy="22225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62240" y="3530599"/>
              <a:ext cx="177800" cy="1778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62240" y="3797299"/>
              <a:ext cx="177800" cy="1778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62240" y="4063999"/>
              <a:ext cx="177800" cy="17780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238749" y="4638674"/>
              <a:ext cx="6353175" cy="1485900"/>
            </a:xfrm>
            <a:custGeom>
              <a:avLst/>
              <a:gdLst/>
              <a:ahLst/>
              <a:cxnLst/>
              <a:rect l="l" t="t" r="r" b="b"/>
              <a:pathLst>
                <a:path w="6353175" h="1485900">
                  <a:moveTo>
                    <a:pt x="6238874" y="1485899"/>
                  </a:moveTo>
                  <a:lnTo>
                    <a:pt x="114299" y="1485899"/>
                  </a:lnTo>
                  <a:lnTo>
                    <a:pt x="103040" y="1485355"/>
                  </a:lnTo>
                  <a:lnTo>
                    <a:pt x="60364" y="1472387"/>
                  </a:lnTo>
                  <a:lnTo>
                    <a:pt x="25899" y="1444075"/>
                  </a:lnTo>
                  <a:lnTo>
                    <a:pt x="4893" y="1404729"/>
                  </a:lnTo>
                  <a:lnTo>
                    <a:pt x="0" y="1371599"/>
                  </a:lnTo>
                  <a:lnTo>
                    <a:pt x="0" y="114299"/>
                  </a:lnTo>
                  <a:lnTo>
                    <a:pt x="8700" y="70558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6238874" y="0"/>
                  </a:lnTo>
                  <a:lnTo>
                    <a:pt x="6282613" y="8700"/>
                  </a:lnTo>
                  <a:lnTo>
                    <a:pt x="6319695" y="33477"/>
                  </a:lnTo>
                  <a:lnTo>
                    <a:pt x="6344472" y="70558"/>
                  </a:lnTo>
                  <a:lnTo>
                    <a:pt x="6353174" y="114299"/>
                  </a:lnTo>
                  <a:lnTo>
                    <a:pt x="6353174" y="1371599"/>
                  </a:lnTo>
                  <a:lnTo>
                    <a:pt x="6344471" y="1415340"/>
                  </a:lnTo>
                  <a:lnTo>
                    <a:pt x="6319695" y="1452422"/>
                  </a:lnTo>
                  <a:lnTo>
                    <a:pt x="6282613" y="1477198"/>
                  </a:lnTo>
                  <a:lnTo>
                    <a:pt x="6238874" y="1485899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238749" y="4638674"/>
              <a:ext cx="6353175" cy="1485900"/>
            </a:xfrm>
            <a:custGeom>
              <a:avLst/>
              <a:gdLst/>
              <a:ahLst/>
              <a:cxnLst/>
              <a:rect l="l" t="t" r="r" b="b"/>
              <a:pathLst>
                <a:path w="6353175" h="1485900">
                  <a:moveTo>
                    <a:pt x="6238874" y="1485899"/>
                  </a:moveTo>
                  <a:lnTo>
                    <a:pt x="114299" y="1485899"/>
                  </a:lnTo>
                  <a:lnTo>
                    <a:pt x="103040" y="1485355"/>
                  </a:lnTo>
                  <a:lnTo>
                    <a:pt x="60364" y="1472387"/>
                  </a:lnTo>
                  <a:lnTo>
                    <a:pt x="25899" y="1444075"/>
                  </a:lnTo>
                  <a:lnTo>
                    <a:pt x="4893" y="1404729"/>
                  </a:lnTo>
                  <a:lnTo>
                    <a:pt x="0" y="1371599"/>
                  </a:lnTo>
                  <a:lnTo>
                    <a:pt x="0" y="114299"/>
                  </a:lnTo>
                  <a:lnTo>
                    <a:pt x="8700" y="70558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6238874" y="0"/>
                  </a:lnTo>
                  <a:lnTo>
                    <a:pt x="6282613" y="8700"/>
                  </a:lnTo>
                  <a:lnTo>
                    <a:pt x="6302061" y="19049"/>
                  </a:lnTo>
                  <a:lnTo>
                    <a:pt x="108045" y="19049"/>
                  </a:lnTo>
                  <a:lnTo>
                    <a:pt x="101851" y="19659"/>
                  </a:lnTo>
                  <a:lnTo>
                    <a:pt x="56181" y="38577"/>
                  </a:lnTo>
                  <a:lnTo>
                    <a:pt x="28693" y="72071"/>
                  </a:lnTo>
                  <a:lnTo>
                    <a:pt x="19049" y="108045"/>
                  </a:lnTo>
                  <a:lnTo>
                    <a:pt x="19049" y="1377854"/>
                  </a:lnTo>
                  <a:lnTo>
                    <a:pt x="19542" y="1382859"/>
                  </a:lnTo>
                  <a:lnTo>
                    <a:pt x="19659" y="1384048"/>
                  </a:lnTo>
                  <a:lnTo>
                    <a:pt x="38577" y="1429718"/>
                  </a:lnTo>
                  <a:lnTo>
                    <a:pt x="72071" y="1457205"/>
                  </a:lnTo>
                  <a:lnTo>
                    <a:pt x="108045" y="1466849"/>
                  </a:lnTo>
                  <a:lnTo>
                    <a:pt x="6302060" y="1466849"/>
                  </a:lnTo>
                  <a:lnTo>
                    <a:pt x="6292808" y="1472387"/>
                  </a:lnTo>
                  <a:lnTo>
                    <a:pt x="6282613" y="1477198"/>
                  </a:lnTo>
                  <a:lnTo>
                    <a:pt x="6272003" y="1481005"/>
                  </a:lnTo>
                  <a:lnTo>
                    <a:pt x="6261176" y="1483724"/>
                  </a:lnTo>
                  <a:lnTo>
                    <a:pt x="6250133" y="1485355"/>
                  </a:lnTo>
                  <a:lnTo>
                    <a:pt x="6238874" y="1485899"/>
                  </a:lnTo>
                  <a:close/>
                </a:path>
                <a:path w="6353175" h="1485900">
                  <a:moveTo>
                    <a:pt x="6302060" y="1466849"/>
                  </a:moveTo>
                  <a:lnTo>
                    <a:pt x="6245129" y="1466849"/>
                  </a:lnTo>
                  <a:lnTo>
                    <a:pt x="6251322" y="1466239"/>
                  </a:lnTo>
                  <a:lnTo>
                    <a:pt x="6263590" y="1463799"/>
                  </a:lnTo>
                  <a:lnTo>
                    <a:pt x="6301803" y="1443373"/>
                  </a:lnTo>
                  <a:lnTo>
                    <a:pt x="6329267" y="1402272"/>
                  </a:lnTo>
                  <a:lnTo>
                    <a:pt x="6334124" y="1377854"/>
                  </a:lnTo>
                  <a:lnTo>
                    <a:pt x="6334124" y="108045"/>
                  </a:lnTo>
                  <a:lnTo>
                    <a:pt x="6333630" y="103040"/>
                  </a:lnTo>
                  <a:lnTo>
                    <a:pt x="6333513" y="101851"/>
                  </a:lnTo>
                  <a:lnTo>
                    <a:pt x="6314597" y="56181"/>
                  </a:lnTo>
                  <a:lnTo>
                    <a:pt x="6281103" y="28693"/>
                  </a:lnTo>
                  <a:lnTo>
                    <a:pt x="6245129" y="19049"/>
                  </a:lnTo>
                  <a:lnTo>
                    <a:pt x="6302061" y="19049"/>
                  </a:lnTo>
                  <a:lnTo>
                    <a:pt x="6333928" y="50785"/>
                  </a:lnTo>
                  <a:lnTo>
                    <a:pt x="6350998" y="91996"/>
                  </a:lnTo>
                  <a:lnTo>
                    <a:pt x="6353174" y="1371599"/>
                  </a:lnTo>
                  <a:lnTo>
                    <a:pt x="6352630" y="1382859"/>
                  </a:lnTo>
                  <a:lnTo>
                    <a:pt x="6339661" y="1425534"/>
                  </a:lnTo>
                  <a:lnTo>
                    <a:pt x="6311349" y="1459999"/>
                  </a:lnTo>
                  <a:lnTo>
                    <a:pt x="6302386" y="1466654"/>
                  </a:lnTo>
                  <a:lnTo>
                    <a:pt x="6302060" y="1466849"/>
                  </a:lnTo>
                  <a:close/>
                </a:path>
              </a:pathLst>
            </a:custGeom>
            <a:solidFill>
              <a:srgbClr val="4ADE80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78115" y="4899024"/>
              <a:ext cx="203200" cy="203200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5719415" y="3022547"/>
            <a:ext cx="2755265" cy="21177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9215">
              <a:lnSpc>
                <a:spcPct val="100000"/>
              </a:lnSpc>
              <a:spcBef>
                <a:spcPts val="125"/>
              </a:spcBef>
            </a:pPr>
            <a:r>
              <a:rPr sz="1950" b="1" spc="-160" dirty="0">
                <a:solidFill>
                  <a:srgbClr val="FFFFFF"/>
                </a:solidFill>
                <a:latin typeface="Arial"/>
                <a:cs typeface="Arial"/>
              </a:rPr>
              <a:t>Confusion</a:t>
            </a:r>
            <a:r>
              <a:rPr sz="195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b="1" spc="-10" dirty="0">
                <a:solidFill>
                  <a:srgbClr val="FFFFFF"/>
                </a:solidFill>
                <a:latin typeface="Arial"/>
                <a:cs typeface="Arial"/>
              </a:rPr>
              <a:t>Matrix</a:t>
            </a:r>
            <a:endParaRPr sz="1950">
              <a:latin typeface="Arial"/>
              <a:cs typeface="Arial"/>
            </a:endParaRPr>
          </a:p>
          <a:p>
            <a:pPr marL="12700" marR="356870">
              <a:lnSpc>
                <a:spcPct val="116700"/>
              </a:lnSpc>
              <a:spcBef>
                <a:spcPts val="810"/>
              </a:spcBef>
            </a:pPr>
            <a:r>
              <a:rPr sz="1500" spc="-85" dirty="0">
                <a:solidFill>
                  <a:srgbClr val="D0D5DA"/>
                </a:solidFill>
                <a:latin typeface="Arial MT"/>
                <a:cs typeface="Arial MT"/>
              </a:rPr>
              <a:t>Strong</a:t>
            </a:r>
            <a:r>
              <a:rPr sz="1500" spc="-6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500" spc="-70" dirty="0">
                <a:solidFill>
                  <a:srgbClr val="D0D5DA"/>
                </a:solidFill>
                <a:latin typeface="Arial MT"/>
                <a:cs typeface="Arial MT"/>
              </a:rPr>
              <a:t>diagonal</a:t>
            </a:r>
            <a:r>
              <a:rPr sz="1500" spc="-5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D0D5DA"/>
                </a:solidFill>
                <a:latin typeface="Arial MT"/>
                <a:cs typeface="Arial MT"/>
              </a:rPr>
              <a:t>concentration </a:t>
            </a:r>
            <a:r>
              <a:rPr sz="1500" spc="-80" dirty="0">
                <a:solidFill>
                  <a:srgbClr val="D0D5DA"/>
                </a:solidFill>
                <a:latin typeface="Arial MT"/>
                <a:cs typeface="Arial MT"/>
              </a:rPr>
              <a:t>High</a:t>
            </a:r>
            <a:r>
              <a:rPr sz="1500" spc="-5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500" spc="-60" dirty="0">
                <a:solidFill>
                  <a:srgbClr val="D0D5DA"/>
                </a:solidFill>
                <a:latin typeface="Arial MT"/>
                <a:cs typeface="Arial MT"/>
              </a:rPr>
              <a:t>class</a:t>
            </a:r>
            <a:r>
              <a:rPr sz="1500" spc="-5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500" spc="-75" dirty="0">
                <a:solidFill>
                  <a:srgbClr val="D0D5DA"/>
                </a:solidFill>
                <a:latin typeface="Arial MT"/>
                <a:cs typeface="Arial MT"/>
              </a:rPr>
              <a:t>separation</a:t>
            </a:r>
            <a:r>
              <a:rPr sz="1500" spc="-5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500" spc="-80" dirty="0">
                <a:solidFill>
                  <a:srgbClr val="D0D5DA"/>
                </a:solidFill>
                <a:latin typeface="Arial MT"/>
                <a:cs typeface="Arial MT"/>
              </a:rPr>
              <a:t>accuracy</a:t>
            </a:r>
            <a:endParaRPr sz="15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500" spc="-55" dirty="0">
                <a:solidFill>
                  <a:srgbClr val="D0D5DA"/>
                </a:solidFill>
                <a:latin typeface="Arial MT"/>
                <a:cs typeface="Arial MT"/>
              </a:rPr>
              <a:t>Minimal</a:t>
            </a:r>
            <a:r>
              <a:rPr sz="1500" spc="-5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500" spc="-60" dirty="0">
                <a:solidFill>
                  <a:srgbClr val="D0D5DA"/>
                </a:solidFill>
                <a:latin typeface="Arial MT"/>
                <a:cs typeface="Arial MT"/>
              </a:rPr>
              <a:t>confusion</a:t>
            </a:r>
            <a:r>
              <a:rPr sz="1500" spc="-5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500" spc="-90" dirty="0">
                <a:solidFill>
                  <a:srgbClr val="D0D5DA"/>
                </a:solidFill>
                <a:latin typeface="Arial MT"/>
                <a:cs typeface="Arial MT"/>
              </a:rPr>
              <a:t>between</a:t>
            </a:r>
            <a:r>
              <a:rPr sz="1500" spc="-4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500" spc="-55" dirty="0">
                <a:solidFill>
                  <a:srgbClr val="D0D5DA"/>
                </a:solidFill>
                <a:latin typeface="Arial MT"/>
                <a:cs typeface="Arial MT"/>
              </a:rPr>
              <a:t>classes</a:t>
            </a: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45"/>
              </a:spcBef>
            </a:pPr>
            <a:endParaRPr sz="1350">
              <a:latin typeface="Arial MT"/>
              <a:cs typeface="Arial MT"/>
            </a:endParaRPr>
          </a:p>
          <a:p>
            <a:pPr marL="69215">
              <a:lnSpc>
                <a:spcPct val="100000"/>
              </a:lnSpc>
            </a:pPr>
            <a:r>
              <a:rPr sz="1950" b="1" spc="-210" dirty="0">
                <a:solidFill>
                  <a:srgbClr val="FFFFFF"/>
                </a:solidFill>
                <a:latin typeface="Arial"/>
                <a:cs typeface="Arial"/>
              </a:rPr>
              <a:t>Key</a:t>
            </a:r>
            <a:r>
              <a:rPr sz="195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b="1" spc="-10" dirty="0">
                <a:solidFill>
                  <a:srgbClr val="FFFFFF"/>
                </a:solidFill>
                <a:latin typeface="Arial"/>
                <a:cs typeface="Arial"/>
              </a:rPr>
              <a:t>Metrics</a:t>
            </a:r>
            <a:endParaRPr sz="19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433665" y="5254386"/>
            <a:ext cx="156654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spc="-104" baseline="2136" dirty="0">
                <a:solidFill>
                  <a:srgbClr val="9CA2AF"/>
                </a:solidFill>
                <a:latin typeface="Tahoma"/>
                <a:cs typeface="Tahoma"/>
              </a:rPr>
              <a:t>mAP@</a:t>
            </a:r>
            <a:r>
              <a:rPr sz="1950" spc="-427" baseline="2136" dirty="0">
                <a:solidFill>
                  <a:srgbClr val="9CA2AF"/>
                </a:solidFill>
                <a:latin typeface="Tahoma"/>
                <a:cs typeface="Tahoma"/>
              </a:rPr>
              <a:t> </a:t>
            </a:r>
            <a:r>
              <a:rPr sz="1950" spc="-52" baseline="2136" dirty="0">
                <a:solidFill>
                  <a:srgbClr val="9CA2AF"/>
                </a:solidFill>
                <a:latin typeface="Tahoma"/>
                <a:cs typeface="Tahoma"/>
              </a:rPr>
              <a:t>0.5:</a:t>
            </a:r>
            <a:r>
              <a:rPr sz="1950" spc="82" baseline="2136" dirty="0">
                <a:solidFill>
                  <a:srgbClr val="9CA2AF"/>
                </a:solidFill>
                <a:latin typeface="Tahoma"/>
                <a:cs typeface="Tahoma"/>
              </a:rPr>
              <a:t> </a:t>
            </a:r>
            <a:r>
              <a:rPr sz="1500" b="1" spc="-70" dirty="0">
                <a:solidFill>
                  <a:srgbClr val="86EFAB"/>
                </a:solidFill>
                <a:latin typeface="Roboto"/>
                <a:cs typeface="Roboto"/>
              </a:rPr>
              <a:t>(See</a:t>
            </a:r>
            <a:r>
              <a:rPr sz="1500" b="1" spc="-40" dirty="0">
                <a:solidFill>
                  <a:srgbClr val="86EFAB"/>
                </a:solidFill>
                <a:latin typeface="Roboto"/>
                <a:cs typeface="Roboto"/>
              </a:rPr>
              <a:t> </a:t>
            </a:r>
            <a:r>
              <a:rPr sz="1500" b="1" spc="-60" dirty="0">
                <a:solidFill>
                  <a:srgbClr val="86EFAB"/>
                </a:solidFill>
                <a:latin typeface="Roboto"/>
                <a:cs typeface="Roboto"/>
              </a:rPr>
              <a:t>plot)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458745" y="5254386"/>
            <a:ext cx="151955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spc="-30" baseline="2136" dirty="0">
                <a:solidFill>
                  <a:srgbClr val="9CA2AF"/>
                </a:solidFill>
                <a:latin typeface="Tahoma"/>
                <a:cs typeface="Tahoma"/>
              </a:rPr>
              <a:t>Precision:</a:t>
            </a:r>
            <a:r>
              <a:rPr sz="1950" spc="127" baseline="2136" dirty="0">
                <a:solidFill>
                  <a:srgbClr val="9CA2AF"/>
                </a:solidFill>
                <a:latin typeface="Tahoma"/>
                <a:cs typeface="Tahoma"/>
              </a:rPr>
              <a:t> </a:t>
            </a:r>
            <a:r>
              <a:rPr sz="1500" b="1" spc="-70" dirty="0">
                <a:solidFill>
                  <a:srgbClr val="86EFAB"/>
                </a:solidFill>
                <a:latin typeface="Roboto"/>
                <a:cs typeface="Roboto"/>
              </a:rPr>
              <a:t>(See</a:t>
            </a:r>
            <a:r>
              <a:rPr sz="1500" b="1" spc="-40" dirty="0">
                <a:solidFill>
                  <a:srgbClr val="86EFAB"/>
                </a:solidFill>
                <a:latin typeface="Roboto"/>
                <a:cs typeface="Roboto"/>
              </a:rPr>
              <a:t> </a:t>
            </a:r>
            <a:r>
              <a:rPr sz="1500" b="1" spc="-55" dirty="0">
                <a:solidFill>
                  <a:srgbClr val="86EFAB"/>
                </a:solidFill>
                <a:latin typeface="Roboto"/>
                <a:cs typeface="Roboto"/>
              </a:rPr>
              <a:t>plot)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433665" y="5635386"/>
            <a:ext cx="130048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spc="-30" baseline="2136" dirty="0">
                <a:solidFill>
                  <a:srgbClr val="9CA2AF"/>
                </a:solidFill>
                <a:latin typeface="Tahoma"/>
                <a:cs typeface="Tahoma"/>
              </a:rPr>
              <a:t>Recall:</a:t>
            </a:r>
            <a:r>
              <a:rPr sz="1950" spc="52" baseline="2136" dirty="0">
                <a:solidFill>
                  <a:srgbClr val="9CA2AF"/>
                </a:solidFill>
                <a:latin typeface="Tahoma"/>
                <a:cs typeface="Tahoma"/>
              </a:rPr>
              <a:t> </a:t>
            </a:r>
            <a:r>
              <a:rPr sz="1500" b="1" spc="-70" dirty="0">
                <a:solidFill>
                  <a:srgbClr val="86EFAB"/>
                </a:solidFill>
                <a:latin typeface="Roboto"/>
                <a:cs typeface="Roboto"/>
              </a:rPr>
              <a:t>(See</a:t>
            </a:r>
            <a:r>
              <a:rPr sz="1500" b="1" spc="-40" dirty="0">
                <a:solidFill>
                  <a:srgbClr val="86EFAB"/>
                </a:solidFill>
                <a:latin typeface="Roboto"/>
                <a:cs typeface="Roboto"/>
              </a:rPr>
              <a:t> </a:t>
            </a:r>
            <a:r>
              <a:rPr sz="1500" b="1" spc="-65" dirty="0">
                <a:solidFill>
                  <a:srgbClr val="86EFAB"/>
                </a:solidFill>
                <a:latin typeface="Roboto"/>
                <a:cs typeface="Roboto"/>
              </a:rPr>
              <a:t>plot)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458745" y="5635386"/>
            <a:ext cx="190055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spc="-104" baseline="2136" dirty="0">
                <a:solidFill>
                  <a:srgbClr val="9CA2AF"/>
                </a:solidFill>
                <a:latin typeface="Tahoma"/>
                <a:cs typeface="Tahoma"/>
              </a:rPr>
              <a:t>mAP@</a:t>
            </a:r>
            <a:r>
              <a:rPr sz="1950" spc="-427" baseline="2136" dirty="0">
                <a:solidFill>
                  <a:srgbClr val="9CA2AF"/>
                </a:solidFill>
                <a:latin typeface="Tahoma"/>
                <a:cs typeface="Tahoma"/>
              </a:rPr>
              <a:t> </a:t>
            </a:r>
            <a:r>
              <a:rPr sz="1950" spc="-89" baseline="2136" dirty="0">
                <a:solidFill>
                  <a:srgbClr val="9CA2AF"/>
                </a:solidFill>
                <a:latin typeface="Tahoma"/>
                <a:cs typeface="Tahoma"/>
              </a:rPr>
              <a:t>0.5:0.95:</a:t>
            </a:r>
            <a:r>
              <a:rPr sz="1950" spc="150" baseline="2136" dirty="0">
                <a:solidFill>
                  <a:srgbClr val="9CA2AF"/>
                </a:solidFill>
                <a:latin typeface="Tahoma"/>
                <a:cs typeface="Tahoma"/>
              </a:rPr>
              <a:t> </a:t>
            </a:r>
            <a:r>
              <a:rPr sz="1500" b="1" spc="-70" dirty="0">
                <a:solidFill>
                  <a:srgbClr val="86EFAB"/>
                </a:solidFill>
                <a:latin typeface="Roboto"/>
                <a:cs typeface="Roboto"/>
              </a:rPr>
              <a:t>(See</a:t>
            </a:r>
            <a:r>
              <a:rPr sz="1500" b="1" spc="-40" dirty="0">
                <a:solidFill>
                  <a:srgbClr val="86EFAB"/>
                </a:solidFill>
                <a:latin typeface="Roboto"/>
                <a:cs typeface="Roboto"/>
              </a:rPr>
              <a:t> </a:t>
            </a:r>
            <a:r>
              <a:rPr sz="1500" b="1" spc="-60" dirty="0">
                <a:solidFill>
                  <a:srgbClr val="86EFAB"/>
                </a:solidFill>
                <a:latin typeface="Roboto"/>
                <a:cs typeface="Roboto"/>
              </a:rPr>
              <a:t>plot)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sldNum" sz="quarter" idx="7"/>
          </p:nvPr>
        </p:nvSpPr>
        <p:spPr>
          <a:xfrm>
            <a:off x="10758585" y="6467694"/>
            <a:ext cx="846454" cy="1297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10"/>
              </a:lnSpc>
            </a:pPr>
            <a:endParaRPr spc="-25" dirty="0"/>
          </a:p>
        </p:txBody>
      </p:sp>
      <p:pic>
        <p:nvPicPr>
          <p:cNvPr id="36" name="Picture 35" descr="A diagram of fruit names and colors&#10;&#10;AI-generated content may be incorrect.">
            <a:extLst>
              <a:ext uri="{FF2B5EF4-FFF2-40B4-BE49-F238E27FC236}">
                <a16:creationId xmlns:a16="http://schemas.microsoft.com/office/drawing/2014/main" id="{1D58B8CD-5F46-D878-7A26-13FE9A782B1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064" y="1321770"/>
            <a:ext cx="5016227" cy="439957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C4925-4F71-C8A8-F1DB-65DF1DCD3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FB2F239-5C08-5F3C-CEBE-8FFEC9D65C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5873" y="75936"/>
            <a:ext cx="11052953" cy="56874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43180">
              <a:lnSpc>
                <a:spcPct val="100000"/>
              </a:lnSpc>
              <a:spcBef>
                <a:spcPts val="114"/>
              </a:spcBef>
            </a:pPr>
            <a:r>
              <a:rPr lang="tr-TR" sz="3600" spc="-160" dirty="0">
                <a:latin typeface="Tahoma"/>
                <a:cs typeface="Tahoma"/>
              </a:rPr>
              <a:t>YOLOv5</a:t>
            </a:r>
            <a:r>
              <a:rPr lang="tr-TR" sz="3600" spc="-80" dirty="0">
                <a:latin typeface="Tahoma"/>
                <a:cs typeface="Tahoma"/>
              </a:rPr>
              <a:t> </a:t>
            </a:r>
            <a:r>
              <a:rPr lang="tr-TR" sz="3600" spc="-85" dirty="0" err="1">
                <a:latin typeface="Tahoma"/>
                <a:cs typeface="Tahoma"/>
              </a:rPr>
              <a:t>Results</a:t>
            </a:r>
            <a:endParaRPr spc="-150" dirty="0">
              <a:latin typeface="Tahoma"/>
              <a:cs typeface="Tahoma"/>
            </a:endParaRPr>
          </a:p>
        </p:txBody>
      </p:sp>
      <p:pic>
        <p:nvPicPr>
          <p:cNvPr id="29" name="Picture 28" descr="A graph of a graph of a graph&#10;&#10;AI-generated content may be incorrect.">
            <a:extLst>
              <a:ext uri="{FF2B5EF4-FFF2-40B4-BE49-F238E27FC236}">
                <a16:creationId xmlns:a16="http://schemas.microsoft.com/office/drawing/2014/main" id="{AD0882AC-806A-83DF-AE5E-E5319589E5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749" y="1190473"/>
            <a:ext cx="10363200" cy="4728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3964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6424" y="100342"/>
            <a:ext cx="3196590" cy="530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300" spc="-120" dirty="0">
                <a:latin typeface="Tahoma"/>
                <a:cs typeface="Tahoma"/>
              </a:rPr>
              <a:t>YOLOv8</a:t>
            </a:r>
            <a:r>
              <a:rPr sz="3300" spc="-110" dirty="0">
                <a:latin typeface="Tahoma"/>
                <a:cs typeface="Tahoma"/>
              </a:rPr>
              <a:t> </a:t>
            </a:r>
            <a:r>
              <a:rPr sz="3300" spc="-85" dirty="0">
                <a:latin typeface="Tahoma"/>
                <a:cs typeface="Tahoma"/>
              </a:rPr>
              <a:t>Results</a:t>
            </a:r>
            <a:endParaRPr sz="3300" dirty="0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238749" y="1133474"/>
            <a:ext cx="6353175" cy="1562100"/>
            <a:chOff x="5238749" y="1133474"/>
            <a:chExt cx="6353175" cy="1562100"/>
          </a:xfrm>
        </p:grpSpPr>
        <p:sp>
          <p:nvSpPr>
            <p:cNvPr id="4" name="object 4"/>
            <p:cNvSpPr/>
            <p:nvPr/>
          </p:nvSpPr>
          <p:spPr>
            <a:xfrm>
              <a:off x="5238749" y="1133474"/>
              <a:ext cx="6353175" cy="1562100"/>
            </a:xfrm>
            <a:custGeom>
              <a:avLst/>
              <a:gdLst/>
              <a:ahLst/>
              <a:cxnLst/>
              <a:rect l="l" t="t" r="r" b="b"/>
              <a:pathLst>
                <a:path w="6353175" h="1562100">
                  <a:moveTo>
                    <a:pt x="6238874" y="1562099"/>
                  </a:moveTo>
                  <a:lnTo>
                    <a:pt x="114299" y="1562099"/>
                  </a:lnTo>
                  <a:lnTo>
                    <a:pt x="103040" y="1561555"/>
                  </a:lnTo>
                  <a:lnTo>
                    <a:pt x="60364" y="1548587"/>
                  </a:lnTo>
                  <a:lnTo>
                    <a:pt x="25899" y="1520275"/>
                  </a:lnTo>
                  <a:lnTo>
                    <a:pt x="4893" y="1480929"/>
                  </a:lnTo>
                  <a:lnTo>
                    <a:pt x="0" y="144779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6238874" y="0"/>
                  </a:lnTo>
                  <a:lnTo>
                    <a:pt x="6282613" y="8700"/>
                  </a:lnTo>
                  <a:lnTo>
                    <a:pt x="6319695" y="33477"/>
                  </a:lnTo>
                  <a:lnTo>
                    <a:pt x="6344472" y="70559"/>
                  </a:lnTo>
                  <a:lnTo>
                    <a:pt x="6353174" y="114299"/>
                  </a:lnTo>
                  <a:lnTo>
                    <a:pt x="6353174" y="1447799"/>
                  </a:lnTo>
                  <a:lnTo>
                    <a:pt x="6344471" y="1491540"/>
                  </a:lnTo>
                  <a:lnTo>
                    <a:pt x="6319695" y="1528621"/>
                  </a:lnTo>
                  <a:lnTo>
                    <a:pt x="6282613" y="1553398"/>
                  </a:lnTo>
                  <a:lnTo>
                    <a:pt x="6238874" y="1562099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238749" y="1133474"/>
              <a:ext cx="6353175" cy="1562100"/>
            </a:xfrm>
            <a:custGeom>
              <a:avLst/>
              <a:gdLst/>
              <a:ahLst/>
              <a:cxnLst/>
              <a:rect l="l" t="t" r="r" b="b"/>
              <a:pathLst>
                <a:path w="6353175" h="1562100">
                  <a:moveTo>
                    <a:pt x="6238874" y="1562099"/>
                  </a:moveTo>
                  <a:lnTo>
                    <a:pt x="114299" y="1562099"/>
                  </a:lnTo>
                  <a:lnTo>
                    <a:pt x="103040" y="1561556"/>
                  </a:lnTo>
                  <a:lnTo>
                    <a:pt x="60364" y="1548587"/>
                  </a:lnTo>
                  <a:lnTo>
                    <a:pt x="25899" y="1520275"/>
                  </a:lnTo>
                  <a:lnTo>
                    <a:pt x="4893" y="1480929"/>
                  </a:lnTo>
                  <a:lnTo>
                    <a:pt x="0" y="144779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6238874" y="0"/>
                  </a:lnTo>
                  <a:lnTo>
                    <a:pt x="6282613" y="8700"/>
                  </a:lnTo>
                  <a:lnTo>
                    <a:pt x="6302061" y="19049"/>
                  </a:lnTo>
                  <a:lnTo>
                    <a:pt x="108045" y="19049"/>
                  </a:lnTo>
                  <a:lnTo>
                    <a:pt x="101851" y="19660"/>
                  </a:lnTo>
                  <a:lnTo>
                    <a:pt x="56181" y="38577"/>
                  </a:lnTo>
                  <a:lnTo>
                    <a:pt x="28693" y="72071"/>
                  </a:lnTo>
                  <a:lnTo>
                    <a:pt x="19049" y="108045"/>
                  </a:lnTo>
                  <a:lnTo>
                    <a:pt x="19049" y="1454054"/>
                  </a:lnTo>
                  <a:lnTo>
                    <a:pt x="31627" y="1495517"/>
                  </a:lnTo>
                  <a:lnTo>
                    <a:pt x="66582" y="1530471"/>
                  </a:lnTo>
                  <a:lnTo>
                    <a:pt x="108045" y="1543049"/>
                  </a:lnTo>
                  <a:lnTo>
                    <a:pt x="6302060" y="1543049"/>
                  </a:lnTo>
                  <a:lnTo>
                    <a:pt x="6292808" y="1548587"/>
                  </a:lnTo>
                  <a:lnTo>
                    <a:pt x="6282613" y="1553398"/>
                  </a:lnTo>
                  <a:lnTo>
                    <a:pt x="6272003" y="1557205"/>
                  </a:lnTo>
                  <a:lnTo>
                    <a:pt x="6261176" y="1559924"/>
                  </a:lnTo>
                  <a:lnTo>
                    <a:pt x="6250133" y="1561556"/>
                  </a:lnTo>
                  <a:lnTo>
                    <a:pt x="6238874" y="1562099"/>
                  </a:lnTo>
                  <a:close/>
                </a:path>
                <a:path w="6353175" h="1562100">
                  <a:moveTo>
                    <a:pt x="6302060" y="1543049"/>
                  </a:moveTo>
                  <a:lnTo>
                    <a:pt x="6245129" y="1543049"/>
                  </a:lnTo>
                  <a:lnTo>
                    <a:pt x="6251322" y="1542439"/>
                  </a:lnTo>
                  <a:lnTo>
                    <a:pt x="6263590" y="1539999"/>
                  </a:lnTo>
                  <a:lnTo>
                    <a:pt x="6301803" y="1519574"/>
                  </a:lnTo>
                  <a:lnTo>
                    <a:pt x="6329267" y="1478472"/>
                  </a:lnTo>
                  <a:lnTo>
                    <a:pt x="6334124" y="1454054"/>
                  </a:lnTo>
                  <a:lnTo>
                    <a:pt x="6334124" y="108045"/>
                  </a:lnTo>
                  <a:lnTo>
                    <a:pt x="6333630" y="103040"/>
                  </a:lnTo>
                  <a:lnTo>
                    <a:pt x="6333513" y="101851"/>
                  </a:lnTo>
                  <a:lnTo>
                    <a:pt x="6314597" y="56181"/>
                  </a:lnTo>
                  <a:lnTo>
                    <a:pt x="6281103" y="28693"/>
                  </a:lnTo>
                  <a:lnTo>
                    <a:pt x="6245129" y="19049"/>
                  </a:lnTo>
                  <a:lnTo>
                    <a:pt x="6302061" y="19049"/>
                  </a:lnTo>
                  <a:lnTo>
                    <a:pt x="6333928" y="50786"/>
                  </a:lnTo>
                  <a:lnTo>
                    <a:pt x="6350998" y="91996"/>
                  </a:lnTo>
                  <a:lnTo>
                    <a:pt x="6353174" y="1447799"/>
                  </a:lnTo>
                  <a:lnTo>
                    <a:pt x="6352630" y="1459059"/>
                  </a:lnTo>
                  <a:lnTo>
                    <a:pt x="6339661" y="1501734"/>
                  </a:lnTo>
                  <a:lnTo>
                    <a:pt x="6311349" y="1536199"/>
                  </a:lnTo>
                  <a:lnTo>
                    <a:pt x="6302386" y="1542854"/>
                  </a:lnTo>
                  <a:lnTo>
                    <a:pt x="6302060" y="1543049"/>
                  </a:lnTo>
                  <a:close/>
                </a:path>
              </a:pathLst>
            </a:custGeom>
            <a:solidFill>
              <a:srgbClr val="FFD600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68590" y="1422399"/>
              <a:ext cx="222250" cy="14605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5776565" y="1304607"/>
            <a:ext cx="18542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65" dirty="0">
                <a:solidFill>
                  <a:srgbClr val="FFFFFF"/>
                </a:solidFill>
                <a:latin typeface="Arial"/>
                <a:cs typeface="Arial"/>
              </a:rPr>
              <a:t>Training</a:t>
            </a:r>
            <a:r>
              <a:rPr sz="20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65" dirty="0">
                <a:solidFill>
                  <a:srgbClr val="FFFFFF"/>
                </a:solidFill>
                <a:latin typeface="Arial"/>
                <a:cs typeface="Arial"/>
              </a:rPr>
              <a:t>Progress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448299" y="1762124"/>
            <a:ext cx="1905000" cy="723900"/>
          </a:xfrm>
          <a:custGeom>
            <a:avLst/>
            <a:gdLst/>
            <a:ahLst/>
            <a:cxnLst/>
            <a:rect l="l" t="t" r="r" b="b"/>
            <a:pathLst>
              <a:path w="1905000" h="723900">
                <a:moveTo>
                  <a:pt x="1833803" y="723899"/>
                </a:moveTo>
                <a:lnTo>
                  <a:pt x="71196" y="723899"/>
                </a:lnTo>
                <a:lnTo>
                  <a:pt x="66240" y="723411"/>
                </a:lnTo>
                <a:lnTo>
                  <a:pt x="29705" y="708277"/>
                </a:lnTo>
                <a:lnTo>
                  <a:pt x="3885" y="672237"/>
                </a:lnTo>
                <a:lnTo>
                  <a:pt x="0" y="652703"/>
                </a:lnTo>
                <a:lnTo>
                  <a:pt x="0" y="647699"/>
                </a:lnTo>
                <a:lnTo>
                  <a:pt x="0" y="71196"/>
                </a:lnTo>
                <a:lnTo>
                  <a:pt x="15621" y="29705"/>
                </a:lnTo>
                <a:lnTo>
                  <a:pt x="51661" y="3885"/>
                </a:lnTo>
                <a:lnTo>
                  <a:pt x="71196" y="0"/>
                </a:lnTo>
                <a:lnTo>
                  <a:pt x="1833803" y="0"/>
                </a:lnTo>
                <a:lnTo>
                  <a:pt x="1875294" y="15621"/>
                </a:lnTo>
                <a:lnTo>
                  <a:pt x="1901114" y="51661"/>
                </a:lnTo>
                <a:lnTo>
                  <a:pt x="1904999" y="71196"/>
                </a:lnTo>
                <a:lnTo>
                  <a:pt x="1904999" y="652703"/>
                </a:lnTo>
                <a:lnTo>
                  <a:pt x="1889377" y="694194"/>
                </a:lnTo>
                <a:lnTo>
                  <a:pt x="1853337" y="720013"/>
                </a:lnTo>
                <a:lnTo>
                  <a:pt x="1838757" y="723411"/>
                </a:lnTo>
                <a:lnTo>
                  <a:pt x="1833803" y="723899"/>
                </a:lnTo>
                <a:close/>
              </a:path>
            </a:pathLst>
          </a:custGeom>
          <a:solidFill>
            <a:srgbClr val="09182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903366" y="1824886"/>
            <a:ext cx="988060" cy="53530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80"/>
              </a:spcBef>
            </a:pPr>
            <a:r>
              <a:rPr sz="1150" spc="-55" dirty="0">
                <a:solidFill>
                  <a:srgbClr val="9CA2AF"/>
                </a:solidFill>
                <a:latin typeface="Tahoma"/>
                <a:cs typeface="Tahoma"/>
              </a:rPr>
              <a:t>Train</a:t>
            </a:r>
            <a:r>
              <a:rPr sz="1150" spc="-100" dirty="0">
                <a:solidFill>
                  <a:srgbClr val="9CA2AF"/>
                </a:solidFill>
                <a:latin typeface="Tahoma"/>
                <a:cs typeface="Tahoma"/>
              </a:rPr>
              <a:t> </a:t>
            </a:r>
            <a:r>
              <a:rPr sz="1150" spc="-20" dirty="0">
                <a:solidFill>
                  <a:srgbClr val="9CA2AF"/>
                </a:solidFill>
                <a:latin typeface="Tahoma"/>
                <a:cs typeface="Tahoma"/>
              </a:rPr>
              <a:t>Loss</a:t>
            </a:r>
            <a:endParaRPr sz="115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370"/>
              </a:spcBef>
            </a:pPr>
            <a:r>
              <a:rPr sz="1650" b="1" spc="-65" dirty="0">
                <a:solidFill>
                  <a:srgbClr val="FFD600"/>
                </a:solidFill>
                <a:latin typeface="Roboto"/>
                <a:cs typeface="Roboto"/>
              </a:rPr>
              <a:t>Decreasing</a:t>
            </a:r>
            <a:endParaRPr sz="1650">
              <a:latin typeface="Roboto"/>
              <a:cs typeface="Roboto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467598" y="1762124"/>
            <a:ext cx="1895475" cy="723900"/>
          </a:xfrm>
          <a:custGeom>
            <a:avLst/>
            <a:gdLst/>
            <a:ahLst/>
            <a:cxnLst/>
            <a:rect l="l" t="t" r="r" b="b"/>
            <a:pathLst>
              <a:path w="1895475" h="723900">
                <a:moveTo>
                  <a:pt x="1824278" y="723899"/>
                </a:moveTo>
                <a:lnTo>
                  <a:pt x="71196" y="723899"/>
                </a:lnTo>
                <a:lnTo>
                  <a:pt x="66241" y="723411"/>
                </a:lnTo>
                <a:lnTo>
                  <a:pt x="29704" y="708277"/>
                </a:lnTo>
                <a:lnTo>
                  <a:pt x="3885" y="672237"/>
                </a:lnTo>
                <a:lnTo>
                  <a:pt x="0" y="652703"/>
                </a:lnTo>
                <a:lnTo>
                  <a:pt x="0" y="647699"/>
                </a:lnTo>
                <a:lnTo>
                  <a:pt x="0" y="71196"/>
                </a:lnTo>
                <a:lnTo>
                  <a:pt x="15621" y="29705"/>
                </a:lnTo>
                <a:lnTo>
                  <a:pt x="51661" y="3885"/>
                </a:lnTo>
                <a:lnTo>
                  <a:pt x="71196" y="0"/>
                </a:lnTo>
                <a:lnTo>
                  <a:pt x="1824278" y="0"/>
                </a:lnTo>
                <a:lnTo>
                  <a:pt x="1865769" y="15621"/>
                </a:lnTo>
                <a:lnTo>
                  <a:pt x="1891588" y="51661"/>
                </a:lnTo>
                <a:lnTo>
                  <a:pt x="1895474" y="71196"/>
                </a:lnTo>
                <a:lnTo>
                  <a:pt x="1895474" y="652703"/>
                </a:lnTo>
                <a:lnTo>
                  <a:pt x="1879853" y="694194"/>
                </a:lnTo>
                <a:lnTo>
                  <a:pt x="1843812" y="720013"/>
                </a:lnTo>
                <a:lnTo>
                  <a:pt x="1829233" y="723411"/>
                </a:lnTo>
                <a:lnTo>
                  <a:pt x="1824278" y="723899"/>
                </a:lnTo>
                <a:close/>
              </a:path>
            </a:pathLst>
          </a:custGeom>
          <a:solidFill>
            <a:srgbClr val="09182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920136" y="1824886"/>
            <a:ext cx="988060" cy="53530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80"/>
              </a:spcBef>
            </a:pPr>
            <a:r>
              <a:rPr sz="1150" spc="-35" dirty="0">
                <a:solidFill>
                  <a:srgbClr val="9CA2AF"/>
                </a:solidFill>
                <a:latin typeface="Tahoma"/>
                <a:cs typeface="Tahoma"/>
              </a:rPr>
              <a:t>Val</a:t>
            </a:r>
            <a:r>
              <a:rPr sz="1150" spc="-85" dirty="0">
                <a:solidFill>
                  <a:srgbClr val="9CA2AF"/>
                </a:solidFill>
                <a:latin typeface="Tahoma"/>
                <a:cs typeface="Tahoma"/>
              </a:rPr>
              <a:t> </a:t>
            </a:r>
            <a:r>
              <a:rPr sz="1150" spc="-20" dirty="0">
                <a:solidFill>
                  <a:srgbClr val="9CA2AF"/>
                </a:solidFill>
                <a:latin typeface="Tahoma"/>
                <a:cs typeface="Tahoma"/>
              </a:rPr>
              <a:t>Loss</a:t>
            </a:r>
            <a:endParaRPr sz="115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370"/>
              </a:spcBef>
            </a:pPr>
            <a:r>
              <a:rPr sz="1650" b="1" spc="-65" dirty="0">
                <a:solidFill>
                  <a:srgbClr val="FFD600"/>
                </a:solidFill>
                <a:latin typeface="Roboto"/>
                <a:cs typeface="Roboto"/>
              </a:rPr>
              <a:t>Decreasing</a:t>
            </a:r>
            <a:endParaRPr sz="1650">
              <a:latin typeface="Roboto"/>
              <a:cs typeface="Roboto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477374" y="1762124"/>
            <a:ext cx="1905000" cy="723900"/>
          </a:xfrm>
          <a:custGeom>
            <a:avLst/>
            <a:gdLst/>
            <a:ahLst/>
            <a:cxnLst/>
            <a:rect l="l" t="t" r="r" b="b"/>
            <a:pathLst>
              <a:path w="1905000" h="723900">
                <a:moveTo>
                  <a:pt x="1833803" y="723899"/>
                </a:moveTo>
                <a:lnTo>
                  <a:pt x="71196" y="723899"/>
                </a:lnTo>
                <a:lnTo>
                  <a:pt x="66240" y="723411"/>
                </a:lnTo>
                <a:lnTo>
                  <a:pt x="29705" y="708277"/>
                </a:lnTo>
                <a:lnTo>
                  <a:pt x="3884" y="672237"/>
                </a:lnTo>
                <a:lnTo>
                  <a:pt x="0" y="652703"/>
                </a:lnTo>
                <a:lnTo>
                  <a:pt x="0" y="647699"/>
                </a:lnTo>
                <a:lnTo>
                  <a:pt x="0" y="71196"/>
                </a:lnTo>
                <a:lnTo>
                  <a:pt x="15621" y="29705"/>
                </a:lnTo>
                <a:lnTo>
                  <a:pt x="51660" y="3885"/>
                </a:lnTo>
                <a:lnTo>
                  <a:pt x="71196" y="0"/>
                </a:lnTo>
                <a:lnTo>
                  <a:pt x="1833803" y="0"/>
                </a:lnTo>
                <a:lnTo>
                  <a:pt x="1875293" y="15621"/>
                </a:lnTo>
                <a:lnTo>
                  <a:pt x="1901114" y="51661"/>
                </a:lnTo>
                <a:lnTo>
                  <a:pt x="1904999" y="71196"/>
                </a:lnTo>
                <a:lnTo>
                  <a:pt x="1904999" y="652703"/>
                </a:lnTo>
                <a:lnTo>
                  <a:pt x="1889377" y="694194"/>
                </a:lnTo>
                <a:lnTo>
                  <a:pt x="1853337" y="720013"/>
                </a:lnTo>
                <a:lnTo>
                  <a:pt x="1838758" y="723411"/>
                </a:lnTo>
                <a:lnTo>
                  <a:pt x="1833803" y="723899"/>
                </a:lnTo>
                <a:close/>
              </a:path>
            </a:pathLst>
          </a:custGeom>
          <a:solidFill>
            <a:srgbClr val="09182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9969053" y="1824886"/>
            <a:ext cx="923925" cy="53530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80"/>
              </a:spcBef>
            </a:pPr>
            <a:r>
              <a:rPr sz="1150" spc="-25" dirty="0">
                <a:solidFill>
                  <a:srgbClr val="9CA2AF"/>
                </a:solidFill>
                <a:latin typeface="Tahoma"/>
                <a:cs typeface="Tahoma"/>
              </a:rPr>
              <a:t>mAP</a:t>
            </a:r>
            <a:endParaRPr sz="115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370"/>
              </a:spcBef>
            </a:pPr>
            <a:r>
              <a:rPr sz="1650" b="1" spc="-60" dirty="0">
                <a:solidFill>
                  <a:srgbClr val="FFD600"/>
                </a:solidFill>
                <a:latin typeface="Roboto"/>
                <a:cs typeface="Roboto"/>
              </a:rPr>
              <a:t>Increasing</a:t>
            </a:r>
            <a:endParaRPr sz="1650">
              <a:latin typeface="Roboto"/>
              <a:cs typeface="Roboto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238749" y="2847974"/>
            <a:ext cx="6353175" cy="3276600"/>
            <a:chOff x="5238749" y="2847974"/>
            <a:chExt cx="6353175" cy="3276600"/>
          </a:xfrm>
        </p:grpSpPr>
        <p:sp>
          <p:nvSpPr>
            <p:cNvPr id="15" name="object 15"/>
            <p:cNvSpPr/>
            <p:nvPr/>
          </p:nvSpPr>
          <p:spPr>
            <a:xfrm>
              <a:off x="5238749" y="2847974"/>
              <a:ext cx="6353175" cy="1638300"/>
            </a:xfrm>
            <a:custGeom>
              <a:avLst/>
              <a:gdLst/>
              <a:ahLst/>
              <a:cxnLst/>
              <a:rect l="l" t="t" r="r" b="b"/>
              <a:pathLst>
                <a:path w="6353175" h="1638300">
                  <a:moveTo>
                    <a:pt x="6238874" y="1638299"/>
                  </a:moveTo>
                  <a:lnTo>
                    <a:pt x="114299" y="1638299"/>
                  </a:lnTo>
                  <a:lnTo>
                    <a:pt x="103040" y="1637755"/>
                  </a:lnTo>
                  <a:lnTo>
                    <a:pt x="60364" y="1624787"/>
                  </a:lnTo>
                  <a:lnTo>
                    <a:pt x="25899" y="1596475"/>
                  </a:lnTo>
                  <a:lnTo>
                    <a:pt x="4893" y="1557129"/>
                  </a:lnTo>
                  <a:lnTo>
                    <a:pt x="0" y="1523999"/>
                  </a:lnTo>
                  <a:lnTo>
                    <a:pt x="0" y="114299"/>
                  </a:lnTo>
                  <a:lnTo>
                    <a:pt x="8700" y="70558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6238874" y="0"/>
                  </a:lnTo>
                  <a:lnTo>
                    <a:pt x="6282613" y="8700"/>
                  </a:lnTo>
                  <a:lnTo>
                    <a:pt x="6319695" y="33477"/>
                  </a:lnTo>
                  <a:lnTo>
                    <a:pt x="6344472" y="70558"/>
                  </a:lnTo>
                  <a:lnTo>
                    <a:pt x="6353174" y="114299"/>
                  </a:lnTo>
                  <a:lnTo>
                    <a:pt x="6353174" y="1523999"/>
                  </a:lnTo>
                  <a:lnTo>
                    <a:pt x="6344471" y="1567740"/>
                  </a:lnTo>
                  <a:lnTo>
                    <a:pt x="6319695" y="1604822"/>
                  </a:lnTo>
                  <a:lnTo>
                    <a:pt x="6282613" y="1629599"/>
                  </a:lnTo>
                  <a:lnTo>
                    <a:pt x="6238874" y="1638299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238749" y="2847975"/>
              <a:ext cx="6353175" cy="1638300"/>
            </a:xfrm>
            <a:custGeom>
              <a:avLst/>
              <a:gdLst/>
              <a:ahLst/>
              <a:cxnLst/>
              <a:rect l="l" t="t" r="r" b="b"/>
              <a:pathLst>
                <a:path w="6353175" h="1638300">
                  <a:moveTo>
                    <a:pt x="6238874" y="1638299"/>
                  </a:moveTo>
                  <a:lnTo>
                    <a:pt x="114299" y="1638299"/>
                  </a:lnTo>
                  <a:lnTo>
                    <a:pt x="103040" y="1637755"/>
                  </a:lnTo>
                  <a:lnTo>
                    <a:pt x="60364" y="1624787"/>
                  </a:lnTo>
                  <a:lnTo>
                    <a:pt x="25899" y="1596475"/>
                  </a:lnTo>
                  <a:lnTo>
                    <a:pt x="4893" y="1557129"/>
                  </a:lnTo>
                  <a:lnTo>
                    <a:pt x="0" y="1523999"/>
                  </a:lnTo>
                  <a:lnTo>
                    <a:pt x="0" y="114299"/>
                  </a:lnTo>
                  <a:lnTo>
                    <a:pt x="8700" y="70558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6238874" y="0"/>
                  </a:lnTo>
                  <a:lnTo>
                    <a:pt x="6282613" y="8700"/>
                  </a:lnTo>
                  <a:lnTo>
                    <a:pt x="6302061" y="19049"/>
                  </a:lnTo>
                  <a:lnTo>
                    <a:pt x="108045" y="19049"/>
                  </a:lnTo>
                  <a:lnTo>
                    <a:pt x="101851" y="19660"/>
                  </a:lnTo>
                  <a:lnTo>
                    <a:pt x="56181" y="38577"/>
                  </a:lnTo>
                  <a:lnTo>
                    <a:pt x="28693" y="72071"/>
                  </a:lnTo>
                  <a:lnTo>
                    <a:pt x="19049" y="108045"/>
                  </a:lnTo>
                  <a:lnTo>
                    <a:pt x="19049" y="1530254"/>
                  </a:lnTo>
                  <a:lnTo>
                    <a:pt x="31627" y="1571717"/>
                  </a:lnTo>
                  <a:lnTo>
                    <a:pt x="66582" y="1606671"/>
                  </a:lnTo>
                  <a:lnTo>
                    <a:pt x="108045" y="1619249"/>
                  </a:lnTo>
                  <a:lnTo>
                    <a:pt x="6302060" y="1619249"/>
                  </a:lnTo>
                  <a:lnTo>
                    <a:pt x="6292808" y="1624787"/>
                  </a:lnTo>
                  <a:lnTo>
                    <a:pt x="6282613" y="1629599"/>
                  </a:lnTo>
                  <a:lnTo>
                    <a:pt x="6272003" y="1633405"/>
                  </a:lnTo>
                  <a:lnTo>
                    <a:pt x="6261176" y="1636124"/>
                  </a:lnTo>
                  <a:lnTo>
                    <a:pt x="6250133" y="1637755"/>
                  </a:lnTo>
                  <a:lnTo>
                    <a:pt x="6238874" y="1638299"/>
                  </a:lnTo>
                  <a:close/>
                </a:path>
                <a:path w="6353175" h="1638300">
                  <a:moveTo>
                    <a:pt x="6302060" y="1619249"/>
                  </a:moveTo>
                  <a:lnTo>
                    <a:pt x="6245129" y="1619249"/>
                  </a:lnTo>
                  <a:lnTo>
                    <a:pt x="6251322" y="1618639"/>
                  </a:lnTo>
                  <a:lnTo>
                    <a:pt x="6263590" y="1616199"/>
                  </a:lnTo>
                  <a:lnTo>
                    <a:pt x="6301803" y="1595773"/>
                  </a:lnTo>
                  <a:lnTo>
                    <a:pt x="6329267" y="1554672"/>
                  </a:lnTo>
                  <a:lnTo>
                    <a:pt x="6334124" y="1530254"/>
                  </a:lnTo>
                  <a:lnTo>
                    <a:pt x="6334124" y="108045"/>
                  </a:lnTo>
                  <a:lnTo>
                    <a:pt x="6333630" y="103040"/>
                  </a:lnTo>
                  <a:lnTo>
                    <a:pt x="6333513" y="101851"/>
                  </a:lnTo>
                  <a:lnTo>
                    <a:pt x="6314597" y="56181"/>
                  </a:lnTo>
                  <a:lnTo>
                    <a:pt x="6281103" y="28693"/>
                  </a:lnTo>
                  <a:lnTo>
                    <a:pt x="6245129" y="19049"/>
                  </a:lnTo>
                  <a:lnTo>
                    <a:pt x="6302061" y="19049"/>
                  </a:lnTo>
                  <a:lnTo>
                    <a:pt x="6333928" y="50785"/>
                  </a:lnTo>
                  <a:lnTo>
                    <a:pt x="6350998" y="91996"/>
                  </a:lnTo>
                  <a:lnTo>
                    <a:pt x="6353174" y="1523999"/>
                  </a:lnTo>
                  <a:lnTo>
                    <a:pt x="6352630" y="1535259"/>
                  </a:lnTo>
                  <a:lnTo>
                    <a:pt x="6339661" y="1577934"/>
                  </a:lnTo>
                  <a:lnTo>
                    <a:pt x="6311349" y="1612399"/>
                  </a:lnTo>
                  <a:lnTo>
                    <a:pt x="6302386" y="1619054"/>
                  </a:lnTo>
                  <a:lnTo>
                    <a:pt x="6302060" y="1619249"/>
                  </a:lnTo>
                  <a:close/>
                </a:path>
              </a:pathLst>
            </a:custGeom>
            <a:solidFill>
              <a:srgbClr val="BF83FB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68590" y="3098799"/>
              <a:ext cx="222250" cy="22225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62240" y="3530599"/>
              <a:ext cx="177800" cy="1778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62240" y="3797299"/>
              <a:ext cx="177800" cy="1778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62240" y="4063999"/>
              <a:ext cx="177800" cy="17780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238749" y="4638674"/>
              <a:ext cx="6353175" cy="1485900"/>
            </a:xfrm>
            <a:custGeom>
              <a:avLst/>
              <a:gdLst/>
              <a:ahLst/>
              <a:cxnLst/>
              <a:rect l="l" t="t" r="r" b="b"/>
              <a:pathLst>
                <a:path w="6353175" h="1485900">
                  <a:moveTo>
                    <a:pt x="6238874" y="1485899"/>
                  </a:moveTo>
                  <a:lnTo>
                    <a:pt x="114299" y="1485899"/>
                  </a:lnTo>
                  <a:lnTo>
                    <a:pt x="103040" y="1485355"/>
                  </a:lnTo>
                  <a:lnTo>
                    <a:pt x="60364" y="1472387"/>
                  </a:lnTo>
                  <a:lnTo>
                    <a:pt x="25899" y="1444075"/>
                  </a:lnTo>
                  <a:lnTo>
                    <a:pt x="4893" y="1404729"/>
                  </a:lnTo>
                  <a:lnTo>
                    <a:pt x="0" y="1371599"/>
                  </a:lnTo>
                  <a:lnTo>
                    <a:pt x="0" y="114299"/>
                  </a:lnTo>
                  <a:lnTo>
                    <a:pt x="8700" y="70558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6238874" y="0"/>
                  </a:lnTo>
                  <a:lnTo>
                    <a:pt x="6282613" y="8700"/>
                  </a:lnTo>
                  <a:lnTo>
                    <a:pt x="6319695" y="33477"/>
                  </a:lnTo>
                  <a:lnTo>
                    <a:pt x="6344472" y="70558"/>
                  </a:lnTo>
                  <a:lnTo>
                    <a:pt x="6353174" y="114299"/>
                  </a:lnTo>
                  <a:lnTo>
                    <a:pt x="6353174" y="1371599"/>
                  </a:lnTo>
                  <a:lnTo>
                    <a:pt x="6344471" y="1415340"/>
                  </a:lnTo>
                  <a:lnTo>
                    <a:pt x="6319695" y="1452422"/>
                  </a:lnTo>
                  <a:lnTo>
                    <a:pt x="6282613" y="1477198"/>
                  </a:lnTo>
                  <a:lnTo>
                    <a:pt x="6238874" y="1485899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238749" y="4638674"/>
              <a:ext cx="6353175" cy="1485900"/>
            </a:xfrm>
            <a:custGeom>
              <a:avLst/>
              <a:gdLst/>
              <a:ahLst/>
              <a:cxnLst/>
              <a:rect l="l" t="t" r="r" b="b"/>
              <a:pathLst>
                <a:path w="6353175" h="1485900">
                  <a:moveTo>
                    <a:pt x="6238874" y="1485899"/>
                  </a:moveTo>
                  <a:lnTo>
                    <a:pt x="114299" y="1485899"/>
                  </a:lnTo>
                  <a:lnTo>
                    <a:pt x="103040" y="1485355"/>
                  </a:lnTo>
                  <a:lnTo>
                    <a:pt x="60364" y="1472387"/>
                  </a:lnTo>
                  <a:lnTo>
                    <a:pt x="25899" y="1444075"/>
                  </a:lnTo>
                  <a:lnTo>
                    <a:pt x="4893" y="1404729"/>
                  </a:lnTo>
                  <a:lnTo>
                    <a:pt x="0" y="1371599"/>
                  </a:lnTo>
                  <a:lnTo>
                    <a:pt x="0" y="114299"/>
                  </a:lnTo>
                  <a:lnTo>
                    <a:pt x="8700" y="70558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6238874" y="0"/>
                  </a:lnTo>
                  <a:lnTo>
                    <a:pt x="6282613" y="8700"/>
                  </a:lnTo>
                  <a:lnTo>
                    <a:pt x="6302061" y="19049"/>
                  </a:lnTo>
                  <a:lnTo>
                    <a:pt x="108045" y="19049"/>
                  </a:lnTo>
                  <a:lnTo>
                    <a:pt x="101851" y="19659"/>
                  </a:lnTo>
                  <a:lnTo>
                    <a:pt x="56181" y="38577"/>
                  </a:lnTo>
                  <a:lnTo>
                    <a:pt x="28693" y="72071"/>
                  </a:lnTo>
                  <a:lnTo>
                    <a:pt x="19049" y="108045"/>
                  </a:lnTo>
                  <a:lnTo>
                    <a:pt x="19049" y="1377854"/>
                  </a:lnTo>
                  <a:lnTo>
                    <a:pt x="19542" y="1382859"/>
                  </a:lnTo>
                  <a:lnTo>
                    <a:pt x="19659" y="1384048"/>
                  </a:lnTo>
                  <a:lnTo>
                    <a:pt x="38577" y="1429718"/>
                  </a:lnTo>
                  <a:lnTo>
                    <a:pt x="72071" y="1457205"/>
                  </a:lnTo>
                  <a:lnTo>
                    <a:pt x="108045" y="1466849"/>
                  </a:lnTo>
                  <a:lnTo>
                    <a:pt x="6302060" y="1466849"/>
                  </a:lnTo>
                  <a:lnTo>
                    <a:pt x="6292808" y="1472387"/>
                  </a:lnTo>
                  <a:lnTo>
                    <a:pt x="6282613" y="1477198"/>
                  </a:lnTo>
                  <a:lnTo>
                    <a:pt x="6272003" y="1481005"/>
                  </a:lnTo>
                  <a:lnTo>
                    <a:pt x="6261176" y="1483724"/>
                  </a:lnTo>
                  <a:lnTo>
                    <a:pt x="6250133" y="1485355"/>
                  </a:lnTo>
                  <a:lnTo>
                    <a:pt x="6238874" y="1485899"/>
                  </a:lnTo>
                  <a:close/>
                </a:path>
                <a:path w="6353175" h="1485900">
                  <a:moveTo>
                    <a:pt x="6302060" y="1466849"/>
                  </a:moveTo>
                  <a:lnTo>
                    <a:pt x="6245129" y="1466849"/>
                  </a:lnTo>
                  <a:lnTo>
                    <a:pt x="6251322" y="1466239"/>
                  </a:lnTo>
                  <a:lnTo>
                    <a:pt x="6263590" y="1463799"/>
                  </a:lnTo>
                  <a:lnTo>
                    <a:pt x="6301803" y="1443373"/>
                  </a:lnTo>
                  <a:lnTo>
                    <a:pt x="6329267" y="1402272"/>
                  </a:lnTo>
                  <a:lnTo>
                    <a:pt x="6334124" y="1377854"/>
                  </a:lnTo>
                  <a:lnTo>
                    <a:pt x="6334124" y="108045"/>
                  </a:lnTo>
                  <a:lnTo>
                    <a:pt x="6333630" y="103040"/>
                  </a:lnTo>
                  <a:lnTo>
                    <a:pt x="6333513" y="101851"/>
                  </a:lnTo>
                  <a:lnTo>
                    <a:pt x="6314597" y="56181"/>
                  </a:lnTo>
                  <a:lnTo>
                    <a:pt x="6281103" y="28693"/>
                  </a:lnTo>
                  <a:lnTo>
                    <a:pt x="6245129" y="19049"/>
                  </a:lnTo>
                  <a:lnTo>
                    <a:pt x="6302061" y="19049"/>
                  </a:lnTo>
                  <a:lnTo>
                    <a:pt x="6333928" y="50785"/>
                  </a:lnTo>
                  <a:lnTo>
                    <a:pt x="6350998" y="91996"/>
                  </a:lnTo>
                  <a:lnTo>
                    <a:pt x="6353174" y="1371599"/>
                  </a:lnTo>
                  <a:lnTo>
                    <a:pt x="6352630" y="1382859"/>
                  </a:lnTo>
                  <a:lnTo>
                    <a:pt x="6339661" y="1425534"/>
                  </a:lnTo>
                  <a:lnTo>
                    <a:pt x="6311349" y="1459999"/>
                  </a:lnTo>
                  <a:lnTo>
                    <a:pt x="6302386" y="1466654"/>
                  </a:lnTo>
                  <a:lnTo>
                    <a:pt x="6302060" y="1466849"/>
                  </a:lnTo>
                  <a:close/>
                </a:path>
              </a:pathLst>
            </a:custGeom>
            <a:solidFill>
              <a:srgbClr val="4ADE80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78115" y="4899024"/>
              <a:ext cx="203200" cy="203200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5719415" y="3019107"/>
            <a:ext cx="3136900" cy="2121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215">
              <a:lnSpc>
                <a:spcPct val="100000"/>
              </a:lnSpc>
              <a:spcBef>
                <a:spcPts val="100"/>
              </a:spcBef>
            </a:pPr>
            <a:r>
              <a:rPr sz="2000" b="1" spc="-190" dirty="0">
                <a:solidFill>
                  <a:srgbClr val="FFFFFF"/>
                </a:solidFill>
                <a:latin typeface="Arial"/>
                <a:cs typeface="Arial"/>
              </a:rPr>
              <a:t>Confusion</a:t>
            </a:r>
            <a:r>
              <a:rPr sz="20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Arial"/>
                <a:cs typeface="Arial"/>
              </a:rPr>
              <a:t>Matrix</a:t>
            </a:r>
            <a:r>
              <a:rPr sz="20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50" dirty="0">
                <a:solidFill>
                  <a:srgbClr val="FFFFFF"/>
                </a:solidFill>
                <a:latin typeface="Arial"/>
                <a:cs typeface="Arial"/>
              </a:rPr>
              <a:t>Analysis</a:t>
            </a:r>
            <a:endParaRPr sz="2000">
              <a:latin typeface="Arial"/>
              <a:cs typeface="Arial"/>
            </a:endParaRPr>
          </a:p>
          <a:p>
            <a:pPr marL="12700" marR="5080">
              <a:lnSpc>
                <a:spcPct val="116700"/>
              </a:lnSpc>
              <a:spcBef>
                <a:spcPts val="800"/>
              </a:spcBef>
            </a:pPr>
            <a:r>
              <a:rPr sz="1500" spc="-85" dirty="0">
                <a:solidFill>
                  <a:srgbClr val="D0D5DA"/>
                </a:solidFill>
                <a:latin typeface="Arial MT"/>
                <a:cs typeface="Arial MT"/>
              </a:rPr>
              <a:t>Strong</a:t>
            </a:r>
            <a:r>
              <a:rPr sz="1500" spc="-4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500" spc="-70" dirty="0">
                <a:solidFill>
                  <a:srgbClr val="D0D5DA"/>
                </a:solidFill>
                <a:latin typeface="Arial MT"/>
                <a:cs typeface="Arial MT"/>
              </a:rPr>
              <a:t>diagonal</a:t>
            </a:r>
            <a:r>
              <a:rPr sz="1500" spc="-4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500" spc="-65" dirty="0">
                <a:solidFill>
                  <a:srgbClr val="D0D5DA"/>
                </a:solidFill>
                <a:latin typeface="Arial MT"/>
                <a:cs typeface="Arial MT"/>
              </a:rPr>
              <a:t>concentration</a:t>
            </a:r>
            <a:r>
              <a:rPr sz="1500" spc="-4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500" spc="-60" dirty="0">
                <a:solidFill>
                  <a:srgbClr val="D0D5DA"/>
                </a:solidFill>
                <a:latin typeface="Arial MT"/>
                <a:cs typeface="Arial MT"/>
              </a:rPr>
              <a:t>confirmed </a:t>
            </a:r>
            <a:r>
              <a:rPr sz="1500" spc="-80" dirty="0">
                <a:solidFill>
                  <a:srgbClr val="D0D5DA"/>
                </a:solidFill>
                <a:latin typeface="Arial MT"/>
                <a:cs typeface="Arial MT"/>
              </a:rPr>
              <a:t>High</a:t>
            </a:r>
            <a:r>
              <a:rPr sz="1500" spc="-7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500" spc="-80" dirty="0">
                <a:solidFill>
                  <a:srgbClr val="D0D5DA"/>
                </a:solidFill>
                <a:latin typeface="Arial MT"/>
                <a:cs typeface="Arial MT"/>
              </a:rPr>
              <a:t>accuracy</a:t>
            </a:r>
            <a:r>
              <a:rPr sz="1500" spc="-6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500" spc="-70" dirty="0">
                <a:solidFill>
                  <a:srgbClr val="D0D5DA"/>
                </a:solidFill>
                <a:latin typeface="Arial MT"/>
                <a:cs typeface="Arial MT"/>
              </a:rPr>
              <a:t>across </a:t>
            </a:r>
            <a:r>
              <a:rPr sz="1500" spc="-40" dirty="0">
                <a:solidFill>
                  <a:srgbClr val="D0D5DA"/>
                </a:solidFill>
                <a:latin typeface="Arial MT"/>
                <a:cs typeface="Arial MT"/>
              </a:rPr>
              <a:t>all</a:t>
            </a:r>
            <a:r>
              <a:rPr sz="1500" spc="-6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500" spc="-20" dirty="0">
                <a:solidFill>
                  <a:srgbClr val="D0D5DA"/>
                </a:solidFill>
                <a:latin typeface="Arial MT"/>
                <a:cs typeface="Arial MT"/>
              </a:rPr>
              <a:t>fruit</a:t>
            </a:r>
            <a:r>
              <a:rPr sz="1500" spc="-6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D0D5DA"/>
                </a:solidFill>
                <a:latin typeface="Arial MT"/>
                <a:cs typeface="Arial MT"/>
              </a:rPr>
              <a:t>classes </a:t>
            </a:r>
            <a:r>
              <a:rPr sz="1500" spc="-55" dirty="0">
                <a:solidFill>
                  <a:srgbClr val="D0D5DA"/>
                </a:solidFill>
                <a:latin typeface="Arial MT"/>
                <a:cs typeface="Arial MT"/>
              </a:rPr>
              <a:t>Minimal</a:t>
            </a:r>
            <a:r>
              <a:rPr sz="1500" spc="-4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500" spc="-60" dirty="0">
                <a:solidFill>
                  <a:srgbClr val="D0D5DA"/>
                </a:solidFill>
                <a:latin typeface="Arial MT"/>
                <a:cs typeface="Arial MT"/>
              </a:rPr>
              <a:t>confusion</a:t>
            </a:r>
            <a:r>
              <a:rPr sz="1500" spc="-4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500" spc="-90" dirty="0">
                <a:solidFill>
                  <a:srgbClr val="D0D5DA"/>
                </a:solidFill>
                <a:latin typeface="Arial MT"/>
                <a:cs typeface="Arial MT"/>
              </a:rPr>
              <a:t>between</a:t>
            </a:r>
            <a:r>
              <a:rPr sz="1500" spc="-4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500" spc="-50" dirty="0">
                <a:solidFill>
                  <a:srgbClr val="D0D5DA"/>
                </a:solidFill>
                <a:latin typeface="Arial MT"/>
                <a:cs typeface="Arial MT"/>
              </a:rPr>
              <a:t>similar</a:t>
            </a:r>
            <a:r>
              <a:rPr sz="1500" spc="-4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D0D5DA"/>
                </a:solidFill>
                <a:latin typeface="Arial MT"/>
                <a:cs typeface="Arial MT"/>
              </a:rPr>
              <a:t>fruits</a:t>
            </a: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95"/>
              </a:spcBef>
            </a:pPr>
            <a:endParaRPr sz="1350">
              <a:latin typeface="Arial MT"/>
              <a:cs typeface="Arial MT"/>
            </a:endParaRPr>
          </a:p>
          <a:p>
            <a:pPr marL="69215">
              <a:lnSpc>
                <a:spcPct val="100000"/>
              </a:lnSpc>
            </a:pPr>
            <a:r>
              <a:rPr sz="2000" b="1" spc="-160" dirty="0">
                <a:solidFill>
                  <a:srgbClr val="FFFFFF"/>
                </a:solidFill>
                <a:latin typeface="Arial"/>
                <a:cs typeface="Arial"/>
              </a:rPr>
              <a:t>Performance</a:t>
            </a:r>
            <a:r>
              <a:rPr sz="20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55" dirty="0">
                <a:solidFill>
                  <a:srgbClr val="FFFFFF"/>
                </a:solidFill>
                <a:latin typeface="Arial"/>
                <a:cs typeface="Arial"/>
              </a:rPr>
              <a:t>Summary</a:t>
            </a:r>
            <a:endParaRPr sz="20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433665" y="5254386"/>
            <a:ext cx="151955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spc="-30" baseline="2136" dirty="0">
                <a:solidFill>
                  <a:srgbClr val="9CA2AF"/>
                </a:solidFill>
                <a:latin typeface="Tahoma"/>
                <a:cs typeface="Tahoma"/>
              </a:rPr>
              <a:t>Precision:</a:t>
            </a:r>
            <a:r>
              <a:rPr sz="1950" spc="127" baseline="2136" dirty="0">
                <a:solidFill>
                  <a:srgbClr val="9CA2AF"/>
                </a:solidFill>
                <a:latin typeface="Tahoma"/>
                <a:cs typeface="Tahoma"/>
              </a:rPr>
              <a:t> </a:t>
            </a:r>
            <a:r>
              <a:rPr sz="1500" b="1" spc="-70" dirty="0">
                <a:solidFill>
                  <a:srgbClr val="86EFAB"/>
                </a:solidFill>
                <a:latin typeface="Roboto"/>
                <a:cs typeface="Roboto"/>
              </a:rPr>
              <a:t>(See</a:t>
            </a:r>
            <a:r>
              <a:rPr sz="1500" b="1" spc="-40" dirty="0">
                <a:solidFill>
                  <a:srgbClr val="86EFAB"/>
                </a:solidFill>
                <a:latin typeface="Roboto"/>
                <a:cs typeface="Roboto"/>
              </a:rPr>
              <a:t> </a:t>
            </a:r>
            <a:r>
              <a:rPr sz="1500" b="1" spc="-55" dirty="0">
                <a:solidFill>
                  <a:srgbClr val="86EFAB"/>
                </a:solidFill>
                <a:latin typeface="Roboto"/>
                <a:cs typeface="Roboto"/>
              </a:rPr>
              <a:t>plot)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458745" y="5254386"/>
            <a:ext cx="130048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spc="-30" baseline="2136" dirty="0">
                <a:solidFill>
                  <a:srgbClr val="9CA2AF"/>
                </a:solidFill>
                <a:latin typeface="Tahoma"/>
                <a:cs typeface="Tahoma"/>
              </a:rPr>
              <a:t>Recall:</a:t>
            </a:r>
            <a:r>
              <a:rPr sz="1950" spc="52" baseline="2136" dirty="0">
                <a:solidFill>
                  <a:srgbClr val="9CA2AF"/>
                </a:solidFill>
                <a:latin typeface="Tahoma"/>
                <a:cs typeface="Tahoma"/>
              </a:rPr>
              <a:t> </a:t>
            </a:r>
            <a:r>
              <a:rPr sz="1500" b="1" spc="-70" dirty="0">
                <a:solidFill>
                  <a:srgbClr val="86EFAB"/>
                </a:solidFill>
                <a:latin typeface="Roboto"/>
                <a:cs typeface="Roboto"/>
              </a:rPr>
              <a:t>(See</a:t>
            </a:r>
            <a:r>
              <a:rPr sz="1500" b="1" spc="-40" dirty="0">
                <a:solidFill>
                  <a:srgbClr val="86EFAB"/>
                </a:solidFill>
                <a:latin typeface="Roboto"/>
                <a:cs typeface="Roboto"/>
              </a:rPr>
              <a:t> </a:t>
            </a:r>
            <a:r>
              <a:rPr sz="1500" b="1" spc="-65" dirty="0">
                <a:solidFill>
                  <a:srgbClr val="86EFAB"/>
                </a:solidFill>
                <a:latin typeface="Roboto"/>
                <a:cs typeface="Roboto"/>
              </a:rPr>
              <a:t>plot)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433665" y="5635386"/>
            <a:ext cx="156654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spc="-104" baseline="2136" dirty="0">
                <a:solidFill>
                  <a:srgbClr val="9CA2AF"/>
                </a:solidFill>
                <a:latin typeface="Tahoma"/>
                <a:cs typeface="Tahoma"/>
              </a:rPr>
              <a:t>mAP@</a:t>
            </a:r>
            <a:r>
              <a:rPr sz="1950" spc="-427" baseline="2136" dirty="0">
                <a:solidFill>
                  <a:srgbClr val="9CA2AF"/>
                </a:solidFill>
                <a:latin typeface="Tahoma"/>
                <a:cs typeface="Tahoma"/>
              </a:rPr>
              <a:t> </a:t>
            </a:r>
            <a:r>
              <a:rPr sz="1950" spc="-52" baseline="2136" dirty="0">
                <a:solidFill>
                  <a:srgbClr val="9CA2AF"/>
                </a:solidFill>
                <a:latin typeface="Tahoma"/>
                <a:cs typeface="Tahoma"/>
              </a:rPr>
              <a:t>0.5:</a:t>
            </a:r>
            <a:r>
              <a:rPr sz="1950" spc="82" baseline="2136" dirty="0">
                <a:solidFill>
                  <a:srgbClr val="9CA2AF"/>
                </a:solidFill>
                <a:latin typeface="Tahoma"/>
                <a:cs typeface="Tahoma"/>
              </a:rPr>
              <a:t> </a:t>
            </a:r>
            <a:r>
              <a:rPr sz="1500" b="1" spc="-70" dirty="0">
                <a:solidFill>
                  <a:srgbClr val="86EFAB"/>
                </a:solidFill>
                <a:latin typeface="Roboto"/>
                <a:cs typeface="Roboto"/>
              </a:rPr>
              <a:t>(See</a:t>
            </a:r>
            <a:r>
              <a:rPr sz="1500" b="1" spc="-40" dirty="0">
                <a:solidFill>
                  <a:srgbClr val="86EFAB"/>
                </a:solidFill>
                <a:latin typeface="Roboto"/>
                <a:cs typeface="Roboto"/>
              </a:rPr>
              <a:t> </a:t>
            </a:r>
            <a:r>
              <a:rPr sz="1500" b="1" spc="-60" dirty="0">
                <a:solidFill>
                  <a:srgbClr val="86EFAB"/>
                </a:solidFill>
                <a:latin typeface="Roboto"/>
                <a:cs typeface="Roboto"/>
              </a:rPr>
              <a:t>plot)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458745" y="5635386"/>
            <a:ext cx="190055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spc="-104" baseline="2136" dirty="0">
                <a:solidFill>
                  <a:srgbClr val="9CA2AF"/>
                </a:solidFill>
                <a:latin typeface="Tahoma"/>
                <a:cs typeface="Tahoma"/>
              </a:rPr>
              <a:t>mAP@</a:t>
            </a:r>
            <a:r>
              <a:rPr sz="1950" spc="-427" baseline="2136" dirty="0">
                <a:solidFill>
                  <a:srgbClr val="9CA2AF"/>
                </a:solidFill>
                <a:latin typeface="Tahoma"/>
                <a:cs typeface="Tahoma"/>
              </a:rPr>
              <a:t> </a:t>
            </a:r>
            <a:r>
              <a:rPr sz="1950" spc="-89" baseline="2136" dirty="0">
                <a:solidFill>
                  <a:srgbClr val="9CA2AF"/>
                </a:solidFill>
                <a:latin typeface="Tahoma"/>
                <a:cs typeface="Tahoma"/>
              </a:rPr>
              <a:t>0.5:0.95:</a:t>
            </a:r>
            <a:r>
              <a:rPr sz="1950" spc="150" baseline="2136" dirty="0">
                <a:solidFill>
                  <a:srgbClr val="9CA2AF"/>
                </a:solidFill>
                <a:latin typeface="Tahoma"/>
                <a:cs typeface="Tahoma"/>
              </a:rPr>
              <a:t> </a:t>
            </a:r>
            <a:r>
              <a:rPr sz="1500" b="1" spc="-70" dirty="0">
                <a:solidFill>
                  <a:srgbClr val="86EFAB"/>
                </a:solidFill>
                <a:latin typeface="Roboto"/>
                <a:cs typeface="Roboto"/>
              </a:rPr>
              <a:t>(See</a:t>
            </a:r>
            <a:r>
              <a:rPr sz="1500" b="1" spc="-40" dirty="0">
                <a:solidFill>
                  <a:srgbClr val="86EFAB"/>
                </a:solidFill>
                <a:latin typeface="Roboto"/>
                <a:cs typeface="Roboto"/>
              </a:rPr>
              <a:t> </a:t>
            </a:r>
            <a:r>
              <a:rPr sz="1500" b="1" spc="-60" dirty="0">
                <a:solidFill>
                  <a:srgbClr val="86EFAB"/>
                </a:solidFill>
                <a:latin typeface="Roboto"/>
                <a:cs typeface="Roboto"/>
              </a:rPr>
              <a:t>plot)</a:t>
            </a:r>
            <a:endParaRPr sz="1500">
              <a:latin typeface="Roboto"/>
              <a:cs typeface="Roboto"/>
            </a:endParaRPr>
          </a:p>
        </p:txBody>
      </p:sp>
      <p:pic>
        <p:nvPicPr>
          <p:cNvPr id="36" name="Picture 35" descr="A diagram of fruit and vegetables&#10;&#10;AI-generated content may be incorrect.">
            <a:extLst>
              <a:ext uri="{FF2B5EF4-FFF2-40B4-BE49-F238E27FC236}">
                <a16:creationId xmlns:a16="http://schemas.microsoft.com/office/drawing/2014/main" id="{F1E890E6-5172-2231-553C-E459F4F522B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50" y="1304608"/>
            <a:ext cx="4965698" cy="458541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0898C-BD31-A8DF-914E-B3CD11112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2C48E2A-F8E8-D4E0-FBFD-9B4A14D6BE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5873" y="75936"/>
            <a:ext cx="11052953" cy="56874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43180">
              <a:lnSpc>
                <a:spcPct val="100000"/>
              </a:lnSpc>
              <a:spcBef>
                <a:spcPts val="114"/>
              </a:spcBef>
            </a:pPr>
            <a:r>
              <a:rPr lang="tr-TR" sz="3600" spc="-120" dirty="0">
                <a:latin typeface="Tahoma"/>
                <a:cs typeface="Tahoma"/>
              </a:rPr>
              <a:t>YOLOv8</a:t>
            </a:r>
            <a:r>
              <a:rPr lang="tr-TR" sz="3600" spc="-110" dirty="0">
                <a:latin typeface="Tahoma"/>
                <a:cs typeface="Tahoma"/>
              </a:rPr>
              <a:t> </a:t>
            </a:r>
            <a:r>
              <a:rPr lang="tr-TR" sz="3600" spc="-85" dirty="0" err="1">
                <a:latin typeface="Tahoma"/>
                <a:cs typeface="Tahoma"/>
              </a:rPr>
              <a:t>Results</a:t>
            </a:r>
            <a:endParaRPr spc="-150" dirty="0">
              <a:latin typeface="Tahoma"/>
              <a:cs typeface="Tahoma"/>
            </a:endParaRPr>
          </a:p>
        </p:txBody>
      </p:sp>
      <p:pic>
        <p:nvPicPr>
          <p:cNvPr id="3" name="Picture 2" descr="A graph of a graph of a graph&#10;&#10;AI-generated content may be incorrect.">
            <a:extLst>
              <a:ext uri="{FF2B5EF4-FFF2-40B4-BE49-F238E27FC236}">
                <a16:creationId xmlns:a16="http://schemas.microsoft.com/office/drawing/2014/main" id="{57004666-2196-A781-0311-1BFAB9B5C5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549" y="1190473"/>
            <a:ext cx="10515600" cy="4728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6033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6424" y="100342"/>
            <a:ext cx="3249930" cy="530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300" spc="-280" dirty="0">
                <a:latin typeface="Arial"/>
                <a:cs typeface="Arial"/>
              </a:rPr>
              <a:t>YOLOv11</a:t>
            </a:r>
            <a:r>
              <a:rPr sz="3300" spc="-45" dirty="0">
                <a:latin typeface="Arial"/>
                <a:cs typeface="Arial"/>
              </a:rPr>
              <a:t> </a:t>
            </a:r>
            <a:r>
              <a:rPr sz="3300" spc="-40" dirty="0">
                <a:latin typeface="Arial"/>
                <a:cs typeface="Arial"/>
              </a:rPr>
              <a:t>Results</a:t>
            </a:r>
            <a:endParaRPr sz="3300" dirty="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238749" y="1133474"/>
            <a:ext cx="6353175" cy="1562100"/>
            <a:chOff x="5238749" y="1133474"/>
            <a:chExt cx="6353175" cy="1562100"/>
          </a:xfrm>
        </p:grpSpPr>
        <p:sp>
          <p:nvSpPr>
            <p:cNvPr id="4" name="object 4"/>
            <p:cNvSpPr/>
            <p:nvPr/>
          </p:nvSpPr>
          <p:spPr>
            <a:xfrm>
              <a:off x="5238749" y="1133474"/>
              <a:ext cx="6353175" cy="1562100"/>
            </a:xfrm>
            <a:custGeom>
              <a:avLst/>
              <a:gdLst/>
              <a:ahLst/>
              <a:cxnLst/>
              <a:rect l="l" t="t" r="r" b="b"/>
              <a:pathLst>
                <a:path w="6353175" h="1562100">
                  <a:moveTo>
                    <a:pt x="6238874" y="1562099"/>
                  </a:moveTo>
                  <a:lnTo>
                    <a:pt x="114299" y="1562099"/>
                  </a:lnTo>
                  <a:lnTo>
                    <a:pt x="103040" y="1561555"/>
                  </a:lnTo>
                  <a:lnTo>
                    <a:pt x="60364" y="1548587"/>
                  </a:lnTo>
                  <a:lnTo>
                    <a:pt x="25899" y="1520275"/>
                  </a:lnTo>
                  <a:lnTo>
                    <a:pt x="4893" y="1480929"/>
                  </a:lnTo>
                  <a:lnTo>
                    <a:pt x="0" y="144779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6238874" y="0"/>
                  </a:lnTo>
                  <a:lnTo>
                    <a:pt x="6282613" y="8700"/>
                  </a:lnTo>
                  <a:lnTo>
                    <a:pt x="6319695" y="33477"/>
                  </a:lnTo>
                  <a:lnTo>
                    <a:pt x="6344472" y="70559"/>
                  </a:lnTo>
                  <a:lnTo>
                    <a:pt x="6353174" y="114299"/>
                  </a:lnTo>
                  <a:lnTo>
                    <a:pt x="6353174" y="1447799"/>
                  </a:lnTo>
                  <a:lnTo>
                    <a:pt x="6344471" y="1491540"/>
                  </a:lnTo>
                  <a:lnTo>
                    <a:pt x="6319695" y="1528621"/>
                  </a:lnTo>
                  <a:lnTo>
                    <a:pt x="6282613" y="1553398"/>
                  </a:lnTo>
                  <a:lnTo>
                    <a:pt x="6238874" y="1562099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238749" y="1133474"/>
              <a:ext cx="6353175" cy="1562100"/>
            </a:xfrm>
            <a:custGeom>
              <a:avLst/>
              <a:gdLst/>
              <a:ahLst/>
              <a:cxnLst/>
              <a:rect l="l" t="t" r="r" b="b"/>
              <a:pathLst>
                <a:path w="6353175" h="1562100">
                  <a:moveTo>
                    <a:pt x="6238874" y="1562099"/>
                  </a:moveTo>
                  <a:lnTo>
                    <a:pt x="114299" y="1562099"/>
                  </a:lnTo>
                  <a:lnTo>
                    <a:pt x="103040" y="1561556"/>
                  </a:lnTo>
                  <a:lnTo>
                    <a:pt x="60364" y="1548587"/>
                  </a:lnTo>
                  <a:lnTo>
                    <a:pt x="25899" y="1520275"/>
                  </a:lnTo>
                  <a:lnTo>
                    <a:pt x="4893" y="1480929"/>
                  </a:lnTo>
                  <a:lnTo>
                    <a:pt x="0" y="144779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6238874" y="0"/>
                  </a:lnTo>
                  <a:lnTo>
                    <a:pt x="6282613" y="8700"/>
                  </a:lnTo>
                  <a:lnTo>
                    <a:pt x="6302061" y="19049"/>
                  </a:lnTo>
                  <a:lnTo>
                    <a:pt x="108045" y="19049"/>
                  </a:lnTo>
                  <a:lnTo>
                    <a:pt x="101851" y="19660"/>
                  </a:lnTo>
                  <a:lnTo>
                    <a:pt x="56181" y="38577"/>
                  </a:lnTo>
                  <a:lnTo>
                    <a:pt x="28693" y="72071"/>
                  </a:lnTo>
                  <a:lnTo>
                    <a:pt x="19049" y="108045"/>
                  </a:lnTo>
                  <a:lnTo>
                    <a:pt x="19049" y="1454054"/>
                  </a:lnTo>
                  <a:lnTo>
                    <a:pt x="31627" y="1495517"/>
                  </a:lnTo>
                  <a:lnTo>
                    <a:pt x="66582" y="1530471"/>
                  </a:lnTo>
                  <a:lnTo>
                    <a:pt x="108045" y="1543049"/>
                  </a:lnTo>
                  <a:lnTo>
                    <a:pt x="6302060" y="1543049"/>
                  </a:lnTo>
                  <a:lnTo>
                    <a:pt x="6292808" y="1548587"/>
                  </a:lnTo>
                  <a:lnTo>
                    <a:pt x="6282613" y="1553398"/>
                  </a:lnTo>
                  <a:lnTo>
                    <a:pt x="6272003" y="1557205"/>
                  </a:lnTo>
                  <a:lnTo>
                    <a:pt x="6261176" y="1559924"/>
                  </a:lnTo>
                  <a:lnTo>
                    <a:pt x="6250133" y="1561556"/>
                  </a:lnTo>
                  <a:lnTo>
                    <a:pt x="6238874" y="1562099"/>
                  </a:lnTo>
                  <a:close/>
                </a:path>
                <a:path w="6353175" h="1562100">
                  <a:moveTo>
                    <a:pt x="6302060" y="1543049"/>
                  </a:moveTo>
                  <a:lnTo>
                    <a:pt x="6245129" y="1543049"/>
                  </a:lnTo>
                  <a:lnTo>
                    <a:pt x="6251322" y="1542439"/>
                  </a:lnTo>
                  <a:lnTo>
                    <a:pt x="6263590" y="1539999"/>
                  </a:lnTo>
                  <a:lnTo>
                    <a:pt x="6301803" y="1519574"/>
                  </a:lnTo>
                  <a:lnTo>
                    <a:pt x="6329267" y="1478472"/>
                  </a:lnTo>
                  <a:lnTo>
                    <a:pt x="6334124" y="1454054"/>
                  </a:lnTo>
                  <a:lnTo>
                    <a:pt x="6334124" y="108045"/>
                  </a:lnTo>
                  <a:lnTo>
                    <a:pt x="6333630" y="103040"/>
                  </a:lnTo>
                  <a:lnTo>
                    <a:pt x="6333513" y="101851"/>
                  </a:lnTo>
                  <a:lnTo>
                    <a:pt x="6314597" y="56181"/>
                  </a:lnTo>
                  <a:lnTo>
                    <a:pt x="6281103" y="28693"/>
                  </a:lnTo>
                  <a:lnTo>
                    <a:pt x="6245129" y="19049"/>
                  </a:lnTo>
                  <a:lnTo>
                    <a:pt x="6302061" y="19049"/>
                  </a:lnTo>
                  <a:lnTo>
                    <a:pt x="6333928" y="50786"/>
                  </a:lnTo>
                  <a:lnTo>
                    <a:pt x="6350998" y="91996"/>
                  </a:lnTo>
                  <a:lnTo>
                    <a:pt x="6353174" y="1447799"/>
                  </a:lnTo>
                  <a:lnTo>
                    <a:pt x="6352630" y="1459059"/>
                  </a:lnTo>
                  <a:lnTo>
                    <a:pt x="6339661" y="1501734"/>
                  </a:lnTo>
                  <a:lnTo>
                    <a:pt x="6311349" y="1536199"/>
                  </a:lnTo>
                  <a:lnTo>
                    <a:pt x="6302386" y="1542854"/>
                  </a:lnTo>
                  <a:lnTo>
                    <a:pt x="6302060" y="1543049"/>
                  </a:lnTo>
                  <a:close/>
                </a:path>
              </a:pathLst>
            </a:custGeom>
            <a:solidFill>
              <a:srgbClr val="FFD600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68590" y="1428749"/>
              <a:ext cx="222250" cy="13335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5776565" y="1304607"/>
            <a:ext cx="18542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65" dirty="0">
                <a:solidFill>
                  <a:srgbClr val="FFFFFF"/>
                </a:solidFill>
                <a:latin typeface="Arial"/>
                <a:cs typeface="Arial"/>
              </a:rPr>
              <a:t>Training</a:t>
            </a:r>
            <a:r>
              <a:rPr sz="20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65" dirty="0">
                <a:solidFill>
                  <a:srgbClr val="FFFFFF"/>
                </a:solidFill>
                <a:latin typeface="Arial"/>
                <a:cs typeface="Arial"/>
              </a:rPr>
              <a:t>Progress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448299" y="1762124"/>
            <a:ext cx="1905000" cy="723900"/>
          </a:xfrm>
          <a:custGeom>
            <a:avLst/>
            <a:gdLst/>
            <a:ahLst/>
            <a:cxnLst/>
            <a:rect l="l" t="t" r="r" b="b"/>
            <a:pathLst>
              <a:path w="1905000" h="723900">
                <a:moveTo>
                  <a:pt x="1833803" y="723899"/>
                </a:moveTo>
                <a:lnTo>
                  <a:pt x="71196" y="723899"/>
                </a:lnTo>
                <a:lnTo>
                  <a:pt x="66240" y="723411"/>
                </a:lnTo>
                <a:lnTo>
                  <a:pt x="29705" y="708277"/>
                </a:lnTo>
                <a:lnTo>
                  <a:pt x="3885" y="672237"/>
                </a:lnTo>
                <a:lnTo>
                  <a:pt x="0" y="652703"/>
                </a:lnTo>
                <a:lnTo>
                  <a:pt x="0" y="647699"/>
                </a:lnTo>
                <a:lnTo>
                  <a:pt x="0" y="71196"/>
                </a:lnTo>
                <a:lnTo>
                  <a:pt x="15621" y="29705"/>
                </a:lnTo>
                <a:lnTo>
                  <a:pt x="51661" y="3885"/>
                </a:lnTo>
                <a:lnTo>
                  <a:pt x="71196" y="0"/>
                </a:lnTo>
                <a:lnTo>
                  <a:pt x="1833803" y="0"/>
                </a:lnTo>
                <a:lnTo>
                  <a:pt x="1875294" y="15621"/>
                </a:lnTo>
                <a:lnTo>
                  <a:pt x="1901114" y="51661"/>
                </a:lnTo>
                <a:lnTo>
                  <a:pt x="1904999" y="71196"/>
                </a:lnTo>
                <a:lnTo>
                  <a:pt x="1904999" y="652703"/>
                </a:lnTo>
                <a:lnTo>
                  <a:pt x="1889377" y="694194"/>
                </a:lnTo>
                <a:lnTo>
                  <a:pt x="1853337" y="720013"/>
                </a:lnTo>
                <a:lnTo>
                  <a:pt x="1838757" y="723411"/>
                </a:lnTo>
                <a:lnTo>
                  <a:pt x="1833803" y="723899"/>
                </a:lnTo>
                <a:close/>
              </a:path>
            </a:pathLst>
          </a:custGeom>
          <a:solidFill>
            <a:srgbClr val="09182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913933" y="1827344"/>
            <a:ext cx="967105" cy="53340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60"/>
              </a:spcBef>
            </a:pPr>
            <a:r>
              <a:rPr sz="1150" spc="-55" dirty="0">
                <a:solidFill>
                  <a:srgbClr val="9CA2AF"/>
                </a:solidFill>
                <a:latin typeface="Tahoma"/>
                <a:cs typeface="Tahoma"/>
              </a:rPr>
              <a:t>Train</a:t>
            </a:r>
            <a:r>
              <a:rPr sz="1150" spc="-100" dirty="0">
                <a:solidFill>
                  <a:srgbClr val="9CA2AF"/>
                </a:solidFill>
                <a:latin typeface="Tahoma"/>
                <a:cs typeface="Tahoma"/>
              </a:rPr>
              <a:t> </a:t>
            </a:r>
            <a:r>
              <a:rPr sz="1150" spc="-20" dirty="0">
                <a:solidFill>
                  <a:srgbClr val="9CA2AF"/>
                </a:solidFill>
                <a:latin typeface="Tahoma"/>
                <a:cs typeface="Tahoma"/>
              </a:rPr>
              <a:t>Loss</a:t>
            </a:r>
            <a:endParaRPr sz="115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370"/>
              </a:spcBef>
            </a:pPr>
            <a:r>
              <a:rPr sz="1650" b="1" spc="-90" dirty="0">
                <a:solidFill>
                  <a:srgbClr val="FFD600"/>
                </a:solidFill>
                <a:latin typeface="Roboto"/>
                <a:cs typeface="Roboto"/>
              </a:rPr>
              <a:t>Rapid</a:t>
            </a:r>
            <a:r>
              <a:rPr sz="1650" b="1" dirty="0">
                <a:solidFill>
                  <a:srgbClr val="FFD600"/>
                </a:solidFill>
                <a:latin typeface="Roboto"/>
                <a:cs typeface="Roboto"/>
              </a:rPr>
              <a:t> </a:t>
            </a:r>
            <a:r>
              <a:rPr sz="1650" b="1" spc="-55" dirty="0">
                <a:solidFill>
                  <a:srgbClr val="FFD600"/>
                </a:solidFill>
                <a:latin typeface="Roboto"/>
                <a:cs typeface="Roboto"/>
              </a:rPr>
              <a:t>Drop</a:t>
            </a:r>
            <a:endParaRPr sz="1650">
              <a:latin typeface="Roboto"/>
              <a:cs typeface="Roboto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467598" y="1762124"/>
            <a:ext cx="1895475" cy="723900"/>
          </a:xfrm>
          <a:custGeom>
            <a:avLst/>
            <a:gdLst/>
            <a:ahLst/>
            <a:cxnLst/>
            <a:rect l="l" t="t" r="r" b="b"/>
            <a:pathLst>
              <a:path w="1895475" h="723900">
                <a:moveTo>
                  <a:pt x="1824278" y="723899"/>
                </a:moveTo>
                <a:lnTo>
                  <a:pt x="71196" y="723899"/>
                </a:lnTo>
                <a:lnTo>
                  <a:pt x="66241" y="723411"/>
                </a:lnTo>
                <a:lnTo>
                  <a:pt x="29704" y="708277"/>
                </a:lnTo>
                <a:lnTo>
                  <a:pt x="3885" y="672237"/>
                </a:lnTo>
                <a:lnTo>
                  <a:pt x="0" y="652703"/>
                </a:lnTo>
                <a:lnTo>
                  <a:pt x="0" y="647699"/>
                </a:lnTo>
                <a:lnTo>
                  <a:pt x="0" y="71196"/>
                </a:lnTo>
                <a:lnTo>
                  <a:pt x="15621" y="29705"/>
                </a:lnTo>
                <a:lnTo>
                  <a:pt x="51661" y="3885"/>
                </a:lnTo>
                <a:lnTo>
                  <a:pt x="71196" y="0"/>
                </a:lnTo>
                <a:lnTo>
                  <a:pt x="1824278" y="0"/>
                </a:lnTo>
                <a:lnTo>
                  <a:pt x="1865769" y="15621"/>
                </a:lnTo>
                <a:lnTo>
                  <a:pt x="1891588" y="51661"/>
                </a:lnTo>
                <a:lnTo>
                  <a:pt x="1895474" y="71196"/>
                </a:lnTo>
                <a:lnTo>
                  <a:pt x="1895474" y="652703"/>
                </a:lnTo>
                <a:lnTo>
                  <a:pt x="1879853" y="694194"/>
                </a:lnTo>
                <a:lnTo>
                  <a:pt x="1843812" y="720013"/>
                </a:lnTo>
                <a:lnTo>
                  <a:pt x="1829233" y="723411"/>
                </a:lnTo>
                <a:lnTo>
                  <a:pt x="1824278" y="723899"/>
                </a:lnTo>
                <a:close/>
              </a:path>
            </a:pathLst>
          </a:custGeom>
          <a:solidFill>
            <a:srgbClr val="09182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129389" y="1827344"/>
            <a:ext cx="569595" cy="53340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31750">
              <a:lnSpc>
                <a:spcPct val="100000"/>
              </a:lnSpc>
              <a:spcBef>
                <a:spcPts val="360"/>
              </a:spcBef>
            </a:pPr>
            <a:r>
              <a:rPr sz="1150" spc="-35" dirty="0">
                <a:solidFill>
                  <a:srgbClr val="9CA2AF"/>
                </a:solidFill>
                <a:latin typeface="Tahoma"/>
                <a:cs typeface="Tahoma"/>
              </a:rPr>
              <a:t>Val</a:t>
            </a:r>
            <a:r>
              <a:rPr sz="1150" spc="-85" dirty="0">
                <a:solidFill>
                  <a:srgbClr val="9CA2AF"/>
                </a:solidFill>
                <a:latin typeface="Tahoma"/>
                <a:cs typeface="Tahoma"/>
              </a:rPr>
              <a:t> </a:t>
            </a:r>
            <a:r>
              <a:rPr sz="1150" spc="-20" dirty="0">
                <a:solidFill>
                  <a:srgbClr val="9CA2AF"/>
                </a:solidFill>
                <a:latin typeface="Tahoma"/>
                <a:cs typeface="Tahoma"/>
              </a:rPr>
              <a:t>Loss</a:t>
            </a:r>
            <a:endParaRPr sz="11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1650" b="1" spc="-65" dirty="0">
                <a:solidFill>
                  <a:srgbClr val="FFD600"/>
                </a:solidFill>
                <a:latin typeface="Roboto"/>
                <a:cs typeface="Roboto"/>
              </a:rPr>
              <a:t>Stable</a:t>
            </a:r>
            <a:endParaRPr sz="1650">
              <a:latin typeface="Roboto"/>
              <a:cs typeface="Roboto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477374" y="1762124"/>
            <a:ext cx="1905000" cy="723900"/>
          </a:xfrm>
          <a:custGeom>
            <a:avLst/>
            <a:gdLst/>
            <a:ahLst/>
            <a:cxnLst/>
            <a:rect l="l" t="t" r="r" b="b"/>
            <a:pathLst>
              <a:path w="1905000" h="723900">
                <a:moveTo>
                  <a:pt x="1833803" y="723899"/>
                </a:moveTo>
                <a:lnTo>
                  <a:pt x="71196" y="723899"/>
                </a:lnTo>
                <a:lnTo>
                  <a:pt x="66240" y="723411"/>
                </a:lnTo>
                <a:lnTo>
                  <a:pt x="29705" y="708277"/>
                </a:lnTo>
                <a:lnTo>
                  <a:pt x="3884" y="672237"/>
                </a:lnTo>
                <a:lnTo>
                  <a:pt x="0" y="652703"/>
                </a:lnTo>
                <a:lnTo>
                  <a:pt x="0" y="647699"/>
                </a:lnTo>
                <a:lnTo>
                  <a:pt x="0" y="71196"/>
                </a:lnTo>
                <a:lnTo>
                  <a:pt x="15621" y="29705"/>
                </a:lnTo>
                <a:lnTo>
                  <a:pt x="51660" y="3885"/>
                </a:lnTo>
                <a:lnTo>
                  <a:pt x="71196" y="0"/>
                </a:lnTo>
                <a:lnTo>
                  <a:pt x="1833803" y="0"/>
                </a:lnTo>
                <a:lnTo>
                  <a:pt x="1875293" y="15621"/>
                </a:lnTo>
                <a:lnTo>
                  <a:pt x="1901114" y="51661"/>
                </a:lnTo>
                <a:lnTo>
                  <a:pt x="1904999" y="71196"/>
                </a:lnTo>
                <a:lnTo>
                  <a:pt x="1904999" y="652703"/>
                </a:lnTo>
                <a:lnTo>
                  <a:pt x="1889377" y="694194"/>
                </a:lnTo>
                <a:lnTo>
                  <a:pt x="1853337" y="720013"/>
                </a:lnTo>
                <a:lnTo>
                  <a:pt x="1838758" y="723411"/>
                </a:lnTo>
                <a:lnTo>
                  <a:pt x="1833803" y="723899"/>
                </a:lnTo>
                <a:close/>
              </a:path>
            </a:pathLst>
          </a:custGeom>
          <a:solidFill>
            <a:srgbClr val="09182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0085437" y="1827344"/>
            <a:ext cx="691515" cy="53340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60"/>
              </a:spcBef>
            </a:pPr>
            <a:r>
              <a:rPr sz="1150" spc="-25" dirty="0">
                <a:solidFill>
                  <a:srgbClr val="9CA2AF"/>
                </a:solidFill>
                <a:latin typeface="Tahoma"/>
                <a:cs typeface="Tahoma"/>
              </a:rPr>
              <a:t>mAP</a:t>
            </a:r>
            <a:endParaRPr sz="115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370"/>
              </a:spcBef>
            </a:pPr>
            <a:r>
              <a:rPr sz="1650" b="1" spc="-60" dirty="0">
                <a:solidFill>
                  <a:srgbClr val="FFD600"/>
                </a:solidFill>
                <a:latin typeface="Roboto"/>
                <a:cs typeface="Roboto"/>
              </a:rPr>
              <a:t>Highest</a:t>
            </a:r>
            <a:endParaRPr sz="1650">
              <a:latin typeface="Roboto"/>
              <a:cs typeface="Roboto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238749" y="2847974"/>
            <a:ext cx="6353175" cy="3276600"/>
            <a:chOff x="5238749" y="2847974"/>
            <a:chExt cx="6353175" cy="3276600"/>
          </a:xfrm>
        </p:grpSpPr>
        <p:sp>
          <p:nvSpPr>
            <p:cNvPr id="15" name="object 15"/>
            <p:cNvSpPr/>
            <p:nvPr/>
          </p:nvSpPr>
          <p:spPr>
            <a:xfrm>
              <a:off x="5238749" y="2847974"/>
              <a:ext cx="6353175" cy="1638300"/>
            </a:xfrm>
            <a:custGeom>
              <a:avLst/>
              <a:gdLst/>
              <a:ahLst/>
              <a:cxnLst/>
              <a:rect l="l" t="t" r="r" b="b"/>
              <a:pathLst>
                <a:path w="6353175" h="1638300">
                  <a:moveTo>
                    <a:pt x="6238874" y="1638299"/>
                  </a:moveTo>
                  <a:lnTo>
                    <a:pt x="114299" y="1638299"/>
                  </a:lnTo>
                  <a:lnTo>
                    <a:pt x="103040" y="1637755"/>
                  </a:lnTo>
                  <a:lnTo>
                    <a:pt x="60364" y="1624787"/>
                  </a:lnTo>
                  <a:lnTo>
                    <a:pt x="25899" y="1596475"/>
                  </a:lnTo>
                  <a:lnTo>
                    <a:pt x="4893" y="1557129"/>
                  </a:lnTo>
                  <a:lnTo>
                    <a:pt x="0" y="1523999"/>
                  </a:lnTo>
                  <a:lnTo>
                    <a:pt x="0" y="114299"/>
                  </a:lnTo>
                  <a:lnTo>
                    <a:pt x="8700" y="70558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6238874" y="0"/>
                  </a:lnTo>
                  <a:lnTo>
                    <a:pt x="6282613" y="8700"/>
                  </a:lnTo>
                  <a:lnTo>
                    <a:pt x="6319695" y="33477"/>
                  </a:lnTo>
                  <a:lnTo>
                    <a:pt x="6344472" y="70558"/>
                  </a:lnTo>
                  <a:lnTo>
                    <a:pt x="6353174" y="114299"/>
                  </a:lnTo>
                  <a:lnTo>
                    <a:pt x="6353174" y="1523999"/>
                  </a:lnTo>
                  <a:lnTo>
                    <a:pt x="6344471" y="1567740"/>
                  </a:lnTo>
                  <a:lnTo>
                    <a:pt x="6319695" y="1604822"/>
                  </a:lnTo>
                  <a:lnTo>
                    <a:pt x="6282613" y="1629599"/>
                  </a:lnTo>
                  <a:lnTo>
                    <a:pt x="6238874" y="1638299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238749" y="2847975"/>
              <a:ext cx="6353175" cy="1638300"/>
            </a:xfrm>
            <a:custGeom>
              <a:avLst/>
              <a:gdLst/>
              <a:ahLst/>
              <a:cxnLst/>
              <a:rect l="l" t="t" r="r" b="b"/>
              <a:pathLst>
                <a:path w="6353175" h="1638300">
                  <a:moveTo>
                    <a:pt x="6238874" y="1638299"/>
                  </a:moveTo>
                  <a:lnTo>
                    <a:pt x="114299" y="1638299"/>
                  </a:lnTo>
                  <a:lnTo>
                    <a:pt x="103040" y="1637755"/>
                  </a:lnTo>
                  <a:lnTo>
                    <a:pt x="60364" y="1624787"/>
                  </a:lnTo>
                  <a:lnTo>
                    <a:pt x="25899" y="1596475"/>
                  </a:lnTo>
                  <a:lnTo>
                    <a:pt x="4893" y="1557129"/>
                  </a:lnTo>
                  <a:lnTo>
                    <a:pt x="0" y="1523999"/>
                  </a:lnTo>
                  <a:lnTo>
                    <a:pt x="0" y="114299"/>
                  </a:lnTo>
                  <a:lnTo>
                    <a:pt x="8700" y="70558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6238874" y="0"/>
                  </a:lnTo>
                  <a:lnTo>
                    <a:pt x="6282613" y="8700"/>
                  </a:lnTo>
                  <a:lnTo>
                    <a:pt x="6302061" y="19049"/>
                  </a:lnTo>
                  <a:lnTo>
                    <a:pt x="108045" y="19049"/>
                  </a:lnTo>
                  <a:lnTo>
                    <a:pt x="101851" y="19660"/>
                  </a:lnTo>
                  <a:lnTo>
                    <a:pt x="56181" y="38577"/>
                  </a:lnTo>
                  <a:lnTo>
                    <a:pt x="28693" y="72071"/>
                  </a:lnTo>
                  <a:lnTo>
                    <a:pt x="19049" y="108045"/>
                  </a:lnTo>
                  <a:lnTo>
                    <a:pt x="19049" y="1530254"/>
                  </a:lnTo>
                  <a:lnTo>
                    <a:pt x="31627" y="1571717"/>
                  </a:lnTo>
                  <a:lnTo>
                    <a:pt x="66582" y="1606671"/>
                  </a:lnTo>
                  <a:lnTo>
                    <a:pt x="108045" y="1619249"/>
                  </a:lnTo>
                  <a:lnTo>
                    <a:pt x="6302060" y="1619249"/>
                  </a:lnTo>
                  <a:lnTo>
                    <a:pt x="6292808" y="1624787"/>
                  </a:lnTo>
                  <a:lnTo>
                    <a:pt x="6282613" y="1629599"/>
                  </a:lnTo>
                  <a:lnTo>
                    <a:pt x="6272003" y="1633405"/>
                  </a:lnTo>
                  <a:lnTo>
                    <a:pt x="6261176" y="1636124"/>
                  </a:lnTo>
                  <a:lnTo>
                    <a:pt x="6250133" y="1637755"/>
                  </a:lnTo>
                  <a:lnTo>
                    <a:pt x="6238874" y="1638299"/>
                  </a:lnTo>
                  <a:close/>
                </a:path>
                <a:path w="6353175" h="1638300">
                  <a:moveTo>
                    <a:pt x="6302060" y="1619249"/>
                  </a:moveTo>
                  <a:lnTo>
                    <a:pt x="6245129" y="1619249"/>
                  </a:lnTo>
                  <a:lnTo>
                    <a:pt x="6251322" y="1618639"/>
                  </a:lnTo>
                  <a:lnTo>
                    <a:pt x="6263590" y="1616199"/>
                  </a:lnTo>
                  <a:lnTo>
                    <a:pt x="6301803" y="1595773"/>
                  </a:lnTo>
                  <a:lnTo>
                    <a:pt x="6329267" y="1554672"/>
                  </a:lnTo>
                  <a:lnTo>
                    <a:pt x="6334124" y="1530254"/>
                  </a:lnTo>
                  <a:lnTo>
                    <a:pt x="6334124" y="108045"/>
                  </a:lnTo>
                  <a:lnTo>
                    <a:pt x="6333630" y="103040"/>
                  </a:lnTo>
                  <a:lnTo>
                    <a:pt x="6333513" y="101851"/>
                  </a:lnTo>
                  <a:lnTo>
                    <a:pt x="6314597" y="56181"/>
                  </a:lnTo>
                  <a:lnTo>
                    <a:pt x="6281103" y="28693"/>
                  </a:lnTo>
                  <a:lnTo>
                    <a:pt x="6245129" y="19049"/>
                  </a:lnTo>
                  <a:lnTo>
                    <a:pt x="6302061" y="19049"/>
                  </a:lnTo>
                  <a:lnTo>
                    <a:pt x="6333928" y="50785"/>
                  </a:lnTo>
                  <a:lnTo>
                    <a:pt x="6350998" y="91996"/>
                  </a:lnTo>
                  <a:lnTo>
                    <a:pt x="6353174" y="1523999"/>
                  </a:lnTo>
                  <a:lnTo>
                    <a:pt x="6352630" y="1535259"/>
                  </a:lnTo>
                  <a:lnTo>
                    <a:pt x="6339661" y="1577934"/>
                  </a:lnTo>
                  <a:lnTo>
                    <a:pt x="6311349" y="1612399"/>
                  </a:lnTo>
                  <a:lnTo>
                    <a:pt x="6302386" y="1619054"/>
                  </a:lnTo>
                  <a:lnTo>
                    <a:pt x="6302060" y="1619249"/>
                  </a:lnTo>
                  <a:close/>
                </a:path>
              </a:pathLst>
            </a:custGeom>
            <a:solidFill>
              <a:srgbClr val="FA913C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68590" y="3098799"/>
              <a:ext cx="222250" cy="22225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62240" y="3530599"/>
              <a:ext cx="177800" cy="1778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62240" y="3797299"/>
              <a:ext cx="177800" cy="1778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62240" y="4063999"/>
              <a:ext cx="177800" cy="17780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238749" y="4638674"/>
              <a:ext cx="6353175" cy="1485900"/>
            </a:xfrm>
            <a:custGeom>
              <a:avLst/>
              <a:gdLst/>
              <a:ahLst/>
              <a:cxnLst/>
              <a:rect l="l" t="t" r="r" b="b"/>
              <a:pathLst>
                <a:path w="6353175" h="1485900">
                  <a:moveTo>
                    <a:pt x="6238874" y="1485899"/>
                  </a:moveTo>
                  <a:lnTo>
                    <a:pt x="114299" y="1485899"/>
                  </a:lnTo>
                  <a:lnTo>
                    <a:pt x="103040" y="1485355"/>
                  </a:lnTo>
                  <a:lnTo>
                    <a:pt x="60364" y="1472387"/>
                  </a:lnTo>
                  <a:lnTo>
                    <a:pt x="25899" y="1444075"/>
                  </a:lnTo>
                  <a:lnTo>
                    <a:pt x="4893" y="1404729"/>
                  </a:lnTo>
                  <a:lnTo>
                    <a:pt x="0" y="1371599"/>
                  </a:lnTo>
                  <a:lnTo>
                    <a:pt x="0" y="114299"/>
                  </a:lnTo>
                  <a:lnTo>
                    <a:pt x="8700" y="70558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6238874" y="0"/>
                  </a:lnTo>
                  <a:lnTo>
                    <a:pt x="6282613" y="8700"/>
                  </a:lnTo>
                  <a:lnTo>
                    <a:pt x="6319695" y="33477"/>
                  </a:lnTo>
                  <a:lnTo>
                    <a:pt x="6344472" y="70558"/>
                  </a:lnTo>
                  <a:lnTo>
                    <a:pt x="6353174" y="114299"/>
                  </a:lnTo>
                  <a:lnTo>
                    <a:pt x="6353174" y="1371599"/>
                  </a:lnTo>
                  <a:lnTo>
                    <a:pt x="6344471" y="1415340"/>
                  </a:lnTo>
                  <a:lnTo>
                    <a:pt x="6319695" y="1452422"/>
                  </a:lnTo>
                  <a:lnTo>
                    <a:pt x="6282613" y="1477198"/>
                  </a:lnTo>
                  <a:lnTo>
                    <a:pt x="6238874" y="1485899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238749" y="4638674"/>
              <a:ext cx="6353175" cy="1485900"/>
            </a:xfrm>
            <a:custGeom>
              <a:avLst/>
              <a:gdLst/>
              <a:ahLst/>
              <a:cxnLst/>
              <a:rect l="l" t="t" r="r" b="b"/>
              <a:pathLst>
                <a:path w="6353175" h="1485900">
                  <a:moveTo>
                    <a:pt x="6238874" y="1485899"/>
                  </a:moveTo>
                  <a:lnTo>
                    <a:pt x="114299" y="1485899"/>
                  </a:lnTo>
                  <a:lnTo>
                    <a:pt x="103040" y="1485355"/>
                  </a:lnTo>
                  <a:lnTo>
                    <a:pt x="60364" y="1472387"/>
                  </a:lnTo>
                  <a:lnTo>
                    <a:pt x="25899" y="1444075"/>
                  </a:lnTo>
                  <a:lnTo>
                    <a:pt x="4893" y="1404729"/>
                  </a:lnTo>
                  <a:lnTo>
                    <a:pt x="0" y="1371599"/>
                  </a:lnTo>
                  <a:lnTo>
                    <a:pt x="0" y="114299"/>
                  </a:lnTo>
                  <a:lnTo>
                    <a:pt x="8700" y="70558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6238874" y="0"/>
                  </a:lnTo>
                  <a:lnTo>
                    <a:pt x="6282613" y="8700"/>
                  </a:lnTo>
                  <a:lnTo>
                    <a:pt x="6302061" y="19049"/>
                  </a:lnTo>
                  <a:lnTo>
                    <a:pt x="108045" y="19049"/>
                  </a:lnTo>
                  <a:lnTo>
                    <a:pt x="101851" y="19659"/>
                  </a:lnTo>
                  <a:lnTo>
                    <a:pt x="56181" y="38577"/>
                  </a:lnTo>
                  <a:lnTo>
                    <a:pt x="28693" y="72071"/>
                  </a:lnTo>
                  <a:lnTo>
                    <a:pt x="19049" y="108045"/>
                  </a:lnTo>
                  <a:lnTo>
                    <a:pt x="19049" y="1377854"/>
                  </a:lnTo>
                  <a:lnTo>
                    <a:pt x="19542" y="1382859"/>
                  </a:lnTo>
                  <a:lnTo>
                    <a:pt x="19659" y="1384048"/>
                  </a:lnTo>
                  <a:lnTo>
                    <a:pt x="38577" y="1429718"/>
                  </a:lnTo>
                  <a:lnTo>
                    <a:pt x="72071" y="1457205"/>
                  </a:lnTo>
                  <a:lnTo>
                    <a:pt x="108045" y="1466849"/>
                  </a:lnTo>
                  <a:lnTo>
                    <a:pt x="6302060" y="1466849"/>
                  </a:lnTo>
                  <a:lnTo>
                    <a:pt x="6292808" y="1472387"/>
                  </a:lnTo>
                  <a:lnTo>
                    <a:pt x="6282613" y="1477198"/>
                  </a:lnTo>
                  <a:lnTo>
                    <a:pt x="6272003" y="1481005"/>
                  </a:lnTo>
                  <a:lnTo>
                    <a:pt x="6261176" y="1483724"/>
                  </a:lnTo>
                  <a:lnTo>
                    <a:pt x="6250133" y="1485355"/>
                  </a:lnTo>
                  <a:lnTo>
                    <a:pt x="6238874" y="1485899"/>
                  </a:lnTo>
                  <a:close/>
                </a:path>
                <a:path w="6353175" h="1485900">
                  <a:moveTo>
                    <a:pt x="6302060" y="1466849"/>
                  </a:moveTo>
                  <a:lnTo>
                    <a:pt x="6245129" y="1466849"/>
                  </a:lnTo>
                  <a:lnTo>
                    <a:pt x="6251322" y="1466239"/>
                  </a:lnTo>
                  <a:lnTo>
                    <a:pt x="6263590" y="1463799"/>
                  </a:lnTo>
                  <a:lnTo>
                    <a:pt x="6301803" y="1443373"/>
                  </a:lnTo>
                  <a:lnTo>
                    <a:pt x="6329267" y="1402272"/>
                  </a:lnTo>
                  <a:lnTo>
                    <a:pt x="6334124" y="1377854"/>
                  </a:lnTo>
                  <a:lnTo>
                    <a:pt x="6334124" y="108045"/>
                  </a:lnTo>
                  <a:lnTo>
                    <a:pt x="6333630" y="103040"/>
                  </a:lnTo>
                  <a:lnTo>
                    <a:pt x="6333513" y="101851"/>
                  </a:lnTo>
                  <a:lnTo>
                    <a:pt x="6314597" y="56181"/>
                  </a:lnTo>
                  <a:lnTo>
                    <a:pt x="6281103" y="28693"/>
                  </a:lnTo>
                  <a:lnTo>
                    <a:pt x="6245129" y="19049"/>
                  </a:lnTo>
                  <a:lnTo>
                    <a:pt x="6302061" y="19049"/>
                  </a:lnTo>
                  <a:lnTo>
                    <a:pt x="6333928" y="50785"/>
                  </a:lnTo>
                  <a:lnTo>
                    <a:pt x="6350998" y="91996"/>
                  </a:lnTo>
                  <a:lnTo>
                    <a:pt x="6353174" y="1371599"/>
                  </a:lnTo>
                  <a:lnTo>
                    <a:pt x="6352630" y="1382859"/>
                  </a:lnTo>
                  <a:lnTo>
                    <a:pt x="6339661" y="1425534"/>
                  </a:lnTo>
                  <a:lnTo>
                    <a:pt x="6311349" y="1459999"/>
                  </a:lnTo>
                  <a:lnTo>
                    <a:pt x="6302386" y="1466654"/>
                  </a:lnTo>
                  <a:lnTo>
                    <a:pt x="6302060" y="1466849"/>
                  </a:lnTo>
                  <a:close/>
                </a:path>
              </a:pathLst>
            </a:custGeom>
            <a:solidFill>
              <a:srgbClr val="4ADE80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68590" y="4889499"/>
              <a:ext cx="222250" cy="222250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5719415" y="3019107"/>
            <a:ext cx="2780030" cy="2121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215">
              <a:lnSpc>
                <a:spcPct val="100000"/>
              </a:lnSpc>
              <a:spcBef>
                <a:spcPts val="100"/>
              </a:spcBef>
            </a:pPr>
            <a:r>
              <a:rPr sz="2000" b="1" spc="-190" dirty="0">
                <a:solidFill>
                  <a:srgbClr val="FFFFFF"/>
                </a:solidFill>
                <a:latin typeface="Arial"/>
                <a:cs typeface="Arial"/>
              </a:rPr>
              <a:t>Confusion</a:t>
            </a:r>
            <a:r>
              <a:rPr sz="20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Arial"/>
                <a:cs typeface="Arial"/>
              </a:rPr>
              <a:t>Matrix</a:t>
            </a:r>
            <a:r>
              <a:rPr sz="20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60" dirty="0">
                <a:solidFill>
                  <a:srgbClr val="FFFFFF"/>
                </a:solidFill>
                <a:latin typeface="Arial"/>
                <a:cs typeface="Arial"/>
              </a:rPr>
              <a:t>Analysis</a:t>
            </a:r>
            <a:endParaRPr sz="2000">
              <a:latin typeface="Arial"/>
              <a:cs typeface="Arial"/>
            </a:endParaRPr>
          </a:p>
          <a:p>
            <a:pPr marL="12700" marR="227965">
              <a:lnSpc>
                <a:spcPct val="116700"/>
              </a:lnSpc>
              <a:spcBef>
                <a:spcPts val="800"/>
              </a:spcBef>
            </a:pPr>
            <a:r>
              <a:rPr sz="1500" spc="-65" dirty="0">
                <a:solidFill>
                  <a:srgbClr val="D0D5DA"/>
                </a:solidFill>
                <a:latin typeface="Tahoma"/>
                <a:cs typeface="Tahoma"/>
              </a:rPr>
              <a:t>Excellent</a:t>
            </a:r>
            <a:r>
              <a:rPr sz="1500" spc="-90" dirty="0">
                <a:solidFill>
                  <a:srgbClr val="D0D5DA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D0D5DA"/>
                </a:solidFill>
                <a:latin typeface="Tahoma"/>
                <a:cs typeface="Tahoma"/>
              </a:rPr>
              <a:t>class</a:t>
            </a:r>
            <a:r>
              <a:rPr sz="1500" spc="-85" dirty="0">
                <a:solidFill>
                  <a:srgbClr val="D0D5DA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D0D5DA"/>
                </a:solidFill>
                <a:latin typeface="Tahoma"/>
                <a:cs typeface="Tahoma"/>
              </a:rPr>
              <a:t>discrimination </a:t>
            </a:r>
            <a:r>
              <a:rPr sz="1500" spc="-65" dirty="0">
                <a:solidFill>
                  <a:srgbClr val="D0D5DA"/>
                </a:solidFill>
                <a:latin typeface="Tahoma"/>
                <a:cs typeface="Tahoma"/>
              </a:rPr>
              <a:t>Strongest</a:t>
            </a:r>
            <a:r>
              <a:rPr sz="1500" spc="-100" dirty="0">
                <a:solidFill>
                  <a:srgbClr val="D0D5DA"/>
                </a:solidFill>
                <a:latin typeface="Tahoma"/>
                <a:cs typeface="Tahoma"/>
              </a:rPr>
              <a:t> </a:t>
            </a:r>
            <a:r>
              <a:rPr sz="1500" spc="-65" dirty="0">
                <a:solidFill>
                  <a:srgbClr val="D0D5DA"/>
                </a:solidFill>
                <a:latin typeface="Tahoma"/>
                <a:cs typeface="Tahoma"/>
              </a:rPr>
              <a:t>diagonal</a:t>
            </a:r>
            <a:r>
              <a:rPr sz="1500" spc="-85" dirty="0">
                <a:solidFill>
                  <a:srgbClr val="D0D5DA"/>
                </a:solidFill>
                <a:latin typeface="Tahoma"/>
                <a:cs typeface="Tahoma"/>
              </a:rPr>
              <a:t> </a:t>
            </a:r>
            <a:r>
              <a:rPr sz="1500" spc="-55" dirty="0">
                <a:solidFill>
                  <a:srgbClr val="D0D5DA"/>
                </a:solidFill>
                <a:latin typeface="Tahoma"/>
                <a:cs typeface="Tahoma"/>
              </a:rPr>
              <a:t>concentration </a:t>
            </a:r>
            <a:r>
              <a:rPr sz="1500" spc="-50" dirty="0">
                <a:solidFill>
                  <a:srgbClr val="D0D5DA"/>
                </a:solidFill>
                <a:latin typeface="Tahoma"/>
                <a:cs typeface="Tahoma"/>
              </a:rPr>
              <a:t>Minimal</a:t>
            </a:r>
            <a:r>
              <a:rPr sz="1500" spc="-85" dirty="0">
                <a:solidFill>
                  <a:srgbClr val="D0D5DA"/>
                </a:solidFill>
                <a:latin typeface="Tahoma"/>
                <a:cs typeface="Tahoma"/>
              </a:rPr>
              <a:t> </a:t>
            </a:r>
            <a:r>
              <a:rPr sz="1500" spc="-35" dirty="0">
                <a:solidFill>
                  <a:srgbClr val="D0D5DA"/>
                </a:solidFill>
                <a:latin typeface="Tahoma"/>
                <a:cs typeface="Tahoma"/>
              </a:rPr>
              <a:t>false</a:t>
            </a:r>
            <a:r>
              <a:rPr sz="1500" spc="-85" dirty="0">
                <a:solidFill>
                  <a:srgbClr val="D0D5DA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D0D5DA"/>
                </a:solidFill>
                <a:latin typeface="Tahoma"/>
                <a:cs typeface="Tahoma"/>
              </a:rPr>
              <a:t>positives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3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340"/>
              </a:spcBef>
            </a:pPr>
            <a:endParaRPr sz="1350">
              <a:latin typeface="Tahoma"/>
              <a:cs typeface="Tahoma"/>
            </a:endParaRPr>
          </a:p>
          <a:p>
            <a:pPr marL="69215">
              <a:lnSpc>
                <a:spcPct val="100000"/>
              </a:lnSpc>
            </a:pPr>
            <a:r>
              <a:rPr sz="2000" b="1" spc="-160" dirty="0">
                <a:solidFill>
                  <a:srgbClr val="FFFFFF"/>
                </a:solidFill>
                <a:latin typeface="Arial"/>
                <a:cs typeface="Arial"/>
              </a:rPr>
              <a:t>Performance</a:t>
            </a:r>
            <a:r>
              <a:rPr sz="20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55" dirty="0">
                <a:solidFill>
                  <a:srgbClr val="FFFFFF"/>
                </a:solidFill>
                <a:latin typeface="Arial"/>
                <a:cs typeface="Arial"/>
              </a:rPr>
              <a:t>Highlights</a:t>
            </a:r>
            <a:endParaRPr sz="20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433665" y="5254386"/>
            <a:ext cx="151955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spc="-30" baseline="2136" dirty="0">
                <a:solidFill>
                  <a:srgbClr val="9CA2AF"/>
                </a:solidFill>
                <a:latin typeface="Tahoma"/>
                <a:cs typeface="Tahoma"/>
              </a:rPr>
              <a:t>Precision:</a:t>
            </a:r>
            <a:r>
              <a:rPr sz="1950" spc="127" baseline="2136" dirty="0">
                <a:solidFill>
                  <a:srgbClr val="9CA2AF"/>
                </a:solidFill>
                <a:latin typeface="Tahoma"/>
                <a:cs typeface="Tahoma"/>
              </a:rPr>
              <a:t> </a:t>
            </a:r>
            <a:r>
              <a:rPr sz="1500" b="1" spc="-70" dirty="0">
                <a:solidFill>
                  <a:srgbClr val="86EFAB"/>
                </a:solidFill>
                <a:latin typeface="Roboto"/>
                <a:cs typeface="Roboto"/>
              </a:rPr>
              <a:t>(See</a:t>
            </a:r>
            <a:r>
              <a:rPr sz="1500" b="1" spc="-40" dirty="0">
                <a:solidFill>
                  <a:srgbClr val="86EFAB"/>
                </a:solidFill>
                <a:latin typeface="Roboto"/>
                <a:cs typeface="Roboto"/>
              </a:rPr>
              <a:t> </a:t>
            </a:r>
            <a:r>
              <a:rPr sz="1500" b="1" spc="-55" dirty="0">
                <a:solidFill>
                  <a:srgbClr val="86EFAB"/>
                </a:solidFill>
                <a:latin typeface="Roboto"/>
                <a:cs typeface="Roboto"/>
              </a:rPr>
              <a:t>plot)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458745" y="5254386"/>
            <a:ext cx="130048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spc="-30" baseline="2136" dirty="0">
                <a:solidFill>
                  <a:srgbClr val="9CA2AF"/>
                </a:solidFill>
                <a:latin typeface="Tahoma"/>
                <a:cs typeface="Tahoma"/>
              </a:rPr>
              <a:t>Recall:</a:t>
            </a:r>
            <a:r>
              <a:rPr sz="1950" spc="52" baseline="2136" dirty="0">
                <a:solidFill>
                  <a:srgbClr val="9CA2AF"/>
                </a:solidFill>
                <a:latin typeface="Tahoma"/>
                <a:cs typeface="Tahoma"/>
              </a:rPr>
              <a:t> </a:t>
            </a:r>
            <a:r>
              <a:rPr sz="1500" b="1" spc="-70" dirty="0">
                <a:solidFill>
                  <a:srgbClr val="86EFAB"/>
                </a:solidFill>
                <a:latin typeface="Roboto"/>
                <a:cs typeface="Roboto"/>
              </a:rPr>
              <a:t>(See</a:t>
            </a:r>
            <a:r>
              <a:rPr sz="1500" b="1" spc="-40" dirty="0">
                <a:solidFill>
                  <a:srgbClr val="86EFAB"/>
                </a:solidFill>
                <a:latin typeface="Roboto"/>
                <a:cs typeface="Roboto"/>
              </a:rPr>
              <a:t> </a:t>
            </a:r>
            <a:r>
              <a:rPr sz="1500" b="1" spc="-65" dirty="0">
                <a:solidFill>
                  <a:srgbClr val="86EFAB"/>
                </a:solidFill>
                <a:latin typeface="Roboto"/>
                <a:cs typeface="Roboto"/>
              </a:rPr>
              <a:t>plot)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433665" y="5635386"/>
            <a:ext cx="156654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spc="-104" baseline="2136" dirty="0">
                <a:solidFill>
                  <a:srgbClr val="9CA2AF"/>
                </a:solidFill>
                <a:latin typeface="Tahoma"/>
                <a:cs typeface="Tahoma"/>
              </a:rPr>
              <a:t>mAP@</a:t>
            </a:r>
            <a:r>
              <a:rPr sz="1950" spc="-427" baseline="2136" dirty="0">
                <a:solidFill>
                  <a:srgbClr val="9CA2AF"/>
                </a:solidFill>
                <a:latin typeface="Tahoma"/>
                <a:cs typeface="Tahoma"/>
              </a:rPr>
              <a:t> </a:t>
            </a:r>
            <a:r>
              <a:rPr sz="1950" spc="-52" baseline="2136" dirty="0">
                <a:solidFill>
                  <a:srgbClr val="9CA2AF"/>
                </a:solidFill>
                <a:latin typeface="Tahoma"/>
                <a:cs typeface="Tahoma"/>
              </a:rPr>
              <a:t>0.5:</a:t>
            </a:r>
            <a:r>
              <a:rPr sz="1950" spc="82" baseline="2136" dirty="0">
                <a:solidFill>
                  <a:srgbClr val="9CA2AF"/>
                </a:solidFill>
                <a:latin typeface="Tahoma"/>
                <a:cs typeface="Tahoma"/>
              </a:rPr>
              <a:t> </a:t>
            </a:r>
            <a:r>
              <a:rPr sz="1500" b="1" spc="-70" dirty="0">
                <a:solidFill>
                  <a:srgbClr val="86EFAB"/>
                </a:solidFill>
                <a:latin typeface="Roboto"/>
                <a:cs typeface="Roboto"/>
              </a:rPr>
              <a:t>(See</a:t>
            </a:r>
            <a:r>
              <a:rPr sz="1500" b="1" spc="-40" dirty="0">
                <a:solidFill>
                  <a:srgbClr val="86EFAB"/>
                </a:solidFill>
                <a:latin typeface="Roboto"/>
                <a:cs typeface="Roboto"/>
              </a:rPr>
              <a:t> </a:t>
            </a:r>
            <a:r>
              <a:rPr sz="1500" b="1" spc="-60" dirty="0">
                <a:solidFill>
                  <a:srgbClr val="86EFAB"/>
                </a:solidFill>
                <a:latin typeface="Roboto"/>
                <a:cs typeface="Roboto"/>
              </a:rPr>
              <a:t>plot)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458745" y="5635386"/>
            <a:ext cx="190055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spc="-104" baseline="2136" dirty="0">
                <a:solidFill>
                  <a:srgbClr val="9CA2AF"/>
                </a:solidFill>
                <a:latin typeface="Tahoma"/>
                <a:cs typeface="Tahoma"/>
              </a:rPr>
              <a:t>mAP@</a:t>
            </a:r>
            <a:r>
              <a:rPr sz="1950" spc="-427" baseline="2136" dirty="0">
                <a:solidFill>
                  <a:srgbClr val="9CA2AF"/>
                </a:solidFill>
                <a:latin typeface="Tahoma"/>
                <a:cs typeface="Tahoma"/>
              </a:rPr>
              <a:t> </a:t>
            </a:r>
            <a:r>
              <a:rPr sz="1950" spc="-89" baseline="2136" dirty="0">
                <a:solidFill>
                  <a:srgbClr val="9CA2AF"/>
                </a:solidFill>
                <a:latin typeface="Tahoma"/>
                <a:cs typeface="Tahoma"/>
              </a:rPr>
              <a:t>0.5:0.95:</a:t>
            </a:r>
            <a:r>
              <a:rPr sz="1950" spc="150" baseline="2136" dirty="0">
                <a:solidFill>
                  <a:srgbClr val="9CA2AF"/>
                </a:solidFill>
                <a:latin typeface="Tahoma"/>
                <a:cs typeface="Tahoma"/>
              </a:rPr>
              <a:t> </a:t>
            </a:r>
            <a:r>
              <a:rPr sz="1500" b="1" spc="-70" dirty="0">
                <a:solidFill>
                  <a:srgbClr val="86EFAB"/>
                </a:solidFill>
                <a:latin typeface="Roboto"/>
                <a:cs typeface="Roboto"/>
              </a:rPr>
              <a:t>(See</a:t>
            </a:r>
            <a:r>
              <a:rPr sz="1500" b="1" spc="-40" dirty="0">
                <a:solidFill>
                  <a:srgbClr val="86EFAB"/>
                </a:solidFill>
                <a:latin typeface="Roboto"/>
                <a:cs typeface="Roboto"/>
              </a:rPr>
              <a:t> </a:t>
            </a:r>
            <a:r>
              <a:rPr sz="1500" b="1" spc="-60" dirty="0">
                <a:solidFill>
                  <a:srgbClr val="86EFAB"/>
                </a:solidFill>
                <a:latin typeface="Roboto"/>
                <a:cs typeface="Roboto"/>
              </a:rPr>
              <a:t>plot)</a:t>
            </a:r>
            <a:endParaRPr sz="1500">
              <a:latin typeface="Roboto"/>
              <a:cs typeface="Roboto"/>
            </a:endParaRPr>
          </a:p>
        </p:txBody>
      </p:sp>
      <p:pic>
        <p:nvPicPr>
          <p:cNvPr id="36" name="Picture 35" descr="A diagram of fruit and vegetables&#10;&#10;AI-generated content may be incorrect.">
            <a:extLst>
              <a:ext uri="{FF2B5EF4-FFF2-40B4-BE49-F238E27FC236}">
                <a16:creationId xmlns:a16="http://schemas.microsoft.com/office/drawing/2014/main" id="{FC752C92-7E04-871F-E261-D4A2E53A6BB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15" y="1304607"/>
            <a:ext cx="5034433" cy="433077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301BF-DEFB-67B8-B399-1D837A02E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1F85D24-921F-1722-91BF-D35D73CE5F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5873" y="75936"/>
            <a:ext cx="11052953" cy="56874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43180">
              <a:lnSpc>
                <a:spcPct val="100000"/>
              </a:lnSpc>
              <a:spcBef>
                <a:spcPts val="114"/>
              </a:spcBef>
            </a:pPr>
            <a:r>
              <a:rPr lang="tr-TR" sz="3600" spc="-280" dirty="0">
                <a:latin typeface="Arial"/>
                <a:cs typeface="Arial"/>
              </a:rPr>
              <a:t>YOLOv11</a:t>
            </a:r>
            <a:r>
              <a:rPr lang="tr-TR" sz="3600" spc="-45" dirty="0">
                <a:latin typeface="Arial"/>
                <a:cs typeface="Arial"/>
              </a:rPr>
              <a:t> </a:t>
            </a:r>
            <a:r>
              <a:rPr lang="tr-TR" sz="3600" spc="-40" dirty="0" err="1">
                <a:latin typeface="Arial"/>
                <a:cs typeface="Arial"/>
              </a:rPr>
              <a:t>Results</a:t>
            </a:r>
            <a:endParaRPr spc="-150" dirty="0">
              <a:latin typeface="Tahoma"/>
              <a:cs typeface="Tahoma"/>
            </a:endParaRPr>
          </a:p>
        </p:txBody>
      </p:sp>
      <p:pic>
        <p:nvPicPr>
          <p:cNvPr id="4" name="Picture 3" descr="A graph of a graph of a graph&#10;&#10;AI-generated content may be incorrect.">
            <a:extLst>
              <a:ext uri="{FF2B5EF4-FFF2-40B4-BE49-F238E27FC236}">
                <a16:creationId xmlns:a16="http://schemas.microsoft.com/office/drawing/2014/main" id="{5A36A021-04A5-F47F-F19F-D03C8C7FD8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550" y="1195738"/>
            <a:ext cx="10439400" cy="4720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133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43180">
              <a:lnSpc>
                <a:spcPct val="100000"/>
              </a:lnSpc>
              <a:spcBef>
                <a:spcPts val="114"/>
              </a:spcBef>
            </a:pPr>
            <a:r>
              <a:rPr spc="-385" dirty="0"/>
              <a:t>Model</a:t>
            </a:r>
            <a:r>
              <a:rPr spc="-325" dirty="0"/>
              <a:t> </a:t>
            </a:r>
            <a:r>
              <a:rPr spc="-430" dirty="0"/>
              <a:t>Comparison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19124" y="2409824"/>
            <a:ext cx="6353175" cy="2428875"/>
            <a:chOff x="619124" y="2409824"/>
            <a:chExt cx="6353175" cy="2428875"/>
          </a:xfrm>
        </p:grpSpPr>
        <p:sp>
          <p:nvSpPr>
            <p:cNvPr id="4" name="object 4"/>
            <p:cNvSpPr/>
            <p:nvPr/>
          </p:nvSpPr>
          <p:spPr>
            <a:xfrm>
              <a:off x="619124" y="2409824"/>
              <a:ext cx="6353175" cy="2428875"/>
            </a:xfrm>
            <a:custGeom>
              <a:avLst/>
              <a:gdLst/>
              <a:ahLst/>
              <a:cxnLst/>
              <a:rect l="l" t="t" r="r" b="b"/>
              <a:pathLst>
                <a:path w="6353175" h="2428875">
                  <a:moveTo>
                    <a:pt x="6238874" y="2428874"/>
                  </a:moveTo>
                  <a:lnTo>
                    <a:pt x="114299" y="2428874"/>
                  </a:lnTo>
                  <a:lnTo>
                    <a:pt x="103040" y="2428330"/>
                  </a:lnTo>
                  <a:lnTo>
                    <a:pt x="60364" y="2415362"/>
                  </a:lnTo>
                  <a:lnTo>
                    <a:pt x="25900" y="2387050"/>
                  </a:lnTo>
                  <a:lnTo>
                    <a:pt x="4894" y="2347704"/>
                  </a:lnTo>
                  <a:lnTo>
                    <a:pt x="0" y="2314574"/>
                  </a:lnTo>
                  <a:lnTo>
                    <a:pt x="0" y="114299"/>
                  </a:lnTo>
                  <a:lnTo>
                    <a:pt x="8700" y="70558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6238874" y="0"/>
                  </a:lnTo>
                  <a:lnTo>
                    <a:pt x="6282615" y="8700"/>
                  </a:lnTo>
                  <a:lnTo>
                    <a:pt x="6319696" y="33477"/>
                  </a:lnTo>
                  <a:lnTo>
                    <a:pt x="6344473" y="70558"/>
                  </a:lnTo>
                  <a:lnTo>
                    <a:pt x="6353174" y="114299"/>
                  </a:lnTo>
                  <a:lnTo>
                    <a:pt x="6353174" y="2314574"/>
                  </a:lnTo>
                  <a:lnTo>
                    <a:pt x="6344473" y="2358315"/>
                  </a:lnTo>
                  <a:lnTo>
                    <a:pt x="6319696" y="2395396"/>
                  </a:lnTo>
                  <a:lnTo>
                    <a:pt x="6282615" y="2420173"/>
                  </a:lnTo>
                  <a:lnTo>
                    <a:pt x="6238874" y="2428874"/>
                  </a:lnTo>
                  <a:close/>
                </a:path>
              </a:pathLst>
            </a:custGeom>
            <a:solidFill>
              <a:srgbClr val="0918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19124" y="2409824"/>
              <a:ext cx="6353175" cy="2428875"/>
            </a:xfrm>
            <a:custGeom>
              <a:avLst/>
              <a:gdLst/>
              <a:ahLst/>
              <a:cxnLst/>
              <a:rect l="l" t="t" r="r" b="b"/>
              <a:pathLst>
                <a:path w="6353175" h="2428875">
                  <a:moveTo>
                    <a:pt x="6238874" y="2428874"/>
                  </a:moveTo>
                  <a:lnTo>
                    <a:pt x="114299" y="2428874"/>
                  </a:lnTo>
                  <a:lnTo>
                    <a:pt x="103040" y="2428330"/>
                  </a:lnTo>
                  <a:lnTo>
                    <a:pt x="60364" y="2415362"/>
                  </a:lnTo>
                  <a:lnTo>
                    <a:pt x="25900" y="2387050"/>
                  </a:lnTo>
                  <a:lnTo>
                    <a:pt x="4894" y="2347704"/>
                  </a:lnTo>
                  <a:lnTo>
                    <a:pt x="0" y="2314574"/>
                  </a:lnTo>
                  <a:lnTo>
                    <a:pt x="0" y="114299"/>
                  </a:lnTo>
                  <a:lnTo>
                    <a:pt x="8700" y="70558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6238874" y="0"/>
                  </a:lnTo>
                  <a:lnTo>
                    <a:pt x="6282615" y="8700"/>
                  </a:lnTo>
                  <a:lnTo>
                    <a:pt x="6302062" y="19049"/>
                  </a:lnTo>
                  <a:lnTo>
                    <a:pt x="108045" y="19049"/>
                  </a:lnTo>
                  <a:lnTo>
                    <a:pt x="101851" y="19660"/>
                  </a:lnTo>
                  <a:lnTo>
                    <a:pt x="56181" y="38577"/>
                  </a:lnTo>
                  <a:lnTo>
                    <a:pt x="28693" y="72071"/>
                  </a:lnTo>
                  <a:lnTo>
                    <a:pt x="19049" y="108045"/>
                  </a:lnTo>
                  <a:lnTo>
                    <a:pt x="19049" y="2320829"/>
                  </a:lnTo>
                  <a:lnTo>
                    <a:pt x="31627" y="2362292"/>
                  </a:lnTo>
                  <a:lnTo>
                    <a:pt x="66582" y="2397246"/>
                  </a:lnTo>
                  <a:lnTo>
                    <a:pt x="108045" y="2409824"/>
                  </a:lnTo>
                  <a:lnTo>
                    <a:pt x="6302061" y="2409824"/>
                  </a:lnTo>
                  <a:lnTo>
                    <a:pt x="6292809" y="2415362"/>
                  </a:lnTo>
                  <a:lnTo>
                    <a:pt x="6282615" y="2420174"/>
                  </a:lnTo>
                  <a:lnTo>
                    <a:pt x="6272004" y="2423980"/>
                  </a:lnTo>
                  <a:lnTo>
                    <a:pt x="6261177" y="2426699"/>
                  </a:lnTo>
                  <a:lnTo>
                    <a:pt x="6250134" y="2428330"/>
                  </a:lnTo>
                  <a:lnTo>
                    <a:pt x="6238874" y="2428874"/>
                  </a:lnTo>
                  <a:close/>
                </a:path>
                <a:path w="6353175" h="2428875">
                  <a:moveTo>
                    <a:pt x="6302061" y="2409824"/>
                  </a:moveTo>
                  <a:lnTo>
                    <a:pt x="6245128" y="2409824"/>
                  </a:lnTo>
                  <a:lnTo>
                    <a:pt x="6251322" y="2409214"/>
                  </a:lnTo>
                  <a:lnTo>
                    <a:pt x="6263590" y="2406774"/>
                  </a:lnTo>
                  <a:lnTo>
                    <a:pt x="6301803" y="2386349"/>
                  </a:lnTo>
                  <a:lnTo>
                    <a:pt x="6329267" y="2345247"/>
                  </a:lnTo>
                  <a:lnTo>
                    <a:pt x="6334124" y="2320829"/>
                  </a:lnTo>
                  <a:lnTo>
                    <a:pt x="6334124" y="108045"/>
                  </a:lnTo>
                  <a:lnTo>
                    <a:pt x="6321545" y="66582"/>
                  </a:lnTo>
                  <a:lnTo>
                    <a:pt x="6286592" y="31627"/>
                  </a:lnTo>
                  <a:lnTo>
                    <a:pt x="6245128" y="19049"/>
                  </a:lnTo>
                  <a:lnTo>
                    <a:pt x="6302062" y="19049"/>
                  </a:lnTo>
                  <a:lnTo>
                    <a:pt x="6333928" y="50785"/>
                  </a:lnTo>
                  <a:lnTo>
                    <a:pt x="6350999" y="91996"/>
                  </a:lnTo>
                  <a:lnTo>
                    <a:pt x="6353174" y="2314574"/>
                  </a:lnTo>
                  <a:lnTo>
                    <a:pt x="6352630" y="2325834"/>
                  </a:lnTo>
                  <a:lnTo>
                    <a:pt x="6339662" y="2368509"/>
                  </a:lnTo>
                  <a:lnTo>
                    <a:pt x="6311350" y="2402973"/>
                  </a:lnTo>
                  <a:lnTo>
                    <a:pt x="6302387" y="2409629"/>
                  </a:lnTo>
                  <a:lnTo>
                    <a:pt x="6302061" y="2409824"/>
                  </a:lnTo>
                  <a:close/>
                </a:path>
              </a:pathLst>
            </a:custGeom>
            <a:solidFill>
              <a:srgbClr val="FFD600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38162" y="2428886"/>
              <a:ext cx="6315075" cy="504825"/>
            </a:xfrm>
            <a:custGeom>
              <a:avLst/>
              <a:gdLst/>
              <a:ahLst/>
              <a:cxnLst/>
              <a:rect l="l" t="t" r="r" b="b"/>
              <a:pathLst>
                <a:path w="6315075" h="504825">
                  <a:moveTo>
                    <a:pt x="6315075" y="95250"/>
                  </a:moveTo>
                  <a:lnTo>
                    <a:pt x="6303823" y="50292"/>
                  </a:lnTo>
                  <a:lnTo>
                    <a:pt x="6272758" y="16027"/>
                  </a:lnTo>
                  <a:lnTo>
                    <a:pt x="6229210" y="444"/>
                  </a:lnTo>
                  <a:lnTo>
                    <a:pt x="6219825" y="0"/>
                  </a:lnTo>
                  <a:lnTo>
                    <a:pt x="4981575" y="0"/>
                  </a:lnTo>
                  <a:lnTo>
                    <a:pt x="3609975" y="0"/>
                  </a:lnTo>
                  <a:lnTo>
                    <a:pt x="2571750" y="0"/>
                  </a:lnTo>
                  <a:lnTo>
                    <a:pt x="1428750" y="0"/>
                  </a:lnTo>
                  <a:lnTo>
                    <a:pt x="95250" y="0"/>
                  </a:lnTo>
                  <a:lnTo>
                    <a:pt x="85877" y="444"/>
                  </a:lnTo>
                  <a:lnTo>
                    <a:pt x="42329" y="16027"/>
                  </a:lnTo>
                  <a:lnTo>
                    <a:pt x="11264" y="50292"/>
                  </a:lnTo>
                  <a:lnTo>
                    <a:pt x="0" y="95250"/>
                  </a:lnTo>
                  <a:lnTo>
                    <a:pt x="0" y="504825"/>
                  </a:lnTo>
                  <a:lnTo>
                    <a:pt x="1428750" y="504825"/>
                  </a:lnTo>
                  <a:lnTo>
                    <a:pt x="2571750" y="504825"/>
                  </a:lnTo>
                  <a:lnTo>
                    <a:pt x="3609975" y="504825"/>
                  </a:lnTo>
                  <a:lnTo>
                    <a:pt x="4981575" y="504825"/>
                  </a:lnTo>
                  <a:lnTo>
                    <a:pt x="6315075" y="504825"/>
                  </a:lnTo>
                  <a:lnTo>
                    <a:pt x="6315075" y="95250"/>
                  </a:lnTo>
                  <a:close/>
                </a:path>
              </a:pathLst>
            </a:custGeom>
            <a:solidFill>
              <a:srgbClr val="FFD6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38162" y="2924186"/>
              <a:ext cx="6315075" cy="9525"/>
            </a:xfrm>
            <a:custGeom>
              <a:avLst/>
              <a:gdLst/>
              <a:ahLst/>
              <a:cxnLst/>
              <a:rect l="l" t="t" r="r" b="b"/>
              <a:pathLst>
                <a:path w="6315075" h="9525">
                  <a:moveTo>
                    <a:pt x="6315075" y="0"/>
                  </a:moveTo>
                  <a:lnTo>
                    <a:pt x="6315075" y="0"/>
                  </a:lnTo>
                  <a:lnTo>
                    <a:pt x="0" y="0"/>
                  </a:lnTo>
                  <a:lnTo>
                    <a:pt x="0" y="9525"/>
                  </a:lnTo>
                  <a:lnTo>
                    <a:pt x="6315075" y="9525"/>
                  </a:lnTo>
                  <a:lnTo>
                    <a:pt x="6315075" y="0"/>
                  </a:lnTo>
                  <a:close/>
                </a:path>
              </a:pathLst>
            </a:custGeom>
            <a:solidFill>
              <a:srgbClr val="FFD600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38162" y="3619512"/>
              <a:ext cx="6315075" cy="704850"/>
            </a:xfrm>
            <a:custGeom>
              <a:avLst/>
              <a:gdLst/>
              <a:ahLst/>
              <a:cxnLst/>
              <a:rect l="l" t="t" r="r" b="b"/>
              <a:pathLst>
                <a:path w="6315075" h="704850">
                  <a:moveTo>
                    <a:pt x="6315075" y="695312"/>
                  </a:moveTo>
                  <a:lnTo>
                    <a:pt x="6315075" y="695312"/>
                  </a:lnTo>
                  <a:lnTo>
                    <a:pt x="0" y="695312"/>
                  </a:lnTo>
                  <a:lnTo>
                    <a:pt x="0" y="704837"/>
                  </a:lnTo>
                  <a:lnTo>
                    <a:pt x="6315075" y="704837"/>
                  </a:lnTo>
                  <a:lnTo>
                    <a:pt x="6315075" y="695312"/>
                  </a:lnTo>
                  <a:close/>
                </a:path>
                <a:path w="6315075" h="704850">
                  <a:moveTo>
                    <a:pt x="6315075" y="0"/>
                  </a:moveTo>
                  <a:lnTo>
                    <a:pt x="6315075" y="0"/>
                  </a:lnTo>
                  <a:lnTo>
                    <a:pt x="0" y="0"/>
                  </a:lnTo>
                  <a:lnTo>
                    <a:pt x="0" y="9525"/>
                  </a:lnTo>
                  <a:lnTo>
                    <a:pt x="6315075" y="9525"/>
                  </a:lnTo>
                  <a:lnTo>
                    <a:pt x="6315075" y="0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77874" y="2530172"/>
            <a:ext cx="50736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5" dirty="0">
                <a:solidFill>
                  <a:srgbClr val="FFD600"/>
                </a:solidFill>
                <a:latin typeface="Arial"/>
                <a:cs typeface="Arial"/>
              </a:rPr>
              <a:t>Model</a:t>
            </a:r>
            <a:endParaRPr sz="15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09006" y="2530172"/>
            <a:ext cx="74295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40" dirty="0">
                <a:solidFill>
                  <a:srgbClr val="FFD600"/>
                </a:solidFill>
                <a:latin typeface="Arial"/>
                <a:cs typeface="Arial"/>
              </a:rPr>
              <a:t>Accuracy</a:t>
            </a:r>
            <a:endParaRPr sz="15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45160" y="2530172"/>
            <a:ext cx="50927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35" dirty="0">
                <a:solidFill>
                  <a:srgbClr val="FFD600"/>
                </a:solidFill>
                <a:latin typeface="Arial"/>
                <a:cs typeface="Arial"/>
              </a:rPr>
              <a:t>Speed</a:t>
            </a:r>
            <a:endParaRPr sz="15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388445" y="2530172"/>
            <a:ext cx="69088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14" dirty="0">
                <a:solidFill>
                  <a:srgbClr val="FFD600"/>
                </a:solidFill>
                <a:latin typeface="Arial"/>
                <a:cs typeface="Arial"/>
              </a:rPr>
              <a:t>Strength</a:t>
            </a:r>
            <a:endParaRPr sz="15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757663" y="2530172"/>
            <a:ext cx="814069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45" dirty="0">
                <a:solidFill>
                  <a:srgbClr val="FFD600"/>
                </a:solidFill>
                <a:latin typeface="Arial"/>
                <a:cs typeface="Arial"/>
              </a:rPr>
              <a:t>Weakness</a:t>
            </a:r>
            <a:endParaRPr sz="15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77874" y="3136023"/>
            <a:ext cx="786765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b="1" spc="-80" dirty="0">
                <a:solidFill>
                  <a:srgbClr val="FFFFFF"/>
                </a:solidFill>
                <a:latin typeface="Roboto"/>
                <a:cs typeface="Roboto"/>
              </a:rPr>
              <a:t>YOLOv5m</a:t>
            </a:r>
            <a:endParaRPr sz="1450">
              <a:latin typeface="Roboto"/>
              <a:cs typeface="Roboto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643905" y="3197224"/>
            <a:ext cx="257175" cy="1454150"/>
            <a:chOff x="1643905" y="3197224"/>
            <a:chExt cx="257175" cy="1454150"/>
          </a:xfrm>
        </p:grpSpPr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43905" y="3197224"/>
              <a:ext cx="158750" cy="15875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43905" y="3892549"/>
              <a:ext cx="158750" cy="15875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42281" y="4492624"/>
              <a:ext cx="158750" cy="158750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2209006" y="3002533"/>
            <a:ext cx="537845" cy="4826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90"/>
              </a:spcBef>
            </a:pPr>
            <a:r>
              <a:rPr sz="1300" spc="-10" dirty="0">
                <a:solidFill>
                  <a:srgbClr val="D0D5DA"/>
                </a:solidFill>
                <a:latin typeface="Tahoma"/>
                <a:cs typeface="Tahoma"/>
              </a:rPr>
              <a:t>(From </a:t>
            </a:r>
            <a:r>
              <a:rPr sz="1300" spc="-40" dirty="0">
                <a:solidFill>
                  <a:srgbClr val="D0D5DA"/>
                </a:solidFill>
                <a:latin typeface="Tahoma"/>
                <a:cs typeface="Tahoma"/>
              </a:rPr>
              <a:t>results)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345160" y="3138013"/>
            <a:ext cx="593725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50" b="1" spc="-55" dirty="0">
                <a:solidFill>
                  <a:srgbClr val="86EFAB"/>
                </a:solidFill>
                <a:latin typeface="Roboto"/>
                <a:cs typeface="Roboto"/>
              </a:rPr>
              <a:t>Fastest</a:t>
            </a:r>
            <a:endParaRPr sz="1450">
              <a:latin typeface="Roboto"/>
              <a:cs typeface="Roboto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388445" y="3002533"/>
            <a:ext cx="654685" cy="4826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90"/>
              </a:spcBef>
            </a:pPr>
            <a:r>
              <a:rPr sz="1300" spc="-10" dirty="0">
                <a:solidFill>
                  <a:srgbClr val="D0D5DA"/>
                </a:solidFill>
                <a:latin typeface="Tahoma"/>
                <a:cs typeface="Tahoma"/>
              </a:rPr>
              <a:t>Fastest </a:t>
            </a:r>
            <a:r>
              <a:rPr sz="1300" spc="-50" dirty="0">
                <a:solidFill>
                  <a:srgbClr val="D0D5DA"/>
                </a:solidFill>
                <a:latin typeface="Tahoma"/>
                <a:cs typeface="Tahoma"/>
              </a:rPr>
              <a:t>inference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757663" y="3027679"/>
            <a:ext cx="674370" cy="2292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00" spc="-35" dirty="0">
                <a:solidFill>
                  <a:srgbClr val="D0D5DA"/>
                </a:solidFill>
                <a:latin typeface="Tahoma"/>
                <a:cs typeface="Tahoma"/>
              </a:rPr>
              <a:t>Moderate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757663" y="3256279"/>
            <a:ext cx="635635" cy="2292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00" spc="-25" dirty="0">
                <a:solidFill>
                  <a:srgbClr val="D0D5DA"/>
                </a:solidFill>
                <a:latin typeface="Tahoma"/>
                <a:cs typeface="Tahoma"/>
              </a:rPr>
              <a:t>accuracy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77874" y="3831348"/>
            <a:ext cx="786765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b="1" spc="-80" dirty="0">
                <a:solidFill>
                  <a:srgbClr val="FFFFFF"/>
                </a:solidFill>
                <a:latin typeface="Roboto"/>
                <a:cs typeface="Roboto"/>
              </a:rPr>
              <a:t>YOLOv8m</a:t>
            </a:r>
            <a:endParaRPr sz="1450">
              <a:latin typeface="Roboto"/>
              <a:cs typeface="Roboto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209006" y="3697858"/>
            <a:ext cx="537845" cy="4826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90"/>
              </a:spcBef>
            </a:pPr>
            <a:r>
              <a:rPr sz="1300" spc="-10" dirty="0">
                <a:solidFill>
                  <a:srgbClr val="D0D5DA"/>
                </a:solidFill>
                <a:latin typeface="Tahoma"/>
                <a:cs typeface="Tahoma"/>
              </a:rPr>
              <a:t>(From </a:t>
            </a:r>
            <a:r>
              <a:rPr sz="1300" spc="-40" dirty="0">
                <a:solidFill>
                  <a:srgbClr val="D0D5DA"/>
                </a:solidFill>
                <a:latin typeface="Tahoma"/>
                <a:cs typeface="Tahoma"/>
              </a:rPr>
              <a:t>results)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345160" y="3825636"/>
            <a:ext cx="73850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75" dirty="0">
                <a:solidFill>
                  <a:srgbClr val="FDDF46"/>
                </a:solidFill>
                <a:latin typeface="Roboto"/>
                <a:cs typeface="Roboto"/>
              </a:rPr>
              <a:t>Balanced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388445" y="3697858"/>
            <a:ext cx="897890" cy="4826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90"/>
              </a:spcBef>
            </a:pPr>
            <a:r>
              <a:rPr sz="1300" spc="-20" dirty="0">
                <a:solidFill>
                  <a:srgbClr val="D0D5DA"/>
                </a:solidFill>
                <a:latin typeface="Tahoma"/>
                <a:cs typeface="Tahoma"/>
              </a:rPr>
              <a:t>Good </a:t>
            </a:r>
            <a:r>
              <a:rPr sz="1300" spc="-45" dirty="0">
                <a:solidFill>
                  <a:srgbClr val="D0D5DA"/>
                </a:solidFill>
                <a:latin typeface="Tahoma"/>
                <a:cs typeface="Tahoma"/>
              </a:rPr>
              <a:t>performance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757663" y="3697858"/>
            <a:ext cx="674370" cy="4826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90"/>
              </a:spcBef>
            </a:pPr>
            <a:r>
              <a:rPr sz="1300" spc="-45" dirty="0">
                <a:solidFill>
                  <a:srgbClr val="D0D5DA"/>
                </a:solidFill>
                <a:latin typeface="Tahoma"/>
                <a:cs typeface="Tahoma"/>
              </a:rPr>
              <a:t>Moderate </a:t>
            </a:r>
            <a:r>
              <a:rPr sz="1300" spc="-10" dirty="0">
                <a:solidFill>
                  <a:srgbClr val="D0D5DA"/>
                </a:solidFill>
                <a:latin typeface="Tahoma"/>
                <a:cs typeface="Tahoma"/>
              </a:rPr>
              <a:t>speed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77874" y="4431423"/>
            <a:ext cx="885190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b="1" spc="-80" dirty="0">
                <a:solidFill>
                  <a:srgbClr val="FFFFFF"/>
                </a:solidFill>
                <a:latin typeface="Roboto"/>
                <a:cs typeface="Roboto"/>
              </a:rPr>
              <a:t>YOLOv11m</a:t>
            </a:r>
            <a:endParaRPr sz="1450">
              <a:latin typeface="Roboto"/>
              <a:cs typeface="Roboto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209006" y="4425711"/>
            <a:ext cx="62484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75" dirty="0">
                <a:solidFill>
                  <a:srgbClr val="FFD600"/>
                </a:solidFill>
                <a:latin typeface="Roboto"/>
                <a:cs typeface="Roboto"/>
              </a:rPr>
              <a:t>Highest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345160" y="4425711"/>
            <a:ext cx="76390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70" dirty="0">
                <a:solidFill>
                  <a:srgbClr val="FDB973"/>
                </a:solidFill>
                <a:latin typeface="Roboto"/>
                <a:cs typeface="Roboto"/>
              </a:rPr>
              <a:t>Moderate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388445" y="4437379"/>
            <a:ext cx="977900" cy="2292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00" spc="-30" dirty="0">
                <a:solidFill>
                  <a:srgbClr val="D0D5DA"/>
                </a:solidFill>
                <a:latin typeface="Tahoma"/>
                <a:cs typeface="Tahoma"/>
              </a:rPr>
              <a:t>Best</a:t>
            </a:r>
            <a:r>
              <a:rPr sz="1300" spc="-85" dirty="0">
                <a:solidFill>
                  <a:srgbClr val="D0D5DA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D0D5DA"/>
                </a:solidFill>
                <a:latin typeface="Tahoma"/>
                <a:cs typeface="Tahoma"/>
              </a:rPr>
              <a:t>accuracy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757663" y="4437379"/>
            <a:ext cx="1022985" cy="2292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00" spc="-45" dirty="0">
                <a:solidFill>
                  <a:srgbClr val="D0D5DA"/>
                </a:solidFill>
                <a:latin typeface="Tahoma"/>
                <a:cs typeface="Tahoma"/>
              </a:rPr>
              <a:t>Slower</a:t>
            </a:r>
            <a:r>
              <a:rPr sz="1300" spc="-80" dirty="0">
                <a:solidFill>
                  <a:srgbClr val="D0D5DA"/>
                </a:solidFill>
                <a:latin typeface="Tahoma"/>
                <a:cs typeface="Tahoma"/>
              </a:rPr>
              <a:t> </a:t>
            </a:r>
            <a:r>
              <a:rPr sz="1300" spc="-60" dirty="0">
                <a:solidFill>
                  <a:srgbClr val="D0D5DA"/>
                </a:solidFill>
                <a:latin typeface="Tahoma"/>
                <a:cs typeface="Tahoma"/>
              </a:rPr>
              <a:t>than</a:t>
            </a:r>
            <a:r>
              <a:rPr sz="1300" spc="-80" dirty="0">
                <a:solidFill>
                  <a:srgbClr val="D0D5DA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D0D5DA"/>
                </a:solidFill>
                <a:latin typeface="Tahoma"/>
                <a:cs typeface="Tahoma"/>
              </a:rPr>
              <a:t>v5</a:t>
            </a:r>
            <a:endParaRPr sz="1300">
              <a:latin typeface="Tahoma"/>
              <a:cs typeface="Tahoma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7429499" y="1609724"/>
            <a:ext cx="4162425" cy="1371600"/>
            <a:chOff x="7429499" y="1609724"/>
            <a:chExt cx="4162425" cy="1371600"/>
          </a:xfrm>
        </p:grpSpPr>
        <p:sp>
          <p:nvSpPr>
            <p:cNvPr id="35" name="object 35"/>
            <p:cNvSpPr/>
            <p:nvPr/>
          </p:nvSpPr>
          <p:spPr>
            <a:xfrm>
              <a:off x="7429499" y="1609724"/>
              <a:ext cx="4162425" cy="1371600"/>
            </a:xfrm>
            <a:custGeom>
              <a:avLst/>
              <a:gdLst/>
              <a:ahLst/>
              <a:cxnLst/>
              <a:rect l="l" t="t" r="r" b="b"/>
              <a:pathLst>
                <a:path w="4162425" h="1371600">
                  <a:moveTo>
                    <a:pt x="4048124" y="1371599"/>
                  </a:moveTo>
                  <a:lnTo>
                    <a:pt x="114299" y="1371599"/>
                  </a:lnTo>
                  <a:lnTo>
                    <a:pt x="103040" y="1371055"/>
                  </a:lnTo>
                  <a:lnTo>
                    <a:pt x="60363" y="1358087"/>
                  </a:lnTo>
                  <a:lnTo>
                    <a:pt x="25899" y="1329775"/>
                  </a:lnTo>
                  <a:lnTo>
                    <a:pt x="4893" y="1290429"/>
                  </a:lnTo>
                  <a:lnTo>
                    <a:pt x="0" y="125729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8" y="8700"/>
                  </a:lnTo>
                  <a:lnTo>
                    <a:pt x="114299" y="0"/>
                  </a:lnTo>
                  <a:lnTo>
                    <a:pt x="4048124" y="0"/>
                  </a:lnTo>
                  <a:lnTo>
                    <a:pt x="4091863" y="8700"/>
                  </a:lnTo>
                  <a:lnTo>
                    <a:pt x="4128945" y="33477"/>
                  </a:lnTo>
                  <a:lnTo>
                    <a:pt x="4153722" y="70559"/>
                  </a:lnTo>
                  <a:lnTo>
                    <a:pt x="4162424" y="114299"/>
                  </a:lnTo>
                  <a:lnTo>
                    <a:pt x="4162424" y="1257299"/>
                  </a:lnTo>
                  <a:lnTo>
                    <a:pt x="4153721" y="1301040"/>
                  </a:lnTo>
                  <a:lnTo>
                    <a:pt x="4128945" y="1338121"/>
                  </a:lnTo>
                  <a:lnTo>
                    <a:pt x="4091863" y="1362899"/>
                  </a:lnTo>
                  <a:lnTo>
                    <a:pt x="4048124" y="1371599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429499" y="1609725"/>
              <a:ext cx="4162425" cy="1371600"/>
            </a:xfrm>
            <a:custGeom>
              <a:avLst/>
              <a:gdLst/>
              <a:ahLst/>
              <a:cxnLst/>
              <a:rect l="l" t="t" r="r" b="b"/>
              <a:pathLst>
                <a:path w="4162425" h="1371600">
                  <a:moveTo>
                    <a:pt x="4048124" y="1371599"/>
                  </a:moveTo>
                  <a:lnTo>
                    <a:pt x="114299" y="1371599"/>
                  </a:lnTo>
                  <a:lnTo>
                    <a:pt x="103040" y="1371056"/>
                  </a:lnTo>
                  <a:lnTo>
                    <a:pt x="60363" y="1358087"/>
                  </a:lnTo>
                  <a:lnTo>
                    <a:pt x="25899" y="1329775"/>
                  </a:lnTo>
                  <a:lnTo>
                    <a:pt x="4893" y="1290429"/>
                  </a:lnTo>
                  <a:lnTo>
                    <a:pt x="0" y="125729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8" y="8700"/>
                  </a:lnTo>
                  <a:lnTo>
                    <a:pt x="114299" y="0"/>
                  </a:lnTo>
                  <a:lnTo>
                    <a:pt x="4048124" y="0"/>
                  </a:lnTo>
                  <a:lnTo>
                    <a:pt x="4091863" y="8700"/>
                  </a:lnTo>
                  <a:lnTo>
                    <a:pt x="4111310" y="19049"/>
                  </a:lnTo>
                  <a:lnTo>
                    <a:pt x="108045" y="19049"/>
                  </a:lnTo>
                  <a:lnTo>
                    <a:pt x="101851" y="19660"/>
                  </a:lnTo>
                  <a:lnTo>
                    <a:pt x="56181" y="38577"/>
                  </a:lnTo>
                  <a:lnTo>
                    <a:pt x="28693" y="72071"/>
                  </a:lnTo>
                  <a:lnTo>
                    <a:pt x="19049" y="108045"/>
                  </a:lnTo>
                  <a:lnTo>
                    <a:pt x="19049" y="1263554"/>
                  </a:lnTo>
                  <a:lnTo>
                    <a:pt x="31627" y="1305017"/>
                  </a:lnTo>
                  <a:lnTo>
                    <a:pt x="66581" y="1339971"/>
                  </a:lnTo>
                  <a:lnTo>
                    <a:pt x="108045" y="1352549"/>
                  </a:lnTo>
                  <a:lnTo>
                    <a:pt x="4111310" y="1352549"/>
                  </a:lnTo>
                  <a:lnTo>
                    <a:pt x="4102058" y="1358087"/>
                  </a:lnTo>
                  <a:lnTo>
                    <a:pt x="4091863" y="1362899"/>
                  </a:lnTo>
                  <a:lnTo>
                    <a:pt x="4081253" y="1366705"/>
                  </a:lnTo>
                  <a:lnTo>
                    <a:pt x="4070426" y="1369424"/>
                  </a:lnTo>
                  <a:lnTo>
                    <a:pt x="4059383" y="1371056"/>
                  </a:lnTo>
                  <a:lnTo>
                    <a:pt x="4048124" y="1371599"/>
                  </a:lnTo>
                  <a:close/>
                </a:path>
                <a:path w="4162425" h="1371600">
                  <a:moveTo>
                    <a:pt x="4111310" y="1352549"/>
                  </a:moveTo>
                  <a:lnTo>
                    <a:pt x="4054378" y="1352549"/>
                  </a:lnTo>
                  <a:lnTo>
                    <a:pt x="4060572" y="1351939"/>
                  </a:lnTo>
                  <a:lnTo>
                    <a:pt x="4072840" y="1349499"/>
                  </a:lnTo>
                  <a:lnTo>
                    <a:pt x="4111053" y="1329074"/>
                  </a:lnTo>
                  <a:lnTo>
                    <a:pt x="4138517" y="1287972"/>
                  </a:lnTo>
                  <a:lnTo>
                    <a:pt x="4143375" y="1263554"/>
                  </a:lnTo>
                  <a:lnTo>
                    <a:pt x="4143375" y="108045"/>
                  </a:lnTo>
                  <a:lnTo>
                    <a:pt x="4142882" y="103040"/>
                  </a:lnTo>
                  <a:lnTo>
                    <a:pt x="4142764" y="101851"/>
                  </a:lnTo>
                  <a:lnTo>
                    <a:pt x="4123847" y="56181"/>
                  </a:lnTo>
                  <a:lnTo>
                    <a:pt x="4090352" y="28693"/>
                  </a:lnTo>
                  <a:lnTo>
                    <a:pt x="4054378" y="19049"/>
                  </a:lnTo>
                  <a:lnTo>
                    <a:pt x="4111310" y="19049"/>
                  </a:lnTo>
                  <a:lnTo>
                    <a:pt x="4143178" y="50786"/>
                  </a:lnTo>
                  <a:lnTo>
                    <a:pt x="4160248" y="91996"/>
                  </a:lnTo>
                  <a:lnTo>
                    <a:pt x="4162424" y="1257299"/>
                  </a:lnTo>
                  <a:lnTo>
                    <a:pt x="4161880" y="1268559"/>
                  </a:lnTo>
                  <a:lnTo>
                    <a:pt x="4148911" y="1311234"/>
                  </a:lnTo>
                  <a:lnTo>
                    <a:pt x="4120599" y="1345699"/>
                  </a:lnTo>
                  <a:lnTo>
                    <a:pt x="4111637" y="1352354"/>
                  </a:lnTo>
                  <a:lnTo>
                    <a:pt x="4111310" y="1352549"/>
                  </a:lnTo>
                  <a:close/>
                </a:path>
              </a:pathLst>
            </a:custGeom>
            <a:solidFill>
              <a:srgbClr val="FFD600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650360" y="1857374"/>
              <a:ext cx="228600" cy="180975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656710" y="2235199"/>
              <a:ext cx="158750" cy="158750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7894835" y="1794668"/>
            <a:ext cx="3307079" cy="6146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69215">
              <a:lnSpc>
                <a:spcPct val="100000"/>
              </a:lnSpc>
              <a:spcBef>
                <a:spcPts val="114"/>
              </a:spcBef>
            </a:pPr>
            <a:r>
              <a:rPr sz="1650" b="1" spc="-130" dirty="0">
                <a:solidFill>
                  <a:srgbClr val="FFFFFF"/>
                </a:solidFill>
                <a:latin typeface="Trebuchet MS"/>
                <a:cs typeface="Trebuchet MS"/>
              </a:rPr>
              <a:t>Key</a:t>
            </a:r>
            <a:r>
              <a:rPr sz="1650" b="1" spc="-1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FFFFFF"/>
                </a:solidFill>
                <a:latin typeface="Trebuchet MS"/>
                <a:cs typeface="Trebuchet MS"/>
              </a:rPr>
              <a:t>Findings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sz="1300" spc="-70" dirty="0">
                <a:solidFill>
                  <a:srgbClr val="D0D5DA"/>
                </a:solidFill>
                <a:latin typeface="Tahoma"/>
                <a:cs typeface="Tahoma"/>
              </a:rPr>
              <a:t>YOLOv11m</a:t>
            </a:r>
            <a:r>
              <a:rPr sz="1300" spc="-55" dirty="0">
                <a:solidFill>
                  <a:srgbClr val="D0D5DA"/>
                </a:solidFill>
                <a:latin typeface="Tahoma"/>
                <a:cs typeface="Tahoma"/>
              </a:rPr>
              <a:t> </a:t>
            </a:r>
            <a:r>
              <a:rPr sz="1300" spc="-50" dirty="0">
                <a:solidFill>
                  <a:srgbClr val="D0D5DA"/>
                </a:solidFill>
                <a:latin typeface="Tahoma"/>
                <a:cs typeface="Tahoma"/>
              </a:rPr>
              <a:t>achieved</a:t>
            </a:r>
            <a:r>
              <a:rPr sz="1300" spc="-55" dirty="0">
                <a:solidFill>
                  <a:srgbClr val="D0D5DA"/>
                </a:solidFill>
                <a:latin typeface="Tahoma"/>
                <a:cs typeface="Tahoma"/>
              </a:rPr>
              <a:t> </a:t>
            </a:r>
            <a:r>
              <a:rPr sz="1300" b="1" spc="-60" dirty="0">
                <a:solidFill>
                  <a:srgbClr val="FFD600"/>
                </a:solidFill>
                <a:latin typeface="Roboto"/>
                <a:cs typeface="Roboto"/>
              </a:rPr>
              <a:t>highest</a:t>
            </a:r>
            <a:r>
              <a:rPr sz="1300" b="1" spc="25" dirty="0">
                <a:solidFill>
                  <a:srgbClr val="FFD600"/>
                </a:solidFill>
                <a:latin typeface="Roboto"/>
                <a:cs typeface="Roboto"/>
              </a:rPr>
              <a:t> </a:t>
            </a:r>
            <a:r>
              <a:rPr sz="1300" b="1" spc="-50" dirty="0">
                <a:solidFill>
                  <a:srgbClr val="FFD600"/>
                </a:solidFill>
                <a:latin typeface="Roboto"/>
                <a:cs typeface="Roboto"/>
              </a:rPr>
              <a:t>detection</a:t>
            </a:r>
            <a:r>
              <a:rPr sz="1300" b="1" spc="20" dirty="0">
                <a:solidFill>
                  <a:srgbClr val="FFD600"/>
                </a:solidFill>
                <a:latin typeface="Roboto"/>
                <a:cs typeface="Roboto"/>
              </a:rPr>
              <a:t> </a:t>
            </a:r>
            <a:r>
              <a:rPr sz="1300" b="1" spc="-45" dirty="0">
                <a:solidFill>
                  <a:srgbClr val="FFD600"/>
                </a:solidFill>
                <a:latin typeface="Roboto"/>
                <a:cs typeface="Roboto"/>
              </a:rPr>
              <a:t>accuracy</a:t>
            </a:r>
            <a:endParaRPr sz="1300">
              <a:latin typeface="Roboto"/>
              <a:cs typeface="Roboto"/>
            </a:endParaRPr>
          </a:p>
        </p:txBody>
      </p:sp>
      <p:pic>
        <p:nvPicPr>
          <p:cNvPr id="40" name="object 4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656710" y="2578099"/>
            <a:ext cx="158750" cy="158750"/>
          </a:xfrm>
          <a:prstGeom prst="rect">
            <a:avLst/>
          </a:prstGeom>
        </p:spPr>
      </p:pic>
      <p:sp>
        <p:nvSpPr>
          <p:cNvPr id="41" name="object 41"/>
          <p:cNvSpPr txBox="1"/>
          <p:nvPr/>
        </p:nvSpPr>
        <p:spPr>
          <a:xfrm>
            <a:off x="7894835" y="2522854"/>
            <a:ext cx="2860675" cy="2292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00" spc="-75" dirty="0">
                <a:solidFill>
                  <a:srgbClr val="D0D5DA"/>
                </a:solidFill>
                <a:latin typeface="Tahoma"/>
                <a:cs typeface="Tahoma"/>
              </a:rPr>
              <a:t>YOLOv5m</a:t>
            </a:r>
            <a:r>
              <a:rPr sz="1300" spc="-65" dirty="0">
                <a:solidFill>
                  <a:srgbClr val="D0D5DA"/>
                </a:solidFill>
                <a:latin typeface="Tahoma"/>
                <a:cs typeface="Tahoma"/>
              </a:rPr>
              <a:t> </a:t>
            </a:r>
            <a:r>
              <a:rPr sz="1300" spc="-55" dirty="0">
                <a:solidFill>
                  <a:srgbClr val="D0D5DA"/>
                </a:solidFill>
                <a:latin typeface="Tahoma"/>
                <a:cs typeface="Tahoma"/>
              </a:rPr>
              <a:t>provided</a:t>
            </a:r>
            <a:r>
              <a:rPr sz="1300" spc="-65" dirty="0">
                <a:solidFill>
                  <a:srgbClr val="D0D5DA"/>
                </a:solidFill>
                <a:latin typeface="Tahoma"/>
                <a:cs typeface="Tahoma"/>
              </a:rPr>
              <a:t> </a:t>
            </a:r>
            <a:r>
              <a:rPr sz="1300" b="1" spc="-55" dirty="0">
                <a:solidFill>
                  <a:srgbClr val="FFD600"/>
                </a:solidFill>
                <a:latin typeface="Roboto"/>
                <a:cs typeface="Roboto"/>
              </a:rPr>
              <a:t>fastest</a:t>
            </a:r>
            <a:r>
              <a:rPr sz="1300" b="1" spc="20" dirty="0">
                <a:solidFill>
                  <a:srgbClr val="FFD600"/>
                </a:solidFill>
                <a:latin typeface="Roboto"/>
                <a:cs typeface="Roboto"/>
              </a:rPr>
              <a:t> </a:t>
            </a:r>
            <a:r>
              <a:rPr sz="1300" b="1" spc="-45" dirty="0">
                <a:solidFill>
                  <a:srgbClr val="FFD600"/>
                </a:solidFill>
                <a:latin typeface="Roboto"/>
                <a:cs typeface="Roboto"/>
              </a:rPr>
              <a:t>inference</a:t>
            </a:r>
            <a:r>
              <a:rPr sz="1300" b="1" spc="15" dirty="0">
                <a:solidFill>
                  <a:srgbClr val="FFD600"/>
                </a:solidFill>
                <a:latin typeface="Roboto"/>
                <a:cs typeface="Roboto"/>
              </a:rPr>
              <a:t> </a:t>
            </a:r>
            <a:r>
              <a:rPr sz="1300" b="1" spc="-20" dirty="0">
                <a:solidFill>
                  <a:srgbClr val="FFD600"/>
                </a:solidFill>
                <a:latin typeface="Roboto"/>
                <a:cs typeface="Roboto"/>
              </a:rPr>
              <a:t>time</a:t>
            </a:r>
            <a:endParaRPr sz="1300">
              <a:latin typeface="Roboto"/>
              <a:cs typeface="Roboto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7429499" y="3133724"/>
            <a:ext cx="4162425" cy="1562100"/>
            <a:chOff x="7429499" y="3133724"/>
            <a:chExt cx="4162425" cy="1562100"/>
          </a:xfrm>
        </p:grpSpPr>
        <p:sp>
          <p:nvSpPr>
            <p:cNvPr id="43" name="object 43"/>
            <p:cNvSpPr/>
            <p:nvPr/>
          </p:nvSpPr>
          <p:spPr>
            <a:xfrm>
              <a:off x="7429499" y="3133724"/>
              <a:ext cx="4162425" cy="1562100"/>
            </a:xfrm>
            <a:custGeom>
              <a:avLst/>
              <a:gdLst/>
              <a:ahLst/>
              <a:cxnLst/>
              <a:rect l="l" t="t" r="r" b="b"/>
              <a:pathLst>
                <a:path w="4162425" h="1562100">
                  <a:moveTo>
                    <a:pt x="4048124" y="1562099"/>
                  </a:moveTo>
                  <a:lnTo>
                    <a:pt x="114299" y="1562099"/>
                  </a:lnTo>
                  <a:lnTo>
                    <a:pt x="103040" y="1561555"/>
                  </a:lnTo>
                  <a:lnTo>
                    <a:pt x="60363" y="1548587"/>
                  </a:lnTo>
                  <a:lnTo>
                    <a:pt x="25899" y="1520275"/>
                  </a:lnTo>
                  <a:lnTo>
                    <a:pt x="4893" y="1480929"/>
                  </a:lnTo>
                  <a:lnTo>
                    <a:pt x="0" y="1447799"/>
                  </a:lnTo>
                  <a:lnTo>
                    <a:pt x="0" y="114299"/>
                  </a:lnTo>
                  <a:lnTo>
                    <a:pt x="8700" y="70558"/>
                  </a:lnTo>
                  <a:lnTo>
                    <a:pt x="33477" y="33477"/>
                  </a:lnTo>
                  <a:lnTo>
                    <a:pt x="70558" y="8700"/>
                  </a:lnTo>
                  <a:lnTo>
                    <a:pt x="114299" y="0"/>
                  </a:lnTo>
                  <a:lnTo>
                    <a:pt x="4048124" y="0"/>
                  </a:lnTo>
                  <a:lnTo>
                    <a:pt x="4091863" y="8700"/>
                  </a:lnTo>
                  <a:lnTo>
                    <a:pt x="4128945" y="33477"/>
                  </a:lnTo>
                  <a:lnTo>
                    <a:pt x="4153722" y="70558"/>
                  </a:lnTo>
                  <a:lnTo>
                    <a:pt x="4162424" y="114299"/>
                  </a:lnTo>
                  <a:lnTo>
                    <a:pt x="4162424" y="1447799"/>
                  </a:lnTo>
                  <a:lnTo>
                    <a:pt x="4153722" y="1491539"/>
                  </a:lnTo>
                  <a:lnTo>
                    <a:pt x="4128945" y="1528621"/>
                  </a:lnTo>
                  <a:lnTo>
                    <a:pt x="4091863" y="1553398"/>
                  </a:lnTo>
                  <a:lnTo>
                    <a:pt x="4048124" y="1562099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429499" y="3133725"/>
              <a:ext cx="4162425" cy="1562100"/>
            </a:xfrm>
            <a:custGeom>
              <a:avLst/>
              <a:gdLst/>
              <a:ahLst/>
              <a:cxnLst/>
              <a:rect l="l" t="t" r="r" b="b"/>
              <a:pathLst>
                <a:path w="4162425" h="1562100">
                  <a:moveTo>
                    <a:pt x="4048124" y="1562099"/>
                  </a:moveTo>
                  <a:lnTo>
                    <a:pt x="114299" y="1562099"/>
                  </a:lnTo>
                  <a:lnTo>
                    <a:pt x="103040" y="1561555"/>
                  </a:lnTo>
                  <a:lnTo>
                    <a:pt x="60363" y="1548587"/>
                  </a:lnTo>
                  <a:lnTo>
                    <a:pt x="25899" y="1520275"/>
                  </a:lnTo>
                  <a:lnTo>
                    <a:pt x="4893" y="1480929"/>
                  </a:lnTo>
                  <a:lnTo>
                    <a:pt x="0" y="1447799"/>
                  </a:lnTo>
                  <a:lnTo>
                    <a:pt x="0" y="114299"/>
                  </a:lnTo>
                  <a:lnTo>
                    <a:pt x="8700" y="70558"/>
                  </a:lnTo>
                  <a:lnTo>
                    <a:pt x="33477" y="33477"/>
                  </a:lnTo>
                  <a:lnTo>
                    <a:pt x="70558" y="8700"/>
                  </a:lnTo>
                  <a:lnTo>
                    <a:pt x="114299" y="0"/>
                  </a:lnTo>
                  <a:lnTo>
                    <a:pt x="4048124" y="0"/>
                  </a:lnTo>
                  <a:lnTo>
                    <a:pt x="4091863" y="8700"/>
                  </a:lnTo>
                  <a:lnTo>
                    <a:pt x="4111311" y="19049"/>
                  </a:lnTo>
                  <a:lnTo>
                    <a:pt x="108045" y="19049"/>
                  </a:lnTo>
                  <a:lnTo>
                    <a:pt x="101851" y="19660"/>
                  </a:lnTo>
                  <a:lnTo>
                    <a:pt x="56181" y="38577"/>
                  </a:lnTo>
                  <a:lnTo>
                    <a:pt x="28693" y="72071"/>
                  </a:lnTo>
                  <a:lnTo>
                    <a:pt x="19049" y="108045"/>
                  </a:lnTo>
                  <a:lnTo>
                    <a:pt x="19049" y="1454054"/>
                  </a:lnTo>
                  <a:lnTo>
                    <a:pt x="19542" y="1459059"/>
                  </a:lnTo>
                  <a:lnTo>
                    <a:pt x="19659" y="1460248"/>
                  </a:lnTo>
                  <a:lnTo>
                    <a:pt x="38577" y="1505917"/>
                  </a:lnTo>
                  <a:lnTo>
                    <a:pt x="72071" y="1533405"/>
                  </a:lnTo>
                  <a:lnTo>
                    <a:pt x="108045" y="1543049"/>
                  </a:lnTo>
                  <a:lnTo>
                    <a:pt x="4111309" y="1543049"/>
                  </a:lnTo>
                  <a:lnTo>
                    <a:pt x="4102058" y="1548587"/>
                  </a:lnTo>
                  <a:lnTo>
                    <a:pt x="4091863" y="1553398"/>
                  </a:lnTo>
                  <a:lnTo>
                    <a:pt x="4081253" y="1557204"/>
                  </a:lnTo>
                  <a:lnTo>
                    <a:pt x="4070426" y="1559923"/>
                  </a:lnTo>
                  <a:lnTo>
                    <a:pt x="4059383" y="1561555"/>
                  </a:lnTo>
                  <a:lnTo>
                    <a:pt x="4048124" y="1562099"/>
                  </a:lnTo>
                  <a:close/>
                </a:path>
                <a:path w="4162425" h="1562100">
                  <a:moveTo>
                    <a:pt x="4111309" y="1543049"/>
                  </a:moveTo>
                  <a:lnTo>
                    <a:pt x="4054378" y="1543049"/>
                  </a:lnTo>
                  <a:lnTo>
                    <a:pt x="4060572" y="1542439"/>
                  </a:lnTo>
                  <a:lnTo>
                    <a:pt x="4072840" y="1539999"/>
                  </a:lnTo>
                  <a:lnTo>
                    <a:pt x="4111053" y="1519574"/>
                  </a:lnTo>
                  <a:lnTo>
                    <a:pt x="4138517" y="1478472"/>
                  </a:lnTo>
                  <a:lnTo>
                    <a:pt x="4143375" y="1454054"/>
                  </a:lnTo>
                  <a:lnTo>
                    <a:pt x="4143375" y="108045"/>
                  </a:lnTo>
                  <a:lnTo>
                    <a:pt x="4130796" y="66582"/>
                  </a:lnTo>
                  <a:lnTo>
                    <a:pt x="4095842" y="31627"/>
                  </a:lnTo>
                  <a:lnTo>
                    <a:pt x="4054378" y="19049"/>
                  </a:lnTo>
                  <a:lnTo>
                    <a:pt x="4111311" y="19049"/>
                  </a:lnTo>
                  <a:lnTo>
                    <a:pt x="4143178" y="50785"/>
                  </a:lnTo>
                  <a:lnTo>
                    <a:pt x="4160248" y="91996"/>
                  </a:lnTo>
                  <a:lnTo>
                    <a:pt x="4162424" y="1447799"/>
                  </a:lnTo>
                  <a:lnTo>
                    <a:pt x="4161880" y="1459059"/>
                  </a:lnTo>
                  <a:lnTo>
                    <a:pt x="4148911" y="1501734"/>
                  </a:lnTo>
                  <a:lnTo>
                    <a:pt x="4120599" y="1536198"/>
                  </a:lnTo>
                  <a:lnTo>
                    <a:pt x="4111637" y="1542854"/>
                  </a:lnTo>
                  <a:lnTo>
                    <a:pt x="4111309" y="1543049"/>
                  </a:lnTo>
                  <a:close/>
                </a:path>
              </a:pathLst>
            </a:custGeom>
            <a:solidFill>
              <a:srgbClr val="4ADE80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7639048" y="4143374"/>
              <a:ext cx="3743325" cy="76200"/>
            </a:xfrm>
            <a:custGeom>
              <a:avLst/>
              <a:gdLst/>
              <a:ahLst/>
              <a:cxnLst/>
              <a:rect l="l" t="t" r="r" b="b"/>
              <a:pathLst>
                <a:path w="3743325" h="76200">
                  <a:moveTo>
                    <a:pt x="3710277" y="76199"/>
                  </a:moveTo>
                  <a:lnTo>
                    <a:pt x="33047" y="76199"/>
                  </a:lnTo>
                  <a:lnTo>
                    <a:pt x="28187" y="75232"/>
                  </a:lnTo>
                  <a:lnTo>
                    <a:pt x="966" y="48011"/>
                  </a:lnTo>
                  <a:lnTo>
                    <a:pt x="0" y="43152"/>
                  </a:lnTo>
                  <a:lnTo>
                    <a:pt x="0" y="380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3710277" y="0"/>
                  </a:lnTo>
                  <a:lnTo>
                    <a:pt x="3742357" y="28187"/>
                  </a:lnTo>
                  <a:lnTo>
                    <a:pt x="3743325" y="33047"/>
                  </a:lnTo>
                  <a:lnTo>
                    <a:pt x="3743325" y="43152"/>
                  </a:lnTo>
                  <a:lnTo>
                    <a:pt x="3715137" y="75232"/>
                  </a:lnTo>
                  <a:lnTo>
                    <a:pt x="3710277" y="76199"/>
                  </a:lnTo>
                  <a:close/>
                </a:path>
              </a:pathLst>
            </a:custGeom>
            <a:solidFill>
              <a:srgbClr val="0918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639049" y="4143374"/>
              <a:ext cx="2809875" cy="76200"/>
            </a:xfrm>
            <a:custGeom>
              <a:avLst/>
              <a:gdLst/>
              <a:ahLst/>
              <a:cxnLst/>
              <a:rect l="l" t="t" r="r" b="b"/>
              <a:pathLst>
                <a:path w="2809875" h="76200">
                  <a:moveTo>
                    <a:pt x="2809874" y="76199"/>
                  </a:moveTo>
                  <a:lnTo>
                    <a:pt x="38100" y="76199"/>
                  </a:lnTo>
                  <a:lnTo>
                    <a:pt x="30498" y="75502"/>
                  </a:lnTo>
                  <a:lnTo>
                    <a:pt x="697" y="45701"/>
                  </a:lnTo>
                  <a:lnTo>
                    <a:pt x="0" y="38100"/>
                  </a:lnTo>
                  <a:lnTo>
                    <a:pt x="697" y="30498"/>
                  </a:lnTo>
                  <a:lnTo>
                    <a:pt x="30498" y="697"/>
                  </a:lnTo>
                  <a:lnTo>
                    <a:pt x="38100" y="0"/>
                  </a:lnTo>
                  <a:lnTo>
                    <a:pt x="2809874" y="0"/>
                  </a:lnTo>
                  <a:lnTo>
                    <a:pt x="2809874" y="76199"/>
                  </a:lnTo>
                  <a:close/>
                </a:path>
              </a:pathLst>
            </a:custGeom>
            <a:solidFill>
              <a:srgbClr val="4ADE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659885" y="3394074"/>
              <a:ext cx="209550" cy="168275"/>
            </a:xfrm>
            <a:prstGeom prst="rect">
              <a:avLst/>
            </a:prstGeom>
          </p:spPr>
        </p:pic>
      </p:grpSp>
      <p:sp>
        <p:nvSpPr>
          <p:cNvPr id="48" name="object 48"/>
          <p:cNvSpPr txBox="1"/>
          <p:nvPr/>
        </p:nvSpPr>
        <p:spPr>
          <a:xfrm>
            <a:off x="7951985" y="3318668"/>
            <a:ext cx="2078989" cy="2800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650" b="1" spc="-85" dirty="0">
                <a:solidFill>
                  <a:srgbClr val="FFFFFF"/>
                </a:solidFill>
                <a:latin typeface="Trebuchet MS"/>
                <a:cs typeface="Trebuchet MS"/>
              </a:rPr>
              <a:t>Real-</a:t>
            </a:r>
            <a:r>
              <a:rPr sz="1650" b="1" spc="-120" dirty="0">
                <a:solidFill>
                  <a:srgbClr val="FFFFFF"/>
                </a:solidFill>
                <a:latin typeface="Trebuchet MS"/>
                <a:cs typeface="Trebuchet MS"/>
              </a:rPr>
              <a:t>Time</a:t>
            </a:r>
            <a:r>
              <a:rPr sz="1650" b="1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50" b="1" spc="-100" dirty="0">
                <a:solidFill>
                  <a:srgbClr val="FFFFFF"/>
                </a:solidFill>
                <a:latin typeface="Trebuchet MS"/>
                <a:cs typeface="Trebuchet MS"/>
              </a:rPr>
              <a:t>Performance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7628135" y="3761104"/>
            <a:ext cx="991235" cy="2292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00" spc="-65" dirty="0">
                <a:solidFill>
                  <a:srgbClr val="9CA2AF"/>
                </a:solidFill>
                <a:latin typeface="Arial MT"/>
                <a:cs typeface="Arial MT"/>
              </a:rPr>
              <a:t>Achieved</a:t>
            </a:r>
            <a:r>
              <a:rPr sz="1300" spc="-20" dirty="0">
                <a:solidFill>
                  <a:srgbClr val="9CA2AF"/>
                </a:solidFill>
                <a:latin typeface="Arial MT"/>
                <a:cs typeface="Arial MT"/>
              </a:rPr>
              <a:t> </a:t>
            </a:r>
            <a:r>
              <a:rPr sz="1300" spc="-110" dirty="0">
                <a:solidFill>
                  <a:srgbClr val="9CA2AF"/>
                </a:solidFill>
                <a:latin typeface="Arial MT"/>
                <a:cs typeface="Arial MT"/>
              </a:rPr>
              <a:t>FPS: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0856366" y="3669897"/>
            <a:ext cx="538480" cy="3956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00" b="1" spc="-80" dirty="0">
                <a:solidFill>
                  <a:srgbClr val="86EFAB"/>
                </a:solidFill>
                <a:latin typeface="Roboto"/>
                <a:cs typeface="Roboto"/>
              </a:rPr>
              <a:t>~30</a:t>
            </a:r>
            <a:endParaRPr sz="2400">
              <a:latin typeface="Roboto"/>
              <a:cs typeface="Roboto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7628135" y="4273032"/>
            <a:ext cx="2143760" cy="2089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i="1" spc="-80" dirty="0">
                <a:solidFill>
                  <a:srgbClr val="9CA2AF"/>
                </a:solidFill>
                <a:latin typeface="Roboto Lt"/>
                <a:cs typeface="Roboto Lt"/>
              </a:rPr>
              <a:t>Measured</a:t>
            </a:r>
            <a:r>
              <a:rPr sz="1200" i="1" spc="-10" dirty="0">
                <a:solidFill>
                  <a:srgbClr val="9CA2AF"/>
                </a:solidFill>
                <a:latin typeface="Roboto Lt"/>
                <a:cs typeface="Roboto Lt"/>
              </a:rPr>
              <a:t> </a:t>
            </a:r>
            <a:r>
              <a:rPr sz="1200" i="1" spc="-90" dirty="0">
                <a:solidFill>
                  <a:srgbClr val="9CA2AF"/>
                </a:solidFill>
                <a:latin typeface="Roboto Lt"/>
                <a:cs typeface="Roboto Lt"/>
              </a:rPr>
              <a:t>on</a:t>
            </a:r>
            <a:r>
              <a:rPr sz="1200" i="1" spc="-5" dirty="0">
                <a:solidFill>
                  <a:srgbClr val="9CA2AF"/>
                </a:solidFill>
                <a:latin typeface="Roboto Lt"/>
                <a:cs typeface="Roboto Lt"/>
              </a:rPr>
              <a:t> </a:t>
            </a:r>
            <a:r>
              <a:rPr sz="1200" i="1" spc="-80" dirty="0">
                <a:solidFill>
                  <a:srgbClr val="9CA2AF"/>
                </a:solidFill>
                <a:latin typeface="Roboto Lt"/>
                <a:cs typeface="Roboto Lt"/>
              </a:rPr>
              <a:t>development</a:t>
            </a:r>
            <a:r>
              <a:rPr sz="1200" i="1" spc="-5" dirty="0">
                <a:solidFill>
                  <a:srgbClr val="9CA2AF"/>
                </a:solidFill>
                <a:latin typeface="Roboto Lt"/>
                <a:cs typeface="Roboto Lt"/>
              </a:rPr>
              <a:t> </a:t>
            </a:r>
            <a:r>
              <a:rPr sz="1200" i="1" spc="-55" dirty="0">
                <a:solidFill>
                  <a:srgbClr val="9CA2AF"/>
                </a:solidFill>
                <a:latin typeface="Roboto Lt"/>
                <a:cs typeface="Roboto Lt"/>
              </a:rPr>
              <a:t>machine</a:t>
            </a:r>
            <a:endParaRPr sz="1200">
              <a:latin typeface="Roboto Lt"/>
              <a:cs typeface="Roboto Lt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7429499" y="4848224"/>
            <a:ext cx="4162425" cy="800100"/>
            <a:chOff x="7429499" y="4848224"/>
            <a:chExt cx="4162425" cy="800100"/>
          </a:xfrm>
        </p:grpSpPr>
        <p:sp>
          <p:nvSpPr>
            <p:cNvPr id="53" name="object 53"/>
            <p:cNvSpPr/>
            <p:nvPr/>
          </p:nvSpPr>
          <p:spPr>
            <a:xfrm>
              <a:off x="7429499" y="4848224"/>
              <a:ext cx="4162425" cy="800100"/>
            </a:xfrm>
            <a:custGeom>
              <a:avLst/>
              <a:gdLst/>
              <a:ahLst/>
              <a:cxnLst/>
              <a:rect l="l" t="t" r="r" b="b"/>
              <a:pathLst>
                <a:path w="4162425" h="800100">
                  <a:moveTo>
                    <a:pt x="4048124" y="800099"/>
                  </a:moveTo>
                  <a:lnTo>
                    <a:pt x="114299" y="800099"/>
                  </a:lnTo>
                  <a:lnTo>
                    <a:pt x="103040" y="799555"/>
                  </a:lnTo>
                  <a:lnTo>
                    <a:pt x="60363" y="786587"/>
                  </a:lnTo>
                  <a:lnTo>
                    <a:pt x="25899" y="758275"/>
                  </a:lnTo>
                  <a:lnTo>
                    <a:pt x="4893" y="718929"/>
                  </a:lnTo>
                  <a:lnTo>
                    <a:pt x="0" y="68579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8" y="8700"/>
                  </a:lnTo>
                  <a:lnTo>
                    <a:pt x="114299" y="0"/>
                  </a:lnTo>
                  <a:lnTo>
                    <a:pt x="4048124" y="0"/>
                  </a:lnTo>
                  <a:lnTo>
                    <a:pt x="4091863" y="8700"/>
                  </a:lnTo>
                  <a:lnTo>
                    <a:pt x="4128945" y="33477"/>
                  </a:lnTo>
                  <a:lnTo>
                    <a:pt x="4153722" y="70559"/>
                  </a:lnTo>
                  <a:lnTo>
                    <a:pt x="4162424" y="114299"/>
                  </a:lnTo>
                  <a:lnTo>
                    <a:pt x="4162424" y="685799"/>
                  </a:lnTo>
                  <a:lnTo>
                    <a:pt x="4153722" y="729539"/>
                  </a:lnTo>
                  <a:lnTo>
                    <a:pt x="4128945" y="766621"/>
                  </a:lnTo>
                  <a:lnTo>
                    <a:pt x="4091863" y="791398"/>
                  </a:lnTo>
                  <a:lnTo>
                    <a:pt x="4048124" y="800099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7429499" y="4848224"/>
              <a:ext cx="4162425" cy="800100"/>
            </a:xfrm>
            <a:custGeom>
              <a:avLst/>
              <a:gdLst/>
              <a:ahLst/>
              <a:cxnLst/>
              <a:rect l="l" t="t" r="r" b="b"/>
              <a:pathLst>
                <a:path w="4162425" h="800100">
                  <a:moveTo>
                    <a:pt x="4048124" y="800099"/>
                  </a:moveTo>
                  <a:lnTo>
                    <a:pt x="114299" y="800099"/>
                  </a:lnTo>
                  <a:lnTo>
                    <a:pt x="103040" y="799555"/>
                  </a:lnTo>
                  <a:lnTo>
                    <a:pt x="60363" y="786587"/>
                  </a:lnTo>
                  <a:lnTo>
                    <a:pt x="25899" y="758275"/>
                  </a:lnTo>
                  <a:lnTo>
                    <a:pt x="4893" y="718929"/>
                  </a:lnTo>
                  <a:lnTo>
                    <a:pt x="0" y="68579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8" y="8700"/>
                  </a:lnTo>
                  <a:lnTo>
                    <a:pt x="114299" y="0"/>
                  </a:lnTo>
                  <a:lnTo>
                    <a:pt x="4048124" y="0"/>
                  </a:lnTo>
                  <a:lnTo>
                    <a:pt x="4091863" y="8700"/>
                  </a:lnTo>
                  <a:lnTo>
                    <a:pt x="4111311" y="19049"/>
                  </a:lnTo>
                  <a:lnTo>
                    <a:pt x="108045" y="19049"/>
                  </a:lnTo>
                  <a:lnTo>
                    <a:pt x="101851" y="19659"/>
                  </a:lnTo>
                  <a:lnTo>
                    <a:pt x="56181" y="38577"/>
                  </a:lnTo>
                  <a:lnTo>
                    <a:pt x="28693" y="72071"/>
                  </a:lnTo>
                  <a:lnTo>
                    <a:pt x="19049" y="108045"/>
                  </a:lnTo>
                  <a:lnTo>
                    <a:pt x="19049" y="692054"/>
                  </a:lnTo>
                  <a:lnTo>
                    <a:pt x="31627" y="733517"/>
                  </a:lnTo>
                  <a:lnTo>
                    <a:pt x="66581" y="768471"/>
                  </a:lnTo>
                  <a:lnTo>
                    <a:pt x="108045" y="781049"/>
                  </a:lnTo>
                  <a:lnTo>
                    <a:pt x="4111309" y="781049"/>
                  </a:lnTo>
                  <a:lnTo>
                    <a:pt x="4102058" y="786587"/>
                  </a:lnTo>
                  <a:lnTo>
                    <a:pt x="4091863" y="791398"/>
                  </a:lnTo>
                  <a:lnTo>
                    <a:pt x="4081253" y="795204"/>
                  </a:lnTo>
                  <a:lnTo>
                    <a:pt x="4070426" y="797924"/>
                  </a:lnTo>
                  <a:lnTo>
                    <a:pt x="4059383" y="799555"/>
                  </a:lnTo>
                  <a:lnTo>
                    <a:pt x="4048124" y="800099"/>
                  </a:lnTo>
                  <a:close/>
                </a:path>
                <a:path w="4162425" h="800100">
                  <a:moveTo>
                    <a:pt x="4111309" y="781049"/>
                  </a:moveTo>
                  <a:lnTo>
                    <a:pt x="4054378" y="781049"/>
                  </a:lnTo>
                  <a:lnTo>
                    <a:pt x="4060572" y="780439"/>
                  </a:lnTo>
                  <a:lnTo>
                    <a:pt x="4072840" y="777999"/>
                  </a:lnTo>
                  <a:lnTo>
                    <a:pt x="4111053" y="757574"/>
                  </a:lnTo>
                  <a:lnTo>
                    <a:pt x="4138517" y="716472"/>
                  </a:lnTo>
                  <a:lnTo>
                    <a:pt x="4143375" y="692054"/>
                  </a:lnTo>
                  <a:lnTo>
                    <a:pt x="4143375" y="108045"/>
                  </a:lnTo>
                  <a:lnTo>
                    <a:pt x="4130796" y="66582"/>
                  </a:lnTo>
                  <a:lnTo>
                    <a:pt x="4095842" y="31627"/>
                  </a:lnTo>
                  <a:lnTo>
                    <a:pt x="4054378" y="19049"/>
                  </a:lnTo>
                  <a:lnTo>
                    <a:pt x="4111311" y="19049"/>
                  </a:lnTo>
                  <a:lnTo>
                    <a:pt x="4143178" y="50785"/>
                  </a:lnTo>
                  <a:lnTo>
                    <a:pt x="4160248" y="91996"/>
                  </a:lnTo>
                  <a:lnTo>
                    <a:pt x="4162424" y="685799"/>
                  </a:lnTo>
                  <a:lnTo>
                    <a:pt x="4161880" y="697059"/>
                  </a:lnTo>
                  <a:lnTo>
                    <a:pt x="4148911" y="739734"/>
                  </a:lnTo>
                  <a:lnTo>
                    <a:pt x="4120599" y="774199"/>
                  </a:lnTo>
                  <a:lnTo>
                    <a:pt x="4111637" y="780854"/>
                  </a:lnTo>
                  <a:lnTo>
                    <a:pt x="4111309" y="781049"/>
                  </a:lnTo>
                  <a:close/>
                </a:path>
              </a:pathLst>
            </a:custGeom>
            <a:solidFill>
              <a:srgbClr val="60A5FA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666235" y="5159374"/>
              <a:ext cx="177800" cy="177800"/>
            </a:xfrm>
            <a:prstGeom prst="rect">
              <a:avLst/>
            </a:prstGeom>
          </p:spPr>
        </p:pic>
      </p:grpSp>
      <p:sp>
        <p:nvSpPr>
          <p:cNvPr id="56" name="object 56"/>
          <p:cNvSpPr txBox="1"/>
          <p:nvPr/>
        </p:nvSpPr>
        <p:spPr>
          <a:xfrm>
            <a:off x="8009135" y="4974208"/>
            <a:ext cx="1416050" cy="4826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90"/>
              </a:spcBef>
            </a:pPr>
            <a:r>
              <a:rPr sz="1300" spc="-10" dirty="0">
                <a:solidFill>
                  <a:srgbClr val="D0D5DA"/>
                </a:solidFill>
                <a:latin typeface="Tahoma"/>
                <a:cs typeface="Tahoma"/>
              </a:rPr>
              <a:t>Models</a:t>
            </a:r>
            <a:r>
              <a:rPr sz="1300" spc="-90" dirty="0">
                <a:solidFill>
                  <a:srgbClr val="D0D5DA"/>
                </a:solidFill>
                <a:latin typeface="Tahoma"/>
                <a:cs typeface="Tahoma"/>
              </a:rPr>
              <a:t> </a:t>
            </a:r>
            <a:r>
              <a:rPr sz="1300" spc="-40" dirty="0">
                <a:solidFill>
                  <a:srgbClr val="D0D5DA"/>
                </a:solidFill>
                <a:latin typeface="Tahoma"/>
                <a:cs typeface="Tahoma"/>
              </a:rPr>
              <a:t>tested</a:t>
            </a:r>
            <a:r>
              <a:rPr sz="1300" spc="-90" dirty="0">
                <a:solidFill>
                  <a:srgbClr val="D0D5DA"/>
                </a:solidFill>
                <a:latin typeface="Tahoma"/>
                <a:cs typeface="Tahoma"/>
              </a:rPr>
              <a:t> </a:t>
            </a:r>
            <a:r>
              <a:rPr sz="1300" spc="-60" dirty="0">
                <a:solidFill>
                  <a:srgbClr val="D0D5DA"/>
                </a:solidFill>
                <a:latin typeface="Tahoma"/>
                <a:cs typeface="Tahoma"/>
              </a:rPr>
              <a:t>under </a:t>
            </a:r>
            <a:r>
              <a:rPr sz="1300" b="1" spc="-50" dirty="0">
                <a:solidFill>
                  <a:srgbClr val="FFFFFF"/>
                </a:solidFill>
                <a:latin typeface="Roboto"/>
                <a:cs typeface="Roboto"/>
              </a:rPr>
              <a:t>identical</a:t>
            </a:r>
            <a:r>
              <a:rPr sz="1300" b="1" spc="-1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300" b="1" spc="-25" dirty="0">
                <a:solidFill>
                  <a:srgbClr val="FFFFFF"/>
                </a:solidFill>
                <a:latin typeface="Roboto"/>
                <a:cs typeface="Roboto"/>
              </a:rPr>
              <a:t>conditions</a:t>
            </a:r>
            <a:endParaRPr sz="13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054" y="0"/>
            <a:ext cx="12186592" cy="6870065"/>
          </a:xfrm>
          <a:custGeom>
            <a:avLst/>
            <a:gdLst/>
            <a:ahLst/>
            <a:cxnLst/>
            <a:rect l="l" t="t" r="r" b="b"/>
            <a:pathLst>
              <a:path w="11590655" h="6870065">
                <a:moveTo>
                  <a:pt x="11590368" y="6869755"/>
                </a:moveTo>
                <a:lnTo>
                  <a:pt x="0" y="6869755"/>
                </a:lnTo>
                <a:lnTo>
                  <a:pt x="0" y="0"/>
                </a:lnTo>
                <a:lnTo>
                  <a:pt x="11590368" y="0"/>
                </a:lnTo>
                <a:lnTo>
                  <a:pt x="11590368" y="6869755"/>
                </a:lnTo>
                <a:close/>
              </a:path>
            </a:pathLst>
          </a:custGeom>
          <a:solidFill>
            <a:srgbClr val="0932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054" y="751562"/>
            <a:ext cx="11590655" cy="18415"/>
          </a:xfrm>
          <a:custGeom>
            <a:avLst/>
            <a:gdLst/>
            <a:ahLst/>
            <a:cxnLst/>
            <a:rect l="l" t="t" r="r" b="b"/>
            <a:pathLst>
              <a:path w="11590655" h="18415">
                <a:moveTo>
                  <a:pt x="11590369" y="18109"/>
                </a:moveTo>
                <a:lnTo>
                  <a:pt x="0" y="18109"/>
                </a:lnTo>
                <a:lnTo>
                  <a:pt x="0" y="0"/>
                </a:lnTo>
                <a:lnTo>
                  <a:pt x="11590369" y="0"/>
                </a:lnTo>
                <a:lnTo>
                  <a:pt x="11590369" y="18109"/>
                </a:lnTo>
                <a:close/>
              </a:path>
            </a:pathLst>
          </a:custGeom>
          <a:solidFill>
            <a:srgbClr val="FFD600">
              <a:alpha val="3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spc="-395" dirty="0"/>
              <a:t>Deployment</a:t>
            </a:r>
            <a:r>
              <a:rPr sz="3300" spc="-229" dirty="0"/>
              <a:t> </a:t>
            </a:r>
            <a:r>
              <a:rPr sz="3300" spc="-365" dirty="0"/>
              <a:t>Architecture</a:t>
            </a:r>
            <a:endParaRPr sz="3300"/>
          </a:p>
        </p:txBody>
      </p:sp>
      <p:grpSp>
        <p:nvGrpSpPr>
          <p:cNvPr id="5" name="object 5"/>
          <p:cNvGrpSpPr/>
          <p:nvPr/>
        </p:nvGrpSpPr>
        <p:grpSpPr>
          <a:xfrm>
            <a:off x="588573" y="986992"/>
            <a:ext cx="4084320" cy="5270500"/>
            <a:chOff x="588573" y="986992"/>
            <a:chExt cx="4084320" cy="527050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8573" y="986992"/>
              <a:ext cx="4083794" cy="526999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6832" y="1235601"/>
              <a:ext cx="215900" cy="19050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101062" y="1148971"/>
            <a:ext cx="1605280" cy="316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00" b="1" spc="-175" dirty="0">
                <a:solidFill>
                  <a:srgbClr val="FFFFFF"/>
                </a:solidFill>
                <a:latin typeface="Arial"/>
                <a:cs typeface="Arial"/>
              </a:rPr>
              <a:t>System</a:t>
            </a:r>
            <a:r>
              <a:rPr sz="19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0" b="1" spc="-130" dirty="0">
                <a:solidFill>
                  <a:srgbClr val="FFFFFF"/>
                </a:solidFill>
                <a:latin typeface="Arial"/>
                <a:cs typeface="Arial"/>
              </a:rPr>
              <a:t>Pipeline</a:t>
            </a:r>
            <a:endParaRPr sz="19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09351" y="1759879"/>
            <a:ext cx="119380" cy="2349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50" b="1" spc="-50" dirty="0">
                <a:solidFill>
                  <a:srgbClr val="FFD600"/>
                </a:solidFill>
                <a:latin typeface="Gadugi"/>
                <a:cs typeface="Gadugi"/>
              </a:rPr>
              <a:t>1</a:t>
            </a:r>
            <a:endParaRPr sz="1350">
              <a:latin typeface="Gadugi"/>
              <a:cs typeface="Gadug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90821" y="1643687"/>
            <a:ext cx="1374775" cy="44386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1250" spc="-40" dirty="0">
                <a:solidFill>
                  <a:srgbClr val="FFFFFF"/>
                </a:solidFill>
                <a:latin typeface="Arial MT"/>
                <a:cs typeface="Arial MT"/>
              </a:rPr>
              <a:t>Input</a:t>
            </a:r>
            <a:r>
              <a:rPr sz="125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Arial MT"/>
                <a:cs typeface="Arial MT"/>
              </a:rPr>
              <a:t>Sources</a:t>
            </a:r>
            <a:endParaRPr sz="12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1100" spc="-85" dirty="0">
                <a:solidFill>
                  <a:srgbClr val="9CA2AF"/>
                </a:solidFill>
                <a:latin typeface="Arial MT"/>
                <a:cs typeface="Arial MT"/>
              </a:rPr>
              <a:t>Webcam,</a:t>
            </a:r>
            <a:r>
              <a:rPr sz="1100" spc="-40" dirty="0">
                <a:solidFill>
                  <a:srgbClr val="9CA2AF"/>
                </a:solidFill>
                <a:latin typeface="Arial MT"/>
                <a:cs typeface="Arial MT"/>
              </a:rPr>
              <a:t> </a:t>
            </a:r>
            <a:r>
              <a:rPr sz="1100" spc="-65" dirty="0">
                <a:solidFill>
                  <a:srgbClr val="9CA2AF"/>
                </a:solidFill>
                <a:latin typeface="Arial MT"/>
                <a:cs typeface="Arial MT"/>
              </a:rPr>
              <a:t>Video,</a:t>
            </a:r>
            <a:r>
              <a:rPr sz="1100" spc="-35" dirty="0">
                <a:solidFill>
                  <a:srgbClr val="9CA2AF"/>
                </a:solidFill>
                <a:latin typeface="Arial MT"/>
                <a:cs typeface="Arial MT"/>
              </a:rPr>
              <a:t> </a:t>
            </a:r>
            <a:r>
              <a:rPr sz="1100" spc="-45" dirty="0">
                <a:solidFill>
                  <a:srgbClr val="9CA2AF"/>
                </a:solidFill>
                <a:latin typeface="Arial MT"/>
                <a:cs typeface="Arial MT"/>
              </a:rPr>
              <a:t>Images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09351" y="2410182"/>
            <a:ext cx="119380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b="1" spc="-50" dirty="0">
                <a:solidFill>
                  <a:srgbClr val="60A5FA"/>
                </a:solidFill>
                <a:latin typeface="Gadugi"/>
                <a:cs typeface="Gadugi"/>
              </a:rPr>
              <a:t>2</a:t>
            </a:r>
            <a:endParaRPr sz="1350">
              <a:latin typeface="Gadugi"/>
              <a:cs typeface="Gadug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90821" y="2295646"/>
            <a:ext cx="1419225" cy="44386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1250" spc="-10" dirty="0">
                <a:solidFill>
                  <a:srgbClr val="FFFFFF"/>
                </a:solidFill>
                <a:latin typeface="Arial MT"/>
                <a:cs typeface="Arial MT"/>
              </a:rPr>
              <a:t>Preprocessing</a:t>
            </a:r>
            <a:endParaRPr sz="12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1100" spc="-105" dirty="0">
                <a:solidFill>
                  <a:srgbClr val="9CA2AF"/>
                </a:solidFill>
                <a:latin typeface="Arial MT"/>
                <a:cs typeface="Arial MT"/>
              </a:rPr>
              <a:t>OpenCV</a:t>
            </a:r>
            <a:r>
              <a:rPr sz="1100" spc="-35" dirty="0">
                <a:solidFill>
                  <a:srgbClr val="9CA2AF"/>
                </a:solidFill>
                <a:latin typeface="Arial MT"/>
                <a:cs typeface="Arial MT"/>
              </a:rPr>
              <a:t> </a:t>
            </a:r>
            <a:r>
              <a:rPr sz="1100" spc="-50" dirty="0">
                <a:solidFill>
                  <a:srgbClr val="9CA2AF"/>
                </a:solidFill>
                <a:latin typeface="Arial MT"/>
                <a:cs typeface="Arial MT"/>
              </a:rPr>
              <a:t>capture</a:t>
            </a:r>
            <a:r>
              <a:rPr sz="1100" spc="-35" dirty="0">
                <a:solidFill>
                  <a:srgbClr val="9CA2AF"/>
                </a:solidFill>
                <a:latin typeface="Arial MT"/>
                <a:cs typeface="Arial MT"/>
              </a:rPr>
              <a:t> </a:t>
            </a:r>
            <a:r>
              <a:rPr sz="1100" spc="-120" dirty="0">
                <a:solidFill>
                  <a:srgbClr val="9CA2AF"/>
                </a:solidFill>
                <a:latin typeface="Arial MT"/>
                <a:cs typeface="Arial MT"/>
              </a:rPr>
              <a:t>&amp;</a:t>
            </a:r>
            <a:r>
              <a:rPr sz="1100" spc="-35" dirty="0">
                <a:solidFill>
                  <a:srgbClr val="9CA2AF"/>
                </a:solidFill>
                <a:latin typeface="Arial MT"/>
                <a:cs typeface="Arial MT"/>
              </a:rPr>
              <a:t> </a:t>
            </a:r>
            <a:r>
              <a:rPr sz="1100" spc="-45" dirty="0">
                <a:solidFill>
                  <a:srgbClr val="9CA2AF"/>
                </a:solidFill>
                <a:latin typeface="Arial MT"/>
                <a:cs typeface="Arial MT"/>
              </a:rPr>
              <a:t>resize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09351" y="3062140"/>
            <a:ext cx="119380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b="1" spc="-50" dirty="0">
                <a:solidFill>
                  <a:srgbClr val="BF83FB"/>
                </a:solidFill>
                <a:latin typeface="Gadugi"/>
                <a:cs typeface="Gadugi"/>
              </a:rPr>
              <a:t>3</a:t>
            </a:r>
            <a:endParaRPr sz="1350">
              <a:latin typeface="Gadugi"/>
              <a:cs typeface="Gadug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90821" y="2947604"/>
            <a:ext cx="1282700" cy="44386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1250" spc="-10" dirty="0">
                <a:solidFill>
                  <a:srgbClr val="FFFFFF"/>
                </a:solidFill>
                <a:latin typeface="Arial MT"/>
                <a:cs typeface="Arial MT"/>
              </a:rPr>
              <a:t>Inference</a:t>
            </a:r>
            <a:endParaRPr sz="12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1100" spc="-155" dirty="0">
                <a:solidFill>
                  <a:srgbClr val="9CA2AF"/>
                </a:solidFill>
                <a:latin typeface="Arial MT"/>
                <a:cs typeface="Arial MT"/>
              </a:rPr>
              <a:t>YOLO</a:t>
            </a:r>
            <a:r>
              <a:rPr sz="1100" spc="-45" dirty="0">
                <a:solidFill>
                  <a:srgbClr val="9CA2AF"/>
                </a:solidFill>
                <a:latin typeface="Arial MT"/>
                <a:cs typeface="Arial MT"/>
              </a:rPr>
              <a:t> model</a:t>
            </a:r>
            <a:r>
              <a:rPr sz="1100" spc="-40" dirty="0">
                <a:solidFill>
                  <a:srgbClr val="9CA2AF"/>
                </a:solidFill>
                <a:latin typeface="Arial MT"/>
                <a:cs typeface="Arial MT"/>
              </a:rPr>
              <a:t> </a:t>
            </a:r>
            <a:r>
              <a:rPr sz="1100" spc="-35" dirty="0">
                <a:solidFill>
                  <a:srgbClr val="9CA2AF"/>
                </a:solidFill>
                <a:latin typeface="Arial MT"/>
                <a:cs typeface="Arial MT"/>
              </a:rPr>
              <a:t>detection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09351" y="3715990"/>
            <a:ext cx="119380" cy="2343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50" b="1" spc="-50" dirty="0">
                <a:solidFill>
                  <a:srgbClr val="4ADE80"/>
                </a:solidFill>
                <a:latin typeface="Gadugi"/>
                <a:cs typeface="Gadugi"/>
              </a:rPr>
              <a:t>4</a:t>
            </a:r>
            <a:endParaRPr sz="1350">
              <a:latin typeface="Gadugi"/>
              <a:cs typeface="Gadug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90821" y="3599562"/>
            <a:ext cx="1157605" cy="44386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1250" spc="-10" dirty="0">
                <a:solidFill>
                  <a:srgbClr val="FFFFFF"/>
                </a:solidFill>
                <a:latin typeface="Arial MT"/>
                <a:cs typeface="Arial MT"/>
              </a:rPr>
              <a:t>Postprocessing</a:t>
            </a:r>
            <a:endParaRPr sz="12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1100" spc="-80" dirty="0">
                <a:solidFill>
                  <a:srgbClr val="9CA2AF"/>
                </a:solidFill>
                <a:latin typeface="Arial MT"/>
                <a:cs typeface="Arial MT"/>
              </a:rPr>
              <a:t>Draw</a:t>
            </a:r>
            <a:r>
              <a:rPr sz="1100" spc="-50" dirty="0">
                <a:solidFill>
                  <a:srgbClr val="9CA2AF"/>
                </a:solidFill>
                <a:latin typeface="Arial MT"/>
                <a:cs typeface="Arial MT"/>
              </a:rPr>
              <a:t> </a:t>
            </a:r>
            <a:r>
              <a:rPr sz="1100" spc="-60" dirty="0">
                <a:solidFill>
                  <a:srgbClr val="9CA2AF"/>
                </a:solidFill>
                <a:latin typeface="Arial MT"/>
                <a:cs typeface="Arial MT"/>
              </a:rPr>
              <a:t>boxes</a:t>
            </a:r>
            <a:r>
              <a:rPr sz="1100" spc="-50" dirty="0">
                <a:solidFill>
                  <a:srgbClr val="9CA2AF"/>
                </a:solidFill>
                <a:latin typeface="Arial MT"/>
                <a:cs typeface="Arial MT"/>
              </a:rPr>
              <a:t> </a:t>
            </a:r>
            <a:r>
              <a:rPr sz="1100" spc="-120" dirty="0">
                <a:solidFill>
                  <a:srgbClr val="9CA2AF"/>
                </a:solidFill>
                <a:latin typeface="Arial MT"/>
                <a:cs typeface="Arial MT"/>
              </a:rPr>
              <a:t>&amp;</a:t>
            </a:r>
            <a:r>
              <a:rPr sz="1100" spc="-50" dirty="0">
                <a:solidFill>
                  <a:srgbClr val="9CA2AF"/>
                </a:solidFill>
                <a:latin typeface="Arial MT"/>
                <a:cs typeface="Arial MT"/>
              </a:rPr>
              <a:t> </a:t>
            </a:r>
            <a:r>
              <a:rPr sz="1100" spc="-40" dirty="0">
                <a:solidFill>
                  <a:srgbClr val="9CA2AF"/>
                </a:solidFill>
                <a:latin typeface="Arial MT"/>
                <a:cs typeface="Arial MT"/>
              </a:rPr>
              <a:t>labels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09351" y="4367948"/>
            <a:ext cx="119380" cy="2343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50" b="1" spc="-50" dirty="0">
                <a:solidFill>
                  <a:srgbClr val="FA913C"/>
                </a:solidFill>
                <a:latin typeface="Gadugi"/>
                <a:cs typeface="Gadugi"/>
              </a:rPr>
              <a:t>5</a:t>
            </a:r>
            <a:endParaRPr sz="1350">
              <a:latin typeface="Gadugi"/>
              <a:cs typeface="Gadug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390821" y="4251521"/>
            <a:ext cx="1042669" cy="44386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1250" spc="-100" dirty="0">
                <a:solidFill>
                  <a:srgbClr val="FFFFFF"/>
                </a:solidFill>
                <a:latin typeface="Arial MT"/>
                <a:cs typeface="Arial MT"/>
              </a:rPr>
              <a:t>UI</a:t>
            </a:r>
            <a:r>
              <a:rPr sz="125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50" spc="-35" dirty="0">
                <a:solidFill>
                  <a:srgbClr val="FFFFFF"/>
                </a:solidFill>
                <a:latin typeface="Arial MT"/>
                <a:cs typeface="Arial MT"/>
              </a:rPr>
              <a:t>Visualization</a:t>
            </a:r>
            <a:endParaRPr sz="12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1100" spc="-45" dirty="0">
                <a:solidFill>
                  <a:srgbClr val="9CA2AF"/>
                </a:solidFill>
                <a:latin typeface="Arial MT"/>
                <a:cs typeface="Arial MT"/>
              </a:rPr>
              <a:t>Streamlit</a:t>
            </a:r>
            <a:r>
              <a:rPr sz="1100" spc="-30" dirty="0">
                <a:solidFill>
                  <a:srgbClr val="9CA2AF"/>
                </a:solidFill>
                <a:latin typeface="Arial MT"/>
                <a:cs typeface="Arial MT"/>
              </a:rPr>
              <a:t> </a:t>
            </a:r>
            <a:r>
              <a:rPr sz="1100" spc="-60" dirty="0">
                <a:solidFill>
                  <a:srgbClr val="9CA2AF"/>
                </a:solidFill>
                <a:latin typeface="Arial MT"/>
                <a:cs typeface="Arial MT"/>
              </a:rPr>
              <a:t>web</a:t>
            </a:r>
            <a:r>
              <a:rPr sz="1100" spc="-25" dirty="0">
                <a:solidFill>
                  <a:srgbClr val="9CA2AF"/>
                </a:solidFill>
                <a:latin typeface="Arial MT"/>
                <a:cs typeface="Arial MT"/>
              </a:rPr>
              <a:t> </a:t>
            </a:r>
            <a:r>
              <a:rPr sz="1100" spc="-40" dirty="0">
                <a:solidFill>
                  <a:srgbClr val="9CA2AF"/>
                </a:solidFill>
                <a:latin typeface="Arial MT"/>
                <a:cs typeface="Arial MT"/>
              </a:rPr>
              <a:t>app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09351" y="5018545"/>
            <a:ext cx="119380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b="1" spc="-50" dirty="0">
                <a:solidFill>
                  <a:srgbClr val="21D3ED"/>
                </a:solidFill>
                <a:latin typeface="Gadugi"/>
                <a:cs typeface="Gadugi"/>
              </a:rPr>
              <a:t>6</a:t>
            </a:r>
            <a:endParaRPr sz="1350">
              <a:latin typeface="Gadugi"/>
              <a:cs typeface="Gadug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390821" y="4903479"/>
            <a:ext cx="1183005" cy="44386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1250" spc="-40" dirty="0">
                <a:solidFill>
                  <a:srgbClr val="FFFFFF"/>
                </a:solidFill>
                <a:latin typeface="Arial MT"/>
                <a:cs typeface="Arial MT"/>
              </a:rPr>
              <a:t>Analytics</a:t>
            </a:r>
            <a:r>
              <a:rPr sz="12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50" spc="-50" dirty="0">
                <a:solidFill>
                  <a:srgbClr val="FFFFFF"/>
                </a:solidFill>
                <a:latin typeface="Arial MT"/>
                <a:cs typeface="Arial MT"/>
              </a:rPr>
              <a:t>Logging</a:t>
            </a:r>
            <a:endParaRPr sz="12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1100" spc="-50" dirty="0">
                <a:solidFill>
                  <a:srgbClr val="9CA2AF"/>
                </a:solidFill>
                <a:latin typeface="Arial MT"/>
                <a:cs typeface="Arial MT"/>
              </a:rPr>
              <a:t>Detection</a:t>
            </a:r>
            <a:r>
              <a:rPr sz="1100" spc="-5" dirty="0">
                <a:solidFill>
                  <a:srgbClr val="9CA2A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9CA2AF"/>
                </a:solidFill>
                <a:latin typeface="Arial MT"/>
                <a:cs typeface="Arial MT"/>
              </a:rPr>
              <a:t>summary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21" name="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4417" y="5751444"/>
            <a:ext cx="155575" cy="123825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1182556" y="5704838"/>
            <a:ext cx="1918335" cy="1949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00" spc="-100" dirty="0">
                <a:solidFill>
                  <a:srgbClr val="D0D5DA"/>
                </a:solidFill>
                <a:latin typeface="Arial MT"/>
                <a:cs typeface="Arial MT"/>
              </a:rPr>
              <a:t>End-</a:t>
            </a:r>
            <a:r>
              <a:rPr sz="1100" spc="-40" dirty="0">
                <a:solidFill>
                  <a:srgbClr val="D0D5DA"/>
                </a:solidFill>
                <a:latin typeface="Arial MT"/>
                <a:cs typeface="Arial MT"/>
              </a:rPr>
              <a:t>to-</a:t>
            </a:r>
            <a:r>
              <a:rPr sz="1100" spc="-60" dirty="0">
                <a:solidFill>
                  <a:srgbClr val="D0D5DA"/>
                </a:solidFill>
                <a:latin typeface="Arial MT"/>
                <a:cs typeface="Arial MT"/>
              </a:rPr>
              <a:t>end</a:t>
            </a:r>
            <a:r>
              <a:rPr sz="1100" spc="-2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100" spc="-50" dirty="0">
                <a:solidFill>
                  <a:srgbClr val="D0D5DA"/>
                </a:solidFill>
                <a:latin typeface="Arial MT"/>
                <a:cs typeface="Arial MT"/>
              </a:rPr>
              <a:t>latency:</a:t>
            </a:r>
            <a:r>
              <a:rPr sz="1100" spc="-20" dirty="0">
                <a:solidFill>
                  <a:srgbClr val="D0D5DA"/>
                </a:solidFill>
                <a:latin typeface="Arial MT"/>
                <a:cs typeface="Arial MT"/>
              </a:rPr>
              <a:t> ~32ms/frame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889686" y="1421631"/>
            <a:ext cx="6130290" cy="2263775"/>
            <a:chOff x="4889686" y="1421631"/>
            <a:chExt cx="6130290" cy="2263775"/>
          </a:xfrm>
        </p:grpSpPr>
        <p:sp>
          <p:nvSpPr>
            <p:cNvPr id="24" name="object 24"/>
            <p:cNvSpPr/>
            <p:nvPr/>
          </p:nvSpPr>
          <p:spPr>
            <a:xfrm>
              <a:off x="4889686" y="1421631"/>
              <a:ext cx="6130290" cy="2263775"/>
            </a:xfrm>
            <a:custGeom>
              <a:avLst/>
              <a:gdLst/>
              <a:ahLst/>
              <a:cxnLst/>
              <a:rect l="l" t="t" r="r" b="b"/>
              <a:pathLst>
                <a:path w="6130290" h="2263775">
                  <a:moveTo>
                    <a:pt x="6021558" y="2263743"/>
                  </a:moveTo>
                  <a:lnTo>
                    <a:pt x="108659" y="2263743"/>
                  </a:lnTo>
                  <a:lnTo>
                    <a:pt x="97955" y="2263226"/>
                  </a:lnTo>
                  <a:lnTo>
                    <a:pt x="57385" y="2250898"/>
                  </a:lnTo>
                  <a:lnTo>
                    <a:pt x="24621" y="2223983"/>
                  </a:lnTo>
                  <a:lnTo>
                    <a:pt x="4651" y="2186579"/>
                  </a:lnTo>
                  <a:lnTo>
                    <a:pt x="0" y="2155084"/>
                  </a:lnTo>
                  <a:lnTo>
                    <a:pt x="0" y="108659"/>
                  </a:lnTo>
                  <a:lnTo>
                    <a:pt x="8270" y="67077"/>
                  </a:lnTo>
                  <a:lnTo>
                    <a:pt x="31825" y="31825"/>
                  </a:lnTo>
                  <a:lnTo>
                    <a:pt x="67076" y="8271"/>
                  </a:lnTo>
                  <a:lnTo>
                    <a:pt x="108659" y="0"/>
                  </a:lnTo>
                  <a:lnTo>
                    <a:pt x="6021558" y="0"/>
                  </a:lnTo>
                  <a:lnTo>
                    <a:pt x="6063138" y="8271"/>
                  </a:lnTo>
                  <a:lnTo>
                    <a:pt x="6098391" y="31825"/>
                  </a:lnTo>
                  <a:lnTo>
                    <a:pt x="6121945" y="67077"/>
                  </a:lnTo>
                  <a:lnTo>
                    <a:pt x="6130218" y="108659"/>
                  </a:lnTo>
                  <a:lnTo>
                    <a:pt x="6130218" y="2155084"/>
                  </a:lnTo>
                  <a:lnTo>
                    <a:pt x="6121945" y="2196666"/>
                  </a:lnTo>
                  <a:lnTo>
                    <a:pt x="6098391" y="2231918"/>
                  </a:lnTo>
                  <a:lnTo>
                    <a:pt x="6063139" y="2255472"/>
                  </a:lnTo>
                  <a:lnTo>
                    <a:pt x="6021558" y="2263743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889687" y="1421631"/>
              <a:ext cx="6130290" cy="2263775"/>
            </a:xfrm>
            <a:custGeom>
              <a:avLst/>
              <a:gdLst/>
              <a:ahLst/>
              <a:cxnLst/>
              <a:rect l="l" t="t" r="r" b="b"/>
              <a:pathLst>
                <a:path w="6130290" h="2263775">
                  <a:moveTo>
                    <a:pt x="6021559" y="2263744"/>
                  </a:moveTo>
                  <a:lnTo>
                    <a:pt x="108659" y="2263744"/>
                  </a:lnTo>
                  <a:lnTo>
                    <a:pt x="97955" y="2263227"/>
                  </a:lnTo>
                  <a:lnTo>
                    <a:pt x="57385" y="2250898"/>
                  </a:lnTo>
                  <a:lnTo>
                    <a:pt x="24621" y="2223983"/>
                  </a:lnTo>
                  <a:lnTo>
                    <a:pt x="4651" y="2186579"/>
                  </a:lnTo>
                  <a:lnTo>
                    <a:pt x="0" y="2155084"/>
                  </a:lnTo>
                  <a:lnTo>
                    <a:pt x="0" y="108659"/>
                  </a:lnTo>
                  <a:lnTo>
                    <a:pt x="8270" y="67077"/>
                  </a:lnTo>
                  <a:lnTo>
                    <a:pt x="31825" y="31825"/>
                  </a:lnTo>
                  <a:lnTo>
                    <a:pt x="67076" y="8271"/>
                  </a:lnTo>
                  <a:lnTo>
                    <a:pt x="108659" y="0"/>
                  </a:lnTo>
                  <a:lnTo>
                    <a:pt x="6021559" y="0"/>
                  </a:lnTo>
                  <a:lnTo>
                    <a:pt x="6063139" y="8271"/>
                  </a:lnTo>
                  <a:lnTo>
                    <a:pt x="6081628" y="18109"/>
                  </a:lnTo>
                  <a:lnTo>
                    <a:pt x="102714" y="18109"/>
                  </a:lnTo>
                  <a:lnTo>
                    <a:pt x="96825" y="18689"/>
                  </a:lnTo>
                  <a:lnTo>
                    <a:pt x="53409" y="36673"/>
                  </a:lnTo>
                  <a:lnTo>
                    <a:pt x="27277" y="68514"/>
                  </a:lnTo>
                  <a:lnTo>
                    <a:pt x="18109" y="102714"/>
                  </a:lnTo>
                  <a:lnTo>
                    <a:pt x="18109" y="2161030"/>
                  </a:lnTo>
                  <a:lnTo>
                    <a:pt x="18578" y="2165788"/>
                  </a:lnTo>
                  <a:lnTo>
                    <a:pt x="18689" y="2166918"/>
                  </a:lnTo>
                  <a:lnTo>
                    <a:pt x="36673" y="2210334"/>
                  </a:lnTo>
                  <a:lnTo>
                    <a:pt x="68514" y="2236466"/>
                  </a:lnTo>
                  <a:lnTo>
                    <a:pt x="102714" y="2245634"/>
                  </a:lnTo>
                  <a:lnTo>
                    <a:pt x="6081627" y="2245634"/>
                  </a:lnTo>
                  <a:lnTo>
                    <a:pt x="6072831" y="2250898"/>
                  </a:lnTo>
                  <a:lnTo>
                    <a:pt x="6063140" y="2255472"/>
                  </a:lnTo>
                  <a:lnTo>
                    <a:pt x="6053053" y="2259091"/>
                  </a:lnTo>
                  <a:lnTo>
                    <a:pt x="6042761" y="2261676"/>
                  </a:lnTo>
                  <a:lnTo>
                    <a:pt x="6032263" y="2263227"/>
                  </a:lnTo>
                  <a:lnTo>
                    <a:pt x="6021559" y="2263744"/>
                  </a:lnTo>
                  <a:close/>
                </a:path>
                <a:path w="6130290" h="2263775">
                  <a:moveTo>
                    <a:pt x="6081627" y="2245634"/>
                  </a:moveTo>
                  <a:lnTo>
                    <a:pt x="6027504" y="2245634"/>
                  </a:lnTo>
                  <a:lnTo>
                    <a:pt x="6033392" y="2245054"/>
                  </a:lnTo>
                  <a:lnTo>
                    <a:pt x="6045055" y="2242734"/>
                  </a:lnTo>
                  <a:lnTo>
                    <a:pt x="6081382" y="2223316"/>
                  </a:lnTo>
                  <a:lnTo>
                    <a:pt x="6107491" y="2184243"/>
                  </a:lnTo>
                  <a:lnTo>
                    <a:pt x="6112108" y="2161030"/>
                  </a:lnTo>
                  <a:lnTo>
                    <a:pt x="6112108" y="102714"/>
                  </a:lnTo>
                  <a:lnTo>
                    <a:pt x="6100151" y="63296"/>
                  </a:lnTo>
                  <a:lnTo>
                    <a:pt x="6066921" y="30067"/>
                  </a:lnTo>
                  <a:lnTo>
                    <a:pt x="6027504" y="18109"/>
                  </a:lnTo>
                  <a:lnTo>
                    <a:pt x="6081628" y="18109"/>
                  </a:lnTo>
                  <a:lnTo>
                    <a:pt x="6111922" y="48280"/>
                  </a:lnTo>
                  <a:lnTo>
                    <a:pt x="6128150" y="87457"/>
                  </a:lnTo>
                  <a:lnTo>
                    <a:pt x="6130219" y="2155084"/>
                  </a:lnTo>
                  <a:lnTo>
                    <a:pt x="6129701" y="2165788"/>
                  </a:lnTo>
                  <a:lnTo>
                    <a:pt x="6117372" y="2206357"/>
                  </a:lnTo>
                  <a:lnTo>
                    <a:pt x="6090458" y="2239121"/>
                  </a:lnTo>
                  <a:lnTo>
                    <a:pt x="6081937" y="2245448"/>
                  </a:lnTo>
                  <a:lnTo>
                    <a:pt x="6081627" y="2245634"/>
                  </a:lnTo>
                  <a:close/>
                </a:path>
              </a:pathLst>
            </a:custGeom>
            <a:solidFill>
              <a:srgbClr val="FFD600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09785" y="1670710"/>
              <a:ext cx="196850" cy="187325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5385904" y="1583610"/>
            <a:ext cx="1767839" cy="316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00" b="1" spc="-185" dirty="0">
                <a:solidFill>
                  <a:srgbClr val="FFFFFF"/>
                </a:solidFill>
                <a:latin typeface="Arial"/>
                <a:cs typeface="Arial"/>
              </a:rPr>
              <a:t>Technology</a:t>
            </a:r>
            <a:r>
              <a:rPr sz="19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0" b="1" spc="-135" dirty="0">
                <a:solidFill>
                  <a:srgbClr val="FFFFFF"/>
                </a:solidFill>
                <a:latin typeface="Arial"/>
                <a:cs typeface="Arial"/>
              </a:rPr>
              <a:t>Stack</a:t>
            </a:r>
            <a:endParaRPr sz="190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5088896" y="2019259"/>
            <a:ext cx="1838325" cy="679450"/>
            <a:chOff x="5088896" y="2019259"/>
            <a:chExt cx="1838325" cy="679450"/>
          </a:xfrm>
        </p:grpSpPr>
        <p:sp>
          <p:nvSpPr>
            <p:cNvPr id="29" name="object 29"/>
            <p:cNvSpPr/>
            <p:nvPr/>
          </p:nvSpPr>
          <p:spPr>
            <a:xfrm>
              <a:off x="5088896" y="2019259"/>
              <a:ext cx="1838325" cy="679450"/>
            </a:xfrm>
            <a:custGeom>
              <a:avLst/>
              <a:gdLst/>
              <a:ahLst/>
              <a:cxnLst/>
              <a:rect l="l" t="t" r="r" b="b"/>
              <a:pathLst>
                <a:path w="1838325" h="679450">
                  <a:moveTo>
                    <a:pt x="1770476" y="679122"/>
                  </a:moveTo>
                  <a:lnTo>
                    <a:pt x="67682" y="679122"/>
                  </a:lnTo>
                  <a:lnTo>
                    <a:pt x="62972" y="678658"/>
                  </a:lnTo>
                  <a:lnTo>
                    <a:pt x="24580" y="661269"/>
                  </a:lnTo>
                  <a:lnTo>
                    <a:pt x="2320" y="625480"/>
                  </a:lnTo>
                  <a:lnTo>
                    <a:pt x="0" y="606683"/>
                  </a:lnTo>
                  <a:lnTo>
                    <a:pt x="0" y="67683"/>
                  </a:lnTo>
                  <a:lnTo>
                    <a:pt x="14850" y="28239"/>
                  </a:lnTo>
                  <a:lnTo>
                    <a:pt x="49112" y="3693"/>
                  </a:lnTo>
                  <a:lnTo>
                    <a:pt x="67682" y="0"/>
                  </a:lnTo>
                  <a:lnTo>
                    <a:pt x="1770476" y="0"/>
                  </a:lnTo>
                  <a:lnTo>
                    <a:pt x="1809920" y="14850"/>
                  </a:lnTo>
                  <a:lnTo>
                    <a:pt x="1834465" y="49112"/>
                  </a:lnTo>
                  <a:lnTo>
                    <a:pt x="1838160" y="67683"/>
                  </a:lnTo>
                  <a:lnTo>
                    <a:pt x="1838160" y="611439"/>
                  </a:lnTo>
                  <a:lnTo>
                    <a:pt x="1823309" y="650883"/>
                  </a:lnTo>
                  <a:lnTo>
                    <a:pt x="1789046" y="675429"/>
                  </a:lnTo>
                  <a:lnTo>
                    <a:pt x="1770476" y="679122"/>
                  </a:lnTo>
                  <a:close/>
                </a:path>
              </a:pathLst>
            </a:custGeom>
            <a:solidFill>
              <a:srgbClr val="0918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16606" y="2183313"/>
              <a:ext cx="184150" cy="107950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5797199" y="2390716"/>
            <a:ext cx="424815" cy="1949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00" spc="-35" dirty="0">
                <a:solidFill>
                  <a:srgbClr val="FFFFFF"/>
                </a:solidFill>
                <a:latin typeface="Tahoma"/>
                <a:cs typeface="Tahoma"/>
              </a:rPr>
              <a:t>Python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7035715" y="2019259"/>
            <a:ext cx="1838325" cy="679450"/>
            <a:chOff x="7035715" y="2019259"/>
            <a:chExt cx="1838325" cy="679450"/>
          </a:xfrm>
        </p:grpSpPr>
        <p:sp>
          <p:nvSpPr>
            <p:cNvPr id="33" name="object 33"/>
            <p:cNvSpPr/>
            <p:nvPr/>
          </p:nvSpPr>
          <p:spPr>
            <a:xfrm>
              <a:off x="7035715" y="2019259"/>
              <a:ext cx="1838325" cy="679450"/>
            </a:xfrm>
            <a:custGeom>
              <a:avLst/>
              <a:gdLst/>
              <a:ahLst/>
              <a:cxnLst/>
              <a:rect l="l" t="t" r="r" b="b"/>
              <a:pathLst>
                <a:path w="1838325" h="679450">
                  <a:moveTo>
                    <a:pt x="1770476" y="679122"/>
                  </a:moveTo>
                  <a:lnTo>
                    <a:pt x="67683" y="679122"/>
                  </a:lnTo>
                  <a:lnTo>
                    <a:pt x="62972" y="678658"/>
                  </a:lnTo>
                  <a:lnTo>
                    <a:pt x="24579" y="661269"/>
                  </a:lnTo>
                  <a:lnTo>
                    <a:pt x="2319" y="625480"/>
                  </a:lnTo>
                  <a:lnTo>
                    <a:pt x="0" y="611439"/>
                  </a:lnTo>
                  <a:lnTo>
                    <a:pt x="0" y="606683"/>
                  </a:lnTo>
                  <a:lnTo>
                    <a:pt x="0" y="67683"/>
                  </a:lnTo>
                  <a:lnTo>
                    <a:pt x="14849" y="28239"/>
                  </a:lnTo>
                  <a:lnTo>
                    <a:pt x="49112" y="3693"/>
                  </a:lnTo>
                  <a:lnTo>
                    <a:pt x="67683" y="0"/>
                  </a:lnTo>
                  <a:lnTo>
                    <a:pt x="1770476" y="0"/>
                  </a:lnTo>
                  <a:lnTo>
                    <a:pt x="1809919" y="14850"/>
                  </a:lnTo>
                  <a:lnTo>
                    <a:pt x="1834464" y="49112"/>
                  </a:lnTo>
                  <a:lnTo>
                    <a:pt x="1838160" y="67683"/>
                  </a:lnTo>
                  <a:lnTo>
                    <a:pt x="1838160" y="611439"/>
                  </a:lnTo>
                  <a:lnTo>
                    <a:pt x="1823308" y="650883"/>
                  </a:lnTo>
                  <a:lnTo>
                    <a:pt x="1789046" y="675429"/>
                  </a:lnTo>
                  <a:lnTo>
                    <a:pt x="1775186" y="678658"/>
                  </a:lnTo>
                  <a:lnTo>
                    <a:pt x="1770476" y="679122"/>
                  </a:lnTo>
                  <a:close/>
                </a:path>
              </a:pathLst>
            </a:custGeom>
            <a:solidFill>
              <a:srgbClr val="0918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72385" y="2154738"/>
              <a:ext cx="165100" cy="165100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7785473" y="2390716"/>
            <a:ext cx="340360" cy="1949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00" spc="-60" dirty="0">
                <a:solidFill>
                  <a:srgbClr val="FFFFFF"/>
                </a:solidFill>
                <a:latin typeface="Tahoma"/>
                <a:cs typeface="Tahoma"/>
              </a:rPr>
              <a:t>YOLO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8982535" y="2019259"/>
            <a:ext cx="1838325" cy="679450"/>
            <a:chOff x="8982535" y="2019259"/>
            <a:chExt cx="1838325" cy="679450"/>
          </a:xfrm>
        </p:grpSpPr>
        <p:sp>
          <p:nvSpPr>
            <p:cNvPr id="37" name="object 37"/>
            <p:cNvSpPr/>
            <p:nvPr/>
          </p:nvSpPr>
          <p:spPr>
            <a:xfrm>
              <a:off x="8982535" y="2019259"/>
              <a:ext cx="1838325" cy="679450"/>
            </a:xfrm>
            <a:custGeom>
              <a:avLst/>
              <a:gdLst/>
              <a:ahLst/>
              <a:cxnLst/>
              <a:rect l="l" t="t" r="r" b="b"/>
              <a:pathLst>
                <a:path w="1838325" h="679450">
                  <a:moveTo>
                    <a:pt x="1770477" y="679122"/>
                  </a:moveTo>
                  <a:lnTo>
                    <a:pt x="67684" y="679122"/>
                  </a:lnTo>
                  <a:lnTo>
                    <a:pt x="62973" y="678658"/>
                  </a:lnTo>
                  <a:lnTo>
                    <a:pt x="24580" y="661269"/>
                  </a:lnTo>
                  <a:lnTo>
                    <a:pt x="2320" y="625480"/>
                  </a:lnTo>
                  <a:lnTo>
                    <a:pt x="0" y="611439"/>
                  </a:lnTo>
                  <a:lnTo>
                    <a:pt x="0" y="606683"/>
                  </a:lnTo>
                  <a:lnTo>
                    <a:pt x="0" y="67683"/>
                  </a:lnTo>
                  <a:lnTo>
                    <a:pt x="14850" y="28239"/>
                  </a:lnTo>
                  <a:lnTo>
                    <a:pt x="49112" y="3693"/>
                  </a:lnTo>
                  <a:lnTo>
                    <a:pt x="67684" y="0"/>
                  </a:lnTo>
                  <a:lnTo>
                    <a:pt x="1770477" y="0"/>
                  </a:lnTo>
                  <a:lnTo>
                    <a:pt x="1809920" y="14850"/>
                  </a:lnTo>
                  <a:lnTo>
                    <a:pt x="1834466" y="49112"/>
                  </a:lnTo>
                  <a:lnTo>
                    <a:pt x="1838160" y="67683"/>
                  </a:lnTo>
                  <a:lnTo>
                    <a:pt x="1838160" y="611439"/>
                  </a:lnTo>
                  <a:lnTo>
                    <a:pt x="1823309" y="650883"/>
                  </a:lnTo>
                  <a:lnTo>
                    <a:pt x="1789047" y="675429"/>
                  </a:lnTo>
                  <a:lnTo>
                    <a:pt x="1775188" y="678658"/>
                  </a:lnTo>
                  <a:lnTo>
                    <a:pt x="1770477" y="679122"/>
                  </a:lnTo>
                  <a:close/>
                </a:path>
              </a:pathLst>
            </a:custGeom>
            <a:solidFill>
              <a:srgbClr val="0918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828164" y="2154738"/>
              <a:ext cx="146050" cy="165100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9656741" y="2390716"/>
            <a:ext cx="490220" cy="1949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00" spc="-40" dirty="0">
                <a:solidFill>
                  <a:srgbClr val="FFFFFF"/>
                </a:solidFill>
                <a:latin typeface="Tahoma"/>
                <a:cs typeface="Tahoma"/>
              </a:rPr>
              <a:t>PyTorch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5088896" y="2807042"/>
            <a:ext cx="1838325" cy="679450"/>
            <a:chOff x="5088896" y="2807042"/>
            <a:chExt cx="1838325" cy="679450"/>
          </a:xfrm>
        </p:grpSpPr>
        <p:sp>
          <p:nvSpPr>
            <p:cNvPr id="41" name="object 41"/>
            <p:cNvSpPr/>
            <p:nvPr/>
          </p:nvSpPr>
          <p:spPr>
            <a:xfrm>
              <a:off x="5088896" y="2807042"/>
              <a:ext cx="1838325" cy="679450"/>
            </a:xfrm>
            <a:custGeom>
              <a:avLst/>
              <a:gdLst/>
              <a:ahLst/>
              <a:cxnLst/>
              <a:rect l="l" t="t" r="r" b="b"/>
              <a:pathLst>
                <a:path w="1838325" h="679450">
                  <a:moveTo>
                    <a:pt x="1770476" y="679122"/>
                  </a:moveTo>
                  <a:lnTo>
                    <a:pt x="67682" y="679122"/>
                  </a:lnTo>
                  <a:lnTo>
                    <a:pt x="62972" y="678658"/>
                  </a:lnTo>
                  <a:lnTo>
                    <a:pt x="24580" y="661269"/>
                  </a:lnTo>
                  <a:lnTo>
                    <a:pt x="2320" y="625480"/>
                  </a:lnTo>
                  <a:lnTo>
                    <a:pt x="0" y="606683"/>
                  </a:lnTo>
                  <a:lnTo>
                    <a:pt x="0" y="67683"/>
                  </a:lnTo>
                  <a:lnTo>
                    <a:pt x="14850" y="28239"/>
                  </a:lnTo>
                  <a:lnTo>
                    <a:pt x="49112" y="3693"/>
                  </a:lnTo>
                  <a:lnTo>
                    <a:pt x="67682" y="0"/>
                  </a:lnTo>
                  <a:lnTo>
                    <a:pt x="1770476" y="0"/>
                  </a:lnTo>
                  <a:lnTo>
                    <a:pt x="1809920" y="14850"/>
                  </a:lnTo>
                  <a:lnTo>
                    <a:pt x="1834465" y="49112"/>
                  </a:lnTo>
                  <a:lnTo>
                    <a:pt x="1838160" y="67683"/>
                  </a:lnTo>
                  <a:lnTo>
                    <a:pt x="1838160" y="611439"/>
                  </a:lnTo>
                  <a:lnTo>
                    <a:pt x="1823309" y="650883"/>
                  </a:lnTo>
                  <a:lnTo>
                    <a:pt x="1789046" y="675428"/>
                  </a:lnTo>
                  <a:lnTo>
                    <a:pt x="1770476" y="679122"/>
                  </a:lnTo>
                  <a:close/>
                </a:path>
              </a:pathLst>
            </a:custGeom>
            <a:solidFill>
              <a:srgbClr val="0918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926131" y="2971096"/>
              <a:ext cx="165100" cy="107950"/>
            </a:xfrm>
            <a:prstGeom prst="rect">
              <a:avLst/>
            </a:prstGeom>
          </p:spPr>
        </p:pic>
      </p:grpSp>
      <p:sp>
        <p:nvSpPr>
          <p:cNvPr id="43" name="object 43"/>
          <p:cNvSpPr txBox="1"/>
          <p:nvPr/>
        </p:nvSpPr>
        <p:spPr>
          <a:xfrm>
            <a:off x="5765930" y="3178499"/>
            <a:ext cx="487045" cy="1949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00" spc="-45" dirty="0">
                <a:solidFill>
                  <a:srgbClr val="FFFFFF"/>
                </a:solidFill>
                <a:latin typeface="Tahoma"/>
                <a:cs typeface="Tahoma"/>
              </a:rPr>
              <a:t>OpenCV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7035715" y="2807042"/>
            <a:ext cx="1838325" cy="679450"/>
            <a:chOff x="7035715" y="2807042"/>
            <a:chExt cx="1838325" cy="679450"/>
          </a:xfrm>
        </p:grpSpPr>
        <p:sp>
          <p:nvSpPr>
            <p:cNvPr id="45" name="object 45"/>
            <p:cNvSpPr/>
            <p:nvPr/>
          </p:nvSpPr>
          <p:spPr>
            <a:xfrm>
              <a:off x="7035715" y="2807042"/>
              <a:ext cx="1838325" cy="679450"/>
            </a:xfrm>
            <a:custGeom>
              <a:avLst/>
              <a:gdLst/>
              <a:ahLst/>
              <a:cxnLst/>
              <a:rect l="l" t="t" r="r" b="b"/>
              <a:pathLst>
                <a:path w="1838325" h="679450">
                  <a:moveTo>
                    <a:pt x="1770476" y="679122"/>
                  </a:moveTo>
                  <a:lnTo>
                    <a:pt x="67683" y="679122"/>
                  </a:lnTo>
                  <a:lnTo>
                    <a:pt x="62972" y="678658"/>
                  </a:lnTo>
                  <a:lnTo>
                    <a:pt x="24579" y="661269"/>
                  </a:lnTo>
                  <a:lnTo>
                    <a:pt x="2319" y="625480"/>
                  </a:lnTo>
                  <a:lnTo>
                    <a:pt x="0" y="611439"/>
                  </a:lnTo>
                  <a:lnTo>
                    <a:pt x="0" y="606683"/>
                  </a:lnTo>
                  <a:lnTo>
                    <a:pt x="0" y="67683"/>
                  </a:lnTo>
                  <a:lnTo>
                    <a:pt x="14849" y="28239"/>
                  </a:lnTo>
                  <a:lnTo>
                    <a:pt x="49112" y="3693"/>
                  </a:lnTo>
                  <a:lnTo>
                    <a:pt x="67683" y="0"/>
                  </a:lnTo>
                  <a:lnTo>
                    <a:pt x="1770476" y="0"/>
                  </a:lnTo>
                  <a:lnTo>
                    <a:pt x="1809919" y="14850"/>
                  </a:lnTo>
                  <a:lnTo>
                    <a:pt x="1834464" y="49112"/>
                  </a:lnTo>
                  <a:lnTo>
                    <a:pt x="1838160" y="67683"/>
                  </a:lnTo>
                  <a:lnTo>
                    <a:pt x="1838160" y="611439"/>
                  </a:lnTo>
                  <a:lnTo>
                    <a:pt x="1823308" y="650883"/>
                  </a:lnTo>
                  <a:lnTo>
                    <a:pt x="1789046" y="675428"/>
                  </a:lnTo>
                  <a:lnTo>
                    <a:pt x="1775186" y="678658"/>
                  </a:lnTo>
                  <a:lnTo>
                    <a:pt x="1770476" y="679122"/>
                  </a:lnTo>
                  <a:close/>
                </a:path>
              </a:pathLst>
            </a:custGeom>
            <a:solidFill>
              <a:srgbClr val="0918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62860" y="2952046"/>
              <a:ext cx="184150" cy="146050"/>
            </a:xfrm>
            <a:prstGeom prst="rect">
              <a:avLst/>
            </a:prstGeom>
          </p:spPr>
        </p:pic>
      </p:grpSp>
      <p:sp>
        <p:nvSpPr>
          <p:cNvPr id="47" name="object 47"/>
          <p:cNvSpPr txBox="1"/>
          <p:nvPr/>
        </p:nvSpPr>
        <p:spPr>
          <a:xfrm>
            <a:off x="7684878" y="3178499"/>
            <a:ext cx="541655" cy="1949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00" spc="-30" dirty="0">
                <a:solidFill>
                  <a:srgbClr val="FFFFFF"/>
                </a:solidFill>
                <a:latin typeface="Tahoma"/>
                <a:cs typeface="Tahoma"/>
              </a:rPr>
              <a:t>Streamlit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8982535" y="2807042"/>
            <a:ext cx="1838325" cy="679450"/>
            <a:chOff x="8982535" y="2807042"/>
            <a:chExt cx="1838325" cy="679450"/>
          </a:xfrm>
        </p:grpSpPr>
        <p:sp>
          <p:nvSpPr>
            <p:cNvPr id="49" name="object 49"/>
            <p:cNvSpPr/>
            <p:nvPr/>
          </p:nvSpPr>
          <p:spPr>
            <a:xfrm>
              <a:off x="8982535" y="2807042"/>
              <a:ext cx="1838325" cy="679450"/>
            </a:xfrm>
            <a:custGeom>
              <a:avLst/>
              <a:gdLst/>
              <a:ahLst/>
              <a:cxnLst/>
              <a:rect l="l" t="t" r="r" b="b"/>
              <a:pathLst>
                <a:path w="1838325" h="679450">
                  <a:moveTo>
                    <a:pt x="1770477" y="679122"/>
                  </a:moveTo>
                  <a:lnTo>
                    <a:pt x="67684" y="679122"/>
                  </a:lnTo>
                  <a:lnTo>
                    <a:pt x="62973" y="678658"/>
                  </a:lnTo>
                  <a:lnTo>
                    <a:pt x="24580" y="661269"/>
                  </a:lnTo>
                  <a:lnTo>
                    <a:pt x="2320" y="625480"/>
                  </a:lnTo>
                  <a:lnTo>
                    <a:pt x="0" y="611439"/>
                  </a:lnTo>
                  <a:lnTo>
                    <a:pt x="0" y="606683"/>
                  </a:lnTo>
                  <a:lnTo>
                    <a:pt x="0" y="67683"/>
                  </a:lnTo>
                  <a:lnTo>
                    <a:pt x="14850" y="28239"/>
                  </a:lnTo>
                  <a:lnTo>
                    <a:pt x="49112" y="3693"/>
                  </a:lnTo>
                  <a:lnTo>
                    <a:pt x="67684" y="0"/>
                  </a:lnTo>
                  <a:lnTo>
                    <a:pt x="1770477" y="0"/>
                  </a:lnTo>
                  <a:lnTo>
                    <a:pt x="1809920" y="14850"/>
                  </a:lnTo>
                  <a:lnTo>
                    <a:pt x="1834466" y="49112"/>
                  </a:lnTo>
                  <a:lnTo>
                    <a:pt x="1838160" y="67683"/>
                  </a:lnTo>
                  <a:lnTo>
                    <a:pt x="1838160" y="611439"/>
                  </a:lnTo>
                  <a:lnTo>
                    <a:pt x="1823309" y="650883"/>
                  </a:lnTo>
                  <a:lnTo>
                    <a:pt x="1789047" y="675428"/>
                  </a:lnTo>
                  <a:lnTo>
                    <a:pt x="1775188" y="678658"/>
                  </a:lnTo>
                  <a:lnTo>
                    <a:pt x="1770477" y="679122"/>
                  </a:lnTo>
                  <a:close/>
                </a:path>
              </a:pathLst>
            </a:custGeom>
            <a:solidFill>
              <a:srgbClr val="0918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818639" y="2942521"/>
              <a:ext cx="165100" cy="165100"/>
            </a:xfrm>
            <a:prstGeom prst="rect">
              <a:avLst/>
            </a:prstGeom>
          </p:spPr>
        </p:pic>
      </p:grpSp>
      <p:sp>
        <p:nvSpPr>
          <p:cNvPr id="51" name="object 51"/>
          <p:cNvSpPr txBox="1"/>
          <p:nvPr/>
        </p:nvSpPr>
        <p:spPr>
          <a:xfrm>
            <a:off x="9647827" y="3178499"/>
            <a:ext cx="508634" cy="1949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00" spc="-60" dirty="0">
                <a:solidFill>
                  <a:srgbClr val="FFFFFF"/>
                </a:solidFill>
                <a:latin typeface="Tahoma"/>
                <a:cs typeface="Tahoma"/>
              </a:rPr>
              <a:t>WebRTC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4889686" y="3830254"/>
            <a:ext cx="6130290" cy="1304290"/>
            <a:chOff x="4889686" y="3830254"/>
            <a:chExt cx="6130290" cy="1304290"/>
          </a:xfrm>
        </p:grpSpPr>
        <p:sp>
          <p:nvSpPr>
            <p:cNvPr id="53" name="object 53"/>
            <p:cNvSpPr/>
            <p:nvPr/>
          </p:nvSpPr>
          <p:spPr>
            <a:xfrm>
              <a:off x="4889686" y="3830254"/>
              <a:ext cx="6130290" cy="1304290"/>
            </a:xfrm>
            <a:custGeom>
              <a:avLst/>
              <a:gdLst/>
              <a:ahLst/>
              <a:cxnLst/>
              <a:rect l="l" t="t" r="r" b="b"/>
              <a:pathLst>
                <a:path w="6130290" h="1304289">
                  <a:moveTo>
                    <a:pt x="6021558" y="1303916"/>
                  </a:moveTo>
                  <a:lnTo>
                    <a:pt x="108659" y="1303916"/>
                  </a:lnTo>
                  <a:lnTo>
                    <a:pt x="97955" y="1303399"/>
                  </a:lnTo>
                  <a:lnTo>
                    <a:pt x="57385" y="1291070"/>
                  </a:lnTo>
                  <a:lnTo>
                    <a:pt x="24621" y="1264155"/>
                  </a:lnTo>
                  <a:lnTo>
                    <a:pt x="4651" y="1226751"/>
                  </a:lnTo>
                  <a:lnTo>
                    <a:pt x="0" y="1195256"/>
                  </a:lnTo>
                  <a:lnTo>
                    <a:pt x="0" y="108659"/>
                  </a:lnTo>
                  <a:lnTo>
                    <a:pt x="8270" y="67076"/>
                  </a:lnTo>
                  <a:lnTo>
                    <a:pt x="31825" y="31825"/>
                  </a:lnTo>
                  <a:lnTo>
                    <a:pt x="67076" y="8271"/>
                  </a:lnTo>
                  <a:lnTo>
                    <a:pt x="108659" y="0"/>
                  </a:lnTo>
                  <a:lnTo>
                    <a:pt x="6021558" y="0"/>
                  </a:lnTo>
                  <a:lnTo>
                    <a:pt x="6063138" y="8271"/>
                  </a:lnTo>
                  <a:lnTo>
                    <a:pt x="6098391" y="31825"/>
                  </a:lnTo>
                  <a:lnTo>
                    <a:pt x="6121945" y="67076"/>
                  </a:lnTo>
                  <a:lnTo>
                    <a:pt x="6130218" y="108659"/>
                  </a:lnTo>
                  <a:lnTo>
                    <a:pt x="6130218" y="1195256"/>
                  </a:lnTo>
                  <a:lnTo>
                    <a:pt x="6121945" y="1236838"/>
                  </a:lnTo>
                  <a:lnTo>
                    <a:pt x="6098391" y="1272090"/>
                  </a:lnTo>
                  <a:lnTo>
                    <a:pt x="6063139" y="1295644"/>
                  </a:lnTo>
                  <a:lnTo>
                    <a:pt x="6021558" y="1303916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889687" y="3830254"/>
              <a:ext cx="6130290" cy="1304290"/>
            </a:xfrm>
            <a:custGeom>
              <a:avLst/>
              <a:gdLst/>
              <a:ahLst/>
              <a:cxnLst/>
              <a:rect l="l" t="t" r="r" b="b"/>
              <a:pathLst>
                <a:path w="6130290" h="1304289">
                  <a:moveTo>
                    <a:pt x="6021559" y="1303916"/>
                  </a:moveTo>
                  <a:lnTo>
                    <a:pt x="108659" y="1303916"/>
                  </a:lnTo>
                  <a:lnTo>
                    <a:pt x="97955" y="1303399"/>
                  </a:lnTo>
                  <a:lnTo>
                    <a:pt x="57385" y="1291071"/>
                  </a:lnTo>
                  <a:lnTo>
                    <a:pt x="24621" y="1264156"/>
                  </a:lnTo>
                  <a:lnTo>
                    <a:pt x="4651" y="1226751"/>
                  </a:lnTo>
                  <a:lnTo>
                    <a:pt x="0" y="1195256"/>
                  </a:lnTo>
                  <a:lnTo>
                    <a:pt x="0" y="108659"/>
                  </a:lnTo>
                  <a:lnTo>
                    <a:pt x="8270" y="67076"/>
                  </a:lnTo>
                  <a:lnTo>
                    <a:pt x="31825" y="31825"/>
                  </a:lnTo>
                  <a:lnTo>
                    <a:pt x="67076" y="8271"/>
                  </a:lnTo>
                  <a:lnTo>
                    <a:pt x="108659" y="0"/>
                  </a:lnTo>
                  <a:lnTo>
                    <a:pt x="6021559" y="0"/>
                  </a:lnTo>
                  <a:lnTo>
                    <a:pt x="6063139" y="8271"/>
                  </a:lnTo>
                  <a:lnTo>
                    <a:pt x="6081628" y="18109"/>
                  </a:lnTo>
                  <a:lnTo>
                    <a:pt x="102714" y="18109"/>
                  </a:lnTo>
                  <a:lnTo>
                    <a:pt x="96825" y="18689"/>
                  </a:lnTo>
                  <a:lnTo>
                    <a:pt x="53409" y="36673"/>
                  </a:lnTo>
                  <a:lnTo>
                    <a:pt x="27277" y="68514"/>
                  </a:lnTo>
                  <a:lnTo>
                    <a:pt x="18109" y="102714"/>
                  </a:lnTo>
                  <a:lnTo>
                    <a:pt x="18109" y="1201202"/>
                  </a:lnTo>
                  <a:lnTo>
                    <a:pt x="18578" y="1205960"/>
                  </a:lnTo>
                  <a:lnTo>
                    <a:pt x="18689" y="1207090"/>
                  </a:lnTo>
                  <a:lnTo>
                    <a:pt x="36673" y="1250507"/>
                  </a:lnTo>
                  <a:lnTo>
                    <a:pt x="68514" y="1276638"/>
                  </a:lnTo>
                  <a:lnTo>
                    <a:pt x="102714" y="1285806"/>
                  </a:lnTo>
                  <a:lnTo>
                    <a:pt x="6081627" y="1285806"/>
                  </a:lnTo>
                  <a:lnTo>
                    <a:pt x="6072831" y="1291071"/>
                  </a:lnTo>
                  <a:lnTo>
                    <a:pt x="6063140" y="1295645"/>
                  </a:lnTo>
                  <a:lnTo>
                    <a:pt x="6053053" y="1299263"/>
                  </a:lnTo>
                  <a:lnTo>
                    <a:pt x="6042761" y="1301848"/>
                  </a:lnTo>
                  <a:lnTo>
                    <a:pt x="6032263" y="1303399"/>
                  </a:lnTo>
                  <a:lnTo>
                    <a:pt x="6021559" y="1303916"/>
                  </a:lnTo>
                  <a:close/>
                </a:path>
                <a:path w="6130290" h="1304289">
                  <a:moveTo>
                    <a:pt x="6081627" y="1285806"/>
                  </a:moveTo>
                  <a:lnTo>
                    <a:pt x="6027504" y="1285806"/>
                  </a:lnTo>
                  <a:lnTo>
                    <a:pt x="6033392" y="1285226"/>
                  </a:lnTo>
                  <a:lnTo>
                    <a:pt x="6045055" y="1282906"/>
                  </a:lnTo>
                  <a:lnTo>
                    <a:pt x="6081382" y="1263489"/>
                  </a:lnTo>
                  <a:lnTo>
                    <a:pt x="6107491" y="1224415"/>
                  </a:lnTo>
                  <a:lnTo>
                    <a:pt x="6112108" y="1201202"/>
                  </a:lnTo>
                  <a:lnTo>
                    <a:pt x="6112108" y="102714"/>
                  </a:lnTo>
                  <a:lnTo>
                    <a:pt x="6100151" y="63296"/>
                  </a:lnTo>
                  <a:lnTo>
                    <a:pt x="6066921" y="30067"/>
                  </a:lnTo>
                  <a:lnTo>
                    <a:pt x="6027504" y="18109"/>
                  </a:lnTo>
                  <a:lnTo>
                    <a:pt x="6081628" y="18109"/>
                  </a:lnTo>
                  <a:lnTo>
                    <a:pt x="6111922" y="48279"/>
                  </a:lnTo>
                  <a:lnTo>
                    <a:pt x="6128150" y="87456"/>
                  </a:lnTo>
                  <a:lnTo>
                    <a:pt x="6130219" y="1195256"/>
                  </a:lnTo>
                  <a:lnTo>
                    <a:pt x="6129701" y="1205960"/>
                  </a:lnTo>
                  <a:lnTo>
                    <a:pt x="6117372" y="1246530"/>
                  </a:lnTo>
                  <a:lnTo>
                    <a:pt x="6090458" y="1279293"/>
                  </a:lnTo>
                  <a:lnTo>
                    <a:pt x="6081937" y="1285620"/>
                  </a:lnTo>
                  <a:lnTo>
                    <a:pt x="6081627" y="1285806"/>
                  </a:lnTo>
                  <a:close/>
                </a:path>
              </a:pathLst>
            </a:custGeom>
            <a:solidFill>
              <a:srgbClr val="60A5FA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090735" y="4083918"/>
              <a:ext cx="215900" cy="146050"/>
            </a:xfrm>
            <a:prstGeom prst="rect">
              <a:avLst/>
            </a:prstGeom>
          </p:spPr>
        </p:pic>
      </p:grpSp>
      <p:sp>
        <p:nvSpPr>
          <p:cNvPr id="56" name="object 56"/>
          <p:cNvSpPr txBox="1"/>
          <p:nvPr/>
        </p:nvSpPr>
        <p:spPr>
          <a:xfrm>
            <a:off x="5367795" y="4013580"/>
            <a:ext cx="1182370" cy="2578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00" b="1" spc="-105" dirty="0">
                <a:solidFill>
                  <a:srgbClr val="FFFFFF"/>
                </a:solidFill>
                <a:latin typeface="Arial"/>
                <a:cs typeface="Arial"/>
              </a:rPr>
              <a:t>User</a:t>
            </a:r>
            <a:r>
              <a:rPr sz="15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b="1" spc="-55" dirty="0">
                <a:solidFill>
                  <a:srgbClr val="FFFFFF"/>
                </a:solidFill>
                <a:latin typeface="Arial"/>
                <a:cs typeface="Arial"/>
              </a:rPr>
              <a:t>Interface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5103435" y="4432122"/>
            <a:ext cx="3065780" cy="462915"/>
            <a:chOff x="5103435" y="4432122"/>
            <a:chExt cx="3065780" cy="462915"/>
          </a:xfrm>
        </p:grpSpPr>
        <p:pic>
          <p:nvPicPr>
            <p:cNvPr id="58" name="object 5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103435" y="4432122"/>
              <a:ext cx="155575" cy="130175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032200" y="4454347"/>
              <a:ext cx="136525" cy="92075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112960" y="4758102"/>
              <a:ext cx="136525" cy="136525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032200" y="4758102"/>
              <a:ext cx="136525" cy="136525"/>
            </a:xfrm>
            <a:prstGeom prst="rect">
              <a:avLst/>
            </a:prstGeom>
          </p:spPr>
        </p:pic>
      </p:grpSp>
      <p:sp>
        <p:nvSpPr>
          <p:cNvPr id="62" name="object 62"/>
          <p:cNvSpPr txBox="1"/>
          <p:nvPr/>
        </p:nvSpPr>
        <p:spPr>
          <a:xfrm>
            <a:off x="5331575" y="4371719"/>
            <a:ext cx="976630" cy="2190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spc="-80" dirty="0">
                <a:solidFill>
                  <a:srgbClr val="D0D5DA"/>
                </a:solidFill>
                <a:latin typeface="Arial MT"/>
                <a:cs typeface="Arial MT"/>
              </a:rPr>
              <a:t>Overview</a:t>
            </a:r>
            <a:r>
              <a:rPr sz="1250" spc="-3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250" spc="-80" dirty="0">
                <a:solidFill>
                  <a:srgbClr val="D0D5DA"/>
                </a:solidFill>
                <a:latin typeface="Arial MT"/>
                <a:cs typeface="Arial MT"/>
              </a:rPr>
              <a:t>Page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8250814" y="4371719"/>
            <a:ext cx="937894" cy="2190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spc="-65" dirty="0">
                <a:solidFill>
                  <a:srgbClr val="D0D5DA"/>
                </a:solidFill>
                <a:latin typeface="Arial MT"/>
                <a:cs typeface="Arial MT"/>
              </a:rPr>
              <a:t>Live</a:t>
            </a:r>
            <a:r>
              <a:rPr sz="1250" spc="-6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250" spc="-50" dirty="0">
                <a:solidFill>
                  <a:srgbClr val="D0D5DA"/>
                </a:solidFill>
                <a:latin typeface="Arial MT"/>
                <a:cs typeface="Arial MT"/>
              </a:rPr>
              <a:t>Detection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331575" y="4697698"/>
            <a:ext cx="1352550" cy="2190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spc="-45" dirty="0">
                <a:solidFill>
                  <a:srgbClr val="D0D5DA"/>
                </a:solidFill>
                <a:latin typeface="Arial MT"/>
                <a:cs typeface="Arial MT"/>
              </a:rPr>
              <a:t>Analytics</a:t>
            </a:r>
            <a:r>
              <a:rPr sz="1250" spc="-3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250" spc="-70" dirty="0">
                <a:solidFill>
                  <a:srgbClr val="D0D5DA"/>
                </a:solidFill>
                <a:latin typeface="Arial MT"/>
                <a:cs typeface="Arial MT"/>
              </a:rPr>
              <a:t>Dashboard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8250814" y="4697698"/>
            <a:ext cx="1060450" cy="2190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spc="-50" dirty="0">
                <a:solidFill>
                  <a:srgbClr val="D0D5DA"/>
                </a:solidFill>
                <a:latin typeface="Arial MT"/>
                <a:cs typeface="Arial MT"/>
              </a:rPr>
              <a:t>Model</a:t>
            </a:r>
            <a:r>
              <a:rPr sz="1250" spc="-6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250" spc="-55" dirty="0">
                <a:solidFill>
                  <a:srgbClr val="D0D5DA"/>
                </a:solidFill>
                <a:latin typeface="Arial MT"/>
                <a:cs typeface="Arial MT"/>
              </a:rPr>
              <a:t>Selection</a:t>
            </a:r>
            <a:endParaRPr sz="1250">
              <a:latin typeface="Arial MT"/>
              <a:cs typeface="Arial MT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4889686" y="5279050"/>
            <a:ext cx="6130290" cy="543560"/>
            <a:chOff x="4889686" y="5279050"/>
            <a:chExt cx="6130290" cy="543560"/>
          </a:xfrm>
        </p:grpSpPr>
        <p:sp>
          <p:nvSpPr>
            <p:cNvPr id="67" name="object 67"/>
            <p:cNvSpPr/>
            <p:nvPr/>
          </p:nvSpPr>
          <p:spPr>
            <a:xfrm>
              <a:off x="4889686" y="5279050"/>
              <a:ext cx="6130290" cy="543560"/>
            </a:xfrm>
            <a:custGeom>
              <a:avLst/>
              <a:gdLst/>
              <a:ahLst/>
              <a:cxnLst/>
              <a:rect l="l" t="t" r="r" b="b"/>
              <a:pathLst>
                <a:path w="6130290" h="543560">
                  <a:moveTo>
                    <a:pt x="6021558" y="543298"/>
                  </a:moveTo>
                  <a:lnTo>
                    <a:pt x="108659" y="543298"/>
                  </a:lnTo>
                  <a:lnTo>
                    <a:pt x="97955" y="542781"/>
                  </a:lnTo>
                  <a:lnTo>
                    <a:pt x="57385" y="530452"/>
                  </a:lnTo>
                  <a:lnTo>
                    <a:pt x="24621" y="503538"/>
                  </a:lnTo>
                  <a:lnTo>
                    <a:pt x="4651" y="466133"/>
                  </a:lnTo>
                  <a:lnTo>
                    <a:pt x="0" y="434638"/>
                  </a:lnTo>
                  <a:lnTo>
                    <a:pt x="0" y="108659"/>
                  </a:lnTo>
                  <a:lnTo>
                    <a:pt x="8270" y="67076"/>
                  </a:lnTo>
                  <a:lnTo>
                    <a:pt x="31825" y="31825"/>
                  </a:lnTo>
                  <a:lnTo>
                    <a:pt x="67076" y="8270"/>
                  </a:lnTo>
                  <a:lnTo>
                    <a:pt x="108659" y="0"/>
                  </a:lnTo>
                  <a:lnTo>
                    <a:pt x="6021558" y="0"/>
                  </a:lnTo>
                  <a:lnTo>
                    <a:pt x="6063138" y="8270"/>
                  </a:lnTo>
                  <a:lnTo>
                    <a:pt x="6098391" y="31825"/>
                  </a:lnTo>
                  <a:lnTo>
                    <a:pt x="6121945" y="67076"/>
                  </a:lnTo>
                  <a:lnTo>
                    <a:pt x="6130218" y="108659"/>
                  </a:lnTo>
                  <a:lnTo>
                    <a:pt x="6130218" y="434638"/>
                  </a:lnTo>
                  <a:lnTo>
                    <a:pt x="6121945" y="476220"/>
                  </a:lnTo>
                  <a:lnTo>
                    <a:pt x="6098391" y="511472"/>
                  </a:lnTo>
                  <a:lnTo>
                    <a:pt x="6063139" y="535026"/>
                  </a:lnTo>
                  <a:lnTo>
                    <a:pt x="6021558" y="543298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4889687" y="5279050"/>
              <a:ext cx="6130290" cy="543560"/>
            </a:xfrm>
            <a:custGeom>
              <a:avLst/>
              <a:gdLst/>
              <a:ahLst/>
              <a:cxnLst/>
              <a:rect l="l" t="t" r="r" b="b"/>
              <a:pathLst>
                <a:path w="6130290" h="543560">
                  <a:moveTo>
                    <a:pt x="6021559" y="543298"/>
                  </a:moveTo>
                  <a:lnTo>
                    <a:pt x="108659" y="543298"/>
                  </a:lnTo>
                  <a:lnTo>
                    <a:pt x="97955" y="542781"/>
                  </a:lnTo>
                  <a:lnTo>
                    <a:pt x="57385" y="530453"/>
                  </a:lnTo>
                  <a:lnTo>
                    <a:pt x="24621" y="503538"/>
                  </a:lnTo>
                  <a:lnTo>
                    <a:pt x="4651" y="466133"/>
                  </a:lnTo>
                  <a:lnTo>
                    <a:pt x="0" y="434638"/>
                  </a:lnTo>
                  <a:lnTo>
                    <a:pt x="0" y="108659"/>
                  </a:lnTo>
                  <a:lnTo>
                    <a:pt x="8270" y="67076"/>
                  </a:lnTo>
                  <a:lnTo>
                    <a:pt x="31825" y="31825"/>
                  </a:lnTo>
                  <a:lnTo>
                    <a:pt x="67076" y="8270"/>
                  </a:lnTo>
                  <a:lnTo>
                    <a:pt x="108659" y="0"/>
                  </a:lnTo>
                  <a:lnTo>
                    <a:pt x="6021559" y="0"/>
                  </a:lnTo>
                  <a:lnTo>
                    <a:pt x="6063139" y="8270"/>
                  </a:lnTo>
                  <a:lnTo>
                    <a:pt x="6081628" y="18109"/>
                  </a:lnTo>
                  <a:lnTo>
                    <a:pt x="102714" y="18109"/>
                  </a:lnTo>
                  <a:lnTo>
                    <a:pt x="96825" y="18689"/>
                  </a:lnTo>
                  <a:lnTo>
                    <a:pt x="53409" y="36673"/>
                  </a:lnTo>
                  <a:lnTo>
                    <a:pt x="27277" y="68514"/>
                  </a:lnTo>
                  <a:lnTo>
                    <a:pt x="18109" y="102714"/>
                  </a:lnTo>
                  <a:lnTo>
                    <a:pt x="18109" y="440584"/>
                  </a:lnTo>
                  <a:lnTo>
                    <a:pt x="30067" y="480001"/>
                  </a:lnTo>
                  <a:lnTo>
                    <a:pt x="63296" y="513231"/>
                  </a:lnTo>
                  <a:lnTo>
                    <a:pt x="102714" y="525188"/>
                  </a:lnTo>
                  <a:lnTo>
                    <a:pt x="6081627" y="525188"/>
                  </a:lnTo>
                  <a:lnTo>
                    <a:pt x="6072831" y="530453"/>
                  </a:lnTo>
                  <a:lnTo>
                    <a:pt x="6063140" y="535026"/>
                  </a:lnTo>
                  <a:lnTo>
                    <a:pt x="6053053" y="538645"/>
                  </a:lnTo>
                  <a:lnTo>
                    <a:pt x="6042761" y="541230"/>
                  </a:lnTo>
                  <a:lnTo>
                    <a:pt x="6032263" y="542781"/>
                  </a:lnTo>
                  <a:lnTo>
                    <a:pt x="6021559" y="543298"/>
                  </a:lnTo>
                  <a:close/>
                </a:path>
                <a:path w="6130290" h="543560">
                  <a:moveTo>
                    <a:pt x="6081627" y="525188"/>
                  </a:moveTo>
                  <a:lnTo>
                    <a:pt x="6027504" y="525188"/>
                  </a:lnTo>
                  <a:lnTo>
                    <a:pt x="6033392" y="524608"/>
                  </a:lnTo>
                  <a:lnTo>
                    <a:pt x="6045055" y="522288"/>
                  </a:lnTo>
                  <a:lnTo>
                    <a:pt x="6081382" y="502871"/>
                  </a:lnTo>
                  <a:lnTo>
                    <a:pt x="6107491" y="463797"/>
                  </a:lnTo>
                  <a:lnTo>
                    <a:pt x="6112108" y="440584"/>
                  </a:lnTo>
                  <a:lnTo>
                    <a:pt x="6112108" y="102714"/>
                  </a:lnTo>
                  <a:lnTo>
                    <a:pt x="6111640" y="97955"/>
                  </a:lnTo>
                  <a:lnTo>
                    <a:pt x="6111528" y="96825"/>
                  </a:lnTo>
                  <a:lnTo>
                    <a:pt x="6093545" y="53409"/>
                  </a:lnTo>
                  <a:lnTo>
                    <a:pt x="6061703" y="27277"/>
                  </a:lnTo>
                  <a:lnTo>
                    <a:pt x="6027504" y="18109"/>
                  </a:lnTo>
                  <a:lnTo>
                    <a:pt x="6081628" y="18109"/>
                  </a:lnTo>
                  <a:lnTo>
                    <a:pt x="6111922" y="48279"/>
                  </a:lnTo>
                  <a:lnTo>
                    <a:pt x="6128150" y="87456"/>
                  </a:lnTo>
                  <a:lnTo>
                    <a:pt x="6130219" y="434638"/>
                  </a:lnTo>
                  <a:lnTo>
                    <a:pt x="6129701" y="445342"/>
                  </a:lnTo>
                  <a:lnTo>
                    <a:pt x="6117372" y="485912"/>
                  </a:lnTo>
                  <a:lnTo>
                    <a:pt x="6090458" y="518676"/>
                  </a:lnTo>
                  <a:lnTo>
                    <a:pt x="6081937" y="525002"/>
                  </a:lnTo>
                  <a:lnTo>
                    <a:pt x="6081627" y="525188"/>
                  </a:lnTo>
                  <a:close/>
                </a:path>
              </a:pathLst>
            </a:custGeom>
            <a:solidFill>
              <a:srgbClr val="4ADE80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9" name="object 6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070391" y="5459334"/>
              <a:ext cx="184150" cy="184150"/>
            </a:xfrm>
            <a:prstGeom prst="rect">
              <a:avLst/>
            </a:prstGeom>
          </p:spPr>
        </p:pic>
      </p:grpSp>
      <p:sp>
        <p:nvSpPr>
          <p:cNvPr id="70" name="object 70"/>
          <p:cNvSpPr txBox="1"/>
          <p:nvPr/>
        </p:nvSpPr>
        <p:spPr>
          <a:xfrm>
            <a:off x="5331575" y="5422096"/>
            <a:ext cx="2126615" cy="2190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spc="-100" dirty="0">
                <a:solidFill>
                  <a:srgbClr val="D0D5DA"/>
                </a:solidFill>
                <a:latin typeface="Arial MT"/>
                <a:cs typeface="Arial MT"/>
              </a:rPr>
              <a:t>Real-</a:t>
            </a:r>
            <a:r>
              <a:rPr sz="1250" spc="-30" dirty="0">
                <a:solidFill>
                  <a:srgbClr val="D0D5DA"/>
                </a:solidFill>
                <a:latin typeface="Arial MT"/>
                <a:cs typeface="Arial MT"/>
              </a:rPr>
              <a:t>time</a:t>
            </a:r>
            <a:r>
              <a:rPr sz="1250" spc="-4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250" spc="-55" dirty="0">
                <a:solidFill>
                  <a:srgbClr val="D0D5DA"/>
                </a:solidFill>
                <a:latin typeface="Arial MT"/>
                <a:cs typeface="Arial MT"/>
              </a:rPr>
              <a:t>performance:</a:t>
            </a:r>
            <a:r>
              <a:rPr sz="1250" spc="-4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200" b="1" spc="-40" dirty="0">
                <a:solidFill>
                  <a:srgbClr val="86EFAB"/>
                </a:solidFill>
                <a:latin typeface="Roboto"/>
                <a:cs typeface="Roboto"/>
              </a:rPr>
              <a:t>~30</a:t>
            </a:r>
            <a:r>
              <a:rPr sz="1200" b="1" dirty="0">
                <a:solidFill>
                  <a:srgbClr val="86EFAB"/>
                </a:solidFill>
                <a:latin typeface="Roboto"/>
                <a:cs typeface="Roboto"/>
              </a:rPr>
              <a:t> </a:t>
            </a:r>
            <a:r>
              <a:rPr sz="1200" b="1" spc="-25" dirty="0">
                <a:solidFill>
                  <a:srgbClr val="86EFAB"/>
                </a:solidFill>
                <a:latin typeface="Roboto"/>
                <a:cs typeface="Roboto"/>
              </a:rPr>
              <a:t>FPS</a:t>
            </a:r>
            <a:endParaRPr sz="1200">
              <a:latin typeface="Roboto"/>
              <a:cs typeface="Roboto"/>
            </a:endParaRPr>
          </a:p>
        </p:txBody>
      </p:sp>
      <p:pic>
        <p:nvPicPr>
          <p:cNvPr id="71" name="object 71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8811057" y="5478384"/>
            <a:ext cx="215900" cy="146050"/>
          </a:xfrm>
          <a:prstGeom prst="rect">
            <a:avLst/>
          </a:prstGeom>
        </p:spPr>
      </p:pic>
      <p:sp>
        <p:nvSpPr>
          <p:cNvPr id="72" name="object 72"/>
          <p:cNvSpPr txBox="1"/>
          <p:nvPr/>
        </p:nvSpPr>
        <p:spPr>
          <a:xfrm>
            <a:off x="9088116" y="5422096"/>
            <a:ext cx="1781810" cy="2190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spc="-75" dirty="0">
                <a:solidFill>
                  <a:srgbClr val="D0D5DA"/>
                </a:solidFill>
                <a:latin typeface="Arial MT"/>
                <a:cs typeface="Arial MT"/>
              </a:rPr>
              <a:t>Browser-</a:t>
            </a:r>
            <a:r>
              <a:rPr sz="1250" spc="-65" dirty="0">
                <a:solidFill>
                  <a:srgbClr val="D0D5DA"/>
                </a:solidFill>
                <a:latin typeface="Arial MT"/>
                <a:cs typeface="Arial MT"/>
              </a:rPr>
              <a:t>based</a:t>
            </a:r>
            <a:r>
              <a:rPr sz="1250" spc="-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250" spc="-55" dirty="0">
                <a:solidFill>
                  <a:srgbClr val="D0D5DA"/>
                </a:solidFill>
                <a:latin typeface="Arial MT"/>
                <a:cs typeface="Arial MT"/>
              </a:rPr>
              <a:t>deployment</a:t>
            </a:r>
            <a:endParaRPr sz="12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43180">
              <a:lnSpc>
                <a:spcPct val="100000"/>
              </a:lnSpc>
              <a:spcBef>
                <a:spcPts val="114"/>
              </a:spcBef>
            </a:pPr>
            <a:r>
              <a:rPr spc="-459" dirty="0"/>
              <a:t>Web</a:t>
            </a:r>
            <a:r>
              <a:rPr spc="-330" dirty="0"/>
              <a:t> </a:t>
            </a:r>
            <a:r>
              <a:rPr spc="-345" dirty="0"/>
              <a:t>Application</a:t>
            </a:r>
            <a:r>
              <a:rPr spc="-320" dirty="0"/>
              <a:t> </a:t>
            </a:r>
            <a:r>
              <a:rPr spc="-495" dirty="0"/>
              <a:t>-</a:t>
            </a:r>
            <a:r>
              <a:rPr spc="-325" dirty="0"/>
              <a:t> </a:t>
            </a:r>
            <a:r>
              <a:rPr spc="-434" dirty="0"/>
              <a:t>Overview</a:t>
            </a:r>
            <a:r>
              <a:rPr spc="-320" dirty="0"/>
              <a:t> </a:t>
            </a:r>
            <a:r>
              <a:rPr spc="-805" dirty="0"/>
              <a:t>&amp;</a:t>
            </a:r>
            <a:r>
              <a:rPr spc="-320" dirty="0"/>
              <a:t> </a:t>
            </a:r>
            <a:r>
              <a:rPr spc="-400" dirty="0"/>
              <a:t>Live</a:t>
            </a:r>
            <a:r>
              <a:rPr spc="-320" dirty="0"/>
              <a:t> </a:t>
            </a:r>
            <a:r>
              <a:rPr spc="-365" dirty="0"/>
              <a:t>Detection</a:t>
            </a:r>
          </a:p>
        </p:txBody>
      </p:sp>
      <p:pic>
        <p:nvPicPr>
          <p:cNvPr id="58" name="Picture 5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DE58831-DD1D-6B6A-6421-26792AA749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112" y="920750"/>
            <a:ext cx="11928474" cy="5743837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E35E828-EF49-E002-8785-334FDE1AD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7BBF692-4B04-272C-1146-9A4BF4B272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43180">
              <a:lnSpc>
                <a:spcPct val="100000"/>
              </a:lnSpc>
              <a:spcBef>
                <a:spcPts val="114"/>
              </a:spcBef>
            </a:pPr>
            <a:r>
              <a:rPr spc="-459" dirty="0"/>
              <a:t>Web</a:t>
            </a:r>
            <a:r>
              <a:rPr spc="-330" dirty="0"/>
              <a:t> </a:t>
            </a:r>
            <a:r>
              <a:rPr spc="-345" dirty="0"/>
              <a:t>Application</a:t>
            </a:r>
            <a:r>
              <a:rPr spc="-320" dirty="0"/>
              <a:t> </a:t>
            </a:r>
            <a:r>
              <a:rPr spc="-495" dirty="0"/>
              <a:t>-</a:t>
            </a:r>
            <a:r>
              <a:rPr spc="-325" dirty="0"/>
              <a:t> </a:t>
            </a:r>
            <a:r>
              <a:rPr spc="-434" dirty="0"/>
              <a:t>Overview</a:t>
            </a:r>
            <a:r>
              <a:rPr spc="-320" dirty="0"/>
              <a:t> </a:t>
            </a:r>
            <a:r>
              <a:rPr spc="-805" dirty="0"/>
              <a:t>&amp;</a:t>
            </a:r>
            <a:r>
              <a:rPr spc="-320" dirty="0"/>
              <a:t> </a:t>
            </a:r>
            <a:r>
              <a:rPr spc="-400" dirty="0"/>
              <a:t>Live</a:t>
            </a:r>
            <a:r>
              <a:rPr spc="-320" dirty="0"/>
              <a:t> </a:t>
            </a:r>
            <a:r>
              <a:rPr spc="-365" dirty="0"/>
              <a:t>Detection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51BDE32-0632-95DA-7B81-955375F3F9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361" y="920750"/>
            <a:ext cx="11737976" cy="576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7700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B830B-FE94-6C34-A464-356BB2EF5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E67575E-91BF-34DE-A29F-5ABDD3EC97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43180">
              <a:lnSpc>
                <a:spcPct val="100000"/>
              </a:lnSpc>
              <a:spcBef>
                <a:spcPts val="114"/>
              </a:spcBef>
            </a:pPr>
            <a:r>
              <a:rPr spc="-459" dirty="0"/>
              <a:t>Web</a:t>
            </a:r>
            <a:r>
              <a:rPr spc="-330" dirty="0"/>
              <a:t> </a:t>
            </a:r>
            <a:r>
              <a:rPr spc="-345" dirty="0"/>
              <a:t>Application</a:t>
            </a:r>
            <a:r>
              <a:rPr spc="-320" dirty="0"/>
              <a:t> </a:t>
            </a:r>
            <a:r>
              <a:rPr spc="-495" dirty="0"/>
              <a:t>-</a:t>
            </a:r>
            <a:r>
              <a:rPr spc="-325" dirty="0"/>
              <a:t> </a:t>
            </a:r>
            <a:r>
              <a:rPr spc="-434" dirty="0"/>
              <a:t>Overview</a:t>
            </a:r>
            <a:r>
              <a:rPr spc="-320" dirty="0"/>
              <a:t> </a:t>
            </a:r>
            <a:r>
              <a:rPr spc="-805" dirty="0"/>
              <a:t>&amp;</a:t>
            </a:r>
            <a:r>
              <a:rPr spc="-320" dirty="0"/>
              <a:t> </a:t>
            </a:r>
            <a:r>
              <a:rPr spc="-400" dirty="0"/>
              <a:t>Live</a:t>
            </a:r>
            <a:r>
              <a:rPr spc="-320" dirty="0"/>
              <a:t> </a:t>
            </a:r>
            <a:r>
              <a:rPr spc="-365" dirty="0"/>
              <a:t>Detection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0A9C28E-322E-5695-3EA0-1FF578F2E6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574" y="920750"/>
            <a:ext cx="11893550" cy="5606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6896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03B40-E14F-B59A-BAB9-1D3B0F99A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E0F88F5-9ED4-CB66-9DE3-B91CF47504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43180">
              <a:lnSpc>
                <a:spcPct val="100000"/>
              </a:lnSpc>
              <a:spcBef>
                <a:spcPts val="114"/>
              </a:spcBef>
            </a:pPr>
            <a:r>
              <a:rPr spc="-459" dirty="0"/>
              <a:t>Web</a:t>
            </a:r>
            <a:r>
              <a:rPr spc="-330" dirty="0"/>
              <a:t> </a:t>
            </a:r>
            <a:r>
              <a:rPr spc="-345" dirty="0"/>
              <a:t>Application</a:t>
            </a:r>
            <a:r>
              <a:rPr spc="-320" dirty="0"/>
              <a:t> </a:t>
            </a:r>
            <a:r>
              <a:rPr spc="-495" dirty="0"/>
              <a:t>-</a:t>
            </a:r>
            <a:r>
              <a:rPr spc="-325" dirty="0"/>
              <a:t> </a:t>
            </a:r>
            <a:r>
              <a:rPr spc="-434" dirty="0"/>
              <a:t>Overview</a:t>
            </a:r>
            <a:r>
              <a:rPr spc="-320" dirty="0"/>
              <a:t> </a:t>
            </a:r>
            <a:r>
              <a:rPr spc="-805" dirty="0"/>
              <a:t>&amp;</a:t>
            </a:r>
            <a:r>
              <a:rPr spc="-320" dirty="0"/>
              <a:t> </a:t>
            </a:r>
            <a:r>
              <a:rPr spc="-400" dirty="0"/>
              <a:t>Live</a:t>
            </a:r>
            <a:r>
              <a:rPr spc="-320" dirty="0"/>
              <a:t> </a:t>
            </a:r>
            <a:r>
              <a:rPr spc="-365" dirty="0"/>
              <a:t>Detection</a:t>
            </a:r>
          </a:p>
        </p:txBody>
      </p:sp>
      <p:pic>
        <p:nvPicPr>
          <p:cNvPr id="4" name="Picture 3" descr="A person holding an orange&#10;&#10;AI-generated content may be incorrect.">
            <a:extLst>
              <a:ext uri="{FF2B5EF4-FFF2-40B4-BE49-F238E27FC236}">
                <a16:creationId xmlns:a16="http://schemas.microsoft.com/office/drawing/2014/main" id="{330ABE2A-FFA4-5409-3C3D-DE2F7DFE83F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350" y="1078213"/>
            <a:ext cx="4419600" cy="2762250"/>
          </a:xfrm>
          <a:prstGeom prst="rect">
            <a:avLst/>
          </a:prstGeom>
        </p:spPr>
      </p:pic>
      <p:pic>
        <p:nvPicPr>
          <p:cNvPr id="8" name="Picture 7" descr="A person holding an apple&#10;&#10;AI-generated content may be incorrect.">
            <a:extLst>
              <a:ext uri="{FF2B5EF4-FFF2-40B4-BE49-F238E27FC236}">
                <a16:creationId xmlns:a16="http://schemas.microsoft.com/office/drawing/2014/main" id="{A9EC4A80-BE9F-37AE-7E30-262FE1213C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4773" y="1271993"/>
            <a:ext cx="3657600" cy="4719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80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43180">
              <a:lnSpc>
                <a:spcPct val="100000"/>
              </a:lnSpc>
              <a:spcBef>
                <a:spcPts val="114"/>
              </a:spcBef>
            </a:pPr>
            <a:r>
              <a:rPr spc="-155" dirty="0">
                <a:latin typeface="Tahoma"/>
                <a:cs typeface="Tahoma"/>
              </a:rPr>
              <a:t>Challenges</a:t>
            </a:r>
            <a:r>
              <a:rPr spc="-165" dirty="0">
                <a:latin typeface="Tahoma"/>
                <a:cs typeface="Tahoma"/>
              </a:rPr>
              <a:t> </a:t>
            </a:r>
            <a:r>
              <a:rPr spc="-540" dirty="0">
                <a:latin typeface="Tahoma"/>
                <a:cs typeface="Tahoma"/>
              </a:rPr>
              <a:t>&amp;</a:t>
            </a:r>
            <a:r>
              <a:rPr spc="-160" dirty="0">
                <a:latin typeface="Tahoma"/>
                <a:cs typeface="Tahoma"/>
              </a:rPr>
              <a:t> </a:t>
            </a:r>
            <a:r>
              <a:rPr spc="-150" dirty="0">
                <a:latin typeface="Tahoma"/>
                <a:cs typeface="Tahoma"/>
              </a:rPr>
              <a:t>Limitations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19124" y="1038224"/>
            <a:ext cx="5372100" cy="5172075"/>
            <a:chOff x="619124" y="1038224"/>
            <a:chExt cx="5372100" cy="5172075"/>
          </a:xfrm>
        </p:grpSpPr>
        <p:sp>
          <p:nvSpPr>
            <p:cNvPr id="4" name="object 4"/>
            <p:cNvSpPr/>
            <p:nvPr/>
          </p:nvSpPr>
          <p:spPr>
            <a:xfrm>
              <a:off x="619124" y="1038224"/>
              <a:ext cx="5372100" cy="5172075"/>
            </a:xfrm>
            <a:custGeom>
              <a:avLst/>
              <a:gdLst/>
              <a:ahLst/>
              <a:cxnLst/>
              <a:rect l="l" t="t" r="r" b="b"/>
              <a:pathLst>
                <a:path w="5372100" h="5172075">
                  <a:moveTo>
                    <a:pt x="5257799" y="5172074"/>
                  </a:moveTo>
                  <a:lnTo>
                    <a:pt x="114299" y="5172074"/>
                  </a:lnTo>
                  <a:lnTo>
                    <a:pt x="103040" y="5171530"/>
                  </a:lnTo>
                  <a:lnTo>
                    <a:pt x="60364" y="5158561"/>
                  </a:lnTo>
                  <a:lnTo>
                    <a:pt x="25900" y="5130249"/>
                  </a:lnTo>
                  <a:lnTo>
                    <a:pt x="4894" y="5090903"/>
                  </a:lnTo>
                  <a:lnTo>
                    <a:pt x="0" y="5057774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5257799" y="0"/>
                  </a:lnTo>
                  <a:lnTo>
                    <a:pt x="5301539" y="8700"/>
                  </a:lnTo>
                  <a:lnTo>
                    <a:pt x="5338621" y="33477"/>
                  </a:lnTo>
                  <a:lnTo>
                    <a:pt x="5363398" y="70559"/>
                  </a:lnTo>
                  <a:lnTo>
                    <a:pt x="5372099" y="114299"/>
                  </a:lnTo>
                  <a:lnTo>
                    <a:pt x="5372099" y="5057774"/>
                  </a:lnTo>
                  <a:lnTo>
                    <a:pt x="5363398" y="5101514"/>
                  </a:lnTo>
                  <a:lnTo>
                    <a:pt x="5338621" y="5138596"/>
                  </a:lnTo>
                  <a:lnTo>
                    <a:pt x="5301539" y="5163372"/>
                  </a:lnTo>
                  <a:lnTo>
                    <a:pt x="5257799" y="5172074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19124" y="1038224"/>
              <a:ext cx="5372100" cy="5172075"/>
            </a:xfrm>
            <a:custGeom>
              <a:avLst/>
              <a:gdLst/>
              <a:ahLst/>
              <a:cxnLst/>
              <a:rect l="l" t="t" r="r" b="b"/>
              <a:pathLst>
                <a:path w="5372100" h="5172075">
                  <a:moveTo>
                    <a:pt x="5257799" y="5172074"/>
                  </a:moveTo>
                  <a:lnTo>
                    <a:pt x="114299" y="5172074"/>
                  </a:lnTo>
                  <a:lnTo>
                    <a:pt x="103040" y="5171530"/>
                  </a:lnTo>
                  <a:lnTo>
                    <a:pt x="60364" y="5158562"/>
                  </a:lnTo>
                  <a:lnTo>
                    <a:pt x="25900" y="5130250"/>
                  </a:lnTo>
                  <a:lnTo>
                    <a:pt x="4894" y="5090904"/>
                  </a:lnTo>
                  <a:lnTo>
                    <a:pt x="0" y="5057774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5257799" y="0"/>
                  </a:lnTo>
                  <a:lnTo>
                    <a:pt x="5301539" y="8700"/>
                  </a:lnTo>
                  <a:lnTo>
                    <a:pt x="5320986" y="19049"/>
                  </a:lnTo>
                  <a:lnTo>
                    <a:pt x="108045" y="19049"/>
                  </a:lnTo>
                  <a:lnTo>
                    <a:pt x="101851" y="19660"/>
                  </a:lnTo>
                  <a:lnTo>
                    <a:pt x="56181" y="38577"/>
                  </a:lnTo>
                  <a:lnTo>
                    <a:pt x="28693" y="72071"/>
                  </a:lnTo>
                  <a:lnTo>
                    <a:pt x="19049" y="108045"/>
                  </a:lnTo>
                  <a:lnTo>
                    <a:pt x="19049" y="5064028"/>
                  </a:lnTo>
                  <a:lnTo>
                    <a:pt x="31627" y="5105492"/>
                  </a:lnTo>
                  <a:lnTo>
                    <a:pt x="66582" y="5140446"/>
                  </a:lnTo>
                  <a:lnTo>
                    <a:pt x="108045" y="5153024"/>
                  </a:lnTo>
                  <a:lnTo>
                    <a:pt x="5320986" y="5153024"/>
                  </a:lnTo>
                  <a:lnTo>
                    <a:pt x="5311734" y="5158562"/>
                  </a:lnTo>
                  <a:lnTo>
                    <a:pt x="5301539" y="5163373"/>
                  </a:lnTo>
                  <a:lnTo>
                    <a:pt x="5290929" y="5167179"/>
                  </a:lnTo>
                  <a:lnTo>
                    <a:pt x="5280102" y="5169899"/>
                  </a:lnTo>
                  <a:lnTo>
                    <a:pt x="5269059" y="5171530"/>
                  </a:lnTo>
                  <a:lnTo>
                    <a:pt x="5257799" y="5172074"/>
                  </a:lnTo>
                  <a:close/>
                </a:path>
                <a:path w="5372100" h="5172075">
                  <a:moveTo>
                    <a:pt x="5320986" y="5153024"/>
                  </a:moveTo>
                  <a:lnTo>
                    <a:pt x="5264054" y="5153024"/>
                  </a:lnTo>
                  <a:lnTo>
                    <a:pt x="5270247" y="5152414"/>
                  </a:lnTo>
                  <a:lnTo>
                    <a:pt x="5282515" y="5149973"/>
                  </a:lnTo>
                  <a:lnTo>
                    <a:pt x="5320729" y="5129548"/>
                  </a:lnTo>
                  <a:lnTo>
                    <a:pt x="5348192" y="5088446"/>
                  </a:lnTo>
                  <a:lnTo>
                    <a:pt x="5353049" y="5064028"/>
                  </a:lnTo>
                  <a:lnTo>
                    <a:pt x="5353049" y="108045"/>
                  </a:lnTo>
                  <a:lnTo>
                    <a:pt x="5340471" y="66582"/>
                  </a:lnTo>
                  <a:lnTo>
                    <a:pt x="5305517" y="31627"/>
                  </a:lnTo>
                  <a:lnTo>
                    <a:pt x="5264054" y="19049"/>
                  </a:lnTo>
                  <a:lnTo>
                    <a:pt x="5320986" y="19049"/>
                  </a:lnTo>
                  <a:lnTo>
                    <a:pt x="5352854" y="50786"/>
                  </a:lnTo>
                  <a:lnTo>
                    <a:pt x="5369924" y="91996"/>
                  </a:lnTo>
                  <a:lnTo>
                    <a:pt x="5372099" y="5057774"/>
                  </a:lnTo>
                  <a:lnTo>
                    <a:pt x="5371555" y="5069034"/>
                  </a:lnTo>
                  <a:lnTo>
                    <a:pt x="5358587" y="5111709"/>
                  </a:lnTo>
                  <a:lnTo>
                    <a:pt x="5330275" y="5146173"/>
                  </a:lnTo>
                  <a:lnTo>
                    <a:pt x="5321312" y="5152828"/>
                  </a:lnTo>
                  <a:lnTo>
                    <a:pt x="5320986" y="5153024"/>
                  </a:lnTo>
                  <a:close/>
                </a:path>
              </a:pathLst>
            </a:custGeom>
            <a:solidFill>
              <a:srgbClr val="FA913C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6299" y="1327149"/>
              <a:ext cx="247650" cy="21272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66774" y="178117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386003" y="457199"/>
                  </a:moveTo>
                  <a:lnTo>
                    <a:pt x="71196" y="457199"/>
                  </a:lnTo>
                  <a:lnTo>
                    <a:pt x="66241" y="456711"/>
                  </a:lnTo>
                  <a:lnTo>
                    <a:pt x="29705" y="441578"/>
                  </a:lnTo>
                  <a:lnTo>
                    <a:pt x="3885" y="405537"/>
                  </a:lnTo>
                  <a:lnTo>
                    <a:pt x="0" y="386003"/>
                  </a:lnTo>
                  <a:lnTo>
                    <a:pt x="0" y="3809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386003" y="0"/>
                  </a:lnTo>
                  <a:lnTo>
                    <a:pt x="427494" y="15621"/>
                  </a:lnTo>
                  <a:lnTo>
                    <a:pt x="453314" y="51661"/>
                  </a:lnTo>
                  <a:lnTo>
                    <a:pt x="457200" y="71196"/>
                  </a:lnTo>
                  <a:lnTo>
                    <a:pt x="457200" y="386003"/>
                  </a:lnTo>
                  <a:lnTo>
                    <a:pt x="441578" y="427494"/>
                  </a:lnTo>
                  <a:lnTo>
                    <a:pt x="405537" y="453314"/>
                  </a:lnTo>
                  <a:lnTo>
                    <a:pt x="390958" y="456711"/>
                  </a:lnTo>
                  <a:lnTo>
                    <a:pt x="386003" y="457199"/>
                  </a:lnTo>
                  <a:close/>
                </a:path>
              </a:pathLst>
            </a:custGeom>
            <a:solidFill>
              <a:srgbClr val="FA913C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00124" y="1933574"/>
              <a:ext cx="190500" cy="15557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66774" y="246697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386003" y="457199"/>
                  </a:moveTo>
                  <a:lnTo>
                    <a:pt x="71196" y="457199"/>
                  </a:lnTo>
                  <a:lnTo>
                    <a:pt x="66241" y="456711"/>
                  </a:lnTo>
                  <a:lnTo>
                    <a:pt x="29705" y="441577"/>
                  </a:lnTo>
                  <a:lnTo>
                    <a:pt x="3885" y="405537"/>
                  </a:lnTo>
                  <a:lnTo>
                    <a:pt x="0" y="386003"/>
                  </a:lnTo>
                  <a:lnTo>
                    <a:pt x="0" y="3809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386003" y="0"/>
                  </a:lnTo>
                  <a:lnTo>
                    <a:pt x="427494" y="15621"/>
                  </a:lnTo>
                  <a:lnTo>
                    <a:pt x="453314" y="51661"/>
                  </a:lnTo>
                  <a:lnTo>
                    <a:pt x="457200" y="71196"/>
                  </a:lnTo>
                  <a:lnTo>
                    <a:pt x="457200" y="386003"/>
                  </a:lnTo>
                  <a:lnTo>
                    <a:pt x="441578" y="427494"/>
                  </a:lnTo>
                  <a:lnTo>
                    <a:pt x="405537" y="453313"/>
                  </a:lnTo>
                  <a:lnTo>
                    <a:pt x="390958" y="456711"/>
                  </a:lnTo>
                  <a:lnTo>
                    <a:pt x="386003" y="457199"/>
                  </a:lnTo>
                  <a:close/>
                </a:path>
              </a:pathLst>
            </a:custGeom>
            <a:solidFill>
              <a:srgbClr val="60A5FA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87424" y="2587624"/>
              <a:ext cx="215900" cy="21590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866774" y="315277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386003" y="457199"/>
                  </a:moveTo>
                  <a:lnTo>
                    <a:pt x="71196" y="457199"/>
                  </a:lnTo>
                  <a:lnTo>
                    <a:pt x="66241" y="456711"/>
                  </a:lnTo>
                  <a:lnTo>
                    <a:pt x="29705" y="441577"/>
                  </a:lnTo>
                  <a:lnTo>
                    <a:pt x="3885" y="405537"/>
                  </a:lnTo>
                  <a:lnTo>
                    <a:pt x="0" y="386003"/>
                  </a:lnTo>
                  <a:lnTo>
                    <a:pt x="0" y="3809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386003" y="0"/>
                  </a:lnTo>
                  <a:lnTo>
                    <a:pt x="427494" y="15621"/>
                  </a:lnTo>
                  <a:lnTo>
                    <a:pt x="453314" y="51661"/>
                  </a:lnTo>
                  <a:lnTo>
                    <a:pt x="457200" y="71196"/>
                  </a:lnTo>
                  <a:lnTo>
                    <a:pt x="457200" y="386003"/>
                  </a:lnTo>
                  <a:lnTo>
                    <a:pt x="441578" y="427493"/>
                  </a:lnTo>
                  <a:lnTo>
                    <a:pt x="405537" y="453313"/>
                  </a:lnTo>
                  <a:lnTo>
                    <a:pt x="390958" y="456711"/>
                  </a:lnTo>
                  <a:lnTo>
                    <a:pt x="386003" y="457199"/>
                  </a:lnTo>
                  <a:close/>
                </a:path>
              </a:pathLst>
            </a:custGeom>
            <a:solidFill>
              <a:srgbClr val="BF83FB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03299" y="3289299"/>
              <a:ext cx="184150" cy="184150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196974" y="1247457"/>
            <a:ext cx="2988945" cy="2380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35" dirty="0">
                <a:solidFill>
                  <a:srgbClr val="FFFFFF"/>
                </a:solidFill>
                <a:latin typeface="Roboto"/>
                <a:cs typeface="Roboto"/>
              </a:rPr>
              <a:t>Key</a:t>
            </a:r>
            <a:r>
              <a:rPr sz="2000" b="1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Roboto"/>
                <a:cs typeface="Roboto"/>
              </a:rPr>
              <a:t>Challenges</a:t>
            </a:r>
            <a:endParaRPr sz="2000">
              <a:latin typeface="Roboto"/>
              <a:cs typeface="Roboto"/>
            </a:endParaRPr>
          </a:p>
          <a:p>
            <a:pPr marL="240665">
              <a:lnSpc>
                <a:spcPct val="100000"/>
              </a:lnSpc>
              <a:spcBef>
                <a:spcPts val="1400"/>
              </a:spcBef>
            </a:pPr>
            <a:r>
              <a:rPr sz="1500" b="1" spc="-150" dirty="0">
                <a:solidFill>
                  <a:srgbClr val="FFFFFF"/>
                </a:solidFill>
                <a:latin typeface="Arial"/>
                <a:cs typeface="Arial"/>
              </a:rPr>
              <a:t>Accuracy</a:t>
            </a:r>
            <a:r>
              <a:rPr sz="15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b="1" spc="-155" dirty="0">
                <a:solidFill>
                  <a:srgbClr val="FFFFFF"/>
                </a:solidFill>
                <a:latin typeface="Arial"/>
                <a:cs typeface="Arial"/>
              </a:rPr>
              <a:t>vs</a:t>
            </a:r>
            <a:r>
              <a:rPr sz="15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b="1" spc="-150" dirty="0">
                <a:solidFill>
                  <a:srgbClr val="FFFFFF"/>
                </a:solidFill>
                <a:latin typeface="Arial"/>
                <a:cs typeface="Arial"/>
              </a:rPr>
              <a:t>Speed</a:t>
            </a:r>
            <a:r>
              <a:rPr sz="15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FFFFFF"/>
                </a:solidFill>
                <a:latin typeface="Arial"/>
                <a:cs typeface="Arial"/>
              </a:rPr>
              <a:t>Tradeoff</a:t>
            </a:r>
            <a:endParaRPr sz="1500">
              <a:latin typeface="Arial"/>
              <a:cs typeface="Arial"/>
            </a:endParaRPr>
          </a:p>
          <a:p>
            <a:pPr marL="240665">
              <a:lnSpc>
                <a:spcPct val="100000"/>
              </a:lnSpc>
              <a:spcBef>
                <a:spcPts val="575"/>
              </a:spcBef>
            </a:pPr>
            <a:r>
              <a:rPr sz="1300" spc="-55" dirty="0">
                <a:solidFill>
                  <a:srgbClr val="9CA2AF"/>
                </a:solidFill>
                <a:latin typeface="Tahoma"/>
                <a:cs typeface="Tahoma"/>
              </a:rPr>
              <a:t>Larger</a:t>
            </a:r>
            <a:r>
              <a:rPr sz="1300" spc="-75" dirty="0">
                <a:solidFill>
                  <a:srgbClr val="9CA2AF"/>
                </a:solidFill>
                <a:latin typeface="Tahoma"/>
                <a:cs typeface="Tahoma"/>
              </a:rPr>
              <a:t> </a:t>
            </a:r>
            <a:r>
              <a:rPr sz="1300" spc="-30" dirty="0">
                <a:solidFill>
                  <a:srgbClr val="9CA2AF"/>
                </a:solidFill>
                <a:latin typeface="Tahoma"/>
                <a:cs typeface="Tahoma"/>
              </a:rPr>
              <a:t>models</a:t>
            </a:r>
            <a:r>
              <a:rPr sz="1300" spc="-75" dirty="0">
                <a:solidFill>
                  <a:srgbClr val="9CA2AF"/>
                </a:solidFill>
                <a:latin typeface="Tahoma"/>
                <a:cs typeface="Tahoma"/>
              </a:rPr>
              <a:t> </a:t>
            </a:r>
            <a:r>
              <a:rPr sz="1300" spc="-60" dirty="0">
                <a:solidFill>
                  <a:srgbClr val="9CA2AF"/>
                </a:solidFill>
                <a:latin typeface="Tahoma"/>
                <a:cs typeface="Tahoma"/>
              </a:rPr>
              <a:t>more</a:t>
            </a:r>
            <a:r>
              <a:rPr sz="1300" spc="-70" dirty="0">
                <a:solidFill>
                  <a:srgbClr val="9CA2AF"/>
                </a:solidFill>
                <a:latin typeface="Tahoma"/>
                <a:cs typeface="Tahoma"/>
              </a:rPr>
              <a:t> </a:t>
            </a:r>
            <a:r>
              <a:rPr sz="1300" spc="-40" dirty="0">
                <a:solidFill>
                  <a:srgbClr val="9CA2AF"/>
                </a:solidFill>
                <a:latin typeface="Tahoma"/>
                <a:cs typeface="Tahoma"/>
              </a:rPr>
              <a:t>accurate</a:t>
            </a:r>
            <a:r>
              <a:rPr sz="1300" spc="-75" dirty="0">
                <a:solidFill>
                  <a:srgbClr val="9CA2AF"/>
                </a:solidFill>
                <a:latin typeface="Tahoma"/>
                <a:cs typeface="Tahoma"/>
              </a:rPr>
              <a:t> </a:t>
            </a:r>
            <a:r>
              <a:rPr sz="1300" spc="-65" dirty="0">
                <a:solidFill>
                  <a:srgbClr val="9CA2AF"/>
                </a:solidFill>
                <a:latin typeface="Tahoma"/>
                <a:cs typeface="Tahoma"/>
              </a:rPr>
              <a:t>but</a:t>
            </a:r>
            <a:r>
              <a:rPr sz="1300" spc="-75" dirty="0">
                <a:solidFill>
                  <a:srgbClr val="9CA2A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9CA2AF"/>
                </a:solidFill>
                <a:latin typeface="Tahoma"/>
                <a:cs typeface="Tahoma"/>
              </a:rPr>
              <a:t>slower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Tahoma"/>
              <a:cs typeface="Tahoma"/>
            </a:endParaRPr>
          </a:p>
          <a:p>
            <a:pPr marL="240665">
              <a:lnSpc>
                <a:spcPct val="100000"/>
              </a:lnSpc>
              <a:spcBef>
                <a:spcPts val="5"/>
              </a:spcBef>
            </a:pPr>
            <a:r>
              <a:rPr sz="1500" b="1" spc="-130" dirty="0">
                <a:solidFill>
                  <a:srgbClr val="FFFFFF"/>
                </a:solidFill>
                <a:latin typeface="Arial"/>
                <a:cs typeface="Arial"/>
              </a:rPr>
              <a:t>Lighting</a:t>
            </a:r>
            <a:r>
              <a:rPr sz="15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b="1" spc="-215" dirty="0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sz="15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b="1" spc="-35" dirty="0">
                <a:solidFill>
                  <a:srgbClr val="FFFFFF"/>
                </a:solidFill>
                <a:latin typeface="Arial"/>
                <a:cs typeface="Arial"/>
              </a:rPr>
              <a:t>Occlusion</a:t>
            </a:r>
            <a:endParaRPr sz="1500">
              <a:latin typeface="Arial"/>
              <a:cs typeface="Arial"/>
            </a:endParaRPr>
          </a:p>
          <a:p>
            <a:pPr marL="240665">
              <a:lnSpc>
                <a:spcPct val="100000"/>
              </a:lnSpc>
              <a:spcBef>
                <a:spcPts val="575"/>
              </a:spcBef>
            </a:pPr>
            <a:r>
              <a:rPr sz="1300" spc="-50" dirty="0">
                <a:solidFill>
                  <a:srgbClr val="9CA2AF"/>
                </a:solidFill>
                <a:latin typeface="Tahoma"/>
                <a:cs typeface="Tahoma"/>
              </a:rPr>
              <a:t>Detection</a:t>
            </a:r>
            <a:r>
              <a:rPr sz="1300" spc="-60" dirty="0">
                <a:solidFill>
                  <a:srgbClr val="9CA2AF"/>
                </a:solidFill>
                <a:latin typeface="Tahoma"/>
                <a:cs typeface="Tahoma"/>
              </a:rPr>
              <a:t> </a:t>
            </a:r>
            <a:r>
              <a:rPr sz="1300" spc="-50" dirty="0">
                <a:solidFill>
                  <a:srgbClr val="9CA2AF"/>
                </a:solidFill>
                <a:latin typeface="Tahoma"/>
                <a:cs typeface="Tahoma"/>
              </a:rPr>
              <a:t>quality</a:t>
            </a:r>
            <a:r>
              <a:rPr sz="1300" spc="-55" dirty="0">
                <a:solidFill>
                  <a:srgbClr val="9CA2AF"/>
                </a:solidFill>
                <a:latin typeface="Tahoma"/>
                <a:cs typeface="Tahoma"/>
              </a:rPr>
              <a:t> </a:t>
            </a:r>
            <a:r>
              <a:rPr sz="1300" spc="-40" dirty="0">
                <a:solidFill>
                  <a:srgbClr val="9CA2AF"/>
                </a:solidFill>
                <a:latin typeface="Tahoma"/>
                <a:cs typeface="Tahoma"/>
              </a:rPr>
              <a:t>varies</a:t>
            </a:r>
            <a:r>
              <a:rPr sz="1300" spc="-60" dirty="0">
                <a:solidFill>
                  <a:srgbClr val="9CA2AF"/>
                </a:solidFill>
                <a:latin typeface="Tahoma"/>
                <a:cs typeface="Tahoma"/>
              </a:rPr>
              <a:t> </a:t>
            </a:r>
            <a:r>
              <a:rPr sz="1300" spc="-55" dirty="0">
                <a:solidFill>
                  <a:srgbClr val="9CA2AF"/>
                </a:solidFill>
                <a:latin typeface="Tahoma"/>
                <a:cs typeface="Tahoma"/>
              </a:rPr>
              <a:t>with </a:t>
            </a:r>
            <a:r>
              <a:rPr sz="1300" spc="-10" dirty="0">
                <a:solidFill>
                  <a:srgbClr val="9CA2AF"/>
                </a:solidFill>
                <a:latin typeface="Tahoma"/>
                <a:cs typeface="Tahoma"/>
              </a:rPr>
              <a:t>conditions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Tahoma"/>
              <a:cs typeface="Tahoma"/>
            </a:endParaRPr>
          </a:p>
          <a:p>
            <a:pPr marL="240665">
              <a:lnSpc>
                <a:spcPct val="100000"/>
              </a:lnSpc>
            </a:pPr>
            <a:r>
              <a:rPr sz="1500" b="1" spc="-120" dirty="0">
                <a:solidFill>
                  <a:srgbClr val="FFFFFF"/>
                </a:solidFill>
                <a:latin typeface="Arial"/>
                <a:cs typeface="Arial"/>
              </a:rPr>
              <a:t>Small</a:t>
            </a:r>
            <a:r>
              <a:rPr sz="15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b="1" spc="-135" dirty="0">
                <a:solidFill>
                  <a:srgbClr val="FFFFFF"/>
                </a:solidFill>
                <a:latin typeface="Arial"/>
                <a:cs typeface="Arial"/>
              </a:rPr>
              <a:t>Objects</a:t>
            </a:r>
            <a:r>
              <a:rPr sz="15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b="1" spc="-215" dirty="0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sz="15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FFFFFF"/>
                </a:solidFill>
                <a:latin typeface="Arial"/>
                <a:cs typeface="Arial"/>
              </a:rPr>
              <a:t>Crowds</a:t>
            </a:r>
            <a:endParaRPr sz="1500">
              <a:latin typeface="Arial"/>
              <a:cs typeface="Arial"/>
            </a:endParaRPr>
          </a:p>
          <a:p>
            <a:pPr marL="240665">
              <a:lnSpc>
                <a:spcPct val="100000"/>
              </a:lnSpc>
              <a:spcBef>
                <a:spcPts val="575"/>
              </a:spcBef>
            </a:pPr>
            <a:r>
              <a:rPr sz="1300" spc="-60" dirty="0">
                <a:solidFill>
                  <a:srgbClr val="9CA2AF"/>
                </a:solidFill>
                <a:latin typeface="Tahoma"/>
                <a:cs typeface="Tahoma"/>
              </a:rPr>
              <a:t>Harder</a:t>
            </a:r>
            <a:r>
              <a:rPr sz="1300" spc="-70" dirty="0">
                <a:solidFill>
                  <a:srgbClr val="9CA2AF"/>
                </a:solidFill>
                <a:latin typeface="Tahoma"/>
                <a:cs typeface="Tahoma"/>
              </a:rPr>
              <a:t> </a:t>
            </a:r>
            <a:r>
              <a:rPr sz="1300" spc="-45" dirty="0">
                <a:solidFill>
                  <a:srgbClr val="9CA2AF"/>
                </a:solidFill>
                <a:latin typeface="Tahoma"/>
                <a:cs typeface="Tahoma"/>
              </a:rPr>
              <a:t>to</a:t>
            </a:r>
            <a:r>
              <a:rPr sz="1300" spc="-70" dirty="0">
                <a:solidFill>
                  <a:srgbClr val="9CA2AF"/>
                </a:solidFill>
                <a:latin typeface="Tahoma"/>
                <a:cs typeface="Tahoma"/>
              </a:rPr>
              <a:t> </a:t>
            </a:r>
            <a:r>
              <a:rPr sz="1300" spc="-45" dirty="0">
                <a:solidFill>
                  <a:srgbClr val="9CA2AF"/>
                </a:solidFill>
                <a:latin typeface="Tahoma"/>
                <a:cs typeface="Tahoma"/>
              </a:rPr>
              <a:t>detect</a:t>
            </a:r>
            <a:r>
              <a:rPr sz="1300" spc="-70" dirty="0">
                <a:solidFill>
                  <a:srgbClr val="9CA2AF"/>
                </a:solidFill>
                <a:latin typeface="Tahoma"/>
                <a:cs typeface="Tahoma"/>
              </a:rPr>
              <a:t> </a:t>
            </a:r>
            <a:r>
              <a:rPr sz="1300" spc="-50" dirty="0">
                <a:solidFill>
                  <a:srgbClr val="9CA2AF"/>
                </a:solidFill>
                <a:latin typeface="Tahoma"/>
                <a:cs typeface="Tahoma"/>
              </a:rPr>
              <a:t>in</a:t>
            </a:r>
            <a:r>
              <a:rPr sz="1300" spc="-65" dirty="0">
                <a:solidFill>
                  <a:srgbClr val="9CA2AF"/>
                </a:solidFill>
                <a:latin typeface="Tahoma"/>
                <a:cs typeface="Tahoma"/>
              </a:rPr>
              <a:t> </a:t>
            </a:r>
            <a:r>
              <a:rPr sz="1300" spc="-40" dirty="0">
                <a:solidFill>
                  <a:srgbClr val="9CA2AF"/>
                </a:solidFill>
                <a:latin typeface="Tahoma"/>
                <a:cs typeface="Tahoma"/>
              </a:rPr>
              <a:t>complex</a:t>
            </a:r>
            <a:r>
              <a:rPr sz="1300" spc="-70" dirty="0">
                <a:solidFill>
                  <a:srgbClr val="9CA2A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9CA2AF"/>
                </a:solidFill>
                <a:latin typeface="Tahoma"/>
                <a:cs typeface="Tahoma"/>
              </a:rPr>
              <a:t>scenes</a:t>
            </a:r>
            <a:endParaRPr sz="1300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219824" y="1038224"/>
            <a:ext cx="5372100" cy="5172075"/>
            <a:chOff x="6219824" y="1038224"/>
            <a:chExt cx="5372100" cy="5172075"/>
          </a:xfrm>
        </p:grpSpPr>
        <p:sp>
          <p:nvSpPr>
            <p:cNvPr id="15" name="object 15"/>
            <p:cNvSpPr/>
            <p:nvPr/>
          </p:nvSpPr>
          <p:spPr>
            <a:xfrm>
              <a:off x="6219824" y="1038224"/>
              <a:ext cx="5372100" cy="5172075"/>
            </a:xfrm>
            <a:custGeom>
              <a:avLst/>
              <a:gdLst/>
              <a:ahLst/>
              <a:cxnLst/>
              <a:rect l="l" t="t" r="r" b="b"/>
              <a:pathLst>
                <a:path w="5372100" h="5172075">
                  <a:moveTo>
                    <a:pt x="5257799" y="5172074"/>
                  </a:moveTo>
                  <a:lnTo>
                    <a:pt x="114299" y="5172074"/>
                  </a:lnTo>
                  <a:lnTo>
                    <a:pt x="103040" y="5171530"/>
                  </a:lnTo>
                  <a:lnTo>
                    <a:pt x="60363" y="5158561"/>
                  </a:lnTo>
                  <a:lnTo>
                    <a:pt x="25899" y="5130249"/>
                  </a:lnTo>
                  <a:lnTo>
                    <a:pt x="4893" y="5090903"/>
                  </a:lnTo>
                  <a:lnTo>
                    <a:pt x="0" y="5057774"/>
                  </a:lnTo>
                  <a:lnTo>
                    <a:pt x="0" y="114299"/>
                  </a:lnTo>
                  <a:lnTo>
                    <a:pt x="8699" y="70559"/>
                  </a:lnTo>
                  <a:lnTo>
                    <a:pt x="33477" y="33477"/>
                  </a:lnTo>
                  <a:lnTo>
                    <a:pt x="70558" y="8700"/>
                  </a:lnTo>
                  <a:lnTo>
                    <a:pt x="114299" y="0"/>
                  </a:lnTo>
                  <a:lnTo>
                    <a:pt x="5257799" y="0"/>
                  </a:lnTo>
                  <a:lnTo>
                    <a:pt x="5301538" y="8700"/>
                  </a:lnTo>
                  <a:lnTo>
                    <a:pt x="5338620" y="33477"/>
                  </a:lnTo>
                  <a:lnTo>
                    <a:pt x="5363397" y="70559"/>
                  </a:lnTo>
                  <a:lnTo>
                    <a:pt x="5372099" y="114299"/>
                  </a:lnTo>
                  <a:lnTo>
                    <a:pt x="5372099" y="5057774"/>
                  </a:lnTo>
                  <a:lnTo>
                    <a:pt x="5363396" y="5101514"/>
                  </a:lnTo>
                  <a:lnTo>
                    <a:pt x="5338620" y="5138596"/>
                  </a:lnTo>
                  <a:lnTo>
                    <a:pt x="5301538" y="5163372"/>
                  </a:lnTo>
                  <a:lnTo>
                    <a:pt x="5257799" y="5172074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219824" y="1038224"/>
              <a:ext cx="5372100" cy="5172075"/>
            </a:xfrm>
            <a:custGeom>
              <a:avLst/>
              <a:gdLst/>
              <a:ahLst/>
              <a:cxnLst/>
              <a:rect l="l" t="t" r="r" b="b"/>
              <a:pathLst>
                <a:path w="5372100" h="5172075">
                  <a:moveTo>
                    <a:pt x="5257799" y="5172074"/>
                  </a:moveTo>
                  <a:lnTo>
                    <a:pt x="114299" y="5172074"/>
                  </a:lnTo>
                  <a:lnTo>
                    <a:pt x="103040" y="5171530"/>
                  </a:lnTo>
                  <a:lnTo>
                    <a:pt x="60363" y="5158562"/>
                  </a:lnTo>
                  <a:lnTo>
                    <a:pt x="25899" y="5130250"/>
                  </a:lnTo>
                  <a:lnTo>
                    <a:pt x="4893" y="5090904"/>
                  </a:lnTo>
                  <a:lnTo>
                    <a:pt x="0" y="5057774"/>
                  </a:lnTo>
                  <a:lnTo>
                    <a:pt x="0" y="114299"/>
                  </a:lnTo>
                  <a:lnTo>
                    <a:pt x="8699" y="70559"/>
                  </a:lnTo>
                  <a:lnTo>
                    <a:pt x="33477" y="33477"/>
                  </a:lnTo>
                  <a:lnTo>
                    <a:pt x="70558" y="8700"/>
                  </a:lnTo>
                  <a:lnTo>
                    <a:pt x="114299" y="0"/>
                  </a:lnTo>
                  <a:lnTo>
                    <a:pt x="5257799" y="0"/>
                  </a:lnTo>
                  <a:lnTo>
                    <a:pt x="5301538" y="8700"/>
                  </a:lnTo>
                  <a:lnTo>
                    <a:pt x="5320986" y="19049"/>
                  </a:lnTo>
                  <a:lnTo>
                    <a:pt x="108045" y="19049"/>
                  </a:lnTo>
                  <a:lnTo>
                    <a:pt x="101851" y="19660"/>
                  </a:lnTo>
                  <a:lnTo>
                    <a:pt x="56181" y="38577"/>
                  </a:lnTo>
                  <a:lnTo>
                    <a:pt x="28693" y="72071"/>
                  </a:lnTo>
                  <a:lnTo>
                    <a:pt x="19049" y="108045"/>
                  </a:lnTo>
                  <a:lnTo>
                    <a:pt x="19049" y="5064028"/>
                  </a:lnTo>
                  <a:lnTo>
                    <a:pt x="31627" y="5105492"/>
                  </a:lnTo>
                  <a:lnTo>
                    <a:pt x="66581" y="5140446"/>
                  </a:lnTo>
                  <a:lnTo>
                    <a:pt x="108045" y="5153024"/>
                  </a:lnTo>
                  <a:lnTo>
                    <a:pt x="5320985" y="5153024"/>
                  </a:lnTo>
                  <a:lnTo>
                    <a:pt x="5311733" y="5158562"/>
                  </a:lnTo>
                  <a:lnTo>
                    <a:pt x="5301538" y="5163373"/>
                  </a:lnTo>
                  <a:lnTo>
                    <a:pt x="5290928" y="5167179"/>
                  </a:lnTo>
                  <a:lnTo>
                    <a:pt x="5280101" y="5169899"/>
                  </a:lnTo>
                  <a:lnTo>
                    <a:pt x="5269058" y="5171530"/>
                  </a:lnTo>
                  <a:lnTo>
                    <a:pt x="5257799" y="5172074"/>
                  </a:lnTo>
                  <a:close/>
                </a:path>
                <a:path w="5372100" h="5172075">
                  <a:moveTo>
                    <a:pt x="5320985" y="5153024"/>
                  </a:moveTo>
                  <a:lnTo>
                    <a:pt x="5264053" y="5153024"/>
                  </a:lnTo>
                  <a:lnTo>
                    <a:pt x="5270248" y="5152414"/>
                  </a:lnTo>
                  <a:lnTo>
                    <a:pt x="5282515" y="5149973"/>
                  </a:lnTo>
                  <a:lnTo>
                    <a:pt x="5320729" y="5129548"/>
                  </a:lnTo>
                  <a:lnTo>
                    <a:pt x="5348192" y="5088446"/>
                  </a:lnTo>
                  <a:lnTo>
                    <a:pt x="5353049" y="5064028"/>
                  </a:lnTo>
                  <a:lnTo>
                    <a:pt x="5353049" y="108045"/>
                  </a:lnTo>
                  <a:lnTo>
                    <a:pt x="5352556" y="103040"/>
                  </a:lnTo>
                  <a:lnTo>
                    <a:pt x="5352439" y="101851"/>
                  </a:lnTo>
                  <a:lnTo>
                    <a:pt x="5333522" y="56181"/>
                  </a:lnTo>
                  <a:lnTo>
                    <a:pt x="5300027" y="28693"/>
                  </a:lnTo>
                  <a:lnTo>
                    <a:pt x="5264053" y="19049"/>
                  </a:lnTo>
                  <a:lnTo>
                    <a:pt x="5320986" y="19049"/>
                  </a:lnTo>
                  <a:lnTo>
                    <a:pt x="5352853" y="50786"/>
                  </a:lnTo>
                  <a:lnTo>
                    <a:pt x="5369923" y="91996"/>
                  </a:lnTo>
                  <a:lnTo>
                    <a:pt x="5372099" y="5057774"/>
                  </a:lnTo>
                  <a:lnTo>
                    <a:pt x="5371555" y="5069034"/>
                  </a:lnTo>
                  <a:lnTo>
                    <a:pt x="5358586" y="5111709"/>
                  </a:lnTo>
                  <a:lnTo>
                    <a:pt x="5330274" y="5146173"/>
                  </a:lnTo>
                  <a:lnTo>
                    <a:pt x="5321311" y="5152828"/>
                  </a:lnTo>
                  <a:lnTo>
                    <a:pt x="5320985" y="5153024"/>
                  </a:lnTo>
                  <a:close/>
                </a:path>
              </a:pathLst>
            </a:custGeom>
            <a:solidFill>
              <a:srgbClr val="FFD600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89699" y="1327149"/>
              <a:ext cx="222250" cy="22225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467473" y="178117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386003" y="457199"/>
                  </a:moveTo>
                  <a:lnTo>
                    <a:pt x="71196" y="457199"/>
                  </a:lnTo>
                  <a:lnTo>
                    <a:pt x="66241" y="456711"/>
                  </a:lnTo>
                  <a:lnTo>
                    <a:pt x="29705" y="441578"/>
                  </a:lnTo>
                  <a:lnTo>
                    <a:pt x="3885" y="405537"/>
                  </a:lnTo>
                  <a:lnTo>
                    <a:pt x="0" y="386003"/>
                  </a:lnTo>
                  <a:lnTo>
                    <a:pt x="0" y="3809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386003" y="0"/>
                  </a:lnTo>
                  <a:lnTo>
                    <a:pt x="427494" y="15621"/>
                  </a:lnTo>
                  <a:lnTo>
                    <a:pt x="453314" y="51661"/>
                  </a:lnTo>
                  <a:lnTo>
                    <a:pt x="457200" y="71196"/>
                  </a:lnTo>
                  <a:lnTo>
                    <a:pt x="457200" y="386003"/>
                  </a:lnTo>
                  <a:lnTo>
                    <a:pt x="441577" y="427494"/>
                  </a:lnTo>
                  <a:lnTo>
                    <a:pt x="405537" y="453314"/>
                  </a:lnTo>
                  <a:lnTo>
                    <a:pt x="390958" y="456711"/>
                  </a:lnTo>
                  <a:lnTo>
                    <a:pt x="386003" y="457199"/>
                  </a:lnTo>
                  <a:close/>
                </a:path>
              </a:pathLst>
            </a:custGeom>
            <a:solidFill>
              <a:srgbClr val="FFD6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610349" y="1924049"/>
              <a:ext cx="171450" cy="17145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467473" y="246697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386003" y="457199"/>
                  </a:moveTo>
                  <a:lnTo>
                    <a:pt x="71196" y="457199"/>
                  </a:lnTo>
                  <a:lnTo>
                    <a:pt x="66241" y="456711"/>
                  </a:lnTo>
                  <a:lnTo>
                    <a:pt x="29705" y="441577"/>
                  </a:lnTo>
                  <a:lnTo>
                    <a:pt x="3885" y="405537"/>
                  </a:lnTo>
                  <a:lnTo>
                    <a:pt x="0" y="386003"/>
                  </a:lnTo>
                  <a:lnTo>
                    <a:pt x="0" y="3809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386003" y="0"/>
                  </a:lnTo>
                  <a:lnTo>
                    <a:pt x="427494" y="15621"/>
                  </a:lnTo>
                  <a:lnTo>
                    <a:pt x="453314" y="51661"/>
                  </a:lnTo>
                  <a:lnTo>
                    <a:pt x="457200" y="71196"/>
                  </a:lnTo>
                  <a:lnTo>
                    <a:pt x="457200" y="386003"/>
                  </a:lnTo>
                  <a:lnTo>
                    <a:pt x="441577" y="427494"/>
                  </a:lnTo>
                  <a:lnTo>
                    <a:pt x="405537" y="453313"/>
                  </a:lnTo>
                  <a:lnTo>
                    <a:pt x="390958" y="456711"/>
                  </a:lnTo>
                  <a:lnTo>
                    <a:pt x="386003" y="457199"/>
                  </a:lnTo>
                  <a:close/>
                </a:path>
              </a:pathLst>
            </a:custGeom>
            <a:solidFill>
              <a:srgbClr val="F7707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581774" y="2616199"/>
              <a:ext cx="228600" cy="15875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6467473" y="315277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386003" y="457199"/>
                  </a:moveTo>
                  <a:lnTo>
                    <a:pt x="71196" y="457199"/>
                  </a:lnTo>
                  <a:lnTo>
                    <a:pt x="66241" y="456711"/>
                  </a:lnTo>
                  <a:lnTo>
                    <a:pt x="29705" y="441577"/>
                  </a:lnTo>
                  <a:lnTo>
                    <a:pt x="3885" y="405537"/>
                  </a:lnTo>
                  <a:lnTo>
                    <a:pt x="0" y="386003"/>
                  </a:lnTo>
                  <a:lnTo>
                    <a:pt x="0" y="3809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386003" y="0"/>
                  </a:lnTo>
                  <a:lnTo>
                    <a:pt x="427494" y="15621"/>
                  </a:lnTo>
                  <a:lnTo>
                    <a:pt x="453314" y="51661"/>
                  </a:lnTo>
                  <a:lnTo>
                    <a:pt x="457200" y="71196"/>
                  </a:lnTo>
                  <a:lnTo>
                    <a:pt x="457200" y="386003"/>
                  </a:lnTo>
                  <a:lnTo>
                    <a:pt x="441577" y="427493"/>
                  </a:lnTo>
                  <a:lnTo>
                    <a:pt x="405537" y="453313"/>
                  </a:lnTo>
                  <a:lnTo>
                    <a:pt x="390958" y="456711"/>
                  </a:lnTo>
                  <a:lnTo>
                    <a:pt x="386003" y="457199"/>
                  </a:lnTo>
                  <a:close/>
                </a:path>
              </a:pathLst>
            </a:custGeom>
            <a:solidFill>
              <a:srgbClr val="21D3ED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600824" y="3286124"/>
              <a:ext cx="190500" cy="19050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6467473" y="383857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386003" y="457199"/>
                  </a:moveTo>
                  <a:lnTo>
                    <a:pt x="71196" y="457199"/>
                  </a:lnTo>
                  <a:lnTo>
                    <a:pt x="66241" y="456711"/>
                  </a:lnTo>
                  <a:lnTo>
                    <a:pt x="29705" y="441577"/>
                  </a:lnTo>
                  <a:lnTo>
                    <a:pt x="3885" y="405537"/>
                  </a:lnTo>
                  <a:lnTo>
                    <a:pt x="0" y="386003"/>
                  </a:lnTo>
                  <a:lnTo>
                    <a:pt x="0" y="380999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386003" y="0"/>
                  </a:lnTo>
                  <a:lnTo>
                    <a:pt x="427494" y="15621"/>
                  </a:lnTo>
                  <a:lnTo>
                    <a:pt x="453314" y="51661"/>
                  </a:lnTo>
                  <a:lnTo>
                    <a:pt x="457200" y="71196"/>
                  </a:lnTo>
                  <a:lnTo>
                    <a:pt x="457200" y="386003"/>
                  </a:lnTo>
                  <a:lnTo>
                    <a:pt x="441577" y="427494"/>
                  </a:lnTo>
                  <a:lnTo>
                    <a:pt x="405537" y="453313"/>
                  </a:lnTo>
                  <a:lnTo>
                    <a:pt x="390958" y="456711"/>
                  </a:lnTo>
                  <a:lnTo>
                    <a:pt x="386003" y="457199"/>
                  </a:lnTo>
                  <a:close/>
                </a:path>
              </a:pathLst>
            </a:custGeom>
            <a:solidFill>
              <a:srgbClr val="4ADE8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588124" y="3981449"/>
              <a:ext cx="215900" cy="171450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6797675" y="1247457"/>
            <a:ext cx="3212465" cy="3066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0" dirty="0">
                <a:solidFill>
                  <a:srgbClr val="FFFFFF"/>
                </a:solidFill>
                <a:latin typeface="Roboto"/>
                <a:cs typeface="Roboto"/>
              </a:rPr>
              <a:t>Current</a:t>
            </a:r>
            <a:r>
              <a:rPr sz="2000" b="1" spc="1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Roboto"/>
                <a:cs typeface="Roboto"/>
              </a:rPr>
              <a:t>Limitations</a:t>
            </a:r>
            <a:endParaRPr sz="2000">
              <a:latin typeface="Roboto"/>
              <a:cs typeface="Roboto"/>
            </a:endParaRPr>
          </a:p>
          <a:p>
            <a:pPr marL="240665">
              <a:lnSpc>
                <a:spcPct val="100000"/>
              </a:lnSpc>
              <a:spcBef>
                <a:spcPts val="1400"/>
              </a:spcBef>
            </a:pPr>
            <a:r>
              <a:rPr sz="1500" b="1" spc="-120" dirty="0">
                <a:solidFill>
                  <a:srgbClr val="FFFFFF"/>
                </a:solidFill>
                <a:latin typeface="Arial"/>
                <a:cs typeface="Arial"/>
              </a:rPr>
              <a:t>Limited</a:t>
            </a:r>
            <a:r>
              <a:rPr sz="15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FFFFFF"/>
                </a:solidFill>
                <a:latin typeface="Arial"/>
                <a:cs typeface="Arial"/>
              </a:rPr>
              <a:t>Dataset</a:t>
            </a:r>
            <a:endParaRPr sz="1500">
              <a:latin typeface="Arial"/>
              <a:cs typeface="Arial"/>
            </a:endParaRPr>
          </a:p>
          <a:p>
            <a:pPr marL="240665">
              <a:lnSpc>
                <a:spcPct val="100000"/>
              </a:lnSpc>
              <a:spcBef>
                <a:spcPts val="575"/>
              </a:spcBef>
            </a:pPr>
            <a:r>
              <a:rPr sz="1300" spc="-75" dirty="0">
                <a:solidFill>
                  <a:srgbClr val="9CA2AF"/>
                </a:solidFill>
                <a:latin typeface="Tahoma"/>
                <a:cs typeface="Tahoma"/>
              </a:rPr>
              <a:t>Only</a:t>
            </a:r>
            <a:r>
              <a:rPr sz="1300" spc="-85" dirty="0">
                <a:solidFill>
                  <a:srgbClr val="9CA2AF"/>
                </a:solidFill>
                <a:latin typeface="Tahoma"/>
                <a:cs typeface="Tahoma"/>
              </a:rPr>
              <a:t> </a:t>
            </a:r>
            <a:r>
              <a:rPr sz="1300" spc="-45" dirty="0">
                <a:solidFill>
                  <a:srgbClr val="9CA2AF"/>
                </a:solidFill>
                <a:latin typeface="Tahoma"/>
                <a:cs typeface="Tahoma"/>
              </a:rPr>
              <a:t>9</a:t>
            </a:r>
            <a:r>
              <a:rPr sz="1300" spc="-80" dirty="0">
                <a:solidFill>
                  <a:srgbClr val="9CA2AF"/>
                </a:solidFill>
                <a:latin typeface="Tahoma"/>
                <a:cs typeface="Tahoma"/>
              </a:rPr>
              <a:t> </a:t>
            </a:r>
            <a:r>
              <a:rPr sz="1300" spc="-45" dirty="0">
                <a:solidFill>
                  <a:srgbClr val="9CA2AF"/>
                </a:solidFill>
                <a:latin typeface="Tahoma"/>
                <a:cs typeface="Tahoma"/>
              </a:rPr>
              <a:t>fruit</a:t>
            </a:r>
            <a:r>
              <a:rPr sz="1300" spc="-80" dirty="0">
                <a:solidFill>
                  <a:srgbClr val="9CA2AF"/>
                </a:solidFill>
                <a:latin typeface="Tahoma"/>
                <a:cs typeface="Tahoma"/>
              </a:rPr>
              <a:t> </a:t>
            </a:r>
            <a:r>
              <a:rPr sz="1300" spc="-20" dirty="0">
                <a:solidFill>
                  <a:srgbClr val="9CA2AF"/>
                </a:solidFill>
                <a:latin typeface="Tahoma"/>
                <a:cs typeface="Tahoma"/>
              </a:rPr>
              <a:t>classes,</a:t>
            </a:r>
            <a:r>
              <a:rPr sz="1300" spc="-80" dirty="0">
                <a:solidFill>
                  <a:srgbClr val="9CA2AF"/>
                </a:solidFill>
                <a:latin typeface="Tahoma"/>
                <a:cs typeface="Tahoma"/>
              </a:rPr>
              <a:t> </a:t>
            </a:r>
            <a:r>
              <a:rPr sz="1300" spc="-65" dirty="0">
                <a:solidFill>
                  <a:srgbClr val="9CA2AF"/>
                </a:solidFill>
                <a:latin typeface="Tahoma"/>
                <a:cs typeface="Tahoma"/>
              </a:rPr>
              <a:t>need</a:t>
            </a:r>
            <a:r>
              <a:rPr sz="1300" spc="-80" dirty="0">
                <a:solidFill>
                  <a:srgbClr val="9CA2A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9CA2AF"/>
                </a:solidFill>
                <a:latin typeface="Tahoma"/>
                <a:cs typeface="Tahoma"/>
              </a:rPr>
              <a:t>diversity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Tahoma"/>
              <a:cs typeface="Tahoma"/>
            </a:endParaRPr>
          </a:p>
          <a:p>
            <a:pPr marL="240665">
              <a:lnSpc>
                <a:spcPct val="100000"/>
              </a:lnSpc>
              <a:spcBef>
                <a:spcPts val="5"/>
              </a:spcBef>
            </a:pPr>
            <a:r>
              <a:rPr sz="1500" b="1" spc="-135" dirty="0">
                <a:solidFill>
                  <a:srgbClr val="FFFFFF"/>
                </a:solidFill>
                <a:latin typeface="Arial"/>
                <a:cs typeface="Arial"/>
              </a:rPr>
              <a:t>Hardware</a:t>
            </a:r>
            <a:r>
              <a:rPr sz="15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b="1" spc="-35" dirty="0">
                <a:solidFill>
                  <a:srgbClr val="FFFFFF"/>
                </a:solidFill>
                <a:latin typeface="Arial"/>
                <a:cs typeface="Arial"/>
              </a:rPr>
              <a:t>Constraints</a:t>
            </a:r>
            <a:endParaRPr sz="1500">
              <a:latin typeface="Arial"/>
              <a:cs typeface="Arial"/>
            </a:endParaRPr>
          </a:p>
          <a:p>
            <a:pPr marL="240665">
              <a:lnSpc>
                <a:spcPct val="100000"/>
              </a:lnSpc>
              <a:spcBef>
                <a:spcPts val="575"/>
              </a:spcBef>
            </a:pPr>
            <a:r>
              <a:rPr sz="1300" spc="-40" dirty="0">
                <a:solidFill>
                  <a:srgbClr val="9CA2AF"/>
                </a:solidFill>
                <a:latin typeface="Tahoma"/>
                <a:cs typeface="Tahoma"/>
              </a:rPr>
              <a:t>GPU</a:t>
            </a:r>
            <a:r>
              <a:rPr sz="1300" spc="-75" dirty="0">
                <a:solidFill>
                  <a:srgbClr val="9CA2AF"/>
                </a:solidFill>
                <a:latin typeface="Tahoma"/>
                <a:cs typeface="Tahoma"/>
              </a:rPr>
              <a:t> </a:t>
            </a:r>
            <a:r>
              <a:rPr sz="1300" spc="-40" dirty="0">
                <a:solidFill>
                  <a:srgbClr val="9CA2AF"/>
                </a:solidFill>
                <a:latin typeface="Tahoma"/>
                <a:cs typeface="Tahoma"/>
              </a:rPr>
              <a:t>availability</a:t>
            </a:r>
            <a:r>
              <a:rPr sz="1300" spc="-70" dirty="0">
                <a:solidFill>
                  <a:srgbClr val="9CA2AF"/>
                </a:solidFill>
                <a:latin typeface="Tahoma"/>
                <a:cs typeface="Tahoma"/>
              </a:rPr>
              <a:t> </a:t>
            </a:r>
            <a:r>
              <a:rPr sz="1300" spc="-140" dirty="0">
                <a:solidFill>
                  <a:srgbClr val="9CA2AF"/>
                </a:solidFill>
                <a:latin typeface="Tahoma"/>
                <a:cs typeface="Tahoma"/>
              </a:rPr>
              <a:t>&amp;</a:t>
            </a:r>
            <a:r>
              <a:rPr sz="1300" spc="-70" dirty="0">
                <a:solidFill>
                  <a:srgbClr val="9CA2AF"/>
                </a:solidFill>
                <a:latin typeface="Tahoma"/>
                <a:cs typeface="Tahoma"/>
              </a:rPr>
              <a:t> </a:t>
            </a:r>
            <a:r>
              <a:rPr sz="1300" spc="-45" dirty="0">
                <a:solidFill>
                  <a:srgbClr val="9CA2AF"/>
                </a:solidFill>
                <a:latin typeface="Tahoma"/>
                <a:cs typeface="Tahoma"/>
              </a:rPr>
              <a:t>compute</a:t>
            </a:r>
            <a:r>
              <a:rPr sz="1300" spc="-70" dirty="0">
                <a:solidFill>
                  <a:srgbClr val="9CA2A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9CA2AF"/>
                </a:solidFill>
                <a:latin typeface="Tahoma"/>
                <a:cs typeface="Tahoma"/>
              </a:rPr>
              <a:t>resources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Tahoma"/>
              <a:cs typeface="Tahoma"/>
            </a:endParaRPr>
          </a:p>
          <a:p>
            <a:pPr marL="240665">
              <a:lnSpc>
                <a:spcPct val="100000"/>
              </a:lnSpc>
            </a:pPr>
            <a:r>
              <a:rPr sz="1500" b="1" spc="-120" dirty="0">
                <a:solidFill>
                  <a:srgbClr val="FFFFFF"/>
                </a:solidFill>
                <a:latin typeface="Arial"/>
                <a:cs typeface="Arial"/>
              </a:rPr>
              <a:t>Generalization</a:t>
            </a:r>
            <a:r>
              <a:rPr sz="15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FFFFFF"/>
                </a:solidFill>
                <a:latin typeface="Arial"/>
                <a:cs typeface="Arial"/>
              </a:rPr>
              <a:t>Issues</a:t>
            </a:r>
            <a:endParaRPr sz="1500">
              <a:latin typeface="Arial"/>
              <a:cs typeface="Arial"/>
            </a:endParaRPr>
          </a:p>
          <a:p>
            <a:pPr marL="240665">
              <a:lnSpc>
                <a:spcPct val="100000"/>
              </a:lnSpc>
              <a:spcBef>
                <a:spcPts val="575"/>
              </a:spcBef>
            </a:pPr>
            <a:r>
              <a:rPr sz="1300" spc="-40" dirty="0">
                <a:solidFill>
                  <a:srgbClr val="9CA2AF"/>
                </a:solidFill>
                <a:latin typeface="Tahoma"/>
                <a:cs typeface="Tahoma"/>
              </a:rPr>
              <a:t>Performance</a:t>
            </a:r>
            <a:r>
              <a:rPr sz="1300" spc="-70" dirty="0">
                <a:solidFill>
                  <a:srgbClr val="9CA2AF"/>
                </a:solidFill>
                <a:latin typeface="Tahoma"/>
                <a:cs typeface="Tahoma"/>
              </a:rPr>
              <a:t> </a:t>
            </a:r>
            <a:r>
              <a:rPr sz="1300" spc="-40" dirty="0">
                <a:solidFill>
                  <a:srgbClr val="9CA2AF"/>
                </a:solidFill>
                <a:latin typeface="Tahoma"/>
                <a:cs typeface="Tahoma"/>
              </a:rPr>
              <a:t>drops</a:t>
            </a:r>
            <a:r>
              <a:rPr sz="1300" spc="-70" dirty="0">
                <a:solidFill>
                  <a:srgbClr val="9CA2AF"/>
                </a:solidFill>
                <a:latin typeface="Tahoma"/>
                <a:cs typeface="Tahoma"/>
              </a:rPr>
              <a:t> </a:t>
            </a:r>
            <a:r>
              <a:rPr sz="1300" spc="-50" dirty="0">
                <a:solidFill>
                  <a:srgbClr val="9CA2AF"/>
                </a:solidFill>
                <a:latin typeface="Tahoma"/>
                <a:cs typeface="Tahoma"/>
              </a:rPr>
              <a:t>in</a:t>
            </a:r>
            <a:r>
              <a:rPr sz="1300" spc="-70" dirty="0">
                <a:solidFill>
                  <a:srgbClr val="9CA2AF"/>
                </a:solidFill>
                <a:latin typeface="Tahoma"/>
                <a:cs typeface="Tahoma"/>
              </a:rPr>
              <a:t> </a:t>
            </a:r>
            <a:r>
              <a:rPr sz="1300" spc="-55" dirty="0">
                <a:solidFill>
                  <a:srgbClr val="9CA2AF"/>
                </a:solidFill>
                <a:latin typeface="Tahoma"/>
                <a:cs typeface="Tahoma"/>
              </a:rPr>
              <a:t>unseen</a:t>
            </a:r>
            <a:r>
              <a:rPr sz="1300" spc="-70" dirty="0">
                <a:solidFill>
                  <a:srgbClr val="9CA2AF"/>
                </a:solidFill>
                <a:latin typeface="Tahoma"/>
                <a:cs typeface="Tahoma"/>
              </a:rPr>
              <a:t> </a:t>
            </a:r>
            <a:r>
              <a:rPr sz="1300" spc="-30" dirty="0">
                <a:solidFill>
                  <a:srgbClr val="9CA2AF"/>
                </a:solidFill>
                <a:latin typeface="Tahoma"/>
                <a:cs typeface="Tahoma"/>
              </a:rPr>
              <a:t>environments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Tahoma"/>
              <a:cs typeface="Tahoma"/>
            </a:endParaRPr>
          </a:p>
          <a:p>
            <a:pPr marL="240665">
              <a:lnSpc>
                <a:spcPct val="100000"/>
              </a:lnSpc>
            </a:pPr>
            <a:r>
              <a:rPr sz="1500" b="1" spc="-160" dirty="0">
                <a:solidFill>
                  <a:srgbClr val="FFFFFF"/>
                </a:solidFill>
                <a:latin typeface="Arial"/>
                <a:cs typeface="Arial"/>
              </a:rPr>
              <a:t>Lab</a:t>
            </a:r>
            <a:r>
              <a:rPr sz="15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b="1" spc="-40" dirty="0">
                <a:solidFill>
                  <a:srgbClr val="FFFFFF"/>
                </a:solidFill>
                <a:latin typeface="Arial"/>
                <a:cs typeface="Arial"/>
              </a:rPr>
              <a:t>Constraints</a:t>
            </a:r>
            <a:endParaRPr sz="1500">
              <a:latin typeface="Arial"/>
              <a:cs typeface="Arial"/>
            </a:endParaRPr>
          </a:p>
          <a:p>
            <a:pPr marL="240665">
              <a:lnSpc>
                <a:spcPct val="100000"/>
              </a:lnSpc>
              <a:spcBef>
                <a:spcPts val="575"/>
              </a:spcBef>
            </a:pPr>
            <a:r>
              <a:rPr sz="1300" spc="-55" dirty="0">
                <a:solidFill>
                  <a:srgbClr val="9CA2AF"/>
                </a:solidFill>
                <a:latin typeface="Tahoma"/>
                <a:cs typeface="Tahoma"/>
              </a:rPr>
              <a:t>Webcam</a:t>
            </a:r>
            <a:r>
              <a:rPr sz="1300" spc="-70" dirty="0">
                <a:solidFill>
                  <a:srgbClr val="9CA2AF"/>
                </a:solidFill>
                <a:latin typeface="Tahoma"/>
                <a:cs typeface="Tahoma"/>
              </a:rPr>
              <a:t> </a:t>
            </a:r>
            <a:r>
              <a:rPr sz="1300" spc="-30" dirty="0">
                <a:solidFill>
                  <a:srgbClr val="9CA2AF"/>
                </a:solidFill>
                <a:latin typeface="Tahoma"/>
                <a:cs typeface="Tahoma"/>
              </a:rPr>
              <a:t>permissions</a:t>
            </a:r>
            <a:r>
              <a:rPr sz="1300" spc="-70" dirty="0">
                <a:solidFill>
                  <a:srgbClr val="9CA2AF"/>
                </a:solidFill>
                <a:latin typeface="Tahoma"/>
                <a:cs typeface="Tahoma"/>
              </a:rPr>
              <a:t> </a:t>
            </a:r>
            <a:r>
              <a:rPr sz="1300" spc="-140" dirty="0">
                <a:solidFill>
                  <a:srgbClr val="9CA2AF"/>
                </a:solidFill>
                <a:latin typeface="Tahoma"/>
                <a:cs typeface="Tahoma"/>
              </a:rPr>
              <a:t>&amp;</a:t>
            </a:r>
            <a:r>
              <a:rPr sz="1300" spc="-70" dirty="0">
                <a:solidFill>
                  <a:srgbClr val="9CA2AF"/>
                </a:solidFill>
                <a:latin typeface="Tahoma"/>
                <a:cs typeface="Tahoma"/>
              </a:rPr>
              <a:t> </a:t>
            </a:r>
            <a:r>
              <a:rPr sz="1300" spc="-60" dirty="0">
                <a:solidFill>
                  <a:srgbClr val="9CA2AF"/>
                </a:solidFill>
                <a:latin typeface="Tahoma"/>
                <a:cs typeface="Tahoma"/>
              </a:rPr>
              <a:t>driver</a:t>
            </a:r>
            <a:r>
              <a:rPr sz="1300" spc="-70" dirty="0">
                <a:solidFill>
                  <a:srgbClr val="9CA2A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9CA2AF"/>
                </a:solidFill>
                <a:latin typeface="Tahoma"/>
                <a:cs typeface="Tahoma"/>
              </a:rPr>
              <a:t>compatibility</a:t>
            </a:r>
            <a:endParaRPr sz="1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43180">
              <a:lnSpc>
                <a:spcPct val="100000"/>
              </a:lnSpc>
              <a:spcBef>
                <a:spcPts val="114"/>
              </a:spcBef>
            </a:pPr>
            <a:r>
              <a:rPr spc="-145" dirty="0">
                <a:latin typeface="Tahoma"/>
                <a:cs typeface="Tahoma"/>
              </a:rPr>
              <a:t>Backup</a:t>
            </a:r>
            <a:r>
              <a:rPr spc="-135" dirty="0">
                <a:latin typeface="Tahoma"/>
                <a:cs typeface="Tahoma"/>
              </a:rPr>
              <a:t> </a:t>
            </a:r>
            <a:r>
              <a:rPr spc="-160" dirty="0">
                <a:latin typeface="Tahoma"/>
                <a:cs typeface="Tahoma"/>
              </a:rPr>
              <a:t>Plan</a:t>
            </a:r>
            <a:r>
              <a:rPr spc="-140" dirty="0">
                <a:latin typeface="Tahoma"/>
                <a:cs typeface="Tahoma"/>
              </a:rPr>
              <a:t> </a:t>
            </a:r>
            <a:r>
              <a:rPr spc="-540" dirty="0">
                <a:latin typeface="Tahoma"/>
                <a:cs typeface="Tahoma"/>
              </a:rPr>
              <a:t>&amp;</a:t>
            </a:r>
            <a:r>
              <a:rPr spc="-135" dirty="0">
                <a:latin typeface="Tahoma"/>
                <a:cs typeface="Tahoma"/>
              </a:rPr>
              <a:t> </a:t>
            </a:r>
            <a:r>
              <a:rPr spc="-195" dirty="0">
                <a:latin typeface="Tahoma"/>
                <a:cs typeface="Tahoma"/>
              </a:rPr>
              <a:t>Risk</a:t>
            </a:r>
            <a:r>
              <a:rPr spc="-140" dirty="0">
                <a:latin typeface="Tahoma"/>
                <a:cs typeface="Tahoma"/>
              </a:rPr>
              <a:t> </a:t>
            </a:r>
            <a:r>
              <a:rPr spc="-130" dirty="0">
                <a:latin typeface="Tahoma"/>
                <a:cs typeface="Tahoma"/>
              </a:rPr>
              <a:t>Mitigation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19124" y="1000125"/>
            <a:ext cx="5410200" cy="1257300"/>
            <a:chOff x="619124" y="1000125"/>
            <a:chExt cx="5410200" cy="1257300"/>
          </a:xfrm>
        </p:grpSpPr>
        <p:sp>
          <p:nvSpPr>
            <p:cNvPr id="4" name="object 4"/>
            <p:cNvSpPr/>
            <p:nvPr/>
          </p:nvSpPr>
          <p:spPr>
            <a:xfrm>
              <a:off x="619124" y="1000125"/>
              <a:ext cx="5410200" cy="1257300"/>
            </a:xfrm>
            <a:custGeom>
              <a:avLst/>
              <a:gdLst/>
              <a:ahLst/>
              <a:cxnLst/>
              <a:rect l="l" t="t" r="r" b="b"/>
              <a:pathLst>
                <a:path w="5410200" h="1257300">
                  <a:moveTo>
                    <a:pt x="5295899" y="1257299"/>
                  </a:moveTo>
                  <a:lnTo>
                    <a:pt x="114299" y="1257299"/>
                  </a:lnTo>
                  <a:lnTo>
                    <a:pt x="103040" y="1256756"/>
                  </a:lnTo>
                  <a:lnTo>
                    <a:pt x="60364" y="1243787"/>
                  </a:lnTo>
                  <a:lnTo>
                    <a:pt x="25900" y="1215475"/>
                  </a:lnTo>
                  <a:lnTo>
                    <a:pt x="4894" y="1176129"/>
                  </a:lnTo>
                  <a:lnTo>
                    <a:pt x="0" y="114299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5295899" y="0"/>
                  </a:lnTo>
                  <a:lnTo>
                    <a:pt x="5339639" y="8700"/>
                  </a:lnTo>
                  <a:lnTo>
                    <a:pt x="5376721" y="33477"/>
                  </a:lnTo>
                  <a:lnTo>
                    <a:pt x="5401498" y="70559"/>
                  </a:lnTo>
                  <a:lnTo>
                    <a:pt x="5410199" y="114299"/>
                  </a:lnTo>
                  <a:lnTo>
                    <a:pt x="5410199" y="1142999"/>
                  </a:lnTo>
                  <a:lnTo>
                    <a:pt x="5401498" y="1186740"/>
                  </a:lnTo>
                  <a:lnTo>
                    <a:pt x="5376721" y="1223821"/>
                  </a:lnTo>
                  <a:lnTo>
                    <a:pt x="5339639" y="1248599"/>
                  </a:lnTo>
                  <a:lnTo>
                    <a:pt x="5295899" y="1257299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19124" y="1000125"/>
              <a:ext cx="5410200" cy="1257300"/>
            </a:xfrm>
            <a:custGeom>
              <a:avLst/>
              <a:gdLst/>
              <a:ahLst/>
              <a:cxnLst/>
              <a:rect l="l" t="t" r="r" b="b"/>
              <a:pathLst>
                <a:path w="5410200" h="1257300">
                  <a:moveTo>
                    <a:pt x="5295899" y="1257299"/>
                  </a:moveTo>
                  <a:lnTo>
                    <a:pt x="114299" y="1257299"/>
                  </a:lnTo>
                  <a:lnTo>
                    <a:pt x="103040" y="1256756"/>
                  </a:lnTo>
                  <a:lnTo>
                    <a:pt x="60364" y="1243787"/>
                  </a:lnTo>
                  <a:lnTo>
                    <a:pt x="25900" y="1215475"/>
                  </a:lnTo>
                  <a:lnTo>
                    <a:pt x="4894" y="1176129"/>
                  </a:lnTo>
                  <a:lnTo>
                    <a:pt x="0" y="114299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5295899" y="0"/>
                  </a:lnTo>
                  <a:lnTo>
                    <a:pt x="5339640" y="8700"/>
                  </a:lnTo>
                  <a:lnTo>
                    <a:pt x="5359086" y="19049"/>
                  </a:lnTo>
                  <a:lnTo>
                    <a:pt x="108045" y="19049"/>
                  </a:lnTo>
                  <a:lnTo>
                    <a:pt x="101851" y="19660"/>
                  </a:lnTo>
                  <a:lnTo>
                    <a:pt x="56181" y="38577"/>
                  </a:lnTo>
                  <a:lnTo>
                    <a:pt x="28693" y="72071"/>
                  </a:lnTo>
                  <a:lnTo>
                    <a:pt x="19049" y="108045"/>
                  </a:lnTo>
                  <a:lnTo>
                    <a:pt x="19049" y="1149254"/>
                  </a:lnTo>
                  <a:lnTo>
                    <a:pt x="31627" y="1190717"/>
                  </a:lnTo>
                  <a:lnTo>
                    <a:pt x="66582" y="1225671"/>
                  </a:lnTo>
                  <a:lnTo>
                    <a:pt x="108045" y="1238249"/>
                  </a:lnTo>
                  <a:lnTo>
                    <a:pt x="5359086" y="1238249"/>
                  </a:lnTo>
                  <a:lnTo>
                    <a:pt x="5349834" y="1243787"/>
                  </a:lnTo>
                  <a:lnTo>
                    <a:pt x="5339639" y="1248599"/>
                  </a:lnTo>
                  <a:lnTo>
                    <a:pt x="5329029" y="1252405"/>
                  </a:lnTo>
                  <a:lnTo>
                    <a:pt x="5318202" y="1255124"/>
                  </a:lnTo>
                  <a:lnTo>
                    <a:pt x="5307159" y="1256756"/>
                  </a:lnTo>
                  <a:lnTo>
                    <a:pt x="5295899" y="1257299"/>
                  </a:lnTo>
                  <a:close/>
                </a:path>
                <a:path w="5410200" h="1257300">
                  <a:moveTo>
                    <a:pt x="5359086" y="1238249"/>
                  </a:moveTo>
                  <a:lnTo>
                    <a:pt x="5302154" y="1238249"/>
                  </a:lnTo>
                  <a:lnTo>
                    <a:pt x="5308347" y="1237639"/>
                  </a:lnTo>
                  <a:lnTo>
                    <a:pt x="5320615" y="1235199"/>
                  </a:lnTo>
                  <a:lnTo>
                    <a:pt x="5358828" y="1214774"/>
                  </a:lnTo>
                  <a:lnTo>
                    <a:pt x="5386292" y="1173672"/>
                  </a:lnTo>
                  <a:lnTo>
                    <a:pt x="5391149" y="1149254"/>
                  </a:lnTo>
                  <a:lnTo>
                    <a:pt x="5391149" y="108045"/>
                  </a:lnTo>
                  <a:lnTo>
                    <a:pt x="5378571" y="66582"/>
                  </a:lnTo>
                  <a:lnTo>
                    <a:pt x="5343617" y="31627"/>
                  </a:lnTo>
                  <a:lnTo>
                    <a:pt x="5302154" y="19049"/>
                  </a:lnTo>
                  <a:lnTo>
                    <a:pt x="5359086" y="19049"/>
                  </a:lnTo>
                  <a:lnTo>
                    <a:pt x="5390954" y="50786"/>
                  </a:lnTo>
                  <a:lnTo>
                    <a:pt x="5408024" y="91996"/>
                  </a:lnTo>
                  <a:lnTo>
                    <a:pt x="5410199" y="1142999"/>
                  </a:lnTo>
                  <a:lnTo>
                    <a:pt x="5409655" y="1154259"/>
                  </a:lnTo>
                  <a:lnTo>
                    <a:pt x="5396687" y="1196934"/>
                  </a:lnTo>
                  <a:lnTo>
                    <a:pt x="5368375" y="1231399"/>
                  </a:lnTo>
                  <a:lnTo>
                    <a:pt x="5359412" y="1238054"/>
                  </a:lnTo>
                  <a:lnTo>
                    <a:pt x="5359086" y="1238249"/>
                  </a:lnTo>
                  <a:close/>
                </a:path>
              </a:pathLst>
            </a:custGeom>
            <a:solidFill>
              <a:srgbClr val="F77070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5499" y="1219199"/>
              <a:ext cx="158750" cy="17145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5974" y="1597024"/>
              <a:ext cx="120650" cy="12065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5974" y="1901825"/>
              <a:ext cx="120650" cy="120650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619124" y="5229224"/>
            <a:ext cx="10972800" cy="590550"/>
            <a:chOff x="619124" y="5229224"/>
            <a:chExt cx="10972800" cy="590550"/>
          </a:xfrm>
        </p:grpSpPr>
        <p:sp>
          <p:nvSpPr>
            <p:cNvPr id="10" name="object 10"/>
            <p:cNvSpPr/>
            <p:nvPr/>
          </p:nvSpPr>
          <p:spPr>
            <a:xfrm>
              <a:off x="619124" y="5229224"/>
              <a:ext cx="10972800" cy="590550"/>
            </a:xfrm>
            <a:custGeom>
              <a:avLst/>
              <a:gdLst/>
              <a:ahLst/>
              <a:cxnLst/>
              <a:rect l="l" t="t" r="r" b="b"/>
              <a:pathLst>
                <a:path w="10972800" h="590550">
                  <a:moveTo>
                    <a:pt x="10858499" y="590549"/>
                  </a:moveTo>
                  <a:lnTo>
                    <a:pt x="114299" y="590549"/>
                  </a:lnTo>
                  <a:lnTo>
                    <a:pt x="103040" y="590005"/>
                  </a:lnTo>
                  <a:lnTo>
                    <a:pt x="60365" y="577037"/>
                  </a:lnTo>
                  <a:lnTo>
                    <a:pt x="25900" y="548725"/>
                  </a:lnTo>
                  <a:lnTo>
                    <a:pt x="4894" y="509379"/>
                  </a:lnTo>
                  <a:lnTo>
                    <a:pt x="0" y="476249"/>
                  </a:lnTo>
                  <a:lnTo>
                    <a:pt x="0" y="114299"/>
                  </a:lnTo>
                  <a:lnTo>
                    <a:pt x="8700" y="70558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10858499" y="0"/>
                  </a:lnTo>
                  <a:lnTo>
                    <a:pt x="10902237" y="8700"/>
                  </a:lnTo>
                  <a:lnTo>
                    <a:pt x="10939320" y="33477"/>
                  </a:lnTo>
                  <a:lnTo>
                    <a:pt x="10964097" y="70558"/>
                  </a:lnTo>
                  <a:lnTo>
                    <a:pt x="10972799" y="114299"/>
                  </a:lnTo>
                  <a:lnTo>
                    <a:pt x="10972799" y="476249"/>
                  </a:lnTo>
                  <a:lnTo>
                    <a:pt x="10964096" y="519989"/>
                  </a:lnTo>
                  <a:lnTo>
                    <a:pt x="10939320" y="557071"/>
                  </a:lnTo>
                  <a:lnTo>
                    <a:pt x="10902238" y="581848"/>
                  </a:lnTo>
                  <a:lnTo>
                    <a:pt x="10858499" y="590549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19124" y="5229224"/>
              <a:ext cx="10972800" cy="590550"/>
            </a:xfrm>
            <a:custGeom>
              <a:avLst/>
              <a:gdLst/>
              <a:ahLst/>
              <a:cxnLst/>
              <a:rect l="l" t="t" r="r" b="b"/>
              <a:pathLst>
                <a:path w="10972800" h="590550">
                  <a:moveTo>
                    <a:pt x="10858499" y="590549"/>
                  </a:moveTo>
                  <a:lnTo>
                    <a:pt x="114299" y="590549"/>
                  </a:lnTo>
                  <a:lnTo>
                    <a:pt x="103040" y="590005"/>
                  </a:lnTo>
                  <a:lnTo>
                    <a:pt x="60365" y="577037"/>
                  </a:lnTo>
                  <a:lnTo>
                    <a:pt x="25900" y="548725"/>
                  </a:lnTo>
                  <a:lnTo>
                    <a:pt x="4894" y="509379"/>
                  </a:lnTo>
                  <a:lnTo>
                    <a:pt x="0" y="476249"/>
                  </a:lnTo>
                  <a:lnTo>
                    <a:pt x="0" y="114299"/>
                  </a:lnTo>
                  <a:lnTo>
                    <a:pt x="8700" y="70558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10858499" y="0"/>
                  </a:lnTo>
                  <a:lnTo>
                    <a:pt x="10902238" y="8700"/>
                  </a:lnTo>
                  <a:lnTo>
                    <a:pt x="10903985" y="9524"/>
                  </a:lnTo>
                  <a:lnTo>
                    <a:pt x="107420" y="9524"/>
                  </a:lnTo>
                  <a:lnTo>
                    <a:pt x="100606" y="10195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483129"/>
                  </a:lnTo>
                  <a:lnTo>
                    <a:pt x="20133" y="522701"/>
                  </a:lnTo>
                  <a:lnTo>
                    <a:pt x="45077" y="555201"/>
                  </a:lnTo>
                  <a:lnTo>
                    <a:pt x="80560" y="575682"/>
                  </a:lnTo>
                  <a:lnTo>
                    <a:pt x="107420" y="581024"/>
                  </a:lnTo>
                  <a:lnTo>
                    <a:pt x="10903984" y="581024"/>
                  </a:lnTo>
                  <a:lnTo>
                    <a:pt x="10902238" y="581848"/>
                  </a:lnTo>
                  <a:lnTo>
                    <a:pt x="10891628" y="585655"/>
                  </a:lnTo>
                  <a:lnTo>
                    <a:pt x="10880801" y="588374"/>
                  </a:lnTo>
                  <a:lnTo>
                    <a:pt x="10869758" y="590005"/>
                  </a:lnTo>
                  <a:lnTo>
                    <a:pt x="10858499" y="590549"/>
                  </a:lnTo>
                  <a:close/>
                </a:path>
                <a:path w="10972800" h="590550">
                  <a:moveTo>
                    <a:pt x="10903984" y="581024"/>
                  </a:moveTo>
                  <a:lnTo>
                    <a:pt x="10865378" y="581024"/>
                  </a:lnTo>
                  <a:lnTo>
                    <a:pt x="10872191" y="580353"/>
                  </a:lnTo>
                  <a:lnTo>
                    <a:pt x="10885686" y="577669"/>
                  </a:lnTo>
                  <a:lnTo>
                    <a:pt x="10922428" y="559544"/>
                  </a:lnTo>
                  <a:lnTo>
                    <a:pt x="10949437" y="528739"/>
                  </a:lnTo>
                  <a:lnTo>
                    <a:pt x="10962602" y="489943"/>
                  </a:lnTo>
                  <a:lnTo>
                    <a:pt x="10963274" y="483129"/>
                  </a:lnTo>
                  <a:lnTo>
                    <a:pt x="10963274" y="107420"/>
                  </a:lnTo>
                  <a:lnTo>
                    <a:pt x="10952664" y="67848"/>
                  </a:lnTo>
                  <a:lnTo>
                    <a:pt x="10927720" y="35348"/>
                  </a:lnTo>
                  <a:lnTo>
                    <a:pt x="10892238" y="14867"/>
                  </a:lnTo>
                  <a:lnTo>
                    <a:pt x="10865378" y="9524"/>
                  </a:lnTo>
                  <a:lnTo>
                    <a:pt x="10903985" y="9524"/>
                  </a:lnTo>
                  <a:lnTo>
                    <a:pt x="10939320" y="33477"/>
                  </a:lnTo>
                  <a:lnTo>
                    <a:pt x="10964097" y="70558"/>
                  </a:lnTo>
                  <a:lnTo>
                    <a:pt x="10972799" y="114299"/>
                  </a:lnTo>
                  <a:lnTo>
                    <a:pt x="10972799" y="476249"/>
                  </a:lnTo>
                  <a:lnTo>
                    <a:pt x="10972255" y="487509"/>
                  </a:lnTo>
                  <a:lnTo>
                    <a:pt x="10959286" y="530184"/>
                  </a:lnTo>
                  <a:lnTo>
                    <a:pt x="10930974" y="564648"/>
                  </a:lnTo>
                  <a:lnTo>
                    <a:pt x="10912433" y="577037"/>
                  </a:lnTo>
                  <a:lnTo>
                    <a:pt x="10903984" y="581024"/>
                  </a:lnTo>
                  <a:close/>
                </a:path>
              </a:pathLst>
            </a:custGeom>
            <a:solidFill>
              <a:srgbClr val="FFD600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0574" y="5407024"/>
              <a:ext cx="247650" cy="234950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025525" y="1158636"/>
            <a:ext cx="2714625" cy="907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215">
              <a:lnSpc>
                <a:spcPct val="100000"/>
              </a:lnSpc>
              <a:spcBef>
                <a:spcPts val="100"/>
              </a:spcBef>
            </a:pPr>
            <a:r>
              <a:rPr sz="1500" b="1" spc="-114" dirty="0">
                <a:solidFill>
                  <a:srgbClr val="FFFFFF"/>
                </a:solidFill>
                <a:latin typeface="Arial"/>
                <a:cs typeface="Arial"/>
              </a:rPr>
              <a:t>Model</a:t>
            </a:r>
            <a:r>
              <a:rPr sz="15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FFFFFF"/>
                </a:solidFill>
                <a:latin typeface="Arial"/>
                <a:cs typeface="Arial"/>
              </a:rPr>
              <a:t>Issues</a:t>
            </a:r>
            <a:endParaRPr sz="1500">
              <a:latin typeface="Arial"/>
              <a:cs typeface="Arial"/>
            </a:endParaRPr>
          </a:p>
          <a:p>
            <a:pPr marL="12700" marR="5080">
              <a:lnSpc>
                <a:spcPct val="153800"/>
              </a:lnSpc>
              <a:spcBef>
                <a:spcPts val="335"/>
              </a:spcBef>
            </a:pPr>
            <a:r>
              <a:rPr sz="1300" spc="-100" dirty="0">
                <a:solidFill>
                  <a:srgbClr val="D0D5DA"/>
                </a:solidFill>
                <a:latin typeface="Arial MT"/>
                <a:cs typeface="Arial MT"/>
              </a:rPr>
              <a:t>Use</a:t>
            </a:r>
            <a:r>
              <a:rPr sz="1300" spc="-5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300" spc="-40" dirty="0">
                <a:solidFill>
                  <a:srgbClr val="D0D5DA"/>
                </a:solidFill>
                <a:latin typeface="Arial MT"/>
                <a:cs typeface="Arial MT"/>
              </a:rPr>
              <a:t>stable</a:t>
            </a:r>
            <a:r>
              <a:rPr sz="1300" spc="-4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300" spc="-135" dirty="0">
                <a:solidFill>
                  <a:srgbClr val="D0D5DA"/>
                </a:solidFill>
                <a:latin typeface="Arial MT"/>
                <a:cs typeface="Arial MT"/>
              </a:rPr>
              <a:t>YOLOv8</a:t>
            </a:r>
            <a:r>
              <a:rPr sz="1300" spc="-5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300" spc="-40" dirty="0">
                <a:solidFill>
                  <a:srgbClr val="D0D5DA"/>
                </a:solidFill>
                <a:latin typeface="Arial MT"/>
                <a:cs typeface="Arial MT"/>
              </a:rPr>
              <a:t>or</a:t>
            </a:r>
            <a:r>
              <a:rPr sz="1300" spc="-4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300" spc="-25" dirty="0">
                <a:solidFill>
                  <a:srgbClr val="D0D5DA"/>
                </a:solidFill>
                <a:latin typeface="Arial MT"/>
                <a:cs typeface="Arial MT"/>
              </a:rPr>
              <a:t>switch</a:t>
            </a:r>
            <a:r>
              <a:rPr sz="1300" spc="-5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D0D5DA"/>
                </a:solidFill>
                <a:latin typeface="Arial MT"/>
                <a:cs typeface="Arial MT"/>
              </a:rPr>
              <a:t>to</a:t>
            </a:r>
            <a:r>
              <a:rPr sz="1300" spc="-4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300" spc="-140" dirty="0">
                <a:solidFill>
                  <a:srgbClr val="D0D5DA"/>
                </a:solidFill>
                <a:latin typeface="Arial MT"/>
                <a:cs typeface="Arial MT"/>
              </a:rPr>
              <a:t>YOLOv5 </a:t>
            </a:r>
            <a:r>
              <a:rPr sz="1300" spc="-45" dirty="0">
                <a:solidFill>
                  <a:srgbClr val="D0D5DA"/>
                </a:solidFill>
                <a:latin typeface="Arial MT"/>
                <a:cs typeface="Arial MT"/>
              </a:rPr>
              <a:t>Alternative</a:t>
            </a:r>
            <a:r>
              <a:rPr sz="1300" spc="-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300" spc="-45" dirty="0">
                <a:solidFill>
                  <a:srgbClr val="D0D5DA"/>
                </a:solidFill>
                <a:latin typeface="Arial MT"/>
                <a:cs typeface="Arial MT"/>
              </a:rPr>
              <a:t>frameworks</a:t>
            </a:r>
            <a:r>
              <a:rPr sz="130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D0D5DA"/>
                </a:solidFill>
                <a:latin typeface="Arial MT"/>
                <a:cs typeface="Arial MT"/>
              </a:rPr>
              <a:t>available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181724" y="1000125"/>
            <a:ext cx="5410200" cy="1257300"/>
            <a:chOff x="6181724" y="1000125"/>
            <a:chExt cx="5410200" cy="1257300"/>
          </a:xfrm>
        </p:grpSpPr>
        <p:sp>
          <p:nvSpPr>
            <p:cNvPr id="15" name="object 15"/>
            <p:cNvSpPr/>
            <p:nvPr/>
          </p:nvSpPr>
          <p:spPr>
            <a:xfrm>
              <a:off x="6181724" y="1000125"/>
              <a:ext cx="5410200" cy="1257300"/>
            </a:xfrm>
            <a:custGeom>
              <a:avLst/>
              <a:gdLst/>
              <a:ahLst/>
              <a:cxnLst/>
              <a:rect l="l" t="t" r="r" b="b"/>
              <a:pathLst>
                <a:path w="5410200" h="1257300">
                  <a:moveTo>
                    <a:pt x="5295899" y="1257299"/>
                  </a:moveTo>
                  <a:lnTo>
                    <a:pt x="114299" y="1257299"/>
                  </a:lnTo>
                  <a:lnTo>
                    <a:pt x="103040" y="1256756"/>
                  </a:lnTo>
                  <a:lnTo>
                    <a:pt x="60364" y="1243787"/>
                  </a:lnTo>
                  <a:lnTo>
                    <a:pt x="25899" y="1215475"/>
                  </a:lnTo>
                  <a:lnTo>
                    <a:pt x="4893" y="1176129"/>
                  </a:lnTo>
                  <a:lnTo>
                    <a:pt x="0" y="114299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8" y="8700"/>
                  </a:lnTo>
                  <a:lnTo>
                    <a:pt x="114299" y="0"/>
                  </a:lnTo>
                  <a:lnTo>
                    <a:pt x="5295899" y="0"/>
                  </a:lnTo>
                  <a:lnTo>
                    <a:pt x="5339638" y="8700"/>
                  </a:lnTo>
                  <a:lnTo>
                    <a:pt x="5376720" y="33477"/>
                  </a:lnTo>
                  <a:lnTo>
                    <a:pt x="5401497" y="70559"/>
                  </a:lnTo>
                  <a:lnTo>
                    <a:pt x="5410199" y="114299"/>
                  </a:lnTo>
                  <a:lnTo>
                    <a:pt x="5410199" y="1142999"/>
                  </a:lnTo>
                  <a:lnTo>
                    <a:pt x="5401496" y="1186740"/>
                  </a:lnTo>
                  <a:lnTo>
                    <a:pt x="5376720" y="1223821"/>
                  </a:lnTo>
                  <a:lnTo>
                    <a:pt x="5339638" y="1248599"/>
                  </a:lnTo>
                  <a:lnTo>
                    <a:pt x="5295899" y="1257299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181724" y="1000125"/>
              <a:ext cx="5410200" cy="1257300"/>
            </a:xfrm>
            <a:custGeom>
              <a:avLst/>
              <a:gdLst/>
              <a:ahLst/>
              <a:cxnLst/>
              <a:rect l="l" t="t" r="r" b="b"/>
              <a:pathLst>
                <a:path w="5410200" h="1257300">
                  <a:moveTo>
                    <a:pt x="5295899" y="1257299"/>
                  </a:moveTo>
                  <a:lnTo>
                    <a:pt x="114299" y="1257299"/>
                  </a:lnTo>
                  <a:lnTo>
                    <a:pt x="103040" y="1256756"/>
                  </a:lnTo>
                  <a:lnTo>
                    <a:pt x="60364" y="1243787"/>
                  </a:lnTo>
                  <a:lnTo>
                    <a:pt x="25899" y="1215475"/>
                  </a:lnTo>
                  <a:lnTo>
                    <a:pt x="4893" y="1176129"/>
                  </a:lnTo>
                  <a:lnTo>
                    <a:pt x="0" y="114299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8" y="8700"/>
                  </a:lnTo>
                  <a:lnTo>
                    <a:pt x="114299" y="0"/>
                  </a:lnTo>
                  <a:lnTo>
                    <a:pt x="5295899" y="0"/>
                  </a:lnTo>
                  <a:lnTo>
                    <a:pt x="5339638" y="8700"/>
                  </a:lnTo>
                  <a:lnTo>
                    <a:pt x="5359085" y="19049"/>
                  </a:lnTo>
                  <a:lnTo>
                    <a:pt x="108045" y="19049"/>
                  </a:lnTo>
                  <a:lnTo>
                    <a:pt x="101851" y="19660"/>
                  </a:lnTo>
                  <a:lnTo>
                    <a:pt x="56181" y="38577"/>
                  </a:lnTo>
                  <a:lnTo>
                    <a:pt x="28693" y="72071"/>
                  </a:lnTo>
                  <a:lnTo>
                    <a:pt x="19049" y="108045"/>
                  </a:lnTo>
                  <a:lnTo>
                    <a:pt x="19049" y="1149254"/>
                  </a:lnTo>
                  <a:lnTo>
                    <a:pt x="31627" y="1190717"/>
                  </a:lnTo>
                  <a:lnTo>
                    <a:pt x="66581" y="1225671"/>
                  </a:lnTo>
                  <a:lnTo>
                    <a:pt x="108045" y="1238249"/>
                  </a:lnTo>
                  <a:lnTo>
                    <a:pt x="5359085" y="1238249"/>
                  </a:lnTo>
                  <a:lnTo>
                    <a:pt x="5349833" y="1243787"/>
                  </a:lnTo>
                  <a:lnTo>
                    <a:pt x="5339638" y="1248599"/>
                  </a:lnTo>
                  <a:lnTo>
                    <a:pt x="5329028" y="1252405"/>
                  </a:lnTo>
                  <a:lnTo>
                    <a:pt x="5318201" y="1255124"/>
                  </a:lnTo>
                  <a:lnTo>
                    <a:pt x="5307158" y="1256756"/>
                  </a:lnTo>
                  <a:lnTo>
                    <a:pt x="5295899" y="1257299"/>
                  </a:lnTo>
                  <a:close/>
                </a:path>
                <a:path w="5410200" h="1257300">
                  <a:moveTo>
                    <a:pt x="5359085" y="1238249"/>
                  </a:moveTo>
                  <a:lnTo>
                    <a:pt x="5302153" y="1238249"/>
                  </a:lnTo>
                  <a:lnTo>
                    <a:pt x="5308347" y="1237639"/>
                  </a:lnTo>
                  <a:lnTo>
                    <a:pt x="5320615" y="1235199"/>
                  </a:lnTo>
                  <a:lnTo>
                    <a:pt x="5358828" y="1214774"/>
                  </a:lnTo>
                  <a:lnTo>
                    <a:pt x="5386292" y="1173672"/>
                  </a:lnTo>
                  <a:lnTo>
                    <a:pt x="5391149" y="1149254"/>
                  </a:lnTo>
                  <a:lnTo>
                    <a:pt x="5391149" y="108045"/>
                  </a:lnTo>
                  <a:lnTo>
                    <a:pt x="5390656" y="103040"/>
                  </a:lnTo>
                  <a:lnTo>
                    <a:pt x="5390538" y="101851"/>
                  </a:lnTo>
                  <a:lnTo>
                    <a:pt x="5371621" y="56181"/>
                  </a:lnTo>
                  <a:lnTo>
                    <a:pt x="5338127" y="28693"/>
                  </a:lnTo>
                  <a:lnTo>
                    <a:pt x="5302153" y="19049"/>
                  </a:lnTo>
                  <a:lnTo>
                    <a:pt x="5359085" y="19049"/>
                  </a:lnTo>
                  <a:lnTo>
                    <a:pt x="5390953" y="50786"/>
                  </a:lnTo>
                  <a:lnTo>
                    <a:pt x="5408023" y="91996"/>
                  </a:lnTo>
                  <a:lnTo>
                    <a:pt x="5410199" y="1142999"/>
                  </a:lnTo>
                  <a:lnTo>
                    <a:pt x="5409655" y="1154259"/>
                  </a:lnTo>
                  <a:lnTo>
                    <a:pt x="5396686" y="1196934"/>
                  </a:lnTo>
                  <a:lnTo>
                    <a:pt x="5368374" y="1231399"/>
                  </a:lnTo>
                  <a:lnTo>
                    <a:pt x="5359411" y="1238054"/>
                  </a:lnTo>
                  <a:lnTo>
                    <a:pt x="5359085" y="1238249"/>
                  </a:lnTo>
                  <a:close/>
                </a:path>
              </a:pathLst>
            </a:custGeom>
            <a:solidFill>
              <a:srgbClr val="FA913C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81749" y="1219199"/>
              <a:ext cx="171450" cy="171450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6645275" y="1158636"/>
            <a:ext cx="146240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25" dirty="0">
                <a:solidFill>
                  <a:srgbClr val="FFFFFF"/>
                </a:solidFill>
                <a:latin typeface="Arial"/>
                <a:cs typeface="Arial"/>
              </a:rPr>
              <a:t>Training</a:t>
            </a:r>
            <a:r>
              <a:rPr sz="15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b="1" spc="-90" dirty="0">
                <a:solidFill>
                  <a:srgbClr val="FFFFFF"/>
                </a:solidFill>
                <a:latin typeface="Arial"/>
                <a:cs typeface="Arial"/>
              </a:rPr>
              <a:t>Instability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378574" y="1597024"/>
            <a:ext cx="120650" cy="425450"/>
            <a:chOff x="6378574" y="1597024"/>
            <a:chExt cx="120650" cy="425450"/>
          </a:xfrm>
        </p:grpSpPr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78574" y="1597024"/>
              <a:ext cx="120650" cy="12065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78574" y="1901824"/>
              <a:ext cx="120650" cy="120650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6588125" y="1430908"/>
            <a:ext cx="2979420" cy="635000"/>
          </a:xfrm>
          <a:prstGeom prst="rect">
            <a:avLst/>
          </a:prstGeom>
        </p:spPr>
        <p:txBody>
          <a:bodyPr vert="horz" wrap="square" lIns="0" tIns="1181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sz="1300" spc="-85" dirty="0">
                <a:solidFill>
                  <a:srgbClr val="D0D5DA"/>
                </a:solidFill>
                <a:latin typeface="Arial MT"/>
                <a:cs typeface="Arial MT"/>
              </a:rPr>
              <a:t>Reduce</a:t>
            </a:r>
            <a:r>
              <a:rPr sz="1300" spc="-45" dirty="0">
                <a:solidFill>
                  <a:srgbClr val="D0D5DA"/>
                </a:solidFill>
                <a:latin typeface="Arial MT"/>
                <a:cs typeface="Arial MT"/>
              </a:rPr>
              <a:t> classes</a:t>
            </a:r>
            <a:r>
              <a:rPr sz="1300" spc="-40" dirty="0">
                <a:solidFill>
                  <a:srgbClr val="D0D5DA"/>
                </a:solidFill>
                <a:latin typeface="Arial MT"/>
                <a:cs typeface="Arial MT"/>
              </a:rPr>
              <a:t> or </a:t>
            </a:r>
            <a:r>
              <a:rPr sz="1300" spc="-50" dirty="0">
                <a:solidFill>
                  <a:srgbClr val="D0D5DA"/>
                </a:solidFill>
                <a:latin typeface="Arial MT"/>
                <a:cs typeface="Arial MT"/>
              </a:rPr>
              <a:t>data</a:t>
            </a:r>
            <a:r>
              <a:rPr sz="1300" spc="-4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D0D5DA"/>
                </a:solidFill>
                <a:latin typeface="Arial MT"/>
                <a:cs typeface="Arial MT"/>
              </a:rPr>
              <a:t>subset</a:t>
            </a:r>
            <a:endParaRPr sz="1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300" spc="-35" dirty="0">
                <a:solidFill>
                  <a:srgbClr val="D0D5DA"/>
                </a:solidFill>
                <a:latin typeface="Arial MT"/>
                <a:cs typeface="Arial MT"/>
              </a:rPr>
              <a:t>Adjust</a:t>
            </a:r>
            <a:r>
              <a:rPr sz="1300" spc="-3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300" spc="-60" dirty="0">
                <a:solidFill>
                  <a:srgbClr val="D0D5DA"/>
                </a:solidFill>
                <a:latin typeface="Arial MT"/>
                <a:cs typeface="Arial MT"/>
              </a:rPr>
              <a:t>hyperparameters</a:t>
            </a:r>
            <a:r>
              <a:rPr sz="1300" spc="-3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300" spc="-110" dirty="0">
                <a:solidFill>
                  <a:srgbClr val="D0D5DA"/>
                </a:solidFill>
                <a:latin typeface="Arial MT"/>
                <a:cs typeface="Arial MT"/>
              </a:rPr>
              <a:t>(LR,</a:t>
            </a:r>
            <a:r>
              <a:rPr sz="1300" spc="-3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300" spc="-55" dirty="0">
                <a:solidFill>
                  <a:srgbClr val="D0D5DA"/>
                </a:solidFill>
                <a:latin typeface="Arial MT"/>
                <a:cs typeface="Arial MT"/>
              </a:rPr>
              <a:t>batch,</a:t>
            </a:r>
            <a:r>
              <a:rPr sz="1300" spc="-3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300" spc="-45" dirty="0">
                <a:solidFill>
                  <a:srgbClr val="D0D5DA"/>
                </a:solidFill>
                <a:latin typeface="Arial MT"/>
                <a:cs typeface="Arial MT"/>
              </a:rPr>
              <a:t>epochs)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19124" y="2409824"/>
            <a:ext cx="5410200" cy="1257300"/>
            <a:chOff x="619124" y="2409824"/>
            <a:chExt cx="5410200" cy="1257300"/>
          </a:xfrm>
        </p:grpSpPr>
        <p:sp>
          <p:nvSpPr>
            <p:cNvPr id="24" name="object 24"/>
            <p:cNvSpPr/>
            <p:nvPr/>
          </p:nvSpPr>
          <p:spPr>
            <a:xfrm>
              <a:off x="619124" y="2409824"/>
              <a:ext cx="5410200" cy="1257300"/>
            </a:xfrm>
            <a:custGeom>
              <a:avLst/>
              <a:gdLst/>
              <a:ahLst/>
              <a:cxnLst/>
              <a:rect l="l" t="t" r="r" b="b"/>
              <a:pathLst>
                <a:path w="5410200" h="1257300">
                  <a:moveTo>
                    <a:pt x="5295899" y="1257299"/>
                  </a:moveTo>
                  <a:lnTo>
                    <a:pt x="114299" y="1257299"/>
                  </a:lnTo>
                  <a:lnTo>
                    <a:pt x="103040" y="1256755"/>
                  </a:lnTo>
                  <a:lnTo>
                    <a:pt x="60364" y="1243787"/>
                  </a:lnTo>
                  <a:lnTo>
                    <a:pt x="25900" y="1215475"/>
                  </a:lnTo>
                  <a:lnTo>
                    <a:pt x="4894" y="1176129"/>
                  </a:lnTo>
                  <a:lnTo>
                    <a:pt x="0" y="1142999"/>
                  </a:lnTo>
                  <a:lnTo>
                    <a:pt x="0" y="114299"/>
                  </a:lnTo>
                  <a:lnTo>
                    <a:pt x="8700" y="70558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5295899" y="0"/>
                  </a:lnTo>
                  <a:lnTo>
                    <a:pt x="5339639" y="8700"/>
                  </a:lnTo>
                  <a:lnTo>
                    <a:pt x="5376721" y="33477"/>
                  </a:lnTo>
                  <a:lnTo>
                    <a:pt x="5401498" y="70558"/>
                  </a:lnTo>
                  <a:lnTo>
                    <a:pt x="5410199" y="114299"/>
                  </a:lnTo>
                  <a:lnTo>
                    <a:pt x="5410199" y="1142999"/>
                  </a:lnTo>
                  <a:lnTo>
                    <a:pt x="5401498" y="1186740"/>
                  </a:lnTo>
                  <a:lnTo>
                    <a:pt x="5376721" y="1223821"/>
                  </a:lnTo>
                  <a:lnTo>
                    <a:pt x="5339639" y="1248599"/>
                  </a:lnTo>
                  <a:lnTo>
                    <a:pt x="5295899" y="1257299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19124" y="2409824"/>
              <a:ext cx="5410200" cy="1257300"/>
            </a:xfrm>
            <a:custGeom>
              <a:avLst/>
              <a:gdLst/>
              <a:ahLst/>
              <a:cxnLst/>
              <a:rect l="l" t="t" r="r" b="b"/>
              <a:pathLst>
                <a:path w="5410200" h="1257300">
                  <a:moveTo>
                    <a:pt x="5295899" y="1257299"/>
                  </a:moveTo>
                  <a:lnTo>
                    <a:pt x="114299" y="1257299"/>
                  </a:lnTo>
                  <a:lnTo>
                    <a:pt x="103040" y="1256755"/>
                  </a:lnTo>
                  <a:lnTo>
                    <a:pt x="60364" y="1243787"/>
                  </a:lnTo>
                  <a:lnTo>
                    <a:pt x="25900" y="1215475"/>
                  </a:lnTo>
                  <a:lnTo>
                    <a:pt x="4894" y="1176129"/>
                  </a:lnTo>
                  <a:lnTo>
                    <a:pt x="0" y="1142999"/>
                  </a:lnTo>
                  <a:lnTo>
                    <a:pt x="0" y="114299"/>
                  </a:lnTo>
                  <a:lnTo>
                    <a:pt x="8700" y="70558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5295899" y="0"/>
                  </a:lnTo>
                  <a:lnTo>
                    <a:pt x="5339640" y="8700"/>
                  </a:lnTo>
                  <a:lnTo>
                    <a:pt x="5359086" y="19049"/>
                  </a:lnTo>
                  <a:lnTo>
                    <a:pt x="108045" y="19049"/>
                  </a:lnTo>
                  <a:lnTo>
                    <a:pt x="101851" y="19660"/>
                  </a:lnTo>
                  <a:lnTo>
                    <a:pt x="56181" y="38577"/>
                  </a:lnTo>
                  <a:lnTo>
                    <a:pt x="28693" y="72071"/>
                  </a:lnTo>
                  <a:lnTo>
                    <a:pt x="19049" y="108045"/>
                  </a:lnTo>
                  <a:lnTo>
                    <a:pt x="19049" y="1149254"/>
                  </a:lnTo>
                  <a:lnTo>
                    <a:pt x="19542" y="1154259"/>
                  </a:lnTo>
                  <a:lnTo>
                    <a:pt x="19660" y="1155448"/>
                  </a:lnTo>
                  <a:lnTo>
                    <a:pt x="38577" y="1201118"/>
                  </a:lnTo>
                  <a:lnTo>
                    <a:pt x="72071" y="1228605"/>
                  </a:lnTo>
                  <a:lnTo>
                    <a:pt x="108045" y="1238249"/>
                  </a:lnTo>
                  <a:lnTo>
                    <a:pt x="5359085" y="1238249"/>
                  </a:lnTo>
                  <a:lnTo>
                    <a:pt x="5349834" y="1243787"/>
                  </a:lnTo>
                  <a:lnTo>
                    <a:pt x="5339639" y="1248599"/>
                  </a:lnTo>
                  <a:lnTo>
                    <a:pt x="5329029" y="1252405"/>
                  </a:lnTo>
                  <a:lnTo>
                    <a:pt x="5318202" y="1255124"/>
                  </a:lnTo>
                  <a:lnTo>
                    <a:pt x="5307159" y="1256755"/>
                  </a:lnTo>
                  <a:lnTo>
                    <a:pt x="5295899" y="1257299"/>
                  </a:lnTo>
                  <a:close/>
                </a:path>
                <a:path w="5410200" h="1257300">
                  <a:moveTo>
                    <a:pt x="5359085" y="1238249"/>
                  </a:moveTo>
                  <a:lnTo>
                    <a:pt x="5302154" y="1238249"/>
                  </a:lnTo>
                  <a:lnTo>
                    <a:pt x="5308347" y="1237639"/>
                  </a:lnTo>
                  <a:lnTo>
                    <a:pt x="5320615" y="1235199"/>
                  </a:lnTo>
                  <a:lnTo>
                    <a:pt x="5358828" y="1214774"/>
                  </a:lnTo>
                  <a:lnTo>
                    <a:pt x="5386292" y="1173672"/>
                  </a:lnTo>
                  <a:lnTo>
                    <a:pt x="5391149" y="1149254"/>
                  </a:lnTo>
                  <a:lnTo>
                    <a:pt x="5391149" y="108045"/>
                  </a:lnTo>
                  <a:lnTo>
                    <a:pt x="5390656" y="103040"/>
                  </a:lnTo>
                  <a:lnTo>
                    <a:pt x="5390539" y="101851"/>
                  </a:lnTo>
                  <a:lnTo>
                    <a:pt x="5371621" y="56181"/>
                  </a:lnTo>
                  <a:lnTo>
                    <a:pt x="5338128" y="28693"/>
                  </a:lnTo>
                  <a:lnTo>
                    <a:pt x="5302154" y="19049"/>
                  </a:lnTo>
                  <a:lnTo>
                    <a:pt x="5359086" y="19049"/>
                  </a:lnTo>
                  <a:lnTo>
                    <a:pt x="5390954" y="50785"/>
                  </a:lnTo>
                  <a:lnTo>
                    <a:pt x="5408024" y="91996"/>
                  </a:lnTo>
                  <a:lnTo>
                    <a:pt x="5410199" y="1142999"/>
                  </a:lnTo>
                  <a:lnTo>
                    <a:pt x="5409655" y="1154259"/>
                  </a:lnTo>
                  <a:lnTo>
                    <a:pt x="5396687" y="1196934"/>
                  </a:lnTo>
                  <a:lnTo>
                    <a:pt x="5368375" y="1231399"/>
                  </a:lnTo>
                  <a:lnTo>
                    <a:pt x="5359412" y="1238054"/>
                  </a:lnTo>
                  <a:lnTo>
                    <a:pt x="5359085" y="1238249"/>
                  </a:lnTo>
                  <a:close/>
                </a:path>
              </a:pathLst>
            </a:custGeom>
            <a:solidFill>
              <a:srgbClr val="FACC15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09624" y="2635249"/>
              <a:ext cx="190500" cy="15875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15974" y="3006724"/>
              <a:ext cx="120650" cy="12065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15974" y="3311524"/>
              <a:ext cx="120650" cy="120650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1025525" y="2568336"/>
            <a:ext cx="2065655" cy="907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215">
              <a:lnSpc>
                <a:spcPct val="100000"/>
              </a:lnSpc>
              <a:spcBef>
                <a:spcPts val="100"/>
              </a:spcBef>
            </a:pPr>
            <a:r>
              <a:rPr sz="1500" b="1" spc="-125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sz="15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FFFFFF"/>
                </a:solidFill>
                <a:latin typeface="Arial"/>
                <a:cs typeface="Arial"/>
              </a:rPr>
              <a:t>Problems</a:t>
            </a:r>
            <a:endParaRPr sz="1500">
              <a:latin typeface="Arial"/>
              <a:cs typeface="Arial"/>
            </a:endParaRPr>
          </a:p>
          <a:p>
            <a:pPr marL="12700" marR="5080">
              <a:lnSpc>
                <a:spcPct val="153800"/>
              </a:lnSpc>
              <a:spcBef>
                <a:spcPts val="335"/>
              </a:spcBef>
            </a:pPr>
            <a:r>
              <a:rPr sz="1300" spc="-100" dirty="0">
                <a:solidFill>
                  <a:srgbClr val="D0D5DA"/>
                </a:solidFill>
                <a:latin typeface="Arial MT"/>
                <a:cs typeface="Arial MT"/>
              </a:rPr>
              <a:t>Use</a:t>
            </a:r>
            <a:r>
              <a:rPr sz="1300" spc="-35" dirty="0">
                <a:solidFill>
                  <a:srgbClr val="D0D5DA"/>
                </a:solidFill>
                <a:latin typeface="Arial MT"/>
                <a:cs typeface="Arial MT"/>
              </a:rPr>
              <a:t> additional </a:t>
            </a:r>
            <a:r>
              <a:rPr sz="1300" spc="-30" dirty="0">
                <a:solidFill>
                  <a:srgbClr val="D0D5DA"/>
                </a:solidFill>
                <a:latin typeface="Arial MT"/>
                <a:cs typeface="Arial MT"/>
              </a:rPr>
              <a:t>public</a:t>
            </a:r>
            <a:r>
              <a:rPr sz="1300" spc="-3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300" spc="-50" dirty="0">
                <a:solidFill>
                  <a:srgbClr val="D0D5DA"/>
                </a:solidFill>
                <a:latin typeface="Arial MT"/>
                <a:cs typeface="Arial MT"/>
              </a:rPr>
              <a:t>datasets </a:t>
            </a:r>
            <a:r>
              <a:rPr sz="1300" spc="-45" dirty="0">
                <a:solidFill>
                  <a:srgbClr val="D0D5DA"/>
                </a:solidFill>
                <a:latin typeface="Arial MT"/>
                <a:cs typeface="Arial MT"/>
              </a:rPr>
              <a:t>Collect</a:t>
            </a:r>
            <a:r>
              <a:rPr sz="1300" spc="-3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300" spc="-70" dirty="0">
                <a:solidFill>
                  <a:srgbClr val="D0D5DA"/>
                </a:solidFill>
                <a:latin typeface="Arial MT"/>
                <a:cs typeface="Arial MT"/>
              </a:rPr>
              <a:t>new</a:t>
            </a:r>
            <a:r>
              <a:rPr sz="1300" spc="-35" dirty="0">
                <a:solidFill>
                  <a:srgbClr val="D0D5DA"/>
                </a:solidFill>
                <a:latin typeface="Arial MT"/>
                <a:cs typeface="Arial MT"/>
              </a:rPr>
              <a:t> training </a:t>
            </a:r>
            <a:r>
              <a:rPr sz="1300" spc="-10" dirty="0">
                <a:solidFill>
                  <a:srgbClr val="D0D5DA"/>
                </a:solidFill>
                <a:latin typeface="Arial MT"/>
                <a:cs typeface="Arial MT"/>
              </a:rPr>
              <a:t>samples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6181724" y="2409824"/>
            <a:ext cx="5410200" cy="1257300"/>
            <a:chOff x="6181724" y="2409824"/>
            <a:chExt cx="5410200" cy="1257300"/>
          </a:xfrm>
        </p:grpSpPr>
        <p:sp>
          <p:nvSpPr>
            <p:cNvPr id="31" name="object 31"/>
            <p:cNvSpPr/>
            <p:nvPr/>
          </p:nvSpPr>
          <p:spPr>
            <a:xfrm>
              <a:off x="6181724" y="2409824"/>
              <a:ext cx="5410200" cy="1257300"/>
            </a:xfrm>
            <a:custGeom>
              <a:avLst/>
              <a:gdLst/>
              <a:ahLst/>
              <a:cxnLst/>
              <a:rect l="l" t="t" r="r" b="b"/>
              <a:pathLst>
                <a:path w="5410200" h="1257300">
                  <a:moveTo>
                    <a:pt x="5295899" y="1257299"/>
                  </a:moveTo>
                  <a:lnTo>
                    <a:pt x="114299" y="1257299"/>
                  </a:lnTo>
                  <a:lnTo>
                    <a:pt x="103040" y="1256755"/>
                  </a:lnTo>
                  <a:lnTo>
                    <a:pt x="60364" y="1243787"/>
                  </a:lnTo>
                  <a:lnTo>
                    <a:pt x="25899" y="1215475"/>
                  </a:lnTo>
                  <a:lnTo>
                    <a:pt x="4893" y="1176129"/>
                  </a:lnTo>
                  <a:lnTo>
                    <a:pt x="0" y="1142999"/>
                  </a:lnTo>
                  <a:lnTo>
                    <a:pt x="0" y="114299"/>
                  </a:lnTo>
                  <a:lnTo>
                    <a:pt x="8700" y="70558"/>
                  </a:lnTo>
                  <a:lnTo>
                    <a:pt x="33477" y="33477"/>
                  </a:lnTo>
                  <a:lnTo>
                    <a:pt x="70558" y="8700"/>
                  </a:lnTo>
                  <a:lnTo>
                    <a:pt x="114299" y="0"/>
                  </a:lnTo>
                  <a:lnTo>
                    <a:pt x="5295899" y="0"/>
                  </a:lnTo>
                  <a:lnTo>
                    <a:pt x="5339638" y="8700"/>
                  </a:lnTo>
                  <a:lnTo>
                    <a:pt x="5376720" y="33477"/>
                  </a:lnTo>
                  <a:lnTo>
                    <a:pt x="5401497" y="70558"/>
                  </a:lnTo>
                  <a:lnTo>
                    <a:pt x="5410199" y="114299"/>
                  </a:lnTo>
                  <a:lnTo>
                    <a:pt x="5410199" y="1142999"/>
                  </a:lnTo>
                  <a:lnTo>
                    <a:pt x="5401496" y="1186740"/>
                  </a:lnTo>
                  <a:lnTo>
                    <a:pt x="5376720" y="1223821"/>
                  </a:lnTo>
                  <a:lnTo>
                    <a:pt x="5339638" y="1248599"/>
                  </a:lnTo>
                  <a:lnTo>
                    <a:pt x="5295899" y="1257299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181724" y="2409824"/>
              <a:ext cx="5410200" cy="1257300"/>
            </a:xfrm>
            <a:custGeom>
              <a:avLst/>
              <a:gdLst/>
              <a:ahLst/>
              <a:cxnLst/>
              <a:rect l="l" t="t" r="r" b="b"/>
              <a:pathLst>
                <a:path w="5410200" h="1257300">
                  <a:moveTo>
                    <a:pt x="5295899" y="1257299"/>
                  </a:moveTo>
                  <a:lnTo>
                    <a:pt x="114299" y="1257299"/>
                  </a:lnTo>
                  <a:lnTo>
                    <a:pt x="103040" y="1256755"/>
                  </a:lnTo>
                  <a:lnTo>
                    <a:pt x="60364" y="1243787"/>
                  </a:lnTo>
                  <a:lnTo>
                    <a:pt x="25899" y="1215475"/>
                  </a:lnTo>
                  <a:lnTo>
                    <a:pt x="4893" y="1176129"/>
                  </a:lnTo>
                  <a:lnTo>
                    <a:pt x="0" y="1142999"/>
                  </a:lnTo>
                  <a:lnTo>
                    <a:pt x="0" y="114299"/>
                  </a:lnTo>
                  <a:lnTo>
                    <a:pt x="8700" y="70558"/>
                  </a:lnTo>
                  <a:lnTo>
                    <a:pt x="33477" y="33477"/>
                  </a:lnTo>
                  <a:lnTo>
                    <a:pt x="70558" y="8700"/>
                  </a:lnTo>
                  <a:lnTo>
                    <a:pt x="114299" y="0"/>
                  </a:lnTo>
                  <a:lnTo>
                    <a:pt x="5295899" y="0"/>
                  </a:lnTo>
                  <a:lnTo>
                    <a:pt x="5339638" y="8700"/>
                  </a:lnTo>
                  <a:lnTo>
                    <a:pt x="5359086" y="19049"/>
                  </a:lnTo>
                  <a:lnTo>
                    <a:pt x="108045" y="19049"/>
                  </a:lnTo>
                  <a:lnTo>
                    <a:pt x="101851" y="19660"/>
                  </a:lnTo>
                  <a:lnTo>
                    <a:pt x="56181" y="38577"/>
                  </a:lnTo>
                  <a:lnTo>
                    <a:pt x="28693" y="72071"/>
                  </a:lnTo>
                  <a:lnTo>
                    <a:pt x="19049" y="108045"/>
                  </a:lnTo>
                  <a:lnTo>
                    <a:pt x="19049" y="1149254"/>
                  </a:lnTo>
                  <a:lnTo>
                    <a:pt x="19542" y="1154259"/>
                  </a:lnTo>
                  <a:lnTo>
                    <a:pt x="19659" y="1155448"/>
                  </a:lnTo>
                  <a:lnTo>
                    <a:pt x="38577" y="1201118"/>
                  </a:lnTo>
                  <a:lnTo>
                    <a:pt x="72071" y="1228605"/>
                  </a:lnTo>
                  <a:lnTo>
                    <a:pt x="108045" y="1238249"/>
                  </a:lnTo>
                  <a:lnTo>
                    <a:pt x="5359085" y="1238249"/>
                  </a:lnTo>
                  <a:lnTo>
                    <a:pt x="5349833" y="1243787"/>
                  </a:lnTo>
                  <a:lnTo>
                    <a:pt x="5339638" y="1248599"/>
                  </a:lnTo>
                  <a:lnTo>
                    <a:pt x="5329028" y="1252405"/>
                  </a:lnTo>
                  <a:lnTo>
                    <a:pt x="5318201" y="1255124"/>
                  </a:lnTo>
                  <a:lnTo>
                    <a:pt x="5307158" y="1256755"/>
                  </a:lnTo>
                  <a:lnTo>
                    <a:pt x="5295899" y="1257299"/>
                  </a:lnTo>
                  <a:close/>
                </a:path>
                <a:path w="5410200" h="1257300">
                  <a:moveTo>
                    <a:pt x="5359085" y="1238249"/>
                  </a:moveTo>
                  <a:lnTo>
                    <a:pt x="5302153" y="1238249"/>
                  </a:lnTo>
                  <a:lnTo>
                    <a:pt x="5308347" y="1237639"/>
                  </a:lnTo>
                  <a:lnTo>
                    <a:pt x="5320615" y="1235199"/>
                  </a:lnTo>
                  <a:lnTo>
                    <a:pt x="5358828" y="1214774"/>
                  </a:lnTo>
                  <a:lnTo>
                    <a:pt x="5386292" y="1173672"/>
                  </a:lnTo>
                  <a:lnTo>
                    <a:pt x="5391149" y="1149254"/>
                  </a:lnTo>
                  <a:lnTo>
                    <a:pt x="5391149" y="108045"/>
                  </a:lnTo>
                  <a:lnTo>
                    <a:pt x="5390656" y="103040"/>
                  </a:lnTo>
                  <a:lnTo>
                    <a:pt x="5390538" y="101851"/>
                  </a:lnTo>
                  <a:lnTo>
                    <a:pt x="5371621" y="56181"/>
                  </a:lnTo>
                  <a:lnTo>
                    <a:pt x="5338127" y="28693"/>
                  </a:lnTo>
                  <a:lnTo>
                    <a:pt x="5302153" y="19049"/>
                  </a:lnTo>
                  <a:lnTo>
                    <a:pt x="5359086" y="19049"/>
                  </a:lnTo>
                  <a:lnTo>
                    <a:pt x="5390953" y="50785"/>
                  </a:lnTo>
                  <a:lnTo>
                    <a:pt x="5408023" y="91996"/>
                  </a:lnTo>
                  <a:lnTo>
                    <a:pt x="5410199" y="1142999"/>
                  </a:lnTo>
                  <a:lnTo>
                    <a:pt x="5409655" y="1154259"/>
                  </a:lnTo>
                  <a:lnTo>
                    <a:pt x="5396686" y="1196934"/>
                  </a:lnTo>
                  <a:lnTo>
                    <a:pt x="5368374" y="1231399"/>
                  </a:lnTo>
                  <a:lnTo>
                    <a:pt x="5359411" y="1238054"/>
                  </a:lnTo>
                  <a:lnTo>
                    <a:pt x="5359085" y="1238249"/>
                  </a:lnTo>
                  <a:close/>
                </a:path>
              </a:pathLst>
            </a:custGeom>
            <a:solidFill>
              <a:srgbClr val="BF83FB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353174" y="2635249"/>
              <a:ext cx="228600" cy="158750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6645275" y="2568336"/>
            <a:ext cx="114681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50" dirty="0">
                <a:solidFill>
                  <a:srgbClr val="FFFFFF"/>
                </a:solidFill>
                <a:latin typeface="Arial"/>
                <a:cs typeface="Arial"/>
              </a:rPr>
              <a:t>Compute</a:t>
            </a:r>
            <a:r>
              <a:rPr sz="15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b="1" spc="-135" dirty="0">
                <a:solidFill>
                  <a:srgbClr val="FFFFFF"/>
                </a:solidFill>
                <a:latin typeface="Arial"/>
                <a:cs typeface="Arial"/>
              </a:rPr>
              <a:t>Load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378574" y="3006724"/>
            <a:ext cx="120650" cy="425450"/>
            <a:chOff x="6378574" y="3006724"/>
            <a:chExt cx="120650" cy="425450"/>
          </a:xfrm>
        </p:grpSpPr>
        <p:pic>
          <p:nvPicPr>
            <p:cNvPr id="36" name="object 3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378574" y="3006724"/>
              <a:ext cx="120650" cy="12065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378574" y="3311524"/>
              <a:ext cx="120650" cy="120650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6588125" y="2840608"/>
            <a:ext cx="2084705" cy="6350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53800"/>
              </a:lnSpc>
              <a:spcBef>
                <a:spcPts val="90"/>
              </a:spcBef>
            </a:pPr>
            <a:r>
              <a:rPr sz="1300" spc="-45" dirty="0">
                <a:solidFill>
                  <a:srgbClr val="D0D5DA"/>
                </a:solidFill>
                <a:latin typeface="Arial MT"/>
                <a:cs typeface="Arial MT"/>
              </a:rPr>
              <a:t>Migrate</a:t>
            </a:r>
            <a:r>
              <a:rPr sz="1300" spc="-5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D0D5DA"/>
                </a:solidFill>
                <a:latin typeface="Arial MT"/>
                <a:cs typeface="Arial MT"/>
              </a:rPr>
              <a:t>to</a:t>
            </a:r>
            <a:r>
              <a:rPr sz="1300" spc="-5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300" spc="-35" dirty="0">
                <a:solidFill>
                  <a:srgbClr val="D0D5DA"/>
                </a:solidFill>
                <a:latin typeface="Arial MT"/>
                <a:cs typeface="Arial MT"/>
              </a:rPr>
              <a:t>cloud</a:t>
            </a:r>
            <a:r>
              <a:rPr sz="1300" spc="-4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300" spc="-165" dirty="0">
                <a:solidFill>
                  <a:srgbClr val="D0D5DA"/>
                </a:solidFill>
                <a:latin typeface="Arial MT"/>
                <a:cs typeface="Arial MT"/>
              </a:rPr>
              <a:t>GPU</a:t>
            </a:r>
            <a:r>
              <a:rPr sz="1300" spc="-5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300" spc="-25" dirty="0">
                <a:solidFill>
                  <a:srgbClr val="D0D5DA"/>
                </a:solidFill>
                <a:latin typeface="Arial MT"/>
                <a:cs typeface="Arial MT"/>
              </a:rPr>
              <a:t>platform </a:t>
            </a:r>
            <a:r>
              <a:rPr sz="1300" spc="-100" dirty="0">
                <a:solidFill>
                  <a:srgbClr val="D0D5DA"/>
                </a:solidFill>
                <a:latin typeface="Arial MT"/>
                <a:cs typeface="Arial MT"/>
              </a:rPr>
              <a:t>Use</a:t>
            </a:r>
            <a:r>
              <a:rPr sz="1300" spc="-4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300" spc="-30" dirty="0">
                <a:solidFill>
                  <a:srgbClr val="D0D5DA"/>
                </a:solidFill>
                <a:latin typeface="Arial MT"/>
                <a:cs typeface="Arial MT"/>
              </a:rPr>
              <a:t>lighter</a:t>
            </a:r>
            <a:r>
              <a:rPr sz="1300" spc="-4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300" spc="-65" dirty="0">
                <a:solidFill>
                  <a:srgbClr val="D0D5DA"/>
                </a:solidFill>
                <a:latin typeface="Arial MT"/>
                <a:cs typeface="Arial MT"/>
              </a:rPr>
              <a:t>nano</a:t>
            </a:r>
            <a:r>
              <a:rPr sz="1300" spc="-4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300" spc="-40" dirty="0">
                <a:solidFill>
                  <a:srgbClr val="D0D5DA"/>
                </a:solidFill>
                <a:latin typeface="Arial MT"/>
                <a:cs typeface="Arial MT"/>
              </a:rPr>
              <a:t>model</a:t>
            </a:r>
            <a:r>
              <a:rPr sz="1300" spc="-4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300" spc="-60" dirty="0">
                <a:solidFill>
                  <a:srgbClr val="D0D5DA"/>
                </a:solidFill>
                <a:latin typeface="Arial MT"/>
                <a:cs typeface="Arial MT"/>
              </a:rPr>
              <a:t>variant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619124" y="3819524"/>
            <a:ext cx="5410200" cy="1257300"/>
            <a:chOff x="619124" y="3819524"/>
            <a:chExt cx="5410200" cy="1257300"/>
          </a:xfrm>
        </p:grpSpPr>
        <p:sp>
          <p:nvSpPr>
            <p:cNvPr id="40" name="object 40"/>
            <p:cNvSpPr/>
            <p:nvPr/>
          </p:nvSpPr>
          <p:spPr>
            <a:xfrm>
              <a:off x="619124" y="3819524"/>
              <a:ext cx="5410200" cy="1257300"/>
            </a:xfrm>
            <a:custGeom>
              <a:avLst/>
              <a:gdLst/>
              <a:ahLst/>
              <a:cxnLst/>
              <a:rect l="l" t="t" r="r" b="b"/>
              <a:pathLst>
                <a:path w="5410200" h="1257300">
                  <a:moveTo>
                    <a:pt x="5295899" y="1257299"/>
                  </a:moveTo>
                  <a:lnTo>
                    <a:pt x="114299" y="1257299"/>
                  </a:lnTo>
                  <a:lnTo>
                    <a:pt x="103040" y="1256755"/>
                  </a:lnTo>
                  <a:lnTo>
                    <a:pt x="60364" y="1243787"/>
                  </a:lnTo>
                  <a:lnTo>
                    <a:pt x="25900" y="1215475"/>
                  </a:lnTo>
                  <a:lnTo>
                    <a:pt x="4894" y="1176129"/>
                  </a:lnTo>
                  <a:lnTo>
                    <a:pt x="0" y="114299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5295899" y="0"/>
                  </a:lnTo>
                  <a:lnTo>
                    <a:pt x="5339639" y="8700"/>
                  </a:lnTo>
                  <a:lnTo>
                    <a:pt x="5376721" y="33477"/>
                  </a:lnTo>
                  <a:lnTo>
                    <a:pt x="5401498" y="70559"/>
                  </a:lnTo>
                  <a:lnTo>
                    <a:pt x="5410199" y="114299"/>
                  </a:lnTo>
                  <a:lnTo>
                    <a:pt x="5410199" y="1142999"/>
                  </a:lnTo>
                  <a:lnTo>
                    <a:pt x="5401498" y="1186740"/>
                  </a:lnTo>
                  <a:lnTo>
                    <a:pt x="5376721" y="1223821"/>
                  </a:lnTo>
                  <a:lnTo>
                    <a:pt x="5339638" y="1248599"/>
                  </a:lnTo>
                  <a:lnTo>
                    <a:pt x="5295899" y="1257299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19124" y="3819524"/>
              <a:ext cx="5410200" cy="1257300"/>
            </a:xfrm>
            <a:custGeom>
              <a:avLst/>
              <a:gdLst/>
              <a:ahLst/>
              <a:cxnLst/>
              <a:rect l="l" t="t" r="r" b="b"/>
              <a:pathLst>
                <a:path w="5410200" h="1257300">
                  <a:moveTo>
                    <a:pt x="5295899" y="1257299"/>
                  </a:moveTo>
                  <a:lnTo>
                    <a:pt x="114299" y="1257299"/>
                  </a:lnTo>
                  <a:lnTo>
                    <a:pt x="103040" y="1256755"/>
                  </a:lnTo>
                  <a:lnTo>
                    <a:pt x="60364" y="1243787"/>
                  </a:lnTo>
                  <a:lnTo>
                    <a:pt x="25900" y="1215475"/>
                  </a:lnTo>
                  <a:lnTo>
                    <a:pt x="4894" y="1176129"/>
                  </a:lnTo>
                  <a:lnTo>
                    <a:pt x="0" y="114299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5295899" y="0"/>
                  </a:lnTo>
                  <a:lnTo>
                    <a:pt x="5339640" y="8700"/>
                  </a:lnTo>
                  <a:lnTo>
                    <a:pt x="5359086" y="19049"/>
                  </a:lnTo>
                  <a:lnTo>
                    <a:pt x="108045" y="19049"/>
                  </a:lnTo>
                  <a:lnTo>
                    <a:pt x="101851" y="19659"/>
                  </a:lnTo>
                  <a:lnTo>
                    <a:pt x="56181" y="38577"/>
                  </a:lnTo>
                  <a:lnTo>
                    <a:pt x="28693" y="72071"/>
                  </a:lnTo>
                  <a:lnTo>
                    <a:pt x="19049" y="108045"/>
                  </a:lnTo>
                  <a:lnTo>
                    <a:pt x="19049" y="1149254"/>
                  </a:lnTo>
                  <a:lnTo>
                    <a:pt x="31627" y="1190717"/>
                  </a:lnTo>
                  <a:lnTo>
                    <a:pt x="66582" y="1225671"/>
                  </a:lnTo>
                  <a:lnTo>
                    <a:pt x="108045" y="1238249"/>
                  </a:lnTo>
                  <a:lnTo>
                    <a:pt x="5359085" y="1238249"/>
                  </a:lnTo>
                  <a:lnTo>
                    <a:pt x="5349833" y="1243787"/>
                  </a:lnTo>
                  <a:lnTo>
                    <a:pt x="5339638" y="1248599"/>
                  </a:lnTo>
                  <a:lnTo>
                    <a:pt x="5329028" y="1252405"/>
                  </a:lnTo>
                  <a:lnTo>
                    <a:pt x="5318202" y="1255124"/>
                  </a:lnTo>
                  <a:lnTo>
                    <a:pt x="5307159" y="1256755"/>
                  </a:lnTo>
                  <a:lnTo>
                    <a:pt x="5295899" y="1257299"/>
                  </a:lnTo>
                  <a:close/>
                </a:path>
                <a:path w="5410200" h="1257300">
                  <a:moveTo>
                    <a:pt x="5359085" y="1238249"/>
                  </a:moveTo>
                  <a:lnTo>
                    <a:pt x="5302154" y="1238249"/>
                  </a:lnTo>
                  <a:lnTo>
                    <a:pt x="5308347" y="1237639"/>
                  </a:lnTo>
                  <a:lnTo>
                    <a:pt x="5320615" y="1235199"/>
                  </a:lnTo>
                  <a:lnTo>
                    <a:pt x="5358828" y="1214774"/>
                  </a:lnTo>
                  <a:lnTo>
                    <a:pt x="5386292" y="1173672"/>
                  </a:lnTo>
                  <a:lnTo>
                    <a:pt x="5391149" y="1149254"/>
                  </a:lnTo>
                  <a:lnTo>
                    <a:pt x="5391149" y="108045"/>
                  </a:lnTo>
                  <a:lnTo>
                    <a:pt x="5378571" y="66582"/>
                  </a:lnTo>
                  <a:lnTo>
                    <a:pt x="5343617" y="31627"/>
                  </a:lnTo>
                  <a:lnTo>
                    <a:pt x="5302154" y="19049"/>
                  </a:lnTo>
                  <a:lnTo>
                    <a:pt x="5359086" y="19049"/>
                  </a:lnTo>
                  <a:lnTo>
                    <a:pt x="5390954" y="50786"/>
                  </a:lnTo>
                  <a:lnTo>
                    <a:pt x="5408024" y="91996"/>
                  </a:lnTo>
                  <a:lnTo>
                    <a:pt x="5410199" y="1142999"/>
                  </a:lnTo>
                  <a:lnTo>
                    <a:pt x="5409655" y="1154259"/>
                  </a:lnTo>
                  <a:lnTo>
                    <a:pt x="5396687" y="1196934"/>
                  </a:lnTo>
                  <a:lnTo>
                    <a:pt x="5368375" y="1231398"/>
                  </a:lnTo>
                  <a:lnTo>
                    <a:pt x="5359412" y="1238054"/>
                  </a:lnTo>
                  <a:lnTo>
                    <a:pt x="5359085" y="1238249"/>
                  </a:lnTo>
                  <a:close/>
                </a:path>
              </a:pathLst>
            </a:custGeom>
            <a:solidFill>
              <a:srgbClr val="60A5FA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09624" y="4044949"/>
              <a:ext cx="190500" cy="158750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15974" y="4416424"/>
              <a:ext cx="120650" cy="120650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15974" y="4721224"/>
              <a:ext cx="120650" cy="120650"/>
            </a:xfrm>
            <a:prstGeom prst="rect">
              <a:avLst/>
            </a:prstGeom>
          </p:spPr>
        </p:pic>
      </p:grpSp>
      <p:grpSp>
        <p:nvGrpSpPr>
          <p:cNvPr id="45" name="object 45"/>
          <p:cNvGrpSpPr/>
          <p:nvPr/>
        </p:nvGrpSpPr>
        <p:grpSpPr>
          <a:xfrm>
            <a:off x="6181724" y="3819524"/>
            <a:ext cx="5410200" cy="1257300"/>
            <a:chOff x="6181724" y="3819524"/>
            <a:chExt cx="5410200" cy="1257300"/>
          </a:xfrm>
        </p:grpSpPr>
        <p:sp>
          <p:nvSpPr>
            <p:cNvPr id="46" name="object 46"/>
            <p:cNvSpPr/>
            <p:nvPr/>
          </p:nvSpPr>
          <p:spPr>
            <a:xfrm>
              <a:off x="6181724" y="3819524"/>
              <a:ext cx="5410200" cy="1257300"/>
            </a:xfrm>
            <a:custGeom>
              <a:avLst/>
              <a:gdLst/>
              <a:ahLst/>
              <a:cxnLst/>
              <a:rect l="l" t="t" r="r" b="b"/>
              <a:pathLst>
                <a:path w="5410200" h="1257300">
                  <a:moveTo>
                    <a:pt x="5295899" y="1257299"/>
                  </a:moveTo>
                  <a:lnTo>
                    <a:pt x="114299" y="1257299"/>
                  </a:lnTo>
                  <a:lnTo>
                    <a:pt x="103040" y="1256755"/>
                  </a:lnTo>
                  <a:lnTo>
                    <a:pt x="60364" y="1243787"/>
                  </a:lnTo>
                  <a:lnTo>
                    <a:pt x="25899" y="1215475"/>
                  </a:lnTo>
                  <a:lnTo>
                    <a:pt x="4893" y="1176129"/>
                  </a:lnTo>
                  <a:lnTo>
                    <a:pt x="0" y="114299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8" y="8700"/>
                  </a:lnTo>
                  <a:lnTo>
                    <a:pt x="114299" y="0"/>
                  </a:lnTo>
                  <a:lnTo>
                    <a:pt x="5295899" y="0"/>
                  </a:lnTo>
                  <a:lnTo>
                    <a:pt x="5339638" y="8700"/>
                  </a:lnTo>
                  <a:lnTo>
                    <a:pt x="5376720" y="33477"/>
                  </a:lnTo>
                  <a:lnTo>
                    <a:pt x="5401497" y="70559"/>
                  </a:lnTo>
                  <a:lnTo>
                    <a:pt x="5410199" y="114299"/>
                  </a:lnTo>
                  <a:lnTo>
                    <a:pt x="5410199" y="1142999"/>
                  </a:lnTo>
                  <a:lnTo>
                    <a:pt x="5401496" y="1186740"/>
                  </a:lnTo>
                  <a:lnTo>
                    <a:pt x="5376720" y="1223821"/>
                  </a:lnTo>
                  <a:lnTo>
                    <a:pt x="5339637" y="1248599"/>
                  </a:lnTo>
                  <a:lnTo>
                    <a:pt x="5295899" y="1257299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181724" y="3819524"/>
              <a:ext cx="5410200" cy="1257300"/>
            </a:xfrm>
            <a:custGeom>
              <a:avLst/>
              <a:gdLst/>
              <a:ahLst/>
              <a:cxnLst/>
              <a:rect l="l" t="t" r="r" b="b"/>
              <a:pathLst>
                <a:path w="5410200" h="1257300">
                  <a:moveTo>
                    <a:pt x="5295899" y="1257299"/>
                  </a:moveTo>
                  <a:lnTo>
                    <a:pt x="114299" y="1257299"/>
                  </a:lnTo>
                  <a:lnTo>
                    <a:pt x="103040" y="1256755"/>
                  </a:lnTo>
                  <a:lnTo>
                    <a:pt x="60364" y="1243787"/>
                  </a:lnTo>
                  <a:lnTo>
                    <a:pt x="25899" y="1215475"/>
                  </a:lnTo>
                  <a:lnTo>
                    <a:pt x="4893" y="1176129"/>
                  </a:lnTo>
                  <a:lnTo>
                    <a:pt x="0" y="114299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8" y="8700"/>
                  </a:lnTo>
                  <a:lnTo>
                    <a:pt x="114299" y="0"/>
                  </a:lnTo>
                  <a:lnTo>
                    <a:pt x="5295899" y="0"/>
                  </a:lnTo>
                  <a:lnTo>
                    <a:pt x="5339638" y="8700"/>
                  </a:lnTo>
                  <a:lnTo>
                    <a:pt x="5359086" y="19049"/>
                  </a:lnTo>
                  <a:lnTo>
                    <a:pt x="108045" y="19049"/>
                  </a:lnTo>
                  <a:lnTo>
                    <a:pt x="101851" y="19659"/>
                  </a:lnTo>
                  <a:lnTo>
                    <a:pt x="56181" y="38577"/>
                  </a:lnTo>
                  <a:lnTo>
                    <a:pt x="28693" y="72071"/>
                  </a:lnTo>
                  <a:lnTo>
                    <a:pt x="19049" y="108045"/>
                  </a:lnTo>
                  <a:lnTo>
                    <a:pt x="19049" y="1149254"/>
                  </a:lnTo>
                  <a:lnTo>
                    <a:pt x="31627" y="1190717"/>
                  </a:lnTo>
                  <a:lnTo>
                    <a:pt x="66581" y="1225671"/>
                  </a:lnTo>
                  <a:lnTo>
                    <a:pt x="108045" y="1238249"/>
                  </a:lnTo>
                  <a:lnTo>
                    <a:pt x="5359085" y="1238249"/>
                  </a:lnTo>
                  <a:lnTo>
                    <a:pt x="5349833" y="1243787"/>
                  </a:lnTo>
                  <a:lnTo>
                    <a:pt x="5339637" y="1248599"/>
                  </a:lnTo>
                  <a:lnTo>
                    <a:pt x="5329027" y="1252405"/>
                  </a:lnTo>
                  <a:lnTo>
                    <a:pt x="5318201" y="1255124"/>
                  </a:lnTo>
                  <a:lnTo>
                    <a:pt x="5307158" y="1256755"/>
                  </a:lnTo>
                  <a:lnTo>
                    <a:pt x="5295899" y="1257299"/>
                  </a:lnTo>
                  <a:close/>
                </a:path>
                <a:path w="5410200" h="1257300">
                  <a:moveTo>
                    <a:pt x="5359085" y="1238249"/>
                  </a:moveTo>
                  <a:lnTo>
                    <a:pt x="5302153" y="1238249"/>
                  </a:lnTo>
                  <a:lnTo>
                    <a:pt x="5308347" y="1237639"/>
                  </a:lnTo>
                  <a:lnTo>
                    <a:pt x="5320615" y="1235199"/>
                  </a:lnTo>
                  <a:lnTo>
                    <a:pt x="5358828" y="1214774"/>
                  </a:lnTo>
                  <a:lnTo>
                    <a:pt x="5386292" y="1173672"/>
                  </a:lnTo>
                  <a:lnTo>
                    <a:pt x="5391149" y="1149254"/>
                  </a:lnTo>
                  <a:lnTo>
                    <a:pt x="5391149" y="108045"/>
                  </a:lnTo>
                  <a:lnTo>
                    <a:pt x="5378571" y="66582"/>
                  </a:lnTo>
                  <a:lnTo>
                    <a:pt x="5343617" y="31627"/>
                  </a:lnTo>
                  <a:lnTo>
                    <a:pt x="5302153" y="19049"/>
                  </a:lnTo>
                  <a:lnTo>
                    <a:pt x="5359086" y="19049"/>
                  </a:lnTo>
                  <a:lnTo>
                    <a:pt x="5390953" y="50786"/>
                  </a:lnTo>
                  <a:lnTo>
                    <a:pt x="5408023" y="91996"/>
                  </a:lnTo>
                  <a:lnTo>
                    <a:pt x="5410199" y="1142999"/>
                  </a:lnTo>
                  <a:lnTo>
                    <a:pt x="5409655" y="1154259"/>
                  </a:lnTo>
                  <a:lnTo>
                    <a:pt x="5396686" y="1196934"/>
                  </a:lnTo>
                  <a:lnTo>
                    <a:pt x="5368374" y="1231398"/>
                  </a:lnTo>
                  <a:lnTo>
                    <a:pt x="5359411" y="1238054"/>
                  </a:lnTo>
                  <a:lnTo>
                    <a:pt x="5359085" y="1238249"/>
                  </a:lnTo>
                  <a:close/>
                </a:path>
              </a:pathLst>
            </a:custGeom>
            <a:solidFill>
              <a:srgbClr val="4ADE80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372224" y="4029074"/>
              <a:ext cx="190500" cy="190500"/>
            </a:xfrm>
            <a:prstGeom prst="rect">
              <a:avLst/>
            </a:prstGeom>
          </p:spPr>
        </p:pic>
      </p:grpSp>
      <p:sp>
        <p:nvSpPr>
          <p:cNvPr id="49" name="object 49"/>
          <p:cNvSpPr txBox="1"/>
          <p:nvPr/>
        </p:nvSpPr>
        <p:spPr>
          <a:xfrm>
            <a:off x="6645275" y="3978036"/>
            <a:ext cx="125476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10" dirty="0">
                <a:solidFill>
                  <a:srgbClr val="FFFFFF"/>
                </a:solidFill>
                <a:latin typeface="Arial"/>
                <a:cs typeface="Arial"/>
              </a:rPr>
              <a:t>Timeline</a:t>
            </a:r>
            <a:r>
              <a:rPr sz="15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b="1" spc="-125" dirty="0">
                <a:solidFill>
                  <a:srgbClr val="FFFFFF"/>
                </a:solidFill>
                <a:latin typeface="Arial"/>
                <a:cs typeface="Arial"/>
              </a:rPr>
              <a:t>Delays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6378574" y="4416425"/>
            <a:ext cx="120650" cy="425450"/>
            <a:chOff x="6378574" y="4416425"/>
            <a:chExt cx="120650" cy="425450"/>
          </a:xfrm>
        </p:grpSpPr>
        <p:pic>
          <p:nvPicPr>
            <p:cNvPr id="51" name="object 5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378574" y="4416425"/>
              <a:ext cx="120650" cy="120650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378574" y="4721224"/>
              <a:ext cx="120650" cy="120650"/>
            </a:xfrm>
            <a:prstGeom prst="rect">
              <a:avLst/>
            </a:prstGeom>
          </p:spPr>
        </p:pic>
      </p:grpSp>
      <p:sp>
        <p:nvSpPr>
          <p:cNvPr id="53" name="object 53"/>
          <p:cNvSpPr txBox="1"/>
          <p:nvPr/>
        </p:nvSpPr>
        <p:spPr>
          <a:xfrm>
            <a:off x="6588125" y="4250308"/>
            <a:ext cx="2700655" cy="6350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53800"/>
              </a:lnSpc>
              <a:spcBef>
                <a:spcPts val="90"/>
              </a:spcBef>
            </a:pPr>
            <a:r>
              <a:rPr sz="1300" spc="-75" dirty="0">
                <a:solidFill>
                  <a:srgbClr val="D0D5DA"/>
                </a:solidFill>
                <a:latin typeface="Arial MT"/>
                <a:cs typeface="Arial MT"/>
              </a:rPr>
              <a:t>Overlap</a:t>
            </a:r>
            <a:r>
              <a:rPr sz="1300" spc="-40" dirty="0">
                <a:solidFill>
                  <a:srgbClr val="D0D5DA"/>
                </a:solidFill>
                <a:latin typeface="Arial MT"/>
                <a:cs typeface="Arial MT"/>
              </a:rPr>
              <a:t> less </a:t>
            </a:r>
            <a:r>
              <a:rPr sz="1300" spc="-20" dirty="0">
                <a:solidFill>
                  <a:srgbClr val="D0D5DA"/>
                </a:solidFill>
                <a:latin typeface="Arial MT"/>
                <a:cs typeface="Arial MT"/>
              </a:rPr>
              <a:t>critical</a:t>
            </a:r>
            <a:r>
              <a:rPr sz="1300" spc="-4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300" spc="-35" dirty="0">
                <a:solidFill>
                  <a:srgbClr val="D0D5DA"/>
                </a:solidFill>
                <a:latin typeface="Arial MT"/>
                <a:cs typeface="Arial MT"/>
              </a:rPr>
              <a:t>project</a:t>
            </a:r>
            <a:r>
              <a:rPr sz="1300" spc="-4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D0D5DA"/>
                </a:solidFill>
                <a:latin typeface="Arial MT"/>
                <a:cs typeface="Arial MT"/>
              </a:rPr>
              <a:t>steps </a:t>
            </a:r>
            <a:r>
              <a:rPr sz="1300" spc="-70" dirty="0">
                <a:solidFill>
                  <a:srgbClr val="D0D5DA"/>
                </a:solidFill>
                <a:latin typeface="Arial MT"/>
                <a:cs typeface="Arial MT"/>
              </a:rPr>
              <a:t>Extend</a:t>
            </a:r>
            <a:r>
              <a:rPr sz="1300" spc="-2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300" spc="-55" dirty="0">
                <a:solidFill>
                  <a:srgbClr val="D0D5DA"/>
                </a:solidFill>
                <a:latin typeface="Arial MT"/>
                <a:cs typeface="Arial MT"/>
              </a:rPr>
              <a:t>schedule</a:t>
            </a:r>
            <a:r>
              <a:rPr sz="1300" spc="-1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300" spc="-40" dirty="0">
                <a:solidFill>
                  <a:srgbClr val="D0D5DA"/>
                </a:solidFill>
                <a:latin typeface="Arial MT"/>
                <a:cs typeface="Arial MT"/>
              </a:rPr>
              <a:t>maintaining</a:t>
            </a:r>
            <a:r>
              <a:rPr sz="1300" spc="-2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300" spc="-50" dirty="0">
                <a:solidFill>
                  <a:srgbClr val="D0D5DA"/>
                </a:solidFill>
                <a:latin typeface="Arial MT"/>
                <a:cs typeface="Arial MT"/>
              </a:rPr>
              <a:t>objectives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025525" y="3978036"/>
            <a:ext cx="2777490" cy="1654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215">
              <a:lnSpc>
                <a:spcPct val="100000"/>
              </a:lnSpc>
              <a:spcBef>
                <a:spcPts val="100"/>
              </a:spcBef>
            </a:pPr>
            <a:r>
              <a:rPr sz="1500" b="1" spc="-180" dirty="0">
                <a:solidFill>
                  <a:srgbClr val="FFFFFF"/>
                </a:solidFill>
                <a:latin typeface="Arial"/>
                <a:cs typeface="Arial"/>
              </a:rPr>
              <a:t>Web</a:t>
            </a:r>
            <a:r>
              <a:rPr sz="15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b="1" spc="-180" dirty="0">
                <a:solidFill>
                  <a:srgbClr val="FFFFFF"/>
                </a:solidFill>
                <a:latin typeface="Arial"/>
                <a:cs typeface="Arial"/>
              </a:rPr>
              <a:t>App</a:t>
            </a:r>
            <a:r>
              <a:rPr sz="15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FFFFFF"/>
                </a:solidFill>
                <a:latin typeface="Arial"/>
                <a:cs typeface="Arial"/>
              </a:rPr>
              <a:t>Issues</a:t>
            </a:r>
            <a:endParaRPr sz="1500">
              <a:latin typeface="Arial"/>
              <a:cs typeface="Arial"/>
            </a:endParaRPr>
          </a:p>
          <a:p>
            <a:pPr marL="12700" marR="5080">
              <a:lnSpc>
                <a:spcPct val="153800"/>
              </a:lnSpc>
              <a:spcBef>
                <a:spcPts val="335"/>
              </a:spcBef>
            </a:pPr>
            <a:r>
              <a:rPr sz="1300" spc="-45" dirty="0">
                <a:solidFill>
                  <a:srgbClr val="D0D5DA"/>
                </a:solidFill>
                <a:latin typeface="Arial MT"/>
                <a:cs typeface="Arial MT"/>
              </a:rPr>
              <a:t>Alternative</a:t>
            </a:r>
            <a:r>
              <a:rPr sz="1300" spc="-2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300" spc="-105" dirty="0">
                <a:solidFill>
                  <a:srgbClr val="D0D5DA"/>
                </a:solidFill>
                <a:latin typeface="Arial MT"/>
                <a:cs typeface="Arial MT"/>
              </a:rPr>
              <a:t>UI</a:t>
            </a:r>
            <a:r>
              <a:rPr sz="1300" spc="-2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300" spc="-45" dirty="0">
                <a:solidFill>
                  <a:srgbClr val="D0D5DA"/>
                </a:solidFill>
                <a:latin typeface="Arial MT"/>
                <a:cs typeface="Arial MT"/>
              </a:rPr>
              <a:t>frameworks</a:t>
            </a:r>
            <a:r>
              <a:rPr sz="1300" spc="-2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300" spc="-75" dirty="0">
                <a:solidFill>
                  <a:srgbClr val="D0D5DA"/>
                </a:solidFill>
                <a:latin typeface="Arial MT"/>
                <a:cs typeface="Arial MT"/>
              </a:rPr>
              <a:t>(Gradio,</a:t>
            </a:r>
            <a:r>
              <a:rPr sz="1300" spc="-2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300" spc="-80" dirty="0">
                <a:solidFill>
                  <a:srgbClr val="D0D5DA"/>
                </a:solidFill>
                <a:latin typeface="Arial MT"/>
                <a:cs typeface="Arial MT"/>
              </a:rPr>
              <a:t>Dash) </a:t>
            </a:r>
            <a:r>
              <a:rPr sz="1300" spc="-85" dirty="0">
                <a:solidFill>
                  <a:srgbClr val="D0D5DA"/>
                </a:solidFill>
                <a:latin typeface="Arial MT"/>
                <a:cs typeface="Arial MT"/>
              </a:rPr>
              <a:t>Core</a:t>
            </a:r>
            <a:r>
              <a:rPr sz="1300" spc="-4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300" spc="-35" dirty="0">
                <a:solidFill>
                  <a:srgbClr val="D0D5DA"/>
                </a:solidFill>
                <a:latin typeface="Arial MT"/>
                <a:cs typeface="Arial MT"/>
              </a:rPr>
              <a:t>detection</a:t>
            </a:r>
            <a:r>
              <a:rPr sz="1300" spc="-4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300" spc="-50" dirty="0">
                <a:solidFill>
                  <a:srgbClr val="D0D5DA"/>
                </a:solidFill>
                <a:latin typeface="Arial MT"/>
                <a:cs typeface="Arial MT"/>
              </a:rPr>
              <a:t>remains</a:t>
            </a:r>
            <a:r>
              <a:rPr sz="1300" spc="-4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D0D5DA"/>
                </a:solidFill>
                <a:latin typeface="Arial MT"/>
                <a:cs typeface="Arial MT"/>
              </a:rPr>
              <a:t>functional</a:t>
            </a: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30"/>
              </a:spcBef>
            </a:pPr>
            <a:endParaRPr sz="1200">
              <a:latin typeface="Arial MT"/>
              <a:cs typeface="Arial MT"/>
            </a:endParaRPr>
          </a:p>
          <a:p>
            <a:pPr marL="135890">
              <a:lnSpc>
                <a:spcPct val="100000"/>
              </a:lnSpc>
            </a:pPr>
            <a:r>
              <a:rPr sz="1500" b="1" spc="-100" dirty="0">
                <a:solidFill>
                  <a:srgbClr val="FFFFFF"/>
                </a:solidFill>
                <a:latin typeface="Arial"/>
                <a:cs typeface="Arial"/>
              </a:rPr>
              <a:t>Mitigation</a:t>
            </a:r>
            <a:r>
              <a:rPr sz="15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FFFFFF"/>
                </a:solidFill>
                <a:latin typeface="Arial"/>
                <a:cs typeface="Arial"/>
              </a:rPr>
              <a:t>Strategy</a:t>
            </a:r>
            <a:endParaRPr sz="150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7833816" y="5389879"/>
            <a:ext cx="3609340" cy="2292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00" spc="-50" dirty="0">
                <a:solidFill>
                  <a:srgbClr val="D0D5DA"/>
                </a:solidFill>
                <a:latin typeface="Arial MT"/>
                <a:cs typeface="Arial MT"/>
              </a:rPr>
              <a:t>Proactive</a:t>
            </a:r>
            <a:r>
              <a:rPr sz="1300" spc="-4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300" spc="-55" dirty="0">
                <a:solidFill>
                  <a:srgbClr val="D0D5DA"/>
                </a:solidFill>
                <a:latin typeface="Arial MT"/>
                <a:cs typeface="Arial MT"/>
              </a:rPr>
              <a:t>backup</a:t>
            </a:r>
            <a:r>
              <a:rPr sz="1300" spc="-4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300" spc="-60" dirty="0">
                <a:solidFill>
                  <a:srgbClr val="D0D5DA"/>
                </a:solidFill>
                <a:latin typeface="Arial MT"/>
                <a:cs typeface="Arial MT"/>
              </a:rPr>
              <a:t>measures</a:t>
            </a:r>
            <a:r>
              <a:rPr sz="1300" spc="-4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300" spc="-65" dirty="0">
                <a:solidFill>
                  <a:srgbClr val="D0D5DA"/>
                </a:solidFill>
                <a:latin typeface="Arial MT"/>
                <a:cs typeface="Arial MT"/>
              </a:rPr>
              <a:t>ensure</a:t>
            </a:r>
            <a:r>
              <a:rPr sz="1300" spc="-4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300" spc="-35" dirty="0">
                <a:solidFill>
                  <a:srgbClr val="D0D5DA"/>
                </a:solidFill>
                <a:latin typeface="Arial MT"/>
                <a:cs typeface="Arial MT"/>
              </a:rPr>
              <a:t>project</a:t>
            </a:r>
            <a:r>
              <a:rPr sz="1300" spc="-4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300" spc="-25" dirty="0">
                <a:solidFill>
                  <a:srgbClr val="D0D5DA"/>
                </a:solidFill>
                <a:latin typeface="Arial MT"/>
                <a:cs typeface="Arial MT"/>
              </a:rPr>
              <a:t>continuity</a:t>
            </a:r>
            <a:endParaRPr sz="1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43180">
              <a:lnSpc>
                <a:spcPct val="100000"/>
              </a:lnSpc>
              <a:spcBef>
                <a:spcPts val="114"/>
              </a:spcBef>
            </a:pPr>
            <a:r>
              <a:rPr spc="-385" dirty="0"/>
              <a:t>Conclusion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19124" y="1781174"/>
            <a:ext cx="6276975" cy="1104900"/>
            <a:chOff x="619124" y="1781174"/>
            <a:chExt cx="6276975" cy="1104900"/>
          </a:xfrm>
        </p:grpSpPr>
        <p:sp>
          <p:nvSpPr>
            <p:cNvPr id="4" name="object 4"/>
            <p:cNvSpPr/>
            <p:nvPr/>
          </p:nvSpPr>
          <p:spPr>
            <a:xfrm>
              <a:off x="619124" y="1781174"/>
              <a:ext cx="6276975" cy="1104900"/>
            </a:xfrm>
            <a:custGeom>
              <a:avLst/>
              <a:gdLst/>
              <a:ahLst/>
              <a:cxnLst/>
              <a:rect l="l" t="t" r="r" b="b"/>
              <a:pathLst>
                <a:path w="6276975" h="1104900">
                  <a:moveTo>
                    <a:pt x="6162674" y="1104899"/>
                  </a:moveTo>
                  <a:lnTo>
                    <a:pt x="114299" y="1104899"/>
                  </a:lnTo>
                  <a:lnTo>
                    <a:pt x="103040" y="1104356"/>
                  </a:lnTo>
                  <a:lnTo>
                    <a:pt x="60364" y="1091387"/>
                  </a:lnTo>
                  <a:lnTo>
                    <a:pt x="25900" y="1063075"/>
                  </a:lnTo>
                  <a:lnTo>
                    <a:pt x="4894" y="1023729"/>
                  </a:lnTo>
                  <a:lnTo>
                    <a:pt x="0" y="99059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6162674" y="0"/>
                  </a:lnTo>
                  <a:lnTo>
                    <a:pt x="6206414" y="8700"/>
                  </a:lnTo>
                  <a:lnTo>
                    <a:pt x="6243496" y="33477"/>
                  </a:lnTo>
                  <a:lnTo>
                    <a:pt x="6268273" y="70559"/>
                  </a:lnTo>
                  <a:lnTo>
                    <a:pt x="6276974" y="114299"/>
                  </a:lnTo>
                  <a:lnTo>
                    <a:pt x="6276974" y="990599"/>
                  </a:lnTo>
                  <a:lnTo>
                    <a:pt x="6268273" y="1034340"/>
                  </a:lnTo>
                  <a:lnTo>
                    <a:pt x="6243496" y="1071422"/>
                  </a:lnTo>
                  <a:lnTo>
                    <a:pt x="6206414" y="1096199"/>
                  </a:lnTo>
                  <a:lnTo>
                    <a:pt x="6162674" y="1104899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19124" y="1781174"/>
              <a:ext cx="6276975" cy="1104900"/>
            </a:xfrm>
            <a:custGeom>
              <a:avLst/>
              <a:gdLst/>
              <a:ahLst/>
              <a:cxnLst/>
              <a:rect l="l" t="t" r="r" b="b"/>
              <a:pathLst>
                <a:path w="6276975" h="1104900">
                  <a:moveTo>
                    <a:pt x="6162674" y="1104899"/>
                  </a:moveTo>
                  <a:lnTo>
                    <a:pt x="114299" y="1104899"/>
                  </a:lnTo>
                  <a:lnTo>
                    <a:pt x="103040" y="1104356"/>
                  </a:lnTo>
                  <a:lnTo>
                    <a:pt x="60364" y="1091387"/>
                  </a:lnTo>
                  <a:lnTo>
                    <a:pt x="25900" y="1063075"/>
                  </a:lnTo>
                  <a:lnTo>
                    <a:pt x="4894" y="1023729"/>
                  </a:lnTo>
                  <a:lnTo>
                    <a:pt x="0" y="99059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6162674" y="0"/>
                  </a:lnTo>
                  <a:lnTo>
                    <a:pt x="6206414" y="8700"/>
                  </a:lnTo>
                  <a:lnTo>
                    <a:pt x="6225862" y="19049"/>
                  </a:lnTo>
                  <a:lnTo>
                    <a:pt x="108045" y="19049"/>
                  </a:lnTo>
                  <a:lnTo>
                    <a:pt x="101851" y="19660"/>
                  </a:lnTo>
                  <a:lnTo>
                    <a:pt x="56181" y="38577"/>
                  </a:lnTo>
                  <a:lnTo>
                    <a:pt x="28693" y="72071"/>
                  </a:lnTo>
                  <a:lnTo>
                    <a:pt x="19049" y="108045"/>
                  </a:lnTo>
                  <a:lnTo>
                    <a:pt x="19049" y="996854"/>
                  </a:lnTo>
                  <a:lnTo>
                    <a:pt x="19542" y="1001859"/>
                  </a:lnTo>
                  <a:lnTo>
                    <a:pt x="19660" y="1003048"/>
                  </a:lnTo>
                  <a:lnTo>
                    <a:pt x="38577" y="1048718"/>
                  </a:lnTo>
                  <a:lnTo>
                    <a:pt x="72071" y="1076205"/>
                  </a:lnTo>
                  <a:lnTo>
                    <a:pt x="108045" y="1085849"/>
                  </a:lnTo>
                  <a:lnTo>
                    <a:pt x="6225861" y="1085849"/>
                  </a:lnTo>
                  <a:lnTo>
                    <a:pt x="6216609" y="1091387"/>
                  </a:lnTo>
                  <a:lnTo>
                    <a:pt x="6206414" y="1096199"/>
                  </a:lnTo>
                  <a:lnTo>
                    <a:pt x="6195804" y="1100005"/>
                  </a:lnTo>
                  <a:lnTo>
                    <a:pt x="6184977" y="1102724"/>
                  </a:lnTo>
                  <a:lnTo>
                    <a:pt x="6173934" y="1104356"/>
                  </a:lnTo>
                  <a:lnTo>
                    <a:pt x="6162674" y="1104899"/>
                  </a:lnTo>
                  <a:close/>
                </a:path>
                <a:path w="6276975" h="1104900">
                  <a:moveTo>
                    <a:pt x="6225861" y="1085849"/>
                  </a:moveTo>
                  <a:lnTo>
                    <a:pt x="6168928" y="1085849"/>
                  </a:lnTo>
                  <a:lnTo>
                    <a:pt x="6175122" y="1085239"/>
                  </a:lnTo>
                  <a:lnTo>
                    <a:pt x="6187390" y="1082799"/>
                  </a:lnTo>
                  <a:lnTo>
                    <a:pt x="6225603" y="1062374"/>
                  </a:lnTo>
                  <a:lnTo>
                    <a:pt x="6253067" y="1021272"/>
                  </a:lnTo>
                  <a:lnTo>
                    <a:pt x="6257924" y="996854"/>
                  </a:lnTo>
                  <a:lnTo>
                    <a:pt x="6257924" y="108045"/>
                  </a:lnTo>
                  <a:lnTo>
                    <a:pt x="6257431" y="103040"/>
                  </a:lnTo>
                  <a:lnTo>
                    <a:pt x="6257314" y="101851"/>
                  </a:lnTo>
                  <a:lnTo>
                    <a:pt x="6238396" y="56181"/>
                  </a:lnTo>
                  <a:lnTo>
                    <a:pt x="6204902" y="28693"/>
                  </a:lnTo>
                  <a:lnTo>
                    <a:pt x="6168928" y="19049"/>
                  </a:lnTo>
                  <a:lnTo>
                    <a:pt x="6225862" y="19049"/>
                  </a:lnTo>
                  <a:lnTo>
                    <a:pt x="6257729" y="50786"/>
                  </a:lnTo>
                  <a:lnTo>
                    <a:pt x="6274799" y="91996"/>
                  </a:lnTo>
                  <a:lnTo>
                    <a:pt x="6276974" y="990599"/>
                  </a:lnTo>
                  <a:lnTo>
                    <a:pt x="6276430" y="1001859"/>
                  </a:lnTo>
                  <a:lnTo>
                    <a:pt x="6263462" y="1044534"/>
                  </a:lnTo>
                  <a:lnTo>
                    <a:pt x="6235150" y="1078999"/>
                  </a:lnTo>
                  <a:lnTo>
                    <a:pt x="6226187" y="1085654"/>
                  </a:lnTo>
                  <a:lnTo>
                    <a:pt x="6225861" y="1085849"/>
                  </a:lnTo>
                  <a:close/>
                </a:path>
              </a:pathLst>
            </a:custGeom>
            <a:solidFill>
              <a:srgbClr val="4ADE80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66774" y="2028824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538403" y="609599"/>
                  </a:moveTo>
                  <a:lnTo>
                    <a:pt x="71196" y="609599"/>
                  </a:lnTo>
                  <a:lnTo>
                    <a:pt x="66241" y="609111"/>
                  </a:lnTo>
                  <a:lnTo>
                    <a:pt x="29705" y="593978"/>
                  </a:lnTo>
                  <a:lnTo>
                    <a:pt x="3885" y="557937"/>
                  </a:lnTo>
                  <a:lnTo>
                    <a:pt x="0" y="538403"/>
                  </a:lnTo>
                  <a:lnTo>
                    <a:pt x="0" y="5333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538403" y="0"/>
                  </a:lnTo>
                  <a:lnTo>
                    <a:pt x="579894" y="15621"/>
                  </a:lnTo>
                  <a:lnTo>
                    <a:pt x="605714" y="51661"/>
                  </a:lnTo>
                  <a:lnTo>
                    <a:pt x="609600" y="71196"/>
                  </a:lnTo>
                  <a:lnTo>
                    <a:pt x="609600" y="538403"/>
                  </a:lnTo>
                  <a:lnTo>
                    <a:pt x="593978" y="579894"/>
                  </a:lnTo>
                  <a:lnTo>
                    <a:pt x="557937" y="605713"/>
                  </a:lnTo>
                  <a:lnTo>
                    <a:pt x="543358" y="609111"/>
                  </a:lnTo>
                  <a:lnTo>
                    <a:pt x="538403" y="609599"/>
                  </a:lnTo>
                  <a:close/>
                </a:path>
              </a:pathLst>
            </a:custGeom>
            <a:solidFill>
              <a:srgbClr val="4ADE8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8699" y="2190749"/>
              <a:ext cx="285750" cy="28575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616074" y="1888039"/>
            <a:ext cx="4544060" cy="692785"/>
          </a:xfrm>
          <a:prstGeom prst="rect">
            <a:avLst/>
          </a:prstGeom>
        </p:spPr>
        <p:txBody>
          <a:bodyPr vert="horz" wrap="square" lIns="0" tIns="130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sz="1650" b="1" spc="-95" dirty="0">
                <a:solidFill>
                  <a:srgbClr val="FFFFFF"/>
                </a:solidFill>
                <a:latin typeface="Roboto"/>
                <a:cs typeface="Roboto"/>
              </a:rPr>
              <a:t>Working</a:t>
            </a:r>
            <a:r>
              <a:rPr sz="1650" b="1" spc="2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650" b="1" spc="-10" dirty="0">
                <a:solidFill>
                  <a:srgbClr val="FFFFFF"/>
                </a:solidFill>
                <a:latin typeface="Roboto"/>
                <a:cs typeface="Roboto"/>
              </a:rPr>
              <a:t>Prototype</a:t>
            </a:r>
            <a:endParaRPr sz="16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1300" spc="-100" dirty="0">
                <a:solidFill>
                  <a:srgbClr val="D0D5DA"/>
                </a:solidFill>
                <a:latin typeface="Arial MT"/>
                <a:cs typeface="Arial MT"/>
              </a:rPr>
              <a:t>Real-</a:t>
            </a:r>
            <a:r>
              <a:rPr sz="1300" spc="-25" dirty="0">
                <a:solidFill>
                  <a:srgbClr val="D0D5DA"/>
                </a:solidFill>
                <a:latin typeface="Arial MT"/>
                <a:cs typeface="Arial MT"/>
              </a:rPr>
              <a:t>time</a:t>
            </a:r>
            <a:r>
              <a:rPr sz="1300" spc="-30" dirty="0">
                <a:solidFill>
                  <a:srgbClr val="D0D5DA"/>
                </a:solidFill>
                <a:latin typeface="Arial MT"/>
                <a:cs typeface="Arial MT"/>
              </a:rPr>
              <a:t> object </a:t>
            </a:r>
            <a:r>
              <a:rPr sz="1300" spc="-35" dirty="0">
                <a:solidFill>
                  <a:srgbClr val="D0D5DA"/>
                </a:solidFill>
                <a:latin typeface="Arial MT"/>
                <a:cs typeface="Arial MT"/>
              </a:rPr>
              <a:t>detection</a:t>
            </a:r>
            <a:r>
              <a:rPr sz="1300" spc="-3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300" spc="-35" dirty="0">
                <a:solidFill>
                  <a:srgbClr val="D0D5DA"/>
                </a:solidFill>
                <a:latin typeface="Arial MT"/>
                <a:cs typeface="Arial MT"/>
              </a:rPr>
              <a:t>successfully</a:t>
            </a:r>
            <a:r>
              <a:rPr sz="1300" spc="-3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300" spc="-45" dirty="0">
                <a:solidFill>
                  <a:srgbClr val="D0D5DA"/>
                </a:solidFill>
                <a:latin typeface="Arial MT"/>
                <a:cs typeface="Arial MT"/>
              </a:rPr>
              <a:t>implemented</a:t>
            </a:r>
            <a:r>
              <a:rPr sz="1300" spc="-3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300" spc="-65" dirty="0">
                <a:solidFill>
                  <a:srgbClr val="D0D5DA"/>
                </a:solidFill>
                <a:latin typeface="Arial MT"/>
                <a:cs typeface="Arial MT"/>
              </a:rPr>
              <a:t>and</a:t>
            </a:r>
            <a:r>
              <a:rPr sz="1300" spc="-3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300" spc="-55" dirty="0">
                <a:solidFill>
                  <a:srgbClr val="D0D5DA"/>
                </a:solidFill>
                <a:latin typeface="Arial MT"/>
                <a:cs typeface="Arial MT"/>
              </a:rPr>
              <a:t>deployed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19124" y="3076574"/>
            <a:ext cx="6276975" cy="1104900"/>
            <a:chOff x="619124" y="3076574"/>
            <a:chExt cx="6276975" cy="1104900"/>
          </a:xfrm>
        </p:grpSpPr>
        <p:sp>
          <p:nvSpPr>
            <p:cNvPr id="10" name="object 10"/>
            <p:cNvSpPr/>
            <p:nvPr/>
          </p:nvSpPr>
          <p:spPr>
            <a:xfrm>
              <a:off x="619124" y="3076574"/>
              <a:ext cx="6276975" cy="1104900"/>
            </a:xfrm>
            <a:custGeom>
              <a:avLst/>
              <a:gdLst/>
              <a:ahLst/>
              <a:cxnLst/>
              <a:rect l="l" t="t" r="r" b="b"/>
              <a:pathLst>
                <a:path w="6276975" h="1104900">
                  <a:moveTo>
                    <a:pt x="6162674" y="1104899"/>
                  </a:moveTo>
                  <a:lnTo>
                    <a:pt x="114299" y="1104899"/>
                  </a:lnTo>
                  <a:lnTo>
                    <a:pt x="103040" y="1104355"/>
                  </a:lnTo>
                  <a:lnTo>
                    <a:pt x="60364" y="1091387"/>
                  </a:lnTo>
                  <a:lnTo>
                    <a:pt x="25900" y="1063075"/>
                  </a:lnTo>
                  <a:lnTo>
                    <a:pt x="4894" y="1023729"/>
                  </a:lnTo>
                  <a:lnTo>
                    <a:pt x="0" y="990599"/>
                  </a:lnTo>
                  <a:lnTo>
                    <a:pt x="0" y="114299"/>
                  </a:lnTo>
                  <a:lnTo>
                    <a:pt x="8700" y="70558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6162674" y="0"/>
                  </a:lnTo>
                  <a:lnTo>
                    <a:pt x="6206414" y="8700"/>
                  </a:lnTo>
                  <a:lnTo>
                    <a:pt x="6243496" y="33477"/>
                  </a:lnTo>
                  <a:lnTo>
                    <a:pt x="6268273" y="70558"/>
                  </a:lnTo>
                  <a:lnTo>
                    <a:pt x="6276974" y="114299"/>
                  </a:lnTo>
                  <a:lnTo>
                    <a:pt x="6276974" y="990599"/>
                  </a:lnTo>
                  <a:lnTo>
                    <a:pt x="6268273" y="1034339"/>
                  </a:lnTo>
                  <a:lnTo>
                    <a:pt x="6243496" y="1071421"/>
                  </a:lnTo>
                  <a:lnTo>
                    <a:pt x="6206414" y="1096198"/>
                  </a:lnTo>
                  <a:lnTo>
                    <a:pt x="6162674" y="1104899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19124" y="3076575"/>
              <a:ext cx="6276975" cy="1104900"/>
            </a:xfrm>
            <a:custGeom>
              <a:avLst/>
              <a:gdLst/>
              <a:ahLst/>
              <a:cxnLst/>
              <a:rect l="l" t="t" r="r" b="b"/>
              <a:pathLst>
                <a:path w="6276975" h="1104900">
                  <a:moveTo>
                    <a:pt x="6162674" y="1104899"/>
                  </a:moveTo>
                  <a:lnTo>
                    <a:pt x="114299" y="1104899"/>
                  </a:lnTo>
                  <a:lnTo>
                    <a:pt x="103040" y="1104355"/>
                  </a:lnTo>
                  <a:lnTo>
                    <a:pt x="60364" y="1091387"/>
                  </a:lnTo>
                  <a:lnTo>
                    <a:pt x="25900" y="1063075"/>
                  </a:lnTo>
                  <a:lnTo>
                    <a:pt x="4894" y="1023729"/>
                  </a:lnTo>
                  <a:lnTo>
                    <a:pt x="0" y="990599"/>
                  </a:lnTo>
                  <a:lnTo>
                    <a:pt x="0" y="114299"/>
                  </a:lnTo>
                  <a:lnTo>
                    <a:pt x="8700" y="70558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6162674" y="0"/>
                  </a:lnTo>
                  <a:lnTo>
                    <a:pt x="6206414" y="8700"/>
                  </a:lnTo>
                  <a:lnTo>
                    <a:pt x="6225861" y="19049"/>
                  </a:lnTo>
                  <a:lnTo>
                    <a:pt x="108045" y="19049"/>
                  </a:lnTo>
                  <a:lnTo>
                    <a:pt x="101851" y="19660"/>
                  </a:lnTo>
                  <a:lnTo>
                    <a:pt x="56181" y="38577"/>
                  </a:lnTo>
                  <a:lnTo>
                    <a:pt x="28693" y="72071"/>
                  </a:lnTo>
                  <a:lnTo>
                    <a:pt x="19049" y="108045"/>
                  </a:lnTo>
                  <a:lnTo>
                    <a:pt x="19049" y="996854"/>
                  </a:lnTo>
                  <a:lnTo>
                    <a:pt x="31627" y="1038317"/>
                  </a:lnTo>
                  <a:lnTo>
                    <a:pt x="66582" y="1073271"/>
                  </a:lnTo>
                  <a:lnTo>
                    <a:pt x="108045" y="1085849"/>
                  </a:lnTo>
                  <a:lnTo>
                    <a:pt x="6225860" y="1085849"/>
                  </a:lnTo>
                  <a:lnTo>
                    <a:pt x="6216609" y="1091387"/>
                  </a:lnTo>
                  <a:lnTo>
                    <a:pt x="6206414" y="1096198"/>
                  </a:lnTo>
                  <a:lnTo>
                    <a:pt x="6195804" y="1100005"/>
                  </a:lnTo>
                  <a:lnTo>
                    <a:pt x="6184977" y="1102724"/>
                  </a:lnTo>
                  <a:lnTo>
                    <a:pt x="6173934" y="1104355"/>
                  </a:lnTo>
                  <a:lnTo>
                    <a:pt x="6162674" y="1104899"/>
                  </a:lnTo>
                  <a:close/>
                </a:path>
                <a:path w="6276975" h="1104900">
                  <a:moveTo>
                    <a:pt x="6225860" y="1085849"/>
                  </a:moveTo>
                  <a:lnTo>
                    <a:pt x="6168928" y="1085849"/>
                  </a:lnTo>
                  <a:lnTo>
                    <a:pt x="6175122" y="1085239"/>
                  </a:lnTo>
                  <a:lnTo>
                    <a:pt x="6187390" y="1082799"/>
                  </a:lnTo>
                  <a:lnTo>
                    <a:pt x="6225603" y="1062374"/>
                  </a:lnTo>
                  <a:lnTo>
                    <a:pt x="6253067" y="1021272"/>
                  </a:lnTo>
                  <a:lnTo>
                    <a:pt x="6257924" y="996854"/>
                  </a:lnTo>
                  <a:lnTo>
                    <a:pt x="6257924" y="108045"/>
                  </a:lnTo>
                  <a:lnTo>
                    <a:pt x="6257431" y="103040"/>
                  </a:lnTo>
                  <a:lnTo>
                    <a:pt x="6257314" y="101851"/>
                  </a:lnTo>
                  <a:lnTo>
                    <a:pt x="6238396" y="56181"/>
                  </a:lnTo>
                  <a:lnTo>
                    <a:pt x="6204902" y="28693"/>
                  </a:lnTo>
                  <a:lnTo>
                    <a:pt x="6168928" y="19049"/>
                  </a:lnTo>
                  <a:lnTo>
                    <a:pt x="6225861" y="19049"/>
                  </a:lnTo>
                  <a:lnTo>
                    <a:pt x="6257729" y="50785"/>
                  </a:lnTo>
                  <a:lnTo>
                    <a:pt x="6274799" y="91996"/>
                  </a:lnTo>
                  <a:lnTo>
                    <a:pt x="6276974" y="990599"/>
                  </a:lnTo>
                  <a:lnTo>
                    <a:pt x="6276430" y="1001859"/>
                  </a:lnTo>
                  <a:lnTo>
                    <a:pt x="6263462" y="1044534"/>
                  </a:lnTo>
                  <a:lnTo>
                    <a:pt x="6235150" y="1078998"/>
                  </a:lnTo>
                  <a:lnTo>
                    <a:pt x="6226187" y="1085654"/>
                  </a:lnTo>
                  <a:lnTo>
                    <a:pt x="6225860" y="1085849"/>
                  </a:lnTo>
                  <a:close/>
                </a:path>
              </a:pathLst>
            </a:custGeom>
            <a:solidFill>
              <a:srgbClr val="60A5FA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66774" y="3324224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538403" y="609599"/>
                  </a:moveTo>
                  <a:lnTo>
                    <a:pt x="71196" y="609599"/>
                  </a:lnTo>
                  <a:lnTo>
                    <a:pt x="66241" y="609111"/>
                  </a:lnTo>
                  <a:lnTo>
                    <a:pt x="29705" y="593977"/>
                  </a:lnTo>
                  <a:lnTo>
                    <a:pt x="3885" y="557937"/>
                  </a:lnTo>
                  <a:lnTo>
                    <a:pt x="0" y="538402"/>
                  </a:lnTo>
                  <a:lnTo>
                    <a:pt x="0" y="5333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538403" y="0"/>
                  </a:lnTo>
                  <a:lnTo>
                    <a:pt x="579894" y="15621"/>
                  </a:lnTo>
                  <a:lnTo>
                    <a:pt x="605714" y="51661"/>
                  </a:lnTo>
                  <a:lnTo>
                    <a:pt x="609600" y="71196"/>
                  </a:lnTo>
                  <a:lnTo>
                    <a:pt x="609600" y="538402"/>
                  </a:lnTo>
                  <a:lnTo>
                    <a:pt x="593978" y="579894"/>
                  </a:lnTo>
                  <a:lnTo>
                    <a:pt x="557937" y="605713"/>
                  </a:lnTo>
                  <a:lnTo>
                    <a:pt x="543358" y="609111"/>
                  </a:lnTo>
                  <a:lnTo>
                    <a:pt x="538403" y="609599"/>
                  </a:lnTo>
                  <a:close/>
                </a:path>
              </a:pathLst>
            </a:custGeom>
            <a:solidFill>
              <a:srgbClr val="60A5FA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1399" y="3470274"/>
              <a:ext cx="260350" cy="288925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1616074" y="3183439"/>
            <a:ext cx="4032885" cy="692785"/>
          </a:xfrm>
          <a:prstGeom prst="rect">
            <a:avLst/>
          </a:prstGeom>
        </p:spPr>
        <p:txBody>
          <a:bodyPr vert="horz" wrap="square" lIns="0" tIns="130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sz="1650" b="1" spc="-100" dirty="0">
                <a:solidFill>
                  <a:srgbClr val="FFFFFF"/>
                </a:solidFill>
                <a:latin typeface="Roboto"/>
                <a:cs typeface="Roboto"/>
              </a:rPr>
              <a:t>System</a:t>
            </a:r>
            <a:r>
              <a:rPr sz="1650" b="1" spc="1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650" b="1" spc="-10" dirty="0">
                <a:solidFill>
                  <a:srgbClr val="FFFFFF"/>
                </a:solidFill>
                <a:latin typeface="Roboto"/>
                <a:cs typeface="Roboto"/>
              </a:rPr>
              <a:t>Integration</a:t>
            </a:r>
            <a:endParaRPr sz="16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1300" spc="-175" dirty="0">
                <a:solidFill>
                  <a:srgbClr val="D0D5DA"/>
                </a:solidFill>
                <a:latin typeface="Arial MT"/>
                <a:cs typeface="Arial MT"/>
              </a:rPr>
              <a:t>YOLO</a:t>
            </a:r>
            <a:r>
              <a:rPr sz="1300" spc="-4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300" spc="-90" dirty="0">
                <a:solidFill>
                  <a:srgbClr val="D0D5DA"/>
                </a:solidFill>
                <a:latin typeface="Arial MT"/>
                <a:cs typeface="Arial MT"/>
              </a:rPr>
              <a:t>+</a:t>
            </a:r>
            <a:r>
              <a:rPr sz="1300" spc="-4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300" spc="-110" dirty="0">
                <a:solidFill>
                  <a:srgbClr val="D0D5DA"/>
                </a:solidFill>
                <a:latin typeface="Arial MT"/>
                <a:cs typeface="Arial MT"/>
              </a:rPr>
              <a:t>OpenCV</a:t>
            </a:r>
            <a:r>
              <a:rPr sz="1300" spc="-4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300" spc="-90" dirty="0">
                <a:solidFill>
                  <a:srgbClr val="D0D5DA"/>
                </a:solidFill>
                <a:latin typeface="Arial MT"/>
                <a:cs typeface="Arial MT"/>
              </a:rPr>
              <a:t>+</a:t>
            </a:r>
            <a:r>
              <a:rPr sz="1300" spc="-4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300" spc="-40" dirty="0">
                <a:solidFill>
                  <a:srgbClr val="D0D5DA"/>
                </a:solidFill>
                <a:latin typeface="Arial MT"/>
                <a:cs typeface="Arial MT"/>
              </a:rPr>
              <a:t>Streamlit </a:t>
            </a:r>
            <a:r>
              <a:rPr sz="1300" spc="-65" dirty="0">
                <a:solidFill>
                  <a:srgbClr val="D0D5DA"/>
                </a:solidFill>
                <a:latin typeface="Arial MT"/>
                <a:cs typeface="Arial MT"/>
              </a:rPr>
              <a:t>web</a:t>
            </a:r>
            <a:r>
              <a:rPr sz="1300" spc="-4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300" spc="-35" dirty="0">
                <a:solidFill>
                  <a:srgbClr val="D0D5DA"/>
                </a:solidFill>
                <a:latin typeface="Arial MT"/>
                <a:cs typeface="Arial MT"/>
              </a:rPr>
              <a:t>application</a:t>
            </a:r>
            <a:r>
              <a:rPr sz="1300" spc="-4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D0D5DA"/>
                </a:solidFill>
                <a:latin typeface="Arial MT"/>
                <a:cs typeface="Arial MT"/>
              </a:rPr>
              <a:t>fully</a:t>
            </a:r>
            <a:r>
              <a:rPr sz="1300" spc="-4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D0D5DA"/>
                </a:solidFill>
                <a:latin typeface="Arial MT"/>
                <a:cs typeface="Arial MT"/>
              </a:rPr>
              <a:t>functional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19124" y="4371974"/>
            <a:ext cx="6276975" cy="1104900"/>
            <a:chOff x="619124" y="4371974"/>
            <a:chExt cx="6276975" cy="1104900"/>
          </a:xfrm>
        </p:grpSpPr>
        <p:sp>
          <p:nvSpPr>
            <p:cNvPr id="16" name="object 16"/>
            <p:cNvSpPr/>
            <p:nvPr/>
          </p:nvSpPr>
          <p:spPr>
            <a:xfrm>
              <a:off x="619124" y="4371974"/>
              <a:ext cx="6276975" cy="1104900"/>
            </a:xfrm>
            <a:custGeom>
              <a:avLst/>
              <a:gdLst/>
              <a:ahLst/>
              <a:cxnLst/>
              <a:rect l="l" t="t" r="r" b="b"/>
              <a:pathLst>
                <a:path w="6276975" h="1104900">
                  <a:moveTo>
                    <a:pt x="6162674" y="1104899"/>
                  </a:moveTo>
                  <a:lnTo>
                    <a:pt x="114299" y="1104899"/>
                  </a:lnTo>
                  <a:lnTo>
                    <a:pt x="103040" y="1104355"/>
                  </a:lnTo>
                  <a:lnTo>
                    <a:pt x="60364" y="1091387"/>
                  </a:lnTo>
                  <a:lnTo>
                    <a:pt x="25900" y="1063075"/>
                  </a:lnTo>
                  <a:lnTo>
                    <a:pt x="4894" y="1023729"/>
                  </a:lnTo>
                  <a:lnTo>
                    <a:pt x="0" y="990599"/>
                  </a:lnTo>
                  <a:lnTo>
                    <a:pt x="0" y="114299"/>
                  </a:lnTo>
                  <a:lnTo>
                    <a:pt x="8700" y="70558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6162674" y="0"/>
                  </a:lnTo>
                  <a:lnTo>
                    <a:pt x="6206414" y="8700"/>
                  </a:lnTo>
                  <a:lnTo>
                    <a:pt x="6243496" y="33477"/>
                  </a:lnTo>
                  <a:lnTo>
                    <a:pt x="6268273" y="70558"/>
                  </a:lnTo>
                  <a:lnTo>
                    <a:pt x="6276974" y="114299"/>
                  </a:lnTo>
                  <a:lnTo>
                    <a:pt x="6276974" y="990599"/>
                  </a:lnTo>
                  <a:lnTo>
                    <a:pt x="6268273" y="1034340"/>
                  </a:lnTo>
                  <a:lnTo>
                    <a:pt x="6243496" y="1071421"/>
                  </a:lnTo>
                  <a:lnTo>
                    <a:pt x="6206414" y="1096198"/>
                  </a:lnTo>
                  <a:lnTo>
                    <a:pt x="6162674" y="1104899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19124" y="4371974"/>
              <a:ext cx="6276975" cy="1104900"/>
            </a:xfrm>
            <a:custGeom>
              <a:avLst/>
              <a:gdLst/>
              <a:ahLst/>
              <a:cxnLst/>
              <a:rect l="l" t="t" r="r" b="b"/>
              <a:pathLst>
                <a:path w="6276975" h="1104900">
                  <a:moveTo>
                    <a:pt x="6162674" y="1104899"/>
                  </a:moveTo>
                  <a:lnTo>
                    <a:pt x="114299" y="1104899"/>
                  </a:lnTo>
                  <a:lnTo>
                    <a:pt x="103040" y="1104355"/>
                  </a:lnTo>
                  <a:lnTo>
                    <a:pt x="60364" y="1091387"/>
                  </a:lnTo>
                  <a:lnTo>
                    <a:pt x="25900" y="1063075"/>
                  </a:lnTo>
                  <a:lnTo>
                    <a:pt x="4894" y="1023729"/>
                  </a:lnTo>
                  <a:lnTo>
                    <a:pt x="0" y="990599"/>
                  </a:lnTo>
                  <a:lnTo>
                    <a:pt x="0" y="114299"/>
                  </a:lnTo>
                  <a:lnTo>
                    <a:pt x="8700" y="70558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6162674" y="0"/>
                  </a:lnTo>
                  <a:lnTo>
                    <a:pt x="6206414" y="8700"/>
                  </a:lnTo>
                  <a:lnTo>
                    <a:pt x="6225862" y="19049"/>
                  </a:lnTo>
                  <a:lnTo>
                    <a:pt x="108045" y="19049"/>
                  </a:lnTo>
                  <a:lnTo>
                    <a:pt x="101851" y="19659"/>
                  </a:lnTo>
                  <a:lnTo>
                    <a:pt x="56181" y="38577"/>
                  </a:lnTo>
                  <a:lnTo>
                    <a:pt x="28693" y="72071"/>
                  </a:lnTo>
                  <a:lnTo>
                    <a:pt x="19049" y="108045"/>
                  </a:lnTo>
                  <a:lnTo>
                    <a:pt x="19049" y="996854"/>
                  </a:lnTo>
                  <a:lnTo>
                    <a:pt x="31627" y="1038317"/>
                  </a:lnTo>
                  <a:lnTo>
                    <a:pt x="66582" y="1073271"/>
                  </a:lnTo>
                  <a:lnTo>
                    <a:pt x="108045" y="1085849"/>
                  </a:lnTo>
                  <a:lnTo>
                    <a:pt x="6225860" y="1085849"/>
                  </a:lnTo>
                  <a:lnTo>
                    <a:pt x="6216609" y="1091387"/>
                  </a:lnTo>
                  <a:lnTo>
                    <a:pt x="6206414" y="1096198"/>
                  </a:lnTo>
                  <a:lnTo>
                    <a:pt x="6195804" y="1100004"/>
                  </a:lnTo>
                  <a:lnTo>
                    <a:pt x="6184977" y="1102724"/>
                  </a:lnTo>
                  <a:lnTo>
                    <a:pt x="6173934" y="1104355"/>
                  </a:lnTo>
                  <a:lnTo>
                    <a:pt x="6162674" y="1104899"/>
                  </a:lnTo>
                  <a:close/>
                </a:path>
                <a:path w="6276975" h="1104900">
                  <a:moveTo>
                    <a:pt x="6225860" y="1085849"/>
                  </a:moveTo>
                  <a:lnTo>
                    <a:pt x="6168928" y="1085849"/>
                  </a:lnTo>
                  <a:lnTo>
                    <a:pt x="6175122" y="1085239"/>
                  </a:lnTo>
                  <a:lnTo>
                    <a:pt x="6187390" y="1082799"/>
                  </a:lnTo>
                  <a:lnTo>
                    <a:pt x="6225603" y="1062374"/>
                  </a:lnTo>
                  <a:lnTo>
                    <a:pt x="6253067" y="1021272"/>
                  </a:lnTo>
                  <a:lnTo>
                    <a:pt x="6257924" y="996854"/>
                  </a:lnTo>
                  <a:lnTo>
                    <a:pt x="6257924" y="108045"/>
                  </a:lnTo>
                  <a:lnTo>
                    <a:pt x="6257431" y="103039"/>
                  </a:lnTo>
                  <a:lnTo>
                    <a:pt x="6257314" y="101851"/>
                  </a:lnTo>
                  <a:lnTo>
                    <a:pt x="6238396" y="56181"/>
                  </a:lnTo>
                  <a:lnTo>
                    <a:pt x="6204902" y="28693"/>
                  </a:lnTo>
                  <a:lnTo>
                    <a:pt x="6168928" y="19049"/>
                  </a:lnTo>
                  <a:lnTo>
                    <a:pt x="6225862" y="19049"/>
                  </a:lnTo>
                  <a:lnTo>
                    <a:pt x="6257729" y="50785"/>
                  </a:lnTo>
                  <a:lnTo>
                    <a:pt x="6274799" y="91996"/>
                  </a:lnTo>
                  <a:lnTo>
                    <a:pt x="6276974" y="990599"/>
                  </a:lnTo>
                  <a:lnTo>
                    <a:pt x="6276430" y="1001859"/>
                  </a:lnTo>
                  <a:lnTo>
                    <a:pt x="6263462" y="1044534"/>
                  </a:lnTo>
                  <a:lnTo>
                    <a:pt x="6235150" y="1078999"/>
                  </a:lnTo>
                  <a:lnTo>
                    <a:pt x="6226187" y="1085654"/>
                  </a:lnTo>
                  <a:lnTo>
                    <a:pt x="6225860" y="1085849"/>
                  </a:lnTo>
                  <a:close/>
                </a:path>
              </a:pathLst>
            </a:custGeom>
            <a:solidFill>
              <a:srgbClr val="BF83FB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66774" y="4619624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538403" y="609599"/>
                  </a:moveTo>
                  <a:lnTo>
                    <a:pt x="71196" y="609599"/>
                  </a:lnTo>
                  <a:lnTo>
                    <a:pt x="66241" y="609111"/>
                  </a:lnTo>
                  <a:lnTo>
                    <a:pt x="29705" y="593978"/>
                  </a:lnTo>
                  <a:lnTo>
                    <a:pt x="3885" y="557937"/>
                  </a:lnTo>
                  <a:lnTo>
                    <a:pt x="0" y="538403"/>
                  </a:lnTo>
                  <a:lnTo>
                    <a:pt x="0" y="5333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538403" y="0"/>
                  </a:lnTo>
                  <a:lnTo>
                    <a:pt x="579894" y="15621"/>
                  </a:lnTo>
                  <a:lnTo>
                    <a:pt x="605714" y="51661"/>
                  </a:lnTo>
                  <a:lnTo>
                    <a:pt x="609600" y="71196"/>
                  </a:lnTo>
                  <a:lnTo>
                    <a:pt x="609600" y="538403"/>
                  </a:lnTo>
                  <a:lnTo>
                    <a:pt x="593978" y="579894"/>
                  </a:lnTo>
                  <a:lnTo>
                    <a:pt x="557937" y="605713"/>
                  </a:lnTo>
                  <a:lnTo>
                    <a:pt x="543358" y="609111"/>
                  </a:lnTo>
                  <a:lnTo>
                    <a:pt x="538403" y="609599"/>
                  </a:lnTo>
                  <a:close/>
                </a:path>
              </a:pathLst>
            </a:custGeom>
            <a:solidFill>
              <a:srgbClr val="BF83FB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28699" y="4810124"/>
              <a:ext cx="285750" cy="231775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1616074" y="4478839"/>
            <a:ext cx="3430904" cy="692785"/>
          </a:xfrm>
          <a:prstGeom prst="rect">
            <a:avLst/>
          </a:prstGeom>
        </p:spPr>
        <p:txBody>
          <a:bodyPr vert="horz" wrap="square" lIns="0" tIns="130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sz="1650" b="1" spc="-75" dirty="0">
                <a:solidFill>
                  <a:srgbClr val="FFFFFF"/>
                </a:solidFill>
                <a:latin typeface="Roboto"/>
                <a:cs typeface="Roboto"/>
              </a:rPr>
              <a:t>Performance</a:t>
            </a:r>
            <a:r>
              <a:rPr sz="1650" b="1" spc="-2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650" b="1" spc="-10" dirty="0">
                <a:solidFill>
                  <a:srgbClr val="FFFFFF"/>
                </a:solidFill>
                <a:latin typeface="Roboto"/>
                <a:cs typeface="Roboto"/>
              </a:rPr>
              <a:t>Achievement</a:t>
            </a:r>
            <a:endParaRPr sz="16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1300" spc="-60" dirty="0">
                <a:solidFill>
                  <a:srgbClr val="D0D5DA"/>
                </a:solidFill>
                <a:latin typeface="Arial MT"/>
                <a:cs typeface="Arial MT"/>
              </a:rPr>
              <a:t>Stable</a:t>
            </a:r>
            <a:r>
              <a:rPr sz="1300" spc="-3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300" spc="-70" dirty="0">
                <a:solidFill>
                  <a:srgbClr val="D0D5DA"/>
                </a:solidFill>
                <a:latin typeface="Arial MT"/>
                <a:cs typeface="Arial MT"/>
              </a:rPr>
              <a:t>real-</a:t>
            </a:r>
            <a:r>
              <a:rPr sz="1300" spc="-25" dirty="0">
                <a:solidFill>
                  <a:srgbClr val="D0D5DA"/>
                </a:solidFill>
                <a:latin typeface="Arial MT"/>
                <a:cs typeface="Arial MT"/>
              </a:rPr>
              <a:t>time</a:t>
            </a:r>
            <a:r>
              <a:rPr sz="1300" spc="-3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300" spc="-45" dirty="0">
                <a:solidFill>
                  <a:srgbClr val="D0D5DA"/>
                </a:solidFill>
                <a:latin typeface="Arial MT"/>
                <a:cs typeface="Arial MT"/>
              </a:rPr>
              <a:t>performance</a:t>
            </a:r>
            <a:r>
              <a:rPr sz="1300" spc="-3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300" spc="-30" dirty="0">
                <a:solidFill>
                  <a:srgbClr val="D0D5DA"/>
                </a:solidFill>
                <a:latin typeface="Arial MT"/>
                <a:cs typeface="Arial MT"/>
              </a:rPr>
              <a:t>at</a:t>
            </a:r>
            <a:r>
              <a:rPr sz="1300" spc="-3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300" b="1" spc="-70" dirty="0">
                <a:solidFill>
                  <a:srgbClr val="FFD600"/>
                </a:solidFill>
                <a:latin typeface="Roboto"/>
                <a:cs typeface="Roboto"/>
              </a:rPr>
              <a:t>~30</a:t>
            </a:r>
            <a:r>
              <a:rPr sz="1300" b="1" dirty="0">
                <a:solidFill>
                  <a:srgbClr val="FFD600"/>
                </a:solidFill>
                <a:latin typeface="Roboto"/>
                <a:cs typeface="Roboto"/>
              </a:rPr>
              <a:t> </a:t>
            </a:r>
            <a:r>
              <a:rPr sz="1300" b="1" spc="-70" dirty="0">
                <a:solidFill>
                  <a:srgbClr val="FFD600"/>
                </a:solidFill>
                <a:latin typeface="Roboto"/>
                <a:cs typeface="Roboto"/>
              </a:rPr>
              <a:t>FPS</a:t>
            </a:r>
            <a:r>
              <a:rPr sz="1300" b="1" dirty="0">
                <a:solidFill>
                  <a:srgbClr val="FFD600"/>
                </a:solidFill>
                <a:latin typeface="Roboto"/>
                <a:cs typeface="Roboto"/>
              </a:rPr>
              <a:t> </a:t>
            </a:r>
            <a:r>
              <a:rPr sz="1300" spc="-55" dirty="0">
                <a:solidFill>
                  <a:srgbClr val="D0D5DA"/>
                </a:solidFill>
                <a:latin typeface="Arial MT"/>
                <a:cs typeface="Arial MT"/>
              </a:rPr>
              <a:t>achieved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7505699" y="1447799"/>
            <a:ext cx="4086225" cy="1714500"/>
            <a:chOff x="7505699" y="1447799"/>
            <a:chExt cx="4086225" cy="1714500"/>
          </a:xfrm>
        </p:grpSpPr>
        <p:sp>
          <p:nvSpPr>
            <p:cNvPr id="22" name="object 22"/>
            <p:cNvSpPr/>
            <p:nvPr/>
          </p:nvSpPr>
          <p:spPr>
            <a:xfrm>
              <a:off x="7505699" y="1447799"/>
              <a:ext cx="4086225" cy="1714500"/>
            </a:xfrm>
            <a:custGeom>
              <a:avLst/>
              <a:gdLst/>
              <a:ahLst/>
              <a:cxnLst/>
              <a:rect l="l" t="t" r="r" b="b"/>
              <a:pathLst>
                <a:path w="4086225" h="1714500">
                  <a:moveTo>
                    <a:pt x="3971924" y="1714499"/>
                  </a:moveTo>
                  <a:lnTo>
                    <a:pt x="114299" y="1714499"/>
                  </a:lnTo>
                  <a:lnTo>
                    <a:pt x="103040" y="1713955"/>
                  </a:lnTo>
                  <a:lnTo>
                    <a:pt x="60363" y="1700987"/>
                  </a:lnTo>
                  <a:lnTo>
                    <a:pt x="25899" y="1672675"/>
                  </a:lnTo>
                  <a:lnTo>
                    <a:pt x="4893" y="1633329"/>
                  </a:lnTo>
                  <a:lnTo>
                    <a:pt x="0" y="1600199"/>
                  </a:lnTo>
                  <a:lnTo>
                    <a:pt x="0" y="114299"/>
                  </a:lnTo>
                  <a:lnTo>
                    <a:pt x="8699" y="70559"/>
                  </a:lnTo>
                  <a:lnTo>
                    <a:pt x="33477" y="33477"/>
                  </a:lnTo>
                  <a:lnTo>
                    <a:pt x="70558" y="8700"/>
                  </a:lnTo>
                  <a:lnTo>
                    <a:pt x="114299" y="0"/>
                  </a:lnTo>
                  <a:lnTo>
                    <a:pt x="3971924" y="0"/>
                  </a:lnTo>
                  <a:lnTo>
                    <a:pt x="4015663" y="8700"/>
                  </a:lnTo>
                  <a:lnTo>
                    <a:pt x="4052745" y="33477"/>
                  </a:lnTo>
                  <a:lnTo>
                    <a:pt x="4077522" y="70559"/>
                  </a:lnTo>
                  <a:lnTo>
                    <a:pt x="4086224" y="114299"/>
                  </a:lnTo>
                  <a:lnTo>
                    <a:pt x="4086224" y="1600199"/>
                  </a:lnTo>
                  <a:lnTo>
                    <a:pt x="4077522" y="1643940"/>
                  </a:lnTo>
                  <a:lnTo>
                    <a:pt x="4052745" y="1681022"/>
                  </a:lnTo>
                  <a:lnTo>
                    <a:pt x="4015663" y="1705799"/>
                  </a:lnTo>
                  <a:lnTo>
                    <a:pt x="3971924" y="1714499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505699" y="1447800"/>
              <a:ext cx="4086225" cy="1714500"/>
            </a:xfrm>
            <a:custGeom>
              <a:avLst/>
              <a:gdLst/>
              <a:ahLst/>
              <a:cxnLst/>
              <a:rect l="l" t="t" r="r" b="b"/>
              <a:pathLst>
                <a:path w="4086225" h="1714500">
                  <a:moveTo>
                    <a:pt x="3971924" y="1714499"/>
                  </a:moveTo>
                  <a:lnTo>
                    <a:pt x="114299" y="1714499"/>
                  </a:lnTo>
                  <a:lnTo>
                    <a:pt x="103040" y="1713955"/>
                  </a:lnTo>
                  <a:lnTo>
                    <a:pt x="60363" y="1700987"/>
                  </a:lnTo>
                  <a:lnTo>
                    <a:pt x="25899" y="1672675"/>
                  </a:lnTo>
                  <a:lnTo>
                    <a:pt x="4893" y="1633329"/>
                  </a:lnTo>
                  <a:lnTo>
                    <a:pt x="0" y="1600199"/>
                  </a:lnTo>
                  <a:lnTo>
                    <a:pt x="0" y="114299"/>
                  </a:lnTo>
                  <a:lnTo>
                    <a:pt x="8699" y="70559"/>
                  </a:lnTo>
                  <a:lnTo>
                    <a:pt x="33477" y="33477"/>
                  </a:lnTo>
                  <a:lnTo>
                    <a:pt x="70558" y="8700"/>
                  </a:lnTo>
                  <a:lnTo>
                    <a:pt x="114299" y="0"/>
                  </a:lnTo>
                  <a:lnTo>
                    <a:pt x="3971924" y="0"/>
                  </a:lnTo>
                  <a:lnTo>
                    <a:pt x="4015663" y="8700"/>
                  </a:lnTo>
                  <a:lnTo>
                    <a:pt x="4035111" y="19049"/>
                  </a:lnTo>
                  <a:lnTo>
                    <a:pt x="108045" y="19049"/>
                  </a:lnTo>
                  <a:lnTo>
                    <a:pt x="101851" y="19660"/>
                  </a:lnTo>
                  <a:lnTo>
                    <a:pt x="56181" y="38577"/>
                  </a:lnTo>
                  <a:lnTo>
                    <a:pt x="28693" y="72071"/>
                  </a:lnTo>
                  <a:lnTo>
                    <a:pt x="19049" y="108045"/>
                  </a:lnTo>
                  <a:lnTo>
                    <a:pt x="19049" y="1606454"/>
                  </a:lnTo>
                  <a:lnTo>
                    <a:pt x="19542" y="1611459"/>
                  </a:lnTo>
                  <a:lnTo>
                    <a:pt x="19659" y="1612648"/>
                  </a:lnTo>
                  <a:lnTo>
                    <a:pt x="38577" y="1658318"/>
                  </a:lnTo>
                  <a:lnTo>
                    <a:pt x="72071" y="1685806"/>
                  </a:lnTo>
                  <a:lnTo>
                    <a:pt x="108045" y="1695449"/>
                  </a:lnTo>
                  <a:lnTo>
                    <a:pt x="4035111" y="1695449"/>
                  </a:lnTo>
                  <a:lnTo>
                    <a:pt x="4025858" y="1700987"/>
                  </a:lnTo>
                  <a:lnTo>
                    <a:pt x="4015663" y="1705799"/>
                  </a:lnTo>
                  <a:lnTo>
                    <a:pt x="4005053" y="1709605"/>
                  </a:lnTo>
                  <a:lnTo>
                    <a:pt x="3994226" y="1712324"/>
                  </a:lnTo>
                  <a:lnTo>
                    <a:pt x="3983183" y="1713955"/>
                  </a:lnTo>
                  <a:lnTo>
                    <a:pt x="3971924" y="1714499"/>
                  </a:lnTo>
                  <a:close/>
                </a:path>
                <a:path w="4086225" h="1714500">
                  <a:moveTo>
                    <a:pt x="4035111" y="1695449"/>
                  </a:moveTo>
                  <a:lnTo>
                    <a:pt x="3978178" y="1695449"/>
                  </a:lnTo>
                  <a:lnTo>
                    <a:pt x="3984373" y="1694839"/>
                  </a:lnTo>
                  <a:lnTo>
                    <a:pt x="3996640" y="1692399"/>
                  </a:lnTo>
                  <a:lnTo>
                    <a:pt x="4034853" y="1671973"/>
                  </a:lnTo>
                  <a:lnTo>
                    <a:pt x="4062317" y="1630872"/>
                  </a:lnTo>
                  <a:lnTo>
                    <a:pt x="4067174" y="1606454"/>
                  </a:lnTo>
                  <a:lnTo>
                    <a:pt x="4067174" y="108045"/>
                  </a:lnTo>
                  <a:lnTo>
                    <a:pt x="4054596" y="66582"/>
                  </a:lnTo>
                  <a:lnTo>
                    <a:pt x="4019642" y="31627"/>
                  </a:lnTo>
                  <a:lnTo>
                    <a:pt x="3978178" y="19049"/>
                  </a:lnTo>
                  <a:lnTo>
                    <a:pt x="4035111" y="19049"/>
                  </a:lnTo>
                  <a:lnTo>
                    <a:pt x="4066978" y="50786"/>
                  </a:lnTo>
                  <a:lnTo>
                    <a:pt x="4084048" y="91996"/>
                  </a:lnTo>
                  <a:lnTo>
                    <a:pt x="4086224" y="1600199"/>
                  </a:lnTo>
                  <a:lnTo>
                    <a:pt x="4085680" y="1611459"/>
                  </a:lnTo>
                  <a:lnTo>
                    <a:pt x="4072711" y="1654134"/>
                  </a:lnTo>
                  <a:lnTo>
                    <a:pt x="4044399" y="1688599"/>
                  </a:lnTo>
                  <a:lnTo>
                    <a:pt x="4035437" y="1695254"/>
                  </a:lnTo>
                  <a:lnTo>
                    <a:pt x="4035111" y="1695449"/>
                  </a:lnTo>
                  <a:close/>
                </a:path>
              </a:pathLst>
            </a:custGeom>
            <a:solidFill>
              <a:srgbClr val="FFD600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45610" y="1695449"/>
              <a:ext cx="190500" cy="19050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42435" y="2098674"/>
              <a:ext cx="142875" cy="111125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42435" y="2441574"/>
              <a:ext cx="142875" cy="111125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42435" y="2784474"/>
              <a:ext cx="142875" cy="111125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8009135" y="1632671"/>
            <a:ext cx="2423160" cy="130048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1115">
              <a:lnSpc>
                <a:spcPct val="100000"/>
              </a:lnSpc>
              <a:spcBef>
                <a:spcPts val="120"/>
              </a:spcBef>
            </a:pPr>
            <a:r>
              <a:rPr sz="1650" b="1" spc="-85" dirty="0">
                <a:solidFill>
                  <a:srgbClr val="FFFFFF"/>
                </a:solidFill>
                <a:latin typeface="Roboto"/>
                <a:cs typeface="Roboto"/>
              </a:rPr>
              <a:t>Comprehensive</a:t>
            </a:r>
            <a:r>
              <a:rPr sz="1650" b="1" spc="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650" b="1" spc="-10" dirty="0">
                <a:solidFill>
                  <a:srgbClr val="FFFFFF"/>
                </a:solidFill>
                <a:latin typeface="Roboto"/>
                <a:cs typeface="Roboto"/>
              </a:rPr>
              <a:t>Evaluation</a:t>
            </a:r>
            <a:endParaRPr sz="1650">
              <a:latin typeface="Roboto"/>
              <a:cs typeface="Roboto"/>
            </a:endParaRPr>
          </a:p>
          <a:p>
            <a:pPr marL="12700" marR="5080">
              <a:lnSpc>
                <a:spcPts val="2700"/>
              </a:lnSpc>
              <a:spcBef>
                <a:spcPts val="35"/>
              </a:spcBef>
            </a:pPr>
            <a:r>
              <a:rPr sz="1300" spc="-65" dirty="0">
                <a:solidFill>
                  <a:srgbClr val="D0D5DA"/>
                </a:solidFill>
                <a:latin typeface="Arial MT"/>
                <a:cs typeface="Arial MT"/>
              </a:rPr>
              <a:t>Benchmarked</a:t>
            </a:r>
            <a:r>
              <a:rPr sz="1300" spc="-4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300" spc="-60" dirty="0">
                <a:solidFill>
                  <a:srgbClr val="D0D5DA"/>
                </a:solidFill>
                <a:latin typeface="Arial MT"/>
                <a:cs typeface="Arial MT"/>
              </a:rPr>
              <a:t>3</a:t>
            </a:r>
            <a:r>
              <a:rPr sz="1300" spc="-3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300" spc="-175" dirty="0">
                <a:solidFill>
                  <a:srgbClr val="D0D5DA"/>
                </a:solidFill>
                <a:latin typeface="Arial MT"/>
                <a:cs typeface="Arial MT"/>
              </a:rPr>
              <a:t>YOLO</a:t>
            </a:r>
            <a:r>
              <a:rPr sz="1300" spc="-4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300" spc="-45" dirty="0">
                <a:solidFill>
                  <a:srgbClr val="D0D5DA"/>
                </a:solidFill>
                <a:latin typeface="Arial MT"/>
                <a:cs typeface="Arial MT"/>
              </a:rPr>
              <a:t>architectures </a:t>
            </a:r>
            <a:r>
              <a:rPr sz="1300" spc="-60" dirty="0">
                <a:solidFill>
                  <a:srgbClr val="D0D5DA"/>
                </a:solidFill>
                <a:latin typeface="Arial MT"/>
                <a:cs typeface="Arial MT"/>
              </a:rPr>
              <a:t>Produced</a:t>
            </a:r>
            <a:r>
              <a:rPr sz="1300" spc="-4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300" spc="-35" dirty="0">
                <a:solidFill>
                  <a:srgbClr val="D0D5DA"/>
                </a:solidFill>
                <a:latin typeface="Arial MT"/>
                <a:cs typeface="Arial MT"/>
              </a:rPr>
              <a:t>training</a:t>
            </a:r>
            <a:r>
              <a:rPr sz="1300" spc="-4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D0D5DA"/>
                </a:solidFill>
                <a:latin typeface="Arial MT"/>
                <a:cs typeface="Arial MT"/>
              </a:rPr>
              <a:t>artifacts </a:t>
            </a:r>
            <a:r>
              <a:rPr sz="1300" spc="-80" dirty="0">
                <a:solidFill>
                  <a:srgbClr val="D0D5DA"/>
                </a:solidFill>
                <a:latin typeface="Arial MT"/>
                <a:cs typeface="Arial MT"/>
              </a:rPr>
              <a:t>Generated</a:t>
            </a:r>
            <a:r>
              <a:rPr sz="1300" spc="-1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300" spc="-50" dirty="0">
                <a:solidFill>
                  <a:srgbClr val="D0D5DA"/>
                </a:solidFill>
                <a:latin typeface="Arial MT"/>
                <a:cs typeface="Arial MT"/>
              </a:rPr>
              <a:t>evaluation</a:t>
            </a:r>
            <a:r>
              <a:rPr sz="1300" spc="-10" dirty="0">
                <a:solidFill>
                  <a:srgbClr val="D0D5DA"/>
                </a:solidFill>
                <a:latin typeface="Arial MT"/>
                <a:cs typeface="Arial MT"/>
              </a:rPr>
              <a:t> metrics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7505699" y="3352799"/>
            <a:ext cx="4086225" cy="1714500"/>
            <a:chOff x="7505699" y="3352799"/>
            <a:chExt cx="4086225" cy="1714500"/>
          </a:xfrm>
        </p:grpSpPr>
        <p:sp>
          <p:nvSpPr>
            <p:cNvPr id="30" name="object 30"/>
            <p:cNvSpPr/>
            <p:nvPr/>
          </p:nvSpPr>
          <p:spPr>
            <a:xfrm>
              <a:off x="7505699" y="3352799"/>
              <a:ext cx="4086225" cy="1714500"/>
            </a:xfrm>
            <a:custGeom>
              <a:avLst/>
              <a:gdLst/>
              <a:ahLst/>
              <a:cxnLst/>
              <a:rect l="l" t="t" r="r" b="b"/>
              <a:pathLst>
                <a:path w="4086225" h="1714500">
                  <a:moveTo>
                    <a:pt x="3971924" y="1714499"/>
                  </a:moveTo>
                  <a:lnTo>
                    <a:pt x="114299" y="1714499"/>
                  </a:lnTo>
                  <a:lnTo>
                    <a:pt x="103040" y="1713955"/>
                  </a:lnTo>
                  <a:lnTo>
                    <a:pt x="60363" y="1700987"/>
                  </a:lnTo>
                  <a:lnTo>
                    <a:pt x="25899" y="1672675"/>
                  </a:lnTo>
                  <a:lnTo>
                    <a:pt x="4893" y="1633329"/>
                  </a:lnTo>
                  <a:lnTo>
                    <a:pt x="0" y="1600199"/>
                  </a:lnTo>
                  <a:lnTo>
                    <a:pt x="0" y="114299"/>
                  </a:lnTo>
                  <a:lnTo>
                    <a:pt x="8699" y="70558"/>
                  </a:lnTo>
                  <a:lnTo>
                    <a:pt x="33477" y="33477"/>
                  </a:lnTo>
                  <a:lnTo>
                    <a:pt x="70558" y="8700"/>
                  </a:lnTo>
                  <a:lnTo>
                    <a:pt x="114299" y="0"/>
                  </a:lnTo>
                  <a:lnTo>
                    <a:pt x="3971924" y="0"/>
                  </a:lnTo>
                  <a:lnTo>
                    <a:pt x="4015663" y="8700"/>
                  </a:lnTo>
                  <a:lnTo>
                    <a:pt x="4052745" y="33477"/>
                  </a:lnTo>
                  <a:lnTo>
                    <a:pt x="4077522" y="70558"/>
                  </a:lnTo>
                  <a:lnTo>
                    <a:pt x="4086224" y="114299"/>
                  </a:lnTo>
                  <a:lnTo>
                    <a:pt x="4086224" y="1600199"/>
                  </a:lnTo>
                  <a:lnTo>
                    <a:pt x="4077522" y="1643940"/>
                  </a:lnTo>
                  <a:lnTo>
                    <a:pt x="4052745" y="1681021"/>
                  </a:lnTo>
                  <a:lnTo>
                    <a:pt x="4015663" y="1705799"/>
                  </a:lnTo>
                  <a:lnTo>
                    <a:pt x="3971924" y="1714499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505699" y="3352799"/>
              <a:ext cx="4086225" cy="1714500"/>
            </a:xfrm>
            <a:custGeom>
              <a:avLst/>
              <a:gdLst/>
              <a:ahLst/>
              <a:cxnLst/>
              <a:rect l="l" t="t" r="r" b="b"/>
              <a:pathLst>
                <a:path w="4086225" h="1714500">
                  <a:moveTo>
                    <a:pt x="3971924" y="1714499"/>
                  </a:moveTo>
                  <a:lnTo>
                    <a:pt x="114299" y="1714499"/>
                  </a:lnTo>
                  <a:lnTo>
                    <a:pt x="103040" y="1713955"/>
                  </a:lnTo>
                  <a:lnTo>
                    <a:pt x="60363" y="1700987"/>
                  </a:lnTo>
                  <a:lnTo>
                    <a:pt x="25899" y="1672675"/>
                  </a:lnTo>
                  <a:lnTo>
                    <a:pt x="4893" y="1633329"/>
                  </a:lnTo>
                  <a:lnTo>
                    <a:pt x="0" y="1600199"/>
                  </a:lnTo>
                  <a:lnTo>
                    <a:pt x="0" y="114299"/>
                  </a:lnTo>
                  <a:lnTo>
                    <a:pt x="8699" y="70558"/>
                  </a:lnTo>
                  <a:lnTo>
                    <a:pt x="33477" y="33477"/>
                  </a:lnTo>
                  <a:lnTo>
                    <a:pt x="70558" y="8700"/>
                  </a:lnTo>
                  <a:lnTo>
                    <a:pt x="114299" y="0"/>
                  </a:lnTo>
                  <a:lnTo>
                    <a:pt x="3971924" y="0"/>
                  </a:lnTo>
                  <a:lnTo>
                    <a:pt x="3983183" y="543"/>
                  </a:lnTo>
                  <a:lnTo>
                    <a:pt x="4025858" y="13511"/>
                  </a:lnTo>
                  <a:lnTo>
                    <a:pt x="4035111" y="19049"/>
                  </a:lnTo>
                  <a:lnTo>
                    <a:pt x="108045" y="19049"/>
                  </a:lnTo>
                  <a:lnTo>
                    <a:pt x="101851" y="19660"/>
                  </a:lnTo>
                  <a:lnTo>
                    <a:pt x="56181" y="38577"/>
                  </a:lnTo>
                  <a:lnTo>
                    <a:pt x="28693" y="72071"/>
                  </a:lnTo>
                  <a:lnTo>
                    <a:pt x="19049" y="108045"/>
                  </a:lnTo>
                  <a:lnTo>
                    <a:pt x="19049" y="1606454"/>
                  </a:lnTo>
                  <a:lnTo>
                    <a:pt x="19542" y="1611459"/>
                  </a:lnTo>
                  <a:lnTo>
                    <a:pt x="19659" y="1612648"/>
                  </a:lnTo>
                  <a:lnTo>
                    <a:pt x="38577" y="1658318"/>
                  </a:lnTo>
                  <a:lnTo>
                    <a:pt x="72071" y="1685806"/>
                  </a:lnTo>
                  <a:lnTo>
                    <a:pt x="108045" y="1695449"/>
                  </a:lnTo>
                  <a:lnTo>
                    <a:pt x="4035110" y="1695449"/>
                  </a:lnTo>
                  <a:lnTo>
                    <a:pt x="4025858" y="1700987"/>
                  </a:lnTo>
                  <a:lnTo>
                    <a:pt x="4015663" y="1705799"/>
                  </a:lnTo>
                  <a:lnTo>
                    <a:pt x="4005053" y="1709605"/>
                  </a:lnTo>
                  <a:lnTo>
                    <a:pt x="3994226" y="1712324"/>
                  </a:lnTo>
                  <a:lnTo>
                    <a:pt x="3983183" y="1713955"/>
                  </a:lnTo>
                  <a:lnTo>
                    <a:pt x="3971924" y="1714499"/>
                  </a:lnTo>
                  <a:close/>
                </a:path>
                <a:path w="4086225" h="1714500">
                  <a:moveTo>
                    <a:pt x="4035110" y="1695449"/>
                  </a:moveTo>
                  <a:lnTo>
                    <a:pt x="3978178" y="1695449"/>
                  </a:lnTo>
                  <a:lnTo>
                    <a:pt x="3984373" y="1694839"/>
                  </a:lnTo>
                  <a:lnTo>
                    <a:pt x="3996640" y="1692399"/>
                  </a:lnTo>
                  <a:lnTo>
                    <a:pt x="4034853" y="1671973"/>
                  </a:lnTo>
                  <a:lnTo>
                    <a:pt x="4062317" y="1630872"/>
                  </a:lnTo>
                  <a:lnTo>
                    <a:pt x="4067174" y="1606454"/>
                  </a:lnTo>
                  <a:lnTo>
                    <a:pt x="4067174" y="108045"/>
                  </a:lnTo>
                  <a:lnTo>
                    <a:pt x="4066681" y="103040"/>
                  </a:lnTo>
                  <a:lnTo>
                    <a:pt x="4066564" y="101851"/>
                  </a:lnTo>
                  <a:lnTo>
                    <a:pt x="4047647" y="56181"/>
                  </a:lnTo>
                  <a:lnTo>
                    <a:pt x="4014153" y="28693"/>
                  </a:lnTo>
                  <a:lnTo>
                    <a:pt x="3978178" y="19049"/>
                  </a:lnTo>
                  <a:lnTo>
                    <a:pt x="4035111" y="19049"/>
                  </a:lnTo>
                  <a:lnTo>
                    <a:pt x="4066978" y="50785"/>
                  </a:lnTo>
                  <a:lnTo>
                    <a:pt x="4084048" y="91996"/>
                  </a:lnTo>
                  <a:lnTo>
                    <a:pt x="4086224" y="1600199"/>
                  </a:lnTo>
                  <a:lnTo>
                    <a:pt x="4085680" y="1611459"/>
                  </a:lnTo>
                  <a:lnTo>
                    <a:pt x="4072711" y="1654134"/>
                  </a:lnTo>
                  <a:lnTo>
                    <a:pt x="4044399" y="1688598"/>
                  </a:lnTo>
                  <a:lnTo>
                    <a:pt x="4035437" y="1695254"/>
                  </a:lnTo>
                  <a:lnTo>
                    <a:pt x="4035110" y="1695449"/>
                  </a:lnTo>
                  <a:close/>
                </a:path>
              </a:pathLst>
            </a:custGeom>
            <a:solidFill>
              <a:srgbClr val="FA913C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736085" y="3609974"/>
              <a:ext cx="209550" cy="17145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717035" y="3990974"/>
              <a:ext cx="190500" cy="13335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732910" y="4321174"/>
              <a:ext cx="158750" cy="14605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739260" y="4670424"/>
              <a:ext cx="146050" cy="146050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8009135" y="3537671"/>
            <a:ext cx="2019935" cy="130048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1115">
              <a:lnSpc>
                <a:spcPct val="100000"/>
              </a:lnSpc>
              <a:spcBef>
                <a:spcPts val="120"/>
              </a:spcBef>
            </a:pPr>
            <a:r>
              <a:rPr sz="1650" b="1" spc="-85" dirty="0">
                <a:solidFill>
                  <a:srgbClr val="FFFFFF"/>
                </a:solidFill>
                <a:latin typeface="Roboto"/>
                <a:cs typeface="Roboto"/>
              </a:rPr>
              <a:t>Browser</a:t>
            </a:r>
            <a:r>
              <a:rPr sz="1650" b="1" spc="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650" b="1" spc="-10" dirty="0">
                <a:solidFill>
                  <a:srgbClr val="FFFFFF"/>
                </a:solidFill>
                <a:latin typeface="Roboto"/>
                <a:cs typeface="Roboto"/>
              </a:rPr>
              <a:t>Deployment</a:t>
            </a:r>
            <a:endParaRPr sz="1650">
              <a:latin typeface="Roboto"/>
              <a:cs typeface="Roboto"/>
            </a:endParaRPr>
          </a:p>
          <a:p>
            <a:pPr marL="12700" marR="5080">
              <a:lnSpc>
                <a:spcPts val="2700"/>
              </a:lnSpc>
              <a:spcBef>
                <a:spcPts val="35"/>
              </a:spcBef>
            </a:pPr>
            <a:r>
              <a:rPr sz="1300" spc="-45" dirty="0">
                <a:solidFill>
                  <a:srgbClr val="D0D5DA"/>
                </a:solidFill>
                <a:latin typeface="Arial MT"/>
                <a:cs typeface="Arial MT"/>
              </a:rPr>
              <a:t>Accessible</a:t>
            </a:r>
            <a:r>
              <a:rPr sz="1300" spc="-4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300" spc="-55" dirty="0">
                <a:solidFill>
                  <a:srgbClr val="D0D5DA"/>
                </a:solidFill>
                <a:latin typeface="Arial MT"/>
                <a:cs typeface="Arial MT"/>
              </a:rPr>
              <a:t>via</a:t>
            </a:r>
            <a:r>
              <a:rPr sz="1300" spc="-4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300" spc="-65" dirty="0">
                <a:solidFill>
                  <a:srgbClr val="D0D5DA"/>
                </a:solidFill>
                <a:latin typeface="Arial MT"/>
                <a:cs typeface="Arial MT"/>
              </a:rPr>
              <a:t>web</a:t>
            </a:r>
            <a:r>
              <a:rPr sz="1300" spc="-3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D0D5DA"/>
                </a:solidFill>
                <a:latin typeface="Arial MT"/>
                <a:cs typeface="Arial MT"/>
              </a:rPr>
              <a:t>browser </a:t>
            </a:r>
            <a:r>
              <a:rPr sz="1300" spc="-100" dirty="0">
                <a:solidFill>
                  <a:srgbClr val="D0D5DA"/>
                </a:solidFill>
                <a:latin typeface="Arial MT"/>
                <a:cs typeface="Arial MT"/>
              </a:rPr>
              <a:t>Real-</a:t>
            </a:r>
            <a:r>
              <a:rPr sz="1300" spc="-25" dirty="0">
                <a:solidFill>
                  <a:srgbClr val="D0D5DA"/>
                </a:solidFill>
                <a:latin typeface="Arial MT"/>
                <a:cs typeface="Arial MT"/>
              </a:rPr>
              <a:t>time</a:t>
            </a:r>
            <a:r>
              <a:rPr sz="1300" spc="-3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300" spc="-55" dirty="0">
                <a:solidFill>
                  <a:srgbClr val="D0D5DA"/>
                </a:solidFill>
                <a:latin typeface="Arial MT"/>
                <a:cs typeface="Arial MT"/>
              </a:rPr>
              <a:t>webcam</a:t>
            </a:r>
            <a:r>
              <a:rPr sz="1300" spc="-2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D0D5DA"/>
                </a:solidFill>
                <a:latin typeface="Arial MT"/>
                <a:cs typeface="Arial MT"/>
              </a:rPr>
              <a:t>detection </a:t>
            </a:r>
            <a:r>
              <a:rPr sz="1300" spc="-40" dirty="0">
                <a:solidFill>
                  <a:srgbClr val="D0D5DA"/>
                </a:solidFill>
                <a:latin typeface="Arial MT"/>
                <a:cs typeface="Arial MT"/>
              </a:rPr>
              <a:t>Analytics</a:t>
            </a:r>
            <a:r>
              <a:rPr sz="1300" spc="-3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300" spc="-55" dirty="0">
                <a:solidFill>
                  <a:srgbClr val="D0D5DA"/>
                </a:solidFill>
                <a:latin typeface="Arial MT"/>
                <a:cs typeface="Arial MT"/>
              </a:rPr>
              <a:t>dashboard</a:t>
            </a:r>
            <a:r>
              <a:rPr sz="1300" spc="-2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300" spc="-55" dirty="0">
                <a:solidFill>
                  <a:srgbClr val="D0D5DA"/>
                </a:solidFill>
                <a:latin typeface="Arial MT"/>
                <a:cs typeface="Arial MT"/>
              </a:rPr>
              <a:t>included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7505699" y="5257799"/>
            <a:ext cx="4086225" cy="552450"/>
            <a:chOff x="7505699" y="5257799"/>
            <a:chExt cx="4086225" cy="552450"/>
          </a:xfrm>
        </p:grpSpPr>
        <p:sp>
          <p:nvSpPr>
            <p:cNvPr id="38" name="object 38"/>
            <p:cNvSpPr/>
            <p:nvPr/>
          </p:nvSpPr>
          <p:spPr>
            <a:xfrm>
              <a:off x="7505699" y="5257799"/>
              <a:ext cx="4086225" cy="552450"/>
            </a:xfrm>
            <a:custGeom>
              <a:avLst/>
              <a:gdLst/>
              <a:ahLst/>
              <a:cxnLst/>
              <a:rect l="l" t="t" r="r" b="b"/>
              <a:pathLst>
                <a:path w="4086225" h="552450">
                  <a:moveTo>
                    <a:pt x="3971924" y="552449"/>
                  </a:moveTo>
                  <a:lnTo>
                    <a:pt x="114299" y="552449"/>
                  </a:lnTo>
                  <a:lnTo>
                    <a:pt x="103040" y="551905"/>
                  </a:lnTo>
                  <a:lnTo>
                    <a:pt x="60363" y="538937"/>
                  </a:lnTo>
                  <a:lnTo>
                    <a:pt x="25899" y="510625"/>
                  </a:lnTo>
                  <a:lnTo>
                    <a:pt x="4893" y="471279"/>
                  </a:lnTo>
                  <a:lnTo>
                    <a:pt x="0" y="438149"/>
                  </a:lnTo>
                  <a:lnTo>
                    <a:pt x="0" y="114299"/>
                  </a:lnTo>
                  <a:lnTo>
                    <a:pt x="8699" y="70558"/>
                  </a:lnTo>
                  <a:lnTo>
                    <a:pt x="33477" y="33477"/>
                  </a:lnTo>
                  <a:lnTo>
                    <a:pt x="70558" y="8700"/>
                  </a:lnTo>
                  <a:lnTo>
                    <a:pt x="114299" y="0"/>
                  </a:lnTo>
                  <a:lnTo>
                    <a:pt x="3971924" y="0"/>
                  </a:lnTo>
                  <a:lnTo>
                    <a:pt x="4015663" y="8700"/>
                  </a:lnTo>
                  <a:lnTo>
                    <a:pt x="4052745" y="33477"/>
                  </a:lnTo>
                  <a:lnTo>
                    <a:pt x="4077522" y="70558"/>
                  </a:lnTo>
                  <a:lnTo>
                    <a:pt x="4086224" y="114299"/>
                  </a:lnTo>
                  <a:lnTo>
                    <a:pt x="4086224" y="438149"/>
                  </a:lnTo>
                  <a:lnTo>
                    <a:pt x="4077522" y="481890"/>
                  </a:lnTo>
                  <a:lnTo>
                    <a:pt x="4052745" y="518972"/>
                  </a:lnTo>
                  <a:lnTo>
                    <a:pt x="4015663" y="543748"/>
                  </a:lnTo>
                  <a:lnTo>
                    <a:pt x="3971924" y="552449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505699" y="5257799"/>
              <a:ext cx="4086225" cy="552450"/>
            </a:xfrm>
            <a:custGeom>
              <a:avLst/>
              <a:gdLst/>
              <a:ahLst/>
              <a:cxnLst/>
              <a:rect l="l" t="t" r="r" b="b"/>
              <a:pathLst>
                <a:path w="4086225" h="552450">
                  <a:moveTo>
                    <a:pt x="3971924" y="552449"/>
                  </a:moveTo>
                  <a:lnTo>
                    <a:pt x="114299" y="552449"/>
                  </a:lnTo>
                  <a:lnTo>
                    <a:pt x="103040" y="551905"/>
                  </a:lnTo>
                  <a:lnTo>
                    <a:pt x="60363" y="538937"/>
                  </a:lnTo>
                  <a:lnTo>
                    <a:pt x="25899" y="510625"/>
                  </a:lnTo>
                  <a:lnTo>
                    <a:pt x="4893" y="471279"/>
                  </a:lnTo>
                  <a:lnTo>
                    <a:pt x="0" y="438149"/>
                  </a:lnTo>
                  <a:lnTo>
                    <a:pt x="0" y="114299"/>
                  </a:lnTo>
                  <a:lnTo>
                    <a:pt x="8699" y="70558"/>
                  </a:lnTo>
                  <a:lnTo>
                    <a:pt x="33477" y="33477"/>
                  </a:lnTo>
                  <a:lnTo>
                    <a:pt x="70558" y="8700"/>
                  </a:lnTo>
                  <a:lnTo>
                    <a:pt x="114299" y="0"/>
                  </a:lnTo>
                  <a:lnTo>
                    <a:pt x="3971924" y="0"/>
                  </a:lnTo>
                  <a:lnTo>
                    <a:pt x="4015663" y="8700"/>
                  </a:lnTo>
                  <a:lnTo>
                    <a:pt x="4017410" y="9524"/>
                  </a:lnTo>
                  <a:lnTo>
                    <a:pt x="107420" y="9524"/>
                  </a:lnTo>
                  <a:lnTo>
                    <a:pt x="100606" y="10195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445029"/>
                  </a:lnTo>
                  <a:lnTo>
                    <a:pt x="20133" y="484601"/>
                  </a:lnTo>
                  <a:lnTo>
                    <a:pt x="45077" y="517101"/>
                  </a:lnTo>
                  <a:lnTo>
                    <a:pt x="80560" y="537582"/>
                  </a:lnTo>
                  <a:lnTo>
                    <a:pt x="107420" y="542924"/>
                  </a:lnTo>
                  <a:lnTo>
                    <a:pt x="4017409" y="542924"/>
                  </a:lnTo>
                  <a:lnTo>
                    <a:pt x="4015663" y="543748"/>
                  </a:lnTo>
                  <a:lnTo>
                    <a:pt x="4005053" y="547555"/>
                  </a:lnTo>
                  <a:lnTo>
                    <a:pt x="3994226" y="550274"/>
                  </a:lnTo>
                  <a:lnTo>
                    <a:pt x="3983183" y="551905"/>
                  </a:lnTo>
                  <a:lnTo>
                    <a:pt x="3971924" y="552449"/>
                  </a:lnTo>
                  <a:close/>
                </a:path>
                <a:path w="4086225" h="552450">
                  <a:moveTo>
                    <a:pt x="4017409" y="542924"/>
                  </a:moveTo>
                  <a:lnTo>
                    <a:pt x="3978803" y="542924"/>
                  </a:lnTo>
                  <a:lnTo>
                    <a:pt x="3985617" y="542253"/>
                  </a:lnTo>
                  <a:lnTo>
                    <a:pt x="3999111" y="539569"/>
                  </a:lnTo>
                  <a:lnTo>
                    <a:pt x="4035854" y="521444"/>
                  </a:lnTo>
                  <a:lnTo>
                    <a:pt x="4062863" y="490639"/>
                  </a:lnTo>
                  <a:lnTo>
                    <a:pt x="4076028" y="451843"/>
                  </a:lnTo>
                  <a:lnTo>
                    <a:pt x="4076699" y="445029"/>
                  </a:lnTo>
                  <a:lnTo>
                    <a:pt x="4076699" y="107420"/>
                  </a:lnTo>
                  <a:lnTo>
                    <a:pt x="4066090" y="67848"/>
                  </a:lnTo>
                  <a:lnTo>
                    <a:pt x="4041146" y="35348"/>
                  </a:lnTo>
                  <a:lnTo>
                    <a:pt x="4005663" y="14867"/>
                  </a:lnTo>
                  <a:lnTo>
                    <a:pt x="3978803" y="9524"/>
                  </a:lnTo>
                  <a:lnTo>
                    <a:pt x="4017410" y="9524"/>
                  </a:lnTo>
                  <a:lnTo>
                    <a:pt x="4052745" y="33477"/>
                  </a:lnTo>
                  <a:lnTo>
                    <a:pt x="4077522" y="70558"/>
                  </a:lnTo>
                  <a:lnTo>
                    <a:pt x="4086224" y="114299"/>
                  </a:lnTo>
                  <a:lnTo>
                    <a:pt x="4086224" y="438149"/>
                  </a:lnTo>
                  <a:lnTo>
                    <a:pt x="4085680" y="449409"/>
                  </a:lnTo>
                  <a:lnTo>
                    <a:pt x="4072711" y="492084"/>
                  </a:lnTo>
                  <a:lnTo>
                    <a:pt x="4044399" y="526549"/>
                  </a:lnTo>
                  <a:lnTo>
                    <a:pt x="4025858" y="538937"/>
                  </a:lnTo>
                  <a:lnTo>
                    <a:pt x="4017409" y="542924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688460" y="5448299"/>
              <a:ext cx="190500" cy="165100"/>
            </a:xfrm>
            <a:prstGeom prst="rect">
              <a:avLst/>
            </a:prstGeom>
          </p:spPr>
        </p:pic>
      </p:grpSp>
      <p:sp>
        <p:nvSpPr>
          <p:cNvPr id="41" name="object 41"/>
          <p:cNvSpPr txBox="1"/>
          <p:nvPr/>
        </p:nvSpPr>
        <p:spPr>
          <a:xfrm>
            <a:off x="7999610" y="5399404"/>
            <a:ext cx="2997835" cy="2292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00" b="1" spc="-55" dirty="0">
                <a:solidFill>
                  <a:srgbClr val="FFFFFF"/>
                </a:solidFill>
                <a:latin typeface="Roboto"/>
                <a:cs typeface="Roboto"/>
              </a:rPr>
              <a:t>Strong</a:t>
            </a:r>
            <a:r>
              <a:rPr sz="1300" b="1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300" b="1" spc="-55" dirty="0">
                <a:solidFill>
                  <a:srgbClr val="FFFFFF"/>
                </a:solidFill>
                <a:latin typeface="Roboto"/>
                <a:cs typeface="Roboto"/>
              </a:rPr>
              <a:t>foundation</a:t>
            </a:r>
            <a:r>
              <a:rPr sz="1300" b="1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300" b="1" spc="-25" dirty="0">
                <a:solidFill>
                  <a:srgbClr val="FFFFFF"/>
                </a:solidFill>
                <a:latin typeface="Roboto"/>
                <a:cs typeface="Roboto"/>
              </a:rPr>
              <a:t>for</a:t>
            </a:r>
            <a:r>
              <a:rPr sz="1300" b="1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300" b="1" spc="-45" dirty="0">
                <a:solidFill>
                  <a:srgbClr val="FFFFFF"/>
                </a:solidFill>
                <a:latin typeface="Roboto"/>
                <a:cs typeface="Roboto"/>
              </a:rPr>
              <a:t>future</a:t>
            </a:r>
            <a:r>
              <a:rPr sz="1300" b="1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300" b="1" spc="-55" dirty="0">
                <a:solidFill>
                  <a:srgbClr val="FFFFFF"/>
                </a:solidFill>
                <a:latin typeface="Roboto"/>
                <a:cs typeface="Roboto"/>
              </a:rPr>
              <a:t>enhancements</a:t>
            </a:r>
            <a:endParaRPr sz="13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516" y="635"/>
            <a:ext cx="12187668" cy="6870065"/>
          </a:xfrm>
          <a:custGeom>
            <a:avLst/>
            <a:gdLst/>
            <a:ahLst/>
            <a:cxnLst/>
            <a:rect l="l" t="t" r="r" b="b"/>
            <a:pathLst>
              <a:path w="10901045" h="6870065">
                <a:moveTo>
                  <a:pt x="10900739" y="6869781"/>
                </a:moveTo>
                <a:lnTo>
                  <a:pt x="0" y="6869781"/>
                </a:lnTo>
                <a:lnTo>
                  <a:pt x="0" y="0"/>
                </a:lnTo>
                <a:lnTo>
                  <a:pt x="10900739" y="0"/>
                </a:lnTo>
                <a:lnTo>
                  <a:pt x="10900739" y="6869781"/>
                </a:lnTo>
                <a:close/>
              </a:path>
            </a:pathLst>
          </a:custGeom>
          <a:solidFill>
            <a:srgbClr val="09325D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8516" y="706844"/>
            <a:ext cx="10901045" cy="17145"/>
          </a:xfrm>
          <a:custGeom>
            <a:avLst/>
            <a:gdLst/>
            <a:ahLst/>
            <a:cxnLst/>
            <a:rect l="l" t="t" r="r" b="b"/>
            <a:pathLst>
              <a:path w="10901045" h="17145">
                <a:moveTo>
                  <a:pt x="10900739" y="17032"/>
                </a:moveTo>
                <a:lnTo>
                  <a:pt x="0" y="17032"/>
                </a:lnTo>
                <a:lnTo>
                  <a:pt x="0" y="0"/>
                </a:lnTo>
                <a:lnTo>
                  <a:pt x="10900739" y="0"/>
                </a:lnTo>
                <a:lnTo>
                  <a:pt x="10900739" y="17032"/>
                </a:lnTo>
                <a:close/>
              </a:path>
            </a:pathLst>
          </a:custGeom>
          <a:solidFill>
            <a:srgbClr val="FFD600">
              <a:alpha val="3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40853" y="88370"/>
            <a:ext cx="4598035" cy="47688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950" spc="-75" dirty="0">
                <a:latin typeface="Tahoma"/>
                <a:cs typeface="Tahoma"/>
              </a:rPr>
              <a:t>Future</a:t>
            </a:r>
            <a:r>
              <a:rPr sz="2950" spc="-120" dirty="0">
                <a:latin typeface="Tahoma"/>
                <a:cs typeface="Tahoma"/>
              </a:rPr>
              <a:t> </a:t>
            </a:r>
            <a:r>
              <a:rPr sz="2950" spc="-80" dirty="0">
                <a:latin typeface="Tahoma"/>
                <a:cs typeface="Tahoma"/>
              </a:rPr>
              <a:t>Work</a:t>
            </a:r>
            <a:endParaRPr sz="2950" dirty="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53553" y="1575497"/>
            <a:ext cx="4803140" cy="1192530"/>
            <a:chOff x="553553" y="1575497"/>
            <a:chExt cx="4803140" cy="1192530"/>
          </a:xfrm>
        </p:grpSpPr>
        <p:sp>
          <p:nvSpPr>
            <p:cNvPr id="6" name="object 6"/>
            <p:cNvSpPr/>
            <p:nvPr/>
          </p:nvSpPr>
          <p:spPr>
            <a:xfrm>
              <a:off x="553553" y="1575497"/>
              <a:ext cx="4803140" cy="1192530"/>
            </a:xfrm>
            <a:custGeom>
              <a:avLst/>
              <a:gdLst/>
              <a:ahLst/>
              <a:cxnLst/>
              <a:rect l="l" t="t" r="r" b="b"/>
              <a:pathLst>
                <a:path w="4803140" h="1192530">
                  <a:moveTo>
                    <a:pt x="4700944" y="1192268"/>
                  </a:moveTo>
                  <a:lnTo>
                    <a:pt x="102194" y="1192268"/>
                  </a:lnTo>
                  <a:lnTo>
                    <a:pt x="92127" y="1191782"/>
                  </a:lnTo>
                  <a:lnTo>
                    <a:pt x="53971" y="1180187"/>
                  </a:lnTo>
                  <a:lnTo>
                    <a:pt x="23157" y="1154873"/>
                  </a:lnTo>
                  <a:lnTo>
                    <a:pt x="4375" y="1119694"/>
                  </a:lnTo>
                  <a:lnTo>
                    <a:pt x="0" y="1090074"/>
                  </a:lnTo>
                  <a:lnTo>
                    <a:pt x="0" y="102194"/>
                  </a:lnTo>
                  <a:lnTo>
                    <a:pt x="7779" y="63086"/>
                  </a:lnTo>
                  <a:lnTo>
                    <a:pt x="29931" y="29931"/>
                  </a:lnTo>
                  <a:lnTo>
                    <a:pt x="63086" y="7779"/>
                  </a:lnTo>
                  <a:lnTo>
                    <a:pt x="102194" y="0"/>
                  </a:lnTo>
                  <a:lnTo>
                    <a:pt x="4700944" y="0"/>
                  </a:lnTo>
                  <a:lnTo>
                    <a:pt x="4740051" y="7779"/>
                  </a:lnTo>
                  <a:lnTo>
                    <a:pt x="4773206" y="29931"/>
                  </a:lnTo>
                  <a:lnTo>
                    <a:pt x="4795359" y="63086"/>
                  </a:lnTo>
                  <a:lnTo>
                    <a:pt x="4803138" y="102194"/>
                  </a:lnTo>
                  <a:lnTo>
                    <a:pt x="4803138" y="1090074"/>
                  </a:lnTo>
                  <a:lnTo>
                    <a:pt x="4795359" y="1129181"/>
                  </a:lnTo>
                  <a:lnTo>
                    <a:pt x="4773206" y="1162336"/>
                  </a:lnTo>
                  <a:lnTo>
                    <a:pt x="4740051" y="1184489"/>
                  </a:lnTo>
                  <a:lnTo>
                    <a:pt x="4700944" y="1192268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53553" y="1575497"/>
              <a:ext cx="4803140" cy="1192530"/>
            </a:xfrm>
            <a:custGeom>
              <a:avLst/>
              <a:gdLst/>
              <a:ahLst/>
              <a:cxnLst/>
              <a:rect l="l" t="t" r="r" b="b"/>
              <a:pathLst>
                <a:path w="4803140" h="1192530">
                  <a:moveTo>
                    <a:pt x="4700944" y="1192268"/>
                  </a:moveTo>
                  <a:lnTo>
                    <a:pt x="102194" y="1192268"/>
                  </a:lnTo>
                  <a:lnTo>
                    <a:pt x="92127" y="1191782"/>
                  </a:lnTo>
                  <a:lnTo>
                    <a:pt x="53971" y="1180187"/>
                  </a:lnTo>
                  <a:lnTo>
                    <a:pt x="23157" y="1154873"/>
                  </a:lnTo>
                  <a:lnTo>
                    <a:pt x="4375" y="1119694"/>
                  </a:lnTo>
                  <a:lnTo>
                    <a:pt x="0" y="1090074"/>
                  </a:lnTo>
                  <a:lnTo>
                    <a:pt x="0" y="102194"/>
                  </a:lnTo>
                  <a:lnTo>
                    <a:pt x="7779" y="63086"/>
                  </a:lnTo>
                  <a:lnTo>
                    <a:pt x="29931" y="29931"/>
                  </a:lnTo>
                  <a:lnTo>
                    <a:pt x="63086" y="7779"/>
                  </a:lnTo>
                  <a:lnTo>
                    <a:pt x="102194" y="0"/>
                  </a:lnTo>
                  <a:lnTo>
                    <a:pt x="4700944" y="0"/>
                  </a:lnTo>
                  <a:lnTo>
                    <a:pt x="4740051" y="7779"/>
                  </a:lnTo>
                  <a:lnTo>
                    <a:pt x="4757439" y="17032"/>
                  </a:lnTo>
                  <a:lnTo>
                    <a:pt x="96602" y="17032"/>
                  </a:lnTo>
                  <a:lnTo>
                    <a:pt x="91064" y="17577"/>
                  </a:lnTo>
                  <a:lnTo>
                    <a:pt x="50231" y="34491"/>
                  </a:lnTo>
                  <a:lnTo>
                    <a:pt x="25654" y="64438"/>
                  </a:lnTo>
                  <a:lnTo>
                    <a:pt x="17032" y="96602"/>
                  </a:lnTo>
                  <a:lnTo>
                    <a:pt x="17032" y="1095665"/>
                  </a:lnTo>
                  <a:lnTo>
                    <a:pt x="28278" y="1132737"/>
                  </a:lnTo>
                  <a:lnTo>
                    <a:pt x="59530" y="1163990"/>
                  </a:lnTo>
                  <a:lnTo>
                    <a:pt x="96602" y="1175235"/>
                  </a:lnTo>
                  <a:lnTo>
                    <a:pt x="4757439" y="1175235"/>
                  </a:lnTo>
                  <a:lnTo>
                    <a:pt x="4749166" y="1180187"/>
                  </a:lnTo>
                  <a:lnTo>
                    <a:pt x="4740051" y="1184489"/>
                  </a:lnTo>
                  <a:lnTo>
                    <a:pt x="4730564" y="1187892"/>
                  </a:lnTo>
                  <a:lnTo>
                    <a:pt x="4720884" y="1190323"/>
                  </a:lnTo>
                  <a:lnTo>
                    <a:pt x="4711011" y="1191782"/>
                  </a:lnTo>
                  <a:lnTo>
                    <a:pt x="4700944" y="1192268"/>
                  </a:lnTo>
                  <a:close/>
                </a:path>
                <a:path w="4803140" h="1192530">
                  <a:moveTo>
                    <a:pt x="4757439" y="1175235"/>
                  </a:moveTo>
                  <a:lnTo>
                    <a:pt x="4706536" y="1175235"/>
                  </a:lnTo>
                  <a:lnTo>
                    <a:pt x="4712074" y="1174690"/>
                  </a:lnTo>
                  <a:lnTo>
                    <a:pt x="4723042" y="1172508"/>
                  </a:lnTo>
                  <a:lnTo>
                    <a:pt x="4757208" y="1154246"/>
                  </a:lnTo>
                  <a:lnTo>
                    <a:pt x="4781763" y="1117497"/>
                  </a:lnTo>
                  <a:lnTo>
                    <a:pt x="4786106" y="1095665"/>
                  </a:lnTo>
                  <a:lnTo>
                    <a:pt x="4786106" y="96602"/>
                  </a:lnTo>
                  <a:lnTo>
                    <a:pt x="4785665" y="92127"/>
                  </a:lnTo>
                  <a:lnTo>
                    <a:pt x="4785560" y="91064"/>
                  </a:lnTo>
                  <a:lnTo>
                    <a:pt x="4768647" y="50231"/>
                  </a:lnTo>
                  <a:lnTo>
                    <a:pt x="4738700" y="25654"/>
                  </a:lnTo>
                  <a:lnTo>
                    <a:pt x="4706536" y="17032"/>
                  </a:lnTo>
                  <a:lnTo>
                    <a:pt x="4757439" y="17032"/>
                  </a:lnTo>
                  <a:lnTo>
                    <a:pt x="4785931" y="45407"/>
                  </a:lnTo>
                  <a:lnTo>
                    <a:pt x="4801193" y="82253"/>
                  </a:lnTo>
                  <a:lnTo>
                    <a:pt x="4803138" y="1090074"/>
                  </a:lnTo>
                  <a:lnTo>
                    <a:pt x="4802652" y="1100141"/>
                  </a:lnTo>
                  <a:lnTo>
                    <a:pt x="4791057" y="1138296"/>
                  </a:lnTo>
                  <a:lnTo>
                    <a:pt x="4765744" y="1169110"/>
                  </a:lnTo>
                  <a:lnTo>
                    <a:pt x="4757730" y="1175061"/>
                  </a:lnTo>
                  <a:lnTo>
                    <a:pt x="4757439" y="1175235"/>
                  </a:lnTo>
                  <a:close/>
                </a:path>
              </a:pathLst>
            </a:custGeom>
            <a:solidFill>
              <a:srgbClr val="60A5FA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7259" y="1786416"/>
              <a:ext cx="209550" cy="174625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017760" y="1739508"/>
            <a:ext cx="1613535" cy="2533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500" b="1" spc="-125" dirty="0">
                <a:solidFill>
                  <a:srgbClr val="FFFFFF"/>
                </a:solidFill>
                <a:latin typeface="Trebuchet MS"/>
                <a:cs typeface="Trebuchet MS"/>
              </a:rPr>
              <a:t>Enhanced</a:t>
            </a:r>
            <a:r>
              <a:rPr sz="1500" b="1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b="1" spc="-110" dirty="0">
                <a:solidFill>
                  <a:srgbClr val="FFFFFF"/>
                </a:solidFill>
                <a:latin typeface="Trebuchet MS"/>
                <a:cs typeface="Trebuchet MS"/>
              </a:rPr>
              <a:t>Evaluation</a:t>
            </a:r>
            <a:endParaRPr sz="1500">
              <a:latin typeface="Trebuchet MS"/>
              <a:cs typeface="Trebuchet M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59959" y="2164867"/>
            <a:ext cx="2362835" cy="358775"/>
            <a:chOff x="759959" y="2164867"/>
            <a:chExt cx="2362835" cy="358775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9959" y="2164867"/>
              <a:ext cx="114300" cy="8572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08237" y="2164867"/>
              <a:ext cx="114300" cy="8572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9959" y="2437385"/>
              <a:ext cx="114300" cy="8572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08237" y="2437385"/>
              <a:ext cx="114300" cy="85725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949630" y="2083989"/>
            <a:ext cx="1323340" cy="2076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spc="-105" dirty="0">
                <a:solidFill>
                  <a:srgbClr val="D0D5DA"/>
                </a:solidFill>
                <a:latin typeface="Arial MT"/>
                <a:cs typeface="Arial MT"/>
              </a:rPr>
              <a:t>Per-</a:t>
            </a:r>
            <a:r>
              <a:rPr sz="1200" spc="-55" dirty="0">
                <a:solidFill>
                  <a:srgbClr val="D0D5DA"/>
                </a:solidFill>
                <a:latin typeface="Arial MT"/>
                <a:cs typeface="Arial MT"/>
              </a:rPr>
              <a:t>class</a:t>
            </a:r>
            <a:r>
              <a:rPr sz="1200" spc="-3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200" spc="-125" dirty="0">
                <a:solidFill>
                  <a:srgbClr val="D0D5DA"/>
                </a:solidFill>
                <a:latin typeface="Arial MT"/>
                <a:cs typeface="Arial MT"/>
              </a:rPr>
              <a:t>AP</a:t>
            </a:r>
            <a:r>
              <a:rPr sz="1200" spc="-3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200" spc="-45" dirty="0">
                <a:solidFill>
                  <a:srgbClr val="D0D5DA"/>
                </a:solidFill>
                <a:latin typeface="Arial MT"/>
                <a:cs typeface="Arial MT"/>
              </a:rPr>
              <a:t>analysis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197908" y="2083989"/>
            <a:ext cx="1027430" cy="2076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spc="-75" dirty="0">
                <a:solidFill>
                  <a:srgbClr val="D0D5DA"/>
                </a:solidFill>
                <a:latin typeface="Arial MT"/>
                <a:cs typeface="Arial MT"/>
              </a:rPr>
              <a:t>Latency</a:t>
            </a:r>
            <a:r>
              <a:rPr sz="1200" spc="-3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200" spc="-30" dirty="0">
                <a:solidFill>
                  <a:srgbClr val="D0D5DA"/>
                </a:solidFill>
                <a:latin typeface="Arial MT"/>
                <a:cs typeface="Arial MT"/>
              </a:rPr>
              <a:t>profiling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49630" y="2356507"/>
            <a:ext cx="1190625" cy="2076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spc="-65" dirty="0">
                <a:solidFill>
                  <a:srgbClr val="D0D5DA"/>
                </a:solidFill>
                <a:latin typeface="Arial MT"/>
                <a:cs typeface="Arial MT"/>
              </a:rPr>
              <a:t>Model</a:t>
            </a:r>
            <a:r>
              <a:rPr sz="1200" spc="-6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200" spc="-40" dirty="0">
                <a:solidFill>
                  <a:srgbClr val="D0D5DA"/>
                </a:solidFill>
                <a:latin typeface="Arial MT"/>
                <a:cs typeface="Arial MT"/>
              </a:rPr>
              <a:t>quantization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197908" y="2356507"/>
            <a:ext cx="1463040" cy="2076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spc="-80" dirty="0">
                <a:solidFill>
                  <a:srgbClr val="D0D5DA"/>
                </a:solidFill>
                <a:latin typeface="Arial MT"/>
                <a:cs typeface="Arial MT"/>
              </a:rPr>
              <a:t>Rigorous</a:t>
            </a:r>
            <a:r>
              <a:rPr sz="1200" spc="-3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200" spc="-55" dirty="0">
                <a:solidFill>
                  <a:srgbClr val="D0D5DA"/>
                </a:solidFill>
                <a:latin typeface="Arial MT"/>
                <a:cs typeface="Arial MT"/>
              </a:rPr>
              <a:t>benchmarking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53553" y="2904025"/>
            <a:ext cx="4803140" cy="1464945"/>
            <a:chOff x="553553" y="2904025"/>
            <a:chExt cx="4803140" cy="1464945"/>
          </a:xfrm>
        </p:grpSpPr>
        <p:sp>
          <p:nvSpPr>
            <p:cNvPr id="20" name="object 20"/>
            <p:cNvSpPr/>
            <p:nvPr/>
          </p:nvSpPr>
          <p:spPr>
            <a:xfrm>
              <a:off x="553553" y="2904025"/>
              <a:ext cx="4803140" cy="1464945"/>
            </a:xfrm>
            <a:custGeom>
              <a:avLst/>
              <a:gdLst/>
              <a:ahLst/>
              <a:cxnLst/>
              <a:rect l="l" t="t" r="r" b="b"/>
              <a:pathLst>
                <a:path w="4803140" h="1464945">
                  <a:moveTo>
                    <a:pt x="4700944" y="1464786"/>
                  </a:moveTo>
                  <a:lnTo>
                    <a:pt x="102194" y="1464786"/>
                  </a:lnTo>
                  <a:lnTo>
                    <a:pt x="92127" y="1464300"/>
                  </a:lnTo>
                  <a:lnTo>
                    <a:pt x="53971" y="1452705"/>
                  </a:lnTo>
                  <a:lnTo>
                    <a:pt x="23157" y="1427392"/>
                  </a:lnTo>
                  <a:lnTo>
                    <a:pt x="4375" y="1392213"/>
                  </a:lnTo>
                  <a:lnTo>
                    <a:pt x="0" y="1362592"/>
                  </a:lnTo>
                  <a:lnTo>
                    <a:pt x="0" y="102194"/>
                  </a:lnTo>
                  <a:lnTo>
                    <a:pt x="7779" y="63086"/>
                  </a:lnTo>
                  <a:lnTo>
                    <a:pt x="29931" y="29932"/>
                  </a:lnTo>
                  <a:lnTo>
                    <a:pt x="63086" y="7779"/>
                  </a:lnTo>
                  <a:lnTo>
                    <a:pt x="102194" y="0"/>
                  </a:lnTo>
                  <a:lnTo>
                    <a:pt x="4700944" y="0"/>
                  </a:lnTo>
                  <a:lnTo>
                    <a:pt x="4740051" y="7779"/>
                  </a:lnTo>
                  <a:lnTo>
                    <a:pt x="4773206" y="29932"/>
                  </a:lnTo>
                  <a:lnTo>
                    <a:pt x="4795359" y="63086"/>
                  </a:lnTo>
                  <a:lnTo>
                    <a:pt x="4803138" y="102194"/>
                  </a:lnTo>
                  <a:lnTo>
                    <a:pt x="4803138" y="1362592"/>
                  </a:lnTo>
                  <a:lnTo>
                    <a:pt x="4795359" y="1401700"/>
                  </a:lnTo>
                  <a:lnTo>
                    <a:pt x="4773206" y="1434854"/>
                  </a:lnTo>
                  <a:lnTo>
                    <a:pt x="4740051" y="1457007"/>
                  </a:lnTo>
                  <a:lnTo>
                    <a:pt x="4700944" y="1464786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53553" y="2904025"/>
              <a:ext cx="4803140" cy="1464945"/>
            </a:xfrm>
            <a:custGeom>
              <a:avLst/>
              <a:gdLst/>
              <a:ahLst/>
              <a:cxnLst/>
              <a:rect l="l" t="t" r="r" b="b"/>
              <a:pathLst>
                <a:path w="4803140" h="1464945">
                  <a:moveTo>
                    <a:pt x="4700944" y="1464787"/>
                  </a:moveTo>
                  <a:lnTo>
                    <a:pt x="102194" y="1464787"/>
                  </a:lnTo>
                  <a:lnTo>
                    <a:pt x="92127" y="1464300"/>
                  </a:lnTo>
                  <a:lnTo>
                    <a:pt x="53971" y="1452705"/>
                  </a:lnTo>
                  <a:lnTo>
                    <a:pt x="23157" y="1427392"/>
                  </a:lnTo>
                  <a:lnTo>
                    <a:pt x="4375" y="1392213"/>
                  </a:lnTo>
                  <a:lnTo>
                    <a:pt x="0" y="1362592"/>
                  </a:lnTo>
                  <a:lnTo>
                    <a:pt x="0" y="102194"/>
                  </a:lnTo>
                  <a:lnTo>
                    <a:pt x="7779" y="63086"/>
                  </a:lnTo>
                  <a:lnTo>
                    <a:pt x="29931" y="29932"/>
                  </a:lnTo>
                  <a:lnTo>
                    <a:pt x="63086" y="7779"/>
                  </a:lnTo>
                  <a:lnTo>
                    <a:pt x="102194" y="0"/>
                  </a:lnTo>
                  <a:lnTo>
                    <a:pt x="4700944" y="0"/>
                  </a:lnTo>
                  <a:lnTo>
                    <a:pt x="4740051" y="7779"/>
                  </a:lnTo>
                  <a:lnTo>
                    <a:pt x="4757439" y="17032"/>
                  </a:lnTo>
                  <a:lnTo>
                    <a:pt x="96602" y="17032"/>
                  </a:lnTo>
                  <a:lnTo>
                    <a:pt x="91064" y="17577"/>
                  </a:lnTo>
                  <a:lnTo>
                    <a:pt x="50231" y="34491"/>
                  </a:lnTo>
                  <a:lnTo>
                    <a:pt x="25654" y="64438"/>
                  </a:lnTo>
                  <a:lnTo>
                    <a:pt x="17032" y="96602"/>
                  </a:lnTo>
                  <a:lnTo>
                    <a:pt x="17032" y="1368184"/>
                  </a:lnTo>
                  <a:lnTo>
                    <a:pt x="28278" y="1405256"/>
                  </a:lnTo>
                  <a:lnTo>
                    <a:pt x="59530" y="1436508"/>
                  </a:lnTo>
                  <a:lnTo>
                    <a:pt x="96602" y="1447754"/>
                  </a:lnTo>
                  <a:lnTo>
                    <a:pt x="4757438" y="1447754"/>
                  </a:lnTo>
                  <a:lnTo>
                    <a:pt x="4749166" y="1452705"/>
                  </a:lnTo>
                  <a:lnTo>
                    <a:pt x="4740051" y="1457007"/>
                  </a:lnTo>
                  <a:lnTo>
                    <a:pt x="4730564" y="1460410"/>
                  </a:lnTo>
                  <a:lnTo>
                    <a:pt x="4720884" y="1462841"/>
                  </a:lnTo>
                  <a:lnTo>
                    <a:pt x="4711011" y="1464300"/>
                  </a:lnTo>
                  <a:lnTo>
                    <a:pt x="4700944" y="1464787"/>
                  </a:lnTo>
                  <a:close/>
                </a:path>
                <a:path w="4803140" h="1464945">
                  <a:moveTo>
                    <a:pt x="4757438" y="1447754"/>
                  </a:moveTo>
                  <a:lnTo>
                    <a:pt x="4706536" y="1447754"/>
                  </a:lnTo>
                  <a:lnTo>
                    <a:pt x="4712074" y="1447208"/>
                  </a:lnTo>
                  <a:lnTo>
                    <a:pt x="4723042" y="1445027"/>
                  </a:lnTo>
                  <a:lnTo>
                    <a:pt x="4757208" y="1426765"/>
                  </a:lnTo>
                  <a:lnTo>
                    <a:pt x="4781763" y="1390016"/>
                  </a:lnTo>
                  <a:lnTo>
                    <a:pt x="4786106" y="1368184"/>
                  </a:lnTo>
                  <a:lnTo>
                    <a:pt x="4786106" y="96602"/>
                  </a:lnTo>
                  <a:lnTo>
                    <a:pt x="4774860" y="59530"/>
                  </a:lnTo>
                  <a:lnTo>
                    <a:pt x="4743608" y="28278"/>
                  </a:lnTo>
                  <a:lnTo>
                    <a:pt x="4706536" y="17032"/>
                  </a:lnTo>
                  <a:lnTo>
                    <a:pt x="4757439" y="17032"/>
                  </a:lnTo>
                  <a:lnTo>
                    <a:pt x="4785931" y="45407"/>
                  </a:lnTo>
                  <a:lnTo>
                    <a:pt x="4801193" y="82253"/>
                  </a:lnTo>
                  <a:lnTo>
                    <a:pt x="4803138" y="1362592"/>
                  </a:lnTo>
                  <a:lnTo>
                    <a:pt x="4802652" y="1372659"/>
                  </a:lnTo>
                  <a:lnTo>
                    <a:pt x="4791057" y="1410814"/>
                  </a:lnTo>
                  <a:lnTo>
                    <a:pt x="4765744" y="1441629"/>
                  </a:lnTo>
                  <a:lnTo>
                    <a:pt x="4757730" y="1447579"/>
                  </a:lnTo>
                  <a:lnTo>
                    <a:pt x="4757438" y="1447754"/>
                  </a:lnTo>
                  <a:close/>
                </a:path>
              </a:pathLst>
            </a:custGeom>
            <a:solidFill>
              <a:srgbClr val="BF83FB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5359" y="3105419"/>
              <a:ext cx="133350" cy="209550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1017760" y="3068036"/>
            <a:ext cx="1774189" cy="2533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500" b="1" spc="-135" dirty="0">
                <a:solidFill>
                  <a:srgbClr val="FFFFFF"/>
                </a:solidFill>
                <a:latin typeface="Trebuchet MS"/>
                <a:cs typeface="Trebuchet MS"/>
              </a:rPr>
              <a:t>Deployment</a:t>
            </a:r>
            <a:r>
              <a:rPr sz="1500" b="1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b="1" spc="-90" dirty="0">
                <a:solidFill>
                  <a:srgbClr val="FFFFFF"/>
                </a:solidFill>
                <a:latin typeface="Trebuchet MS"/>
                <a:cs typeface="Trebuchet MS"/>
              </a:rPr>
              <a:t>Expansion</a:t>
            </a:r>
            <a:endParaRPr sz="1500">
              <a:latin typeface="Trebuchet MS"/>
              <a:cs typeface="Trebuchet MS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759959" y="3493395"/>
            <a:ext cx="114300" cy="631190"/>
            <a:chOff x="759959" y="3493395"/>
            <a:chExt cx="114300" cy="631190"/>
          </a:xfrm>
        </p:grpSpPr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9959" y="3493395"/>
              <a:ext cx="114300" cy="85725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9959" y="3765913"/>
              <a:ext cx="114300" cy="85725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9959" y="4038432"/>
              <a:ext cx="114300" cy="85725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949630" y="3412516"/>
            <a:ext cx="1443355" cy="2076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spc="-60" dirty="0">
                <a:solidFill>
                  <a:srgbClr val="D0D5DA"/>
                </a:solidFill>
                <a:latin typeface="Arial MT"/>
                <a:cs typeface="Arial MT"/>
              </a:rPr>
              <a:t>Mobile</a:t>
            </a:r>
            <a:r>
              <a:rPr sz="1200" spc="-5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200" spc="-80" dirty="0">
                <a:solidFill>
                  <a:srgbClr val="D0D5DA"/>
                </a:solidFill>
                <a:latin typeface="Arial MT"/>
                <a:cs typeface="Arial MT"/>
              </a:rPr>
              <a:t>app</a:t>
            </a:r>
            <a:r>
              <a:rPr sz="1200" spc="-5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200" spc="-50" dirty="0">
                <a:solidFill>
                  <a:srgbClr val="D0D5DA"/>
                </a:solidFill>
                <a:latin typeface="Arial MT"/>
                <a:cs typeface="Arial MT"/>
              </a:rPr>
              <a:t>deployment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49630" y="3685035"/>
            <a:ext cx="1219200" cy="2076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spc="-135" dirty="0">
                <a:solidFill>
                  <a:srgbClr val="D0D5DA"/>
                </a:solidFill>
                <a:latin typeface="Arial MT"/>
                <a:cs typeface="Arial MT"/>
              </a:rPr>
              <a:t>On-</a:t>
            </a:r>
            <a:r>
              <a:rPr sz="1200" spc="-75" dirty="0">
                <a:solidFill>
                  <a:srgbClr val="D0D5DA"/>
                </a:solidFill>
                <a:latin typeface="Arial MT"/>
                <a:cs typeface="Arial MT"/>
              </a:rPr>
              <a:t>device</a:t>
            </a:r>
            <a:r>
              <a:rPr sz="1200" spc="-2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200" spc="-50" dirty="0">
                <a:solidFill>
                  <a:srgbClr val="D0D5DA"/>
                </a:solidFill>
                <a:latin typeface="Arial MT"/>
                <a:cs typeface="Arial MT"/>
              </a:rPr>
              <a:t>inference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49630" y="3957554"/>
            <a:ext cx="1801495" cy="2076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spc="-114" dirty="0">
                <a:solidFill>
                  <a:srgbClr val="D0D5DA"/>
                </a:solidFill>
                <a:latin typeface="Arial MT"/>
                <a:cs typeface="Arial MT"/>
              </a:rPr>
              <a:t>Edge</a:t>
            </a:r>
            <a:r>
              <a:rPr sz="1200" spc="-4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200" spc="-55" dirty="0">
                <a:solidFill>
                  <a:srgbClr val="D0D5DA"/>
                </a:solidFill>
                <a:latin typeface="Arial MT"/>
                <a:cs typeface="Arial MT"/>
              </a:rPr>
              <a:t>computing</a:t>
            </a:r>
            <a:r>
              <a:rPr sz="1200" spc="-4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200" spc="-30" dirty="0">
                <a:solidFill>
                  <a:srgbClr val="D0D5DA"/>
                </a:solidFill>
                <a:latin typeface="Arial MT"/>
                <a:cs typeface="Arial MT"/>
              </a:rPr>
              <a:t>optimization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553553" y="4505071"/>
            <a:ext cx="4803140" cy="1192530"/>
            <a:chOff x="553553" y="4505071"/>
            <a:chExt cx="4803140" cy="1192530"/>
          </a:xfrm>
        </p:grpSpPr>
        <p:sp>
          <p:nvSpPr>
            <p:cNvPr id="32" name="object 32"/>
            <p:cNvSpPr/>
            <p:nvPr/>
          </p:nvSpPr>
          <p:spPr>
            <a:xfrm>
              <a:off x="553553" y="4505071"/>
              <a:ext cx="4803140" cy="1192530"/>
            </a:xfrm>
            <a:custGeom>
              <a:avLst/>
              <a:gdLst/>
              <a:ahLst/>
              <a:cxnLst/>
              <a:rect l="l" t="t" r="r" b="b"/>
              <a:pathLst>
                <a:path w="4803140" h="1192529">
                  <a:moveTo>
                    <a:pt x="4700944" y="1192268"/>
                  </a:moveTo>
                  <a:lnTo>
                    <a:pt x="102194" y="1192268"/>
                  </a:lnTo>
                  <a:lnTo>
                    <a:pt x="92127" y="1191781"/>
                  </a:lnTo>
                  <a:lnTo>
                    <a:pt x="53971" y="1180187"/>
                  </a:lnTo>
                  <a:lnTo>
                    <a:pt x="23157" y="1154873"/>
                  </a:lnTo>
                  <a:lnTo>
                    <a:pt x="4375" y="1119694"/>
                  </a:lnTo>
                  <a:lnTo>
                    <a:pt x="0" y="1090074"/>
                  </a:lnTo>
                  <a:lnTo>
                    <a:pt x="0" y="102194"/>
                  </a:lnTo>
                  <a:lnTo>
                    <a:pt x="7779" y="63085"/>
                  </a:lnTo>
                  <a:lnTo>
                    <a:pt x="29931" y="29932"/>
                  </a:lnTo>
                  <a:lnTo>
                    <a:pt x="63086" y="7779"/>
                  </a:lnTo>
                  <a:lnTo>
                    <a:pt x="102194" y="0"/>
                  </a:lnTo>
                  <a:lnTo>
                    <a:pt x="4700944" y="0"/>
                  </a:lnTo>
                  <a:lnTo>
                    <a:pt x="4740051" y="7779"/>
                  </a:lnTo>
                  <a:lnTo>
                    <a:pt x="4773206" y="29932"/>
                  </a:lnTo>
                  <a:lnTo>
                    <a:pt x="4795359" y="63085"/>
                  </a:lnTo>
                  <a:lnTo>
                    <a:pt x="4803138" y="102194"/>
                  </a:lnTo>
                  <a:lnTo>
                    <a:pt x="4803138" y="1090074"/>
                  </a:lnTo>
                  <a:lnTo>
                    <a:pt x="4795359" y="1129181"/>
                  </a:lnTo>
                  <a:lnTo>
                    <a:pt x="4773206" y="1162336"/>
                  </a:lnTo>
                  <a:lnTo>
                    <a:pt x="4740051" y="1184488"/>
                  </a:lnTo>
                  <a:lnTo>
                    <a:pt x="4700944" y="1192268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53553" y="4505071"/>
              <a:ext cx="4803140" cy="1192530"/>
            </a:xfrm>
            <a:custGeom>
              <a:avLst/>
              <a:gdLst/>
              <a:ahLst/>
              <a:cxnLst/>
              <a:rect l="l" t="t" r="r" b="b"/>
              <a:pathLst>
                <a:path w="4803140" h="1192529">
                  <a:moveTo>
                    <a:pt x="4700944" y="1192268"/>
                  </a:moveTo>
                  <a:lnTo>
                    <a:pt x="102194" y="1192268"/>
                  </a:lnTo>
                  <a:lnTo>
                    <a:pt x="92127" y="1191782"/>
                  </a:lnTo>
                  <a:lnTo>
                    <a:pt x="53971" y="1180187"/>
                  </a:lnTo>
                  <a:lnTo>
                    <a:pt x="23157" y="1154873"/>
                  </a:lnTo>
                  <a:lnTo>
                    <a:pt x="4375" y="1119694"/>
                  </a:lnTo>
                  <a:lnTo>
                    <a:pt x="0" y="1090074"/>
                  </a:lnTo>
                  <a:lnTo>
                    <a:pt x="0" y="102194"/>
                  </a:lnTo>
                  <a:lnTo>
                    <a:pt x="7779" y="63085"/>
                  </a:lnTo>
                  <a:lnTo>
                    <a:pt x="29931" y="29932"/>
                  </a:lnTo>
                  <a:lnTo>
                    <a:pt x="63086" y="7779"/>
                  </a:lnTo>
                  <a:lnTo>
                    <a:pt x="102194" y="0"/>
                  </a:lnTo>
                  <a:lnTo>
                    <a:pt x="4700944" y="0"/>
                  </a:lnTo>
                  <a:lnTo>
                    <a:pt x="4740051" y="7779"/>
                  </a:lnTo>
                  <a:lnTo>
                    <a:pt x="4757439" y="17032"/>
                  </a:lnTo>
                  <a:lnTo>
                    <a:pt x="96602" y="17032"/>
                  </a:lnTo>
                  <a:lnTo>
                    <a:pt x="91064" y="17577"/>
                  </a:lnTo>
                  <a:lnTo>
                    <a:pt x="50231" y="34491"/>
                  </a:lnTo>
                  <a:lnTo>
                    <a:pt x="25654" y="64438"/>
                  </a:lnTo>
                  <a:lnTo>
                    <a:pt x="17032" y="96602"/>
                  </a:lnTo>
                  <a:lnTo>
                    <a:pt x="17032" y="1095665"/>
                  </a:lnTo>
                  <a:lnTo>
                    <a:pt x="17473" y="1100140"/>
                  </a:lnTo>
                  <a:lnTo>
                    <a:pt x="17577" y="1101203"/>
                  </a:lnTo>
                  <a:lnTo>
                    <a:pt x="34491" y="1142036"/>
                  </a:lnTo>
                  <a:lnTo>
                    <a:pt x="64438" y="1166613"/>
                  </a:lnTo>
                  <a:lnTo>
                    <a:pt x="96602" y="1175235"/>
                  </a:lnTo>
                  <a:lnTo>
                    <a:pt x="4757438" y="1175235"/>
                  </a:lnTo>
                  <a:lnTo>
                    <a:pt x="4749166" y="1180187"/>
                  </a:lnTo>
                  <a:lnTo>
                    <a:pt x="4740051" y="1184488"/>
                  </a:lnTo>
                  <a:lnTo>
                    <a:pt x="4730564" y="1187892"/>
                  </a:lnTo>
                  <a:lnTo>
                    <a:pt x="4720884" y="1190323"/>
                  </a:lnTo>
                  <a:lnTo>
                    <a:pt x="4711011" y="1191782"/>
                  </a:lnTo>
                  <a:lnTo>
                    <a:pt x="4700944" y="1192268"/>
                  </a:lnTo>
                  <a:close/>
                </a:path>
                <a:path w="4803140" h="1192529">
                  <a:moveTo>
                    <a:pt x="4757438" y="1175235"/>
                  </a:moveTo>
                  <a:lnTo>
                    <a:pt x="4706536" y="1175235"/>
                  </a:lnTo>
                  <a:lnTo>
                    <a:pt x="4712074" y="1174690"/>
                  </a:lnTo>
                  <a:lnTo>
                    <a:pt x="4723042" y="1172508"/>
                  </a:lnTo>
                  <a:lnTo>
                    <a:pt x="4757208" y="1154246"/>
                  </a:lnTo>
                  <a:lnTo>
                    <a:pt x="4781763" y="1117497"/>
                  </a:lnTo>
                  <a:lnTo>
                    <a:pt x="4786106" y="1095665"/>
                  </a:lnTo>
                  <a:lnTo>
                    <a:pt x="4786106" y="96602"/>
                  </a:lnTo>
                  <a:lnTo>
                    <a:pt x="4785665" y="92127"/>
                  </a:lnTo>
                  <a:lnTo>
                    <a:pt x="4785560" y="91064"/>
                  </a:lnTo>
                  <a:lnTo>
                    <a:pt x="4768647" y="50231"/>
                  </a:lnTo>
                  <a:lnTo>
                    <a:pt x="4738700" y="25654"/>
                  </a:lnTo>
                  <a:lnTo>
                    <a:pt x="4706536" y="17032"/>
                  </a:lnTo>
                  <a:lnTo>
                    <a:pt x="4757439" y="17032"/>
                  </a:lnTo>
                  <a:lnTo>
                    <a:pt x="4785931" y="45407"/>
                  </a:lnTo>
                  <a:lnTo>
                    <a:pt x="4801193" y="82253"/>
                  </a:lnTo>
                  <a:lnTo>
                    <a:pt x="4803138" y="1090074"/>
                  </a:lnTo>
                  <a:lnTo>
                    <a:pt x="4802652" y="1100140"/>
                  </a:lnTo>
                  <a:lnTo>
                    <a:pt x="4791057" y="1138296"/>
                  </a:lnTo>
                  <a:lnTo>
                    <a:pt x="4765744" y="1169110"/>
                  </a:lnTo>
                  <a:lnTo>
                    <a:pt x="4757730" y="1175061"/>
                  </a:lnTo>
                  <a:lnTo>
                    <a:pt x="4757438" y="1175235"/>
                  </a:lnTo>
                  <a:close/>
                </a:path>
              </a:pathLst>
            </a:custGeom>
            <a:solidFill>
              <a:srgbClr val="4ADE80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13934" y="4735040"/>
              <a:ext cx="76200" cy="152400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1017760" y="4669082"/>
            <a:ext cx="1335405" cy="2533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500" b="1" spc="-85" dirty="0">
                <a:solidFill>
                  <a:srgbClr val="FFFFFF"/>
                </a:solidFill>
                <a:latin typeface="Trebuchet MS"/>
                <a:cs typeface="Trebuchet MS"/>
              </a:rPr>
              <a:t>UI</a:t>
            </a:r>
            <a:r>
              <a:rPr sz="1500" b="1" spc="-110" dirty="0">
                <a:solidFill>
                  <a:srgbClr val="FFFFFF"/>
                </a:solidFill>
                <a:latin typeface="Trebuchet MS"/>
                <a:cs typeface="Trebuchet MS"/>
              </a:rPr>
              <a:t> Improvements</a:t>
            </a:r>
            <a:endParaRPr sz="1500">
              <a:latin typeface="Trebuchet MS"/>
              <a:cs typeface="Trebuchet MS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759959" y="5094441"/>
            <a:ext cx="2362835" cy="358775"/>
            <a:chOff x="759959" y="5094441"/>
            <a:chExt cx="2362835" cy="358775"/>
          </a:xfrm>
        </p:grpSpPr>
        <p:pic>
          <p:nvPicPr>
            <p:cNvPr id="37" name="object 3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59959" y="5094441"/>
              <a:ext cx="114300" cy="85725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008237" y="5094441"/>
              <a:ext cx="114300" cy="85725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59959" y="5366959"/>
              <a:ext cx="114300" cy="85725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008237" y="5366959"/>
              <a:ext cx="114300" cy="85725"/>
            </a:xfrm>
            <a:prstGeom prst="rect">
              <a:avLst/>
            </a:prstGeom>
          </p:spPr>
        </p:pic>
      </p:grpSp>
      <p:sp>
        <p:nvSpPr>
          <p:cNvPr id="41" name="object 41"/>
          <p:cNvSpPr txBox="1"/>
          <p:nvPr/>
        </p:nvSpPr>
        <p:spPr>
          <a:xfrm>
            <a:off x="949630" y="5013563"/>
            <a:ext cx="953769" cy="2076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spc="-65" dirty="0">
                <a:solidFill>
                  <a:srgbClr val="D0D5DA"/>
                </a:solidFill>
                <a:latin typeface="Arial MT"/>
                <a:cs typeface="Arial MT"/>
              </a:rPr>
              <a:t>Model</a:t>
            </a:r>
            <a:r>
              <a:rPr sz="1200" spc="-6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200" spc="-35" dirty="0">
                <a:solidFill>
                  <a:srgbClr val="D0D5DA"/>
                </a:solidFill>
                <a:latin typeface="Arial MT"/>
                <a:cs typeface="Arial MT"/>
              </a:rPr>
              <a:t>switcher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197908" y="5013563"/>
            <a:ext cx="1160780" cy="2076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spc="-70" dirty="0">
                <a:solidFill>
                  <a:srgbClr val="D0D5DA"/>
                </a:solidFill>
                <a:latin typeface="Arial MT"/>
                <a:cs typeface="Arial MT"/>
              </a:rPr>
              <a:t>Threshold</a:t>
            </a:r>
            <a:r>
              <a:rPr sz="1200" spc="-4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200" spc="-30" dirty="0">
                <a:solidFill>
                  <a:srgbClr val="D0D5DA"/>
                </a:solidFill>
                <a:latin typeface="Arial MT"/>
                <a:cs typeface="Arial MT"/>
              </a:rPr>
              <a:t>controls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949630" y="5286081"/>
            <a:ext cx="1224280" cy="2076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spc="-120" dirty="0">
                <a:solidFill>
                  <a:srgbClr val="D0D5DA"/>
                </a:solidFill>
                <a:latin typeface="Arial MT"/>
                <a:cs typeface="Arial MT"/>
              </a:rPr>
              <a:t>Save</a:t>
            </a:r>
            <a:r>
              <a:rPr sz="1200" spc="-5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200" spc="-50" dirty="0">
                <a:solidFill>
                  <a:srgbClr val="D0D5DA"/>
                </a:solidFill>
                <a:latin typeface="Arial MT"/>
                <a:cs typeface="Arial MT"/>
              </a:rPr>
              <a:t>results </a:t>
            </a:r>
            <a:r>
              <a:rPr sz="1200" spc="-40" dirty="0">
                <a:solidFill>
                  <a:srgbClr val="D0D5DA"/>
                </a:solidFill>
                <a:latin typeface="Arial MT"/>
                <a:cs typeface="Arial MT"/>
              </a:rPr>
              <a:t>feature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197908" y="5286081"/>
            <a:ext cx="796925" cy="2076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spc="-80" dirty="0">
                <a:solidFill>
                  <a:srgbClr val="D0D5DA"/>
                </a:solidFill>
                <a:latin typeface="Arial MT"/>
                <a:cs typeface="Arial MT"/>
              </a:rPr>
              <a:t>Session</a:t>
            </a:r>
            <a:r>
              <a:rPr sz="1200" spc="-3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D0D5DA"/>
                </a:solidFill>
                <a:latin typeface="Arial MT"/>
                <a:cs typeface="Arial MT"/>
              </a:rPr>
              <a:t>logs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5957158" y="2187151"/>
            <a:ext cx="4803140" cy="1464945"/>
            <a:chOff x="5561080" y="928266"/>
            <a:chExt cx="4803140" cy="1464945"/>
          </a:xfrm>
        </p:grpSpPr>
        <p:sp>
          <p:nvSpPr>
            <p:cNvPr id="46" name="object 46"/>
            <p:cNvSpPr/>
            <p:nvPr/>
          </p:nvSpPr>
          <p:spPr>
            <a:xfrm>
              <a:off x="5561080" y="928266"/>
              <a:ext cx="4803140" cy="1464945"/>
            </a:xfrm>
            <a:custGeom>
              <a:avLst/>
              <a:gdLst/>
              <a:ahLst/>
              <a:cxnLst/>
              <a:rect l="l" t="t" r="r" b="b"/>
              <a:pathLst>
                <a:path w="4803140" h="1464945">
                  <a:moveTo>
                    <a:pt x="4700944" y="1464786"/>
                  </a:moveTo>
                  <a:lnTo>
                    <a:pt x="102194" y="1464786"/>
                  </a:lnTo>
                  <a:lnTo>
                    <a:pt x="92127" y="1464300"/>
                  </a:lnTo>
                  <a:lnTo>
                    <a:pt x="53970" y="1452706"/>
                  </a:lnTo>
                  <a:lnTo>
                    <a:pt x="23156" y="1427392"/>
                  </a:lnTo>
                  <a:lnTo>
                    <a:pt x="4375" y="1392213"/>
                  </a:lnTo>
                  <a:lnTo>
                    <a:pt x="0" y="1362592"/>
                  </a:lnTo>
                  <a:lnTo>
                    <a:pt x="0" y="102194"/>
                  </a:lnTo>
                  <a:lnTo>
                    <a:pt x="7778" y="63086"/>
                  </a:lnTo>
                  <a:lnTo>
                    <a:pt x="29931" y="29932"/>
                  </a:lnTo>
                  <a:lnTo>
                    <a:pt x="63085" y="7779"/>
                  </a:lnTo>
                  <a:lnTo>
                    <a:pt x="102194" y="0"/>
                  </a:lnTo>
                  <a:lnTo>
                    <a:pt x="4700944" y="0"/>
                  </a:lnTo>
                  <a:lnTo>
                    <a:pt x="4740050" y="7779"/>
                  </a:lnTo>
                  <a:lnTo>
                    <a:pt x="4773205" y="29932"/>
                  </a:lnTo>
                  <a:lnTo>
                    <a:pt x="4795358" y="63086"/>
                  </a:lnTo>
                  <a:lnTo>
                    <a:pt x="4803138" y="102194"/>
                  </a:lnTo>
                  <a:lnTo>
                    <a:pt x="4803138" y="1362592"/>
                  </a:lnTo>
                  <a:lnTo>
                    <a:pt x="4795357" y="1401700"/>
                  </a:lnTo>
                  <a:lnTo>
                    <a:pt x="4773205" y="1434854"/>
                  </a:lnTo>
                  <a:lnTo>
                    <a:pt x="4740050" y="1457007"/>
                  </a:lnTo>
                  <a:lnTo>
                    <a:pt x="4700944" y="1464786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5561080" y="928266"/>
              <a:ext cx="4803140" cy="1464945"/>
            </a:xfrm>
            <a:custGeom>
              <a:avLst/>
              <a:gdLst/>
              <a:ahLst/>
              <a:cxnLst/>
              <a:rect l="l" t="t" r="r" b="b"/>
              <a:pathLst>
                <a:path w="4803140" h="1464945">
                  <a:moveTo>
                    <a:pt x="4700944" y="1464787"/>
                  </a:moveTo>
                  <a:lnTo>
                    <a:pt x="102194" y="1464787"/>
                  </a:lnTo>
                  <a:lnTo>
                    <a:pt x="92127" y="1464300"/>
                  </a:lnTo>
                  <a:lnTo>
                    <a:pt x="53970" y="1452706"/>
                  </a:lnTo>
                  <a:lnTo>
                    <a:pt x="23156" y="1427392"/>
                  </a:lnTo>
                  <a:lnTo>
                    <a:pt x="4375" y="1392213"/>
                  </a:lnTo>
                  <a:lnTo>
                    <a:pt x="0" y="1362592"/>
                  </a:lnTo>
                  <a:lnTo>
                    <a:pt x="0" y="102194"/>
                  </a:lnTo>
                  <a:lnTo>
                    <a:pt x="7778" y="63086"/>
                  </a:lnTo>
                  <a:lnTo>
                    <a:pt x="29931" y="29932"/>
                  </a:lnTo>
                  <a:lnTo>
                    <a:pt x="63085" y="7779"/>
                  </a:lnTo>
                  <a:lnTo>
                    <a:pt x="102194" y="0"/>
                  </a:lnTo>
                  <a:lnTo>
                    <a:pt x="4700944" y="0"/>
                  </a:lnTo>
                  <a:lnTo>
                    <a:pt x="4740050" y="7779"/>
                  </a:lnTo>
                  <a:lnTo>
                    <a:pt x="4757438" y="17032"/>
                  </a:lnTo>
                  <a:lnTo>
                    <a:pt x="96602" y="17032"/>
                  </a:lnTo>
                  <a:lnTo>
                    <a:pt x="91064" y="17577"/>
                  </a:lnTo>
                  <a:lnTo>
                    <a:pt x="50231" y="34491"/>
                  </a:lnTo>
                  <a:lnTo>
                    <a:pt x="25654" y="64438"/>
                  </a:lnTo>
                  <a:lnTo>
                    <a:pt x="17032" y="96602"/>
                  </a:lnTo>
                  <a:lnTo>
                    <a:pt x="17032" y="1368184"/>
                  </a:lnTo>
                  <a:lnTo>
                    <a:pt x="28277" y="1405256"/>
                  </a:lnTo>
                  <a:lnTo>
                    <a:pt x="59530" y="1436508"/>
                  </a:lnTo>
                  <a:lnTo>
                    <a:pt x="96602" y="1447754"/>
                  </a:lnTo>
                  <a:lnTo>
                    <a:pt x="4757438" y="1447754"/>
                  </a:lnTo>
                  <a:lnTo>
                    <a:pt x="4749165" y="1452706"/>
                  </a:lnTo>
                  <a:lnTo>
                    <a:pt x="4740051" y="1457007"/>
                  </a:lnTo>
                  <a:lnTo>
                    <a:pt x="4730564" y="1460411"/>
                  </a:lnTo>
                  <a:lnTo>
                    <a:pt x="4720884" y="1462842"/>
                  </a:lnTo>
                  <a:lnTo>
                    <a:pt x="4711010" y="1464300"/>
                  </a:lnTo>
                  <a:lnTo>
                    <a:pt x="4700944" y="1464787"/>
                  </a:lnTo>
                  <a:close/>
                </a:path>
                <a:path w="4803140" h="1464945">
                  <a:moveTo>
                    <a:pt x="4757438" y="1447754"/>
                  </a:moveTo>
                  <a:lnTo>
                    <a:pt x="4706536" y="1447754"/>
                  </a:lnTo>
                  <a:lnTo>
                    <a:pt x="4712074" y="1447209"/>
                  </a:lnTo>
                  <a:lnTo>
                    <a:pt x="4723042" y="1445027"/>
                  </a:lnTo>
                  <a:lnTo>
                    <a:pt x="4757208" y="1426765"/>
                  </a:lnTo>
                  <a:lnTo>
                    <a:pt x="4781763" y="1390016"/>
                  </a:lnTo>
                  <a:lnTo>
                    <a:pt x="4786106" y="1368184"/>
                  </a:lnTo>
                  <a:lnTo>
                    <a:pt x="4786106" y="96602"/>
                  </a:lnTo>
                  <a:lnTo>
                    <a:pt x="4774860" y="59530"/>
                  </a:lnTo>
                  <a:lnTo>
                    <a:pt x="4743607" y="28278"/>
                  </a:lnTo>
                  <a:lnTo>
                    <a:pt x="4706536" y="17032"/>
                  </a:lnTo>
                  <a:lnTo>
                    <a:pt x="4757438" y="17032"/>
                  </a:lnTo>
                  <a:lnTo>
                    <a:pt x="4785930" y="45407"/>
                  </a:lnTo>
                  <a:lnTo>
                    <a:pt x="4801193" y="82253"/>
                  </a:lnTo>
                  <a:lnTo>
                    <a:pt x="4803138" y="1362592"/>
                  </a:lnTo>
                  <a:lnTo>
                    <a:pt x="4802652" y="1372659"/>
                  </a:lnTo>
                  <a:lnTo>
                    <a:pt x="4791056" y="1410815"/>
                  </a:lnTo>
                  <a:lnTo>
                    <a:pt x="4765743" y="1441629"/>
                  </a:lnTo>
                  <a:lnTo>
                    <a:pt x="4757730" y="1447580"/>
                  </a:lnTo>
                  <a:lnTo>
                    <a:pt x="4757438" y="1447754"/>
                  </a:lnTo>
                  <a:close/>
                </a:path>
              </a:pathLst>
            </a:custGeom>
            <a:solidFill>
              <a:srgbClr val="FFD600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773837" y="1148710"/>
              <a:ext cx="171450" cy="171450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767487" y="1517635"/>
              <a:ext cx="114300" cy="85725"/>
            </a:xfrm>
            <a:prstGeom prst="rect">
              <a:avLst/>
            </a:prstGeom>
          </p:spPr>
        </p:pic>
      </p:grpSp>
      <p:sp>
        <p:nvSpPr>
          <p:cNvPr id="50" name="object 50"/>
          <p:cNvSpPr txBox="1"/>
          <p:nvPr/>
        </p:nvSpPr>
        <p:spPr>
          <a:xfrm>
            <a:off x="6408406" y="2363014"/>
            <a:ext cx="1884045" cy="55181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80645">
              <a:lnSpc>
                <a:spcPct val="100000"/>
              </a:lnSpc>
              <a:spcBef>
                <a:spcPts val="90"/>
              </a:spcBef>
            </a:pPr>
            <a:r>
              <a:rPr sz="1500" b="1" spc="-105" dirty="0">
                <a:solidFill>
                  <a:srgbClr val="FFFFFF"/>
                </a:solidFill>
                <a:latin typeface="Trebuchet MS"/>
                <a:cs typeface="Trebuchet MS"/>
              </a:rPr>
              <a:t>Dataset</a:t>
            </a:r>
            <a:r>
              <a:rPr sz="1500" b="1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b="1" spc="-10" dirty="0">
                <a:solidFill>
                  <a:srgbClr val="FFFFFF"/>
                </a:solidFill>
                <a:latin typeface="Trebuchet MS"/>
                <a:cs typeface="Trebuchet MS"/>
              </a:rPr>
              <a:t>Expansion</a:t>
            </a:r>
            <a:endParaRPr sz="15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sz="1200" spc="-80" dirty="0">
                <a:solidFill>
                  <a:srgbClr val="D0D5DA"/>
                </a:solidFill>
                <a:latin typeface="Arial MT"/>
                <a:cs typeface="Arial MT"/>
              </a:rPr>
              <a:t>Larger</a:t>
            </a:r>
            <a:r>
              <a:rPr sz="1200" spc="-4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200" spc="-50" dirty="0">
                <a:solidFill>
                  <a:srgbClr val="D0D5DA"/>
                </a:solidFill>
                <a:latin typeface="Arial MT"/>
                <a:cs typeface="Arial MT"/>
              </a:rPr>
              <a:t>custom</a:t>
            </a:r>
            <a:r>
              <a:rPr sz="1200" spc="-4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200" spc="-60" dirty="0">
                <a:solidFill>
                  <a:srgbClr val="D0D5DA"/>
                </a:solidFill>
                <a:latin typeface="Arial MT"/>
                <a:cs typeface="Arial MT"/>
              </a:rPr>
              <a:t>dataset</a:t>
            </a:r>
            <a:r>
              <a:rPr sz="1200" spc="-3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200" spc="-30" dirty="0">
                <a:solidFill>
                  <a:srgbClr val="D0D5DA"/>
                </a:solidFill>
                <a:latin typeface="Arial MT"/>
                <a:cs typeface="Arial MT"/>
              </a:rPr>
              <a:t>training</a:t>
            </a:r>
            <a:endParaRPr sz="1200" dirty="0">
              <a:latin typeface="Arial MT"/>
              <a:cs typeface="Arial MT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6198490" y="3053741"/>
            <a:ext cx="114300" cy="358775"/>
            <a:chOff x="5767487" y="1790154"/>
            <a:chExt cx="114300" cy="358775"/>
          </a:xfrm>
        </p:grpSpPr>
        <p:pic>
          <p:nvPicPr>
            <p:cNvPr id="52" name="object 5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767487" y="1790154"/>
              <a:ext cx="114300" cy="85725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767487" y="2062672"/>
              <a:ext cx="114300" cy="85725"/>
            </a:xfrm>
            <a:prstGeom prst="rect">
              <a:avLst/>
            </a:prstGeom>
          </p:spPr>
        </p:pic>
      </p:grpSp>
      <p:sp>
        <p:nvSpPr>
          <p:cNvPr id="54" name="object 54"/>
          <p:cNvSpPr txBox="1"/>
          <p:nvPr/>
        </p:nvSpPr>
        <p:spPr>
          <a:xfrm>
            <a:off x="6402466" y="2975278"/>
            <a:ext cx="1243965" cy="2076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spc="-75" dirty="0">
                <a:solidFill>
                  <a:srgbClr val="D0D5DA"/>
                </a:solidFill>
                <a:latin typeface="Arial MT"/>
                <a:cs typeface="Arial MT"/>
              </a:rPr>
              <a:t>More</a:t>
            </a:r>
            <a:r>
              <a:rPr sz="1200" spc="-5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200" spc="-50" dirty="0">
                <a:solidFill>
                  <a:srgbClr val="D0D5DA"/>
                </a:solidFill>
                <a:latin typeface="Arial MT"/>
                <a:cs typeface="Arial MT"/>
              </a:rPr>
              <a:t>object </a:t>
            </a:r>
            <a:r>
              <a:rPr sz="1200" spc="-40" dirty="0">
                <a:solidFill>
                  <a:srgbClr val="D0D5DA"/>
                </a:solidFill>
                <a:latin typeface="Arial MT"/>
                <a:cs typeface="Arial MT"/>
              </a:rPr>
              <a:t>classes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418539" y="3286648"/>
            <a:ext cx="1978025" cy="2076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spc="-80" dirty="0">
                <a:solidFill>
                  <a:srgbClr val="D0D5DA"/>
                </a:solidFill>
                <a:latin typeface="Arial MT"/>
                <a:cs typeface="Arial MT"/>
              </a:rPr>
              <a:t>Varied</a:t>
            </a:r>
            <a:r>
              <a:rPr sz="1200" spc="-1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200" spc="-70" dirty="0">
                <a:solidFill>
                  <a:srgbClr val="D0D5DA"/>
                </a:solidFill>
                <a:latin typeface="Arial MT"/>
                <a:cs typeface="Arial MT"/>
              </a:rPr>
              <a:t>environmental</a:t>
            </a:r>
            <a:r>
              <a:rPr sz="1200" spc="-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D0D5DA"/>
                </a:solidFill>
                <a:latin typeface="Arial MT"/>
                <a:cs typeface="Arial MT"/>
              </a:rPr>
              <a:t>conditions</a:t>
            </a:r>
            <a:endParaRPr sz="1200" dirty="0">
              <a:latin typeface="Arial MT"/>
              <a:cs typeface="Arial MT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6021806" y="3865329"/>
            <a:ext cx="4803140" cy="1464945"/>
            <a:chOff x="5561080" y="2529312"/>
            <a:chExt cx="4803140" cy="1464945"/>
          </a:xfrm>
        </p:grpSpPr>
        <p:sp>
          <p:nvSpPr>
            <p:cNvPr id="57" name="object 57"/>
            <p:cNvSpPr/>
            <p:nvPr/>
          </p:nvSpPr>
          <p:spPr>
            <a:xfrm>
              <a:off x="5561080" y="2529312"/>
              <a:ext cx="4803140" cy="1464945"/>
            </a:xfrm>
            <a:custGeom>
              <a:avLst/>
              <a:gdLst/>
              <a:ahLst/>
              <a:cxnLst/>
              <a:rect l="l" t="t" r="r" b="b"/>
              <a:pathLst>
                <a:path w="4803140" h="1464945">
                  <a:moveTo>
                    <a:pt x="4700944" y="1464786"/>
                  </a:moveTo>
                  <a:lnTo>
                    <a:pt x="102194" y="1464786"/>
                  </a:lnTo>
                  <a:lnTo>
                    <a:pt x="92127" y="1464300"/>
                  </a:lnTo>
                  <a:lnTo>
                    <a:pt x="53970" y="1452705"/>
                  </a:lnTo>
                  <a:lnTo>
                    <a:pt x="23156" y="1427392"/>
                  </a:lnTo>
                  <a:lnTo>
                    <a:pt x="4375" y="1392213"/>
                  </a:lnTo>
                  <a:lnTo>
                    <a:pt x="0" y="1362592"/>
                  </a:lnTo>
                  <a:lnTo>
                    <a:pt x="0" y="102194"/>
                  </a:lnTo>
                  <a:lnTo>
                    <a:pt x="7778" y="63085"/>
                  </a:lnTo>
                  <a:lnTo>
                    <a:pt x="29931" y="29931"/>
                  </a:lnTo>
                  <a:lnTo>
                    <a:pt x="63085" y="7778"/>
                  </a:lnTo>
                  <a:lnTo>
                    <a:pt x="102194" y="0"/>
                  </a:lnTo>
                  <a:lnTo>
                    <a:pt x="4700944" y="0"/>
                  </a:lnTo>
                  <a:lnTo>
                    <a:pt x="4740050" y="7778"/>
                  </a:lnTo>
                  <a:lnTo>
                    <a:pt x="4773205" y="29931"/>
                  </a:lnTo>
                  <a:lnTo>
                    <a:pt x="4795358" y="63085"/>
                  </a:lnTo>
                  <a:lnTo>
                    <a:pt x="4803138" y="102194"/>
                  </a:lnTo>
                  <a:lnTo>
                    <a:pt x="4803138" y="1362592"/>
                  </a:lnTo>
                  <a:lnTo>
                    <a:pt x="4795357" y="1401700"/>
                  </a:lnTo>
                  <a:lnTo>
                    <a:pt x="4773205" y="1434854"/>
                  </a:lnTo>
                  <a:lnTo>
                    <a:pt x="4740050" y="1457007"/>
                  </a:lnTo>
                  <a:lnTo>
                    <a:pt x="4700944" y="1464786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5561080" y="2529312"/>
              <a:ext cx="4803140" cy="1464945"/>
            </a:xfrm>
            <a:custGeom>
              <a:avLst/>
              <a:gdLst/>
              <a:ahLst/>
              <a:cxnLst/>
              <a:rect l="l" t="t" r="r" b="b"/>
              <a:pathLst>
                <a:path w="4803140" h="1464945">
                  <a:moveTo>
                    <a:pt x="4700944" y="1464787"/>
                  </a:moveTo>
                  <a:lnTo>
                    <a:pt x="102194" y="1464787"/>
                  </a:lnTo>
                  <a:lnTo>
                    <a:pt x="92127" y="1464300"/>
                  </a:lnTo>
                  <a:lnTo>
                    <a:pt x="53970" y="1452706"/>
                  </a:lnTo>
                  <a:lnTo>
                    <a:pt x="23156" y="1427392"/>
                  </a:lnTo>
                  <a:lnTo>
                    <a:pt x="4375" y="1392213"/>
                  </a:lnTo>
                  <a:lnTo>
                    <a:pt x="0" y="1362592"/>
                  </a:lnTo>
                  <a:lnTo>
                    <a:pt x="0" y="102194"/>
                  </a:lnTo>
                  <a:lnTo>
                    <a:pt x="7778" y="63085"/>
                  </a:lnTo>
                  <a:lnTo>
                    <a:pt x="29931" y="29931"/>
                  </a:lnTo>
                  <a:lnTo>
                    <a:pt x="63085" y="7778"/>
                  </a:lnTo>
                  <a:lnTo>
                    <a:pt x="102194" y="0"/>
                  </a:lnTo>
                  <a:lnTo>
                    <a:pt x="4700944" y="0"/>
                  </a:lnTo>
                  <a:lnTo>
                    <a:pt x="4740050" y="7778"/>
                  </a:lnTo>
                  <a:lnTo>
                    <a:pt x="4757438" y="17032"/>
                  </a:lnTo>
                  <a:lnTo>
                    <a:pt x="96602" y="17032"/>
                  </a:lnTo>
                  <a:lnTo>
                    <a:pt x="91064" y="17577"/>
                  </a:lnTo>
                  <a:lnTo>
                    <a:pt x="50231" y="34491"/>
                  </a:lnTo>
                  <a:lnTo>
                    <a:pt x="25654" y="64438"/>
                  </a:lnTo>
                  <a:lnTo>
                    <a:pt x="17032" y="96602"/>
                  </a:lnTo>
                  <a:lnTo>
                    <a:pt x="17032" y="1368184"/>
                  </a:lnTo>
                  <a:lnTo>
                    <a:pt x="28277" y="1405256"/>
                  </a:lnTo>
                  <a:lnTo>
                    <a:pt x="59530" y="1436508"/>
                  </a:lnTo>
                  <a:lnTo>
                    <a:pt x="96602" y="1447754"/>
                  </a:lnTo>
                  <a:lnTo>
                    <a:pt x="4757438" y="1447754"/>
                  </a:lnTo>
                  <a:lnTo>
                    <a:pt x="4749165" y="1452706"/>
                  </a:lnTo>
                  <a:lnTo>
                    <a:pt x="4740051" y="1457007"/>
                  </a:lnTo>
                  <a:lnTo>
                    <a:pt x="4730564" y="1460410"/>
                  </a:lnTo>
                  <a:lnTo>
                    <a:pt x="4720884" y="1462841"/>
                  </a:lnTo>
                  <a:lnTo>
                    <a:pt x="4711010" y="1464300"/>
                  </a:lnTo>
                  <a:lnTo>
                    <a:pt x="4700944" y="1464787"/>
                  </a:lnTo>
                  <a:close/>
                </a:path>
                <a:path w="4803140" h="1464945">
                  <a:moveTo>
                    <a:pt x="4757438" y="1447754"/>
                  </a:moveTo>
                  <a:lnTo>
                    <a:pt x="4706536" y="1447754"/>
                  </a:lnTo>
                  <a:lnTo>
                    <a:pt x="4712074" y="1447208"/>
                  </a:lnTo>
                  <a:lnTo>
                    <a:pt x="4723042" y="1445027"/>
                  </a:lnTo>
                  <a:lnTo>
                    <a:pt x="4757208" y="1426765"/>
                  </a:lnTo>
                  <a:lnTo>
                    <a:pt x="4781763" y="1390016"/>
                  </a:lnTo>
                  <a:lnTo>
                    <a:pt x="4786106" y="1368184"/>
                  </a:lnTo>
                  <a:lnTo>
                    <a:pt x="4786106" y="96602"/>
                  </a:lnTo>
                  <a:lnTo>
                    <a:pt x="4774860" y="59530"/>
                  </a:lnTo>
                  <a:lnTo>
                    <a:pt x="4743607" y="28278"/>
                  </a:lnTo>
                  <a:lnTo>
                    <a:pt x="4706536" y="17032"/>
                  </a:lnTo>
                  <a:lnTo>
                    <a:pt x="4757438" y="17032"/>
                  </a:lnTo>
                  <a:lnTo>
                    <a:pt x="4785930" y="45407"/>
                  </a:lnTo>
                  <a:lnTo>
                    <a:pt x="4801193" y="82253"/>
                  </a:lnTo>
                  <a:lnTo>
                    <a:pt x="4803138" y="1362592"/>
                  </a:lnTo>
                  <a:lnTo>
                    <a:pt x="4802652" y="1372659"/>
                  </a:lnTo>
                  <a:lnTo>
                    <a:pt x="4791056" y="1410815"/>
                  </a:lnTo>
                  <a:lnTo>
                    <a:pt x="4765743" y="1441629"/>
                  </a:lnTo>
                  <a:lnTo>
                    <a:pt x="4757730" y="1447579"/>
                  </a:lnTo>
                  <a:lnTo>
                    <a:pt x="4757438" y="1447754"/>
                  </a:lnTo>
                  <a:close/>
                </a:path>
              </a:pathLst>
            </a:custGeom>
            <a:solidFill>
              <a:srgbClr val="FA913C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764312" y="2740231"/>
              <a:ext cx="190500" cy="190500"/>
            </a:xfrm>
            <a:prstGeom prst="rect">
              <a:avLst/>
            </a:prstGeom>
          </p:spPr>
        </p:pic>
      </p:grpSp>
      <p:sp>
        <p:nvSpPr>
          <p:cNvPr id="60" name="object 60"/>
          <p:cNvSpPr txBox="1"/>
          <p:nvPr/>
        </p:nvSpPr>
        <p:spPr>
          <a:xfrm>
            <a:off x="6558503" y="4034497"/>
            <a:ext cx="1494790" cy="2533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500" b="1" spc="-114" dirty="0">
                <a:solidFill>
                  <a:srgbClr val="FFFFFF"/>
                </a:solidFill>
                <a:latin typeface="Trebuchet MS"/>
                <a:cs typeface="Trebuchet MS"/>
              </a:rPr>
              <a:t>Advanced</a:t>
            </a:r>
            <a:r>
              <a:rPr sz="1500" b="1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b="1" spc="-110" dirty="0">
                <a:solidFill>
                  <a:srgbClr val="FFFFFF"/>
                </a:solidFill>
                <a:latin typeface="Trebuchet MS"/>
                <a:cs typeface="Trebuchet MS"/>
              </a:rPr>
              <a:t>Features</a:t>
            </a:r>
            <a:endParaRPr sz="1500" dirty="0">
              <a:latin typeface="Trebuchet MS"/>
              <a:cs typeface="Trebuchet MS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6367334" y="4530234"/>
            <a:ext cx="114300" cy="631190"/>
            <a:chOff x="5767487" y="3118682"/>
            <a:chExt cx="114300" cy="631190"/>
          </a:xfrm>
        </p:grpSpPr>
        <p:pic>
          <p:nvPicPr>
            <p:cNvPr id="62" name="object 6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767487" y="3118682"/>
              <a:ext cx="114300" cy="85725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767487" y="3391200"/>
              <a:ext cx="114300" cy="85725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767487" y="3663719"/>
              <a:ext cx="114300" cy="85725"/>
            </a:xfrm>
            <a:prstGeom prst="rect">
              <a:avLst/>
            </a:prstGeom>
          </p:spPr>
        </p:pic>
      </p:grpSp>
      <p:sp>
        <p:nvSpPr>
          <p:cNvPr id="65" name="object 65"/>
          <p:cNvSpPr txBox="1"/>
          <p:nvPr/>
        </p:nvSpPr>
        <p:spPr>
          <a:xfrm>
            <a:off x="6558503" y="4461437"/>
            <a:ext cx="2096135" cy="2076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spc="-125" dirty="0">
                <a:solidFill>
                  <a:srgbClr val="D0D5DA"/>
                </a:solidFill>
                <a:latin typeface="Arial MT"/>
                <a:cs typeface="Arial MT"/>
              </a:rPr>
              <a:t>3D</a:t>
            </a:r>
            <a:r>
              <a:rPr sz="1200" spc="-4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200" spc="-50" dirty="0">
                <a:solidFill>
                  <a:srgbClr val="D0D5DA"/>
                </a:solidFill>
                <a:latin typeface="Arial MT"/>
                <a:cs typeface="Arial MT"/>
              </a:rPr>
              <a:t>localization</a:t>
            </a:r>
            <a:r>
              <a:rPr sz="1200" spc="-4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200" spc="-145" dirty="0">
                <a:solidFill>
                  <a:srgbClr val="D0D5DA"/>
                </a:solidFill>
                <a:latin typeface="Arial MT"/>
                <a:cs typeface="Arial MT"/>
              </a:rPr>
              <a:t>&amp;</a:t>
            </a:r>
            <a:r>
              <a:rPr sz="1200" spc="-4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200" spc="-65" dirty="0">
                <a:solidFill>
                  <a:srgbClr val="D0D5DA"/>
                </a:solidFill>
                <a:latin typeface="Arial MT"/>
                <a:cs typeface="Arial MT"/>
              </a:rPr>
              <a:t>depth</a:t>
            </a:r>
            <a:r>
              <a:rPr sz="1200" spc="-4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D0D5DA"/>
                </a:solidFill>
                <a:latin typeface="Arial MT"/>
                <a:cs typeface="Arial MT"/>
              </a:rPr>
              <a:t>estimation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6576918" y="4746290"/>
            <a:ext cx="1264285" cy="2076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spc="-50" dirty="0">
                <a:solidFill>
                  <a:srgbClr val="D0D5DA"/>
                </a:solidFill>
                <a:latin typeface="Arial MT"/>
                <a:cs typeface="Arial MT"/>
              </a:rPr>
              <a:t>Multi-object</a:t>
            </a:r>
            <a:r>
              <a:rPr sz="1200" spc="-5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200" spc="-35" dirty="0">
                <a:solidFill>
                  <a:srgbClr val="D0D5DA"/>
                </a:solidFill>
                <a:latin typeface="Arial MT"/>
                <a:cs typeface="Arial MT"/>
              </a:rPr>
              <a:t>tracking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6598190" y="4990618"/>
            <a:ext cx="1415415" cy="2076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spc="-65" dirty="0">
                <a:solidFill>
                  <a:srgbClr val="D0D5DA"/>
                </a:solidFill>
                <a:latin typeface="Arial MT"/>
                <a:cs typeface="Arial MT"/>
              </a:rPr>
              <a:t>Instance</a:t>
            </a:r>
            <a:r>
              <a:rPr sz="1200" spc="-20" dirty="0">
                <a:solidFill>
                  <a:srgbClr val="D0D5DA"/>
                </a:solidFill>
                <a:latin typeface="Arial MT"/>
                <a:cs typeface="Arial MT"/>
              </a:rPr>
              <a:t> </a:t>
            </a:r>
            <a:r>
              <a:rPr sz="1200" spc="-50" dirty="0">
                <a:solidFill>
                  <a:srgbClr val="D0D5DA"/>
                </a:solidFill>
                <a:latin typeface="Arial MT"/>
                <a:cs typeface="Arial MT"/>
              </a:rPr>
              <a:t>segmentation</a:t>
            </a:r>
            <a:endParaRPr sz="12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26892-DD16-688B-E146-7BA1CBEE8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51F59A6-794B-A2D8-65F6-24E1A00E2F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5873" y="75936"/>
            <a:ext cx="11052953" cy="56874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43180">
              <a:lnSpc>
                <a:spcPct val="100000"/>
              </a:lnSpc>
              <a:spcBef>
                <a:spcPts val="114"/>
              </a:spcBef>
            </a:pPr>
            <a:r>
              <a:rPr lang="tr-TR" sz="3600" spc="-85" dirty="0" err="1">
                <a:latin typeface="Tahoma"/>
                <a:cs typeface="Tahoma"/>
              </a:rPr>
              <a:t>Thank</a:t>
            </a:r>
            <a:r>
              <a:rPr lang="tr-TR" sz="3600" spc="-114" dirty="0">
                <a:latin typeface="Tahoma"/>
                <a:cs typeface="Tahoma"/>
              </a:rPr>
              <a:t> </a:t>
            </a:r>
            <a:r>
              <a:rPr lang="tr-TR" sz="3600" spc="-55" dirty="0" err="1">
                <a:latin typeface="Tahoma"/>
                <a:cs typeface="Tahoma"/>
              </a:rPr>
              <a:t>You</a:t>
            </a:r>
            <a:endParaRPr spc="-365" dirty="0"/>
          </a:p>
        </p:txBody>
      </p:sp>
      <p:grpSp>
        <p:nvGrpSpPr>
          <p:cNvPr id="3" name="object 68">
            <a:extLst>
              <a:ext uri="{FF2B5EF4-FFF2-40B4-BE49-F238E27FC236}">
                <a16:creationId xmlns:a16="http://schemas.microsoft.com/office/drawing/2014/main" id="{B77396D0-EBCE-CA5B-E525-401DEC21CD49}"/>
              </a:ext>
            </a:extLst>
          </p:cNvPr>
          <p:cNvGrpSpPr/>
          <p:nvPr/>
        </p:nvGrpSpPr>
        <p:grpSpPr>
          <a:xfrm>
            <a:off x="2749550" y="1339850"/>
            <a:ext cx="6477000" cy="4191000"/>
            <a:chOff x="5561080" y="4130358"/>
            <a:chExt cx="4803140" cy="2205990"/>
          </a:xfrm>
        </p:grpSpPr>
        <p:pic>
          <p:nvPicPr>
            <p:cNvPr id="4" name="object 69">
              <a:extLst>
                <a:ext uri="{FF2B5EF4-FFF2-40B4-BE49-F238E27FC236}">
                  <a16:creationId xmlns:a16="http://schemas.microsoft.com/office/drawing/2014/main" id="{73A1DFEC-7F4C-EFDF-FB87-5016F2C09B1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61080" y="4130358"/>
              <a:ext cx="4803138" cy="2205696"/>
            </a:xfrm>
            <a:prstGeom prst="rect">
              <a:avLst/>
            </a:prstGeom>
          </p:spPr>
        </p:pic>
        <p:sp>
          <p:nvSpPr>
            <p:cNvPr id="5" name="object 70">
              <a:extLst>
                <a:ext uri="{FF2B5EF4-FFF2-40B4-BE49-F238E27FC236}">
                  <a16:creationId xmlns:a16="http://schemas.microsoft.com/office/drawing/2014/main" id="{4AA267C1-BDC8-C249-B49F-0D74C5F19ADF}"/>
                </a:ext>
              </a:extLst>
            </p:cNvPr>
            <p:cNvSpPr/>
            <p:nvPr/>
          </p:nvSpPr>
          <p:spPr>
            <a:xfrm>
              <a:off x="5561080" y="4130358"/>
              <a:ext cx="4803140" cy="2205990"/>
            </a:xfrm>
            <a:custGeom>
              <a:avLst/>
              <a:gdLst/>
              <a:ahLst/>
              <a:cxnLst/>
              <a:rect l="l" t="t" r="r" b="b"/>
              <a:pathLst>
                <a:path w="4803140" h="2205990">
                  <a:moveTo>
                    <a:pt x="4700944" y="2205696"/>
                  </a:moveTo>
                  <a:lnTo>
                    <a:pt x="102194" y="2205696"/>
                  </a:lnTo>
                  <a:lnTo>
                    <a:pt x="92127" y="2205210"/>
                  </a:lnTo>
                  <a:lnTo>
                    <a:pt x="53970" y="2193614"/>
                  </a:lnTo>
                  <a:lnTo>
                    <a:pt x="23156" y="2168301"/>
                  </a:lnTo>
                  <a:lnTo>
                    <a:pt x="4375" y="2133122"/>
                  </a:lnTo>
                  <a:lnTo>
                    <a:pt x="0" y="2103502"/>
                  </a:lnTo>
                  <a:lnTo>
                    <a:pt x="0" y="102194"/>
                  </a:lnTo>
                  <a:lnTo>
                    <a:pt x="7778" y="63085"/>
                  </a:lnTo>
                  <a:lnTo>
                    <a:pt x="29931" y="29931"/>
                  </a:lnTo>
                  <a:lnTo>
                    <a:pt x="63085" y="7778"/>
                  </a:lnTo>
                  <a:lnTo>
                    <a:pt x="102194" y="0"/>
                  </a:lnTo>
                  <a:lnTo>
                    <a:pt x="4700944" y="0"/>
                  </a:lnTo>
                  <a:lnTo>
                    <a:pt x="4740050" y="7778"/>
                  </a:lnTo>
                  <a:lnTo>
                    <a:pt x="4757439" y="17032"/>
                  </a:lnTo>
                  <a:lnTo>
                    <a:pt x="96602" y="17032"/>
                  </a:lnTo>
                  <a:lnTo>
                    <a:pt x="91064" y="17577"/>
                  </a:lnTo>
                  <a:lnTo>
                    <a:pt x="50231" y="34491"/>
                  </a:lnTo>
                  <a:lnTo>
                    <a:pt x="25654" y="64438"/>
                  </a:lnTo>
                  <a:lnTo>
                    <a:pt x="17032" y="96602"/>
                  </a:lnTo>
                  <a:lnTo>
                    <a:pt x="17032" y="2109093"/>
                  </a:lnTo>
                  <a:lnTo>
                    <a:pt x="17472" y="2113568"/>
                  </a:lnTo>
                  <a:lnTo>
                    <a:pt x="17577" y="2114632"/>
                  </a:lnTo>
                  <a:lnTo>
                    <a:pt x="34491" y="2155464"/>
                  </a:lnTo>
                  <a:lnTo>
                    <a:pt x="64438" y="2180041"/>
                  </a:lnTo>
                  <a:lnTo>
                    <a:pt x="96602" y="2188664"/>
                  </a:lnTo>
                  <a:lnTo>
                    <a:pt x="4757436" y="2188664"/>
                  </a:lnTo>
                  <a:lnTo>
                    <a:pt x="4749165" y="2193614"/>
                  </a:lnTo>
                  <a:lnTo>
                    <a:pt x="4740051" y="2197916"/>
                  </a:lnTo>
                  <a:lnTo>
                    <a:pt x="4730564" y="2201319"/>
                  </a:lnTo>
                  <a:lnTo>
                    <a:pt x="4720884" y="2203751"/>
                  </a:lnTo>
                  <a:lnTo>
                    <a:pt x="4711010" y="2205210"/>
                  </a:lnTo>
                  <a:lnTo>
                    <a:pt x="4700944" y="2205696"/>
                  </a:lnTo>
                  <a:close/>
                </a:path>
                <a:path w="4803140" h="2205990">
                  <a:moveTo>
                    <a:pt x="4757436" y="2188664"/>
                  </a:moveTo>
                  <a:lnTo>
                    <a:pt x="4706536" y="2188664"/>
                  </a:lnTo>
                  <a:lnTo>
                    <a:pt x="4712074" y="2188118"/>
                  </a:lnTo>
                  <a:lnTo>
                    <a:pt x="4723042" y="2185936"/>
                  </a:lnTo>
                  <a:lnTo>
                    <a:pt x="4757208" y="2167674"/>
                  </a:lnTo>
                  <a:lnTo>
                    <a:pt x="4781763" y="2130925"/>
                  </a:lnTo>
                  <a:lnTo>
                    <a:pt x="4786106" y="2109093"/>
                  </a:lnTo>
                  <a:lnTo>
                    <a:pt x="4786106" y="96602"/>
                  </a:lnTo>
                  <a:lnTo>
                    <a:pt x="4774860" y="59530"/>
                  </a:lnTo>
                  <a:lnTo>
                    <a:pt x="4743607" y="28278"/>
                  </a:lnTo>
                  <a:lnTo>
                    <a:pt x="4706536" y="17032"/>
                  </a:lnTo>
                  <a:lnTo>
                    <a:pt x="4757439" y="17032"/>
                  </a:lnTo>
                  <a:lnTo>
                    <a:pt x="4785930" y="45407"/>
                  </a:lnTo>
                  <a:lnTo>
                    <a:pt x="4801193" y="82253"/>
                  </a:lnTo>
                  <a:lnTo>
                    <a:pt x="4803138" y="2103502"/>
                  </a:lnTo>
                  <a:lnTo>
                    <a:pt x="4802652" y="2113568"/>
                  </a:lnTo>
                  <a:lnTo>
                    <a:pt x="4791056" y="2151724"/>
                  </a:lnTo>
                  <a:lnTo>
                    <a:pt x="4765743" y="2182538"/>
                  </a:lnTo>
                  <a:lnTo>
                    <a:pt x="4757730" y="2188488"/>
                  </a:lnTo>
                  <a:lnTo>
                    <a:pt x="4757436" y="2188664"/>
                  </a:lnTo>
                  <a:close/>
                </a:path>
              </a:pathLst>
            </a:custGeom>
            <a:solidFill>
              <a:srgbClr val="FFD600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71">
              <a:extLst>
                <a:ext uri="{FF2B5EF4-FFF2-40B4-BE49-F238E27FC236}">
                  <a16:creationId xmlns:a16="http://schemas.microsoft.com/office/drawing/2014/main" id="{72E2CC01-B9DF-CB3F-3D1F-FB6E499D447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62296" y="4477716"/>
              <a:ext cx="400050" cy="368300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9BF70CEB-B91B-3A50-A7E0-53EF436C0F88}"/>
              </a:ext>
            </a:extLst>
          </p:cNvPr>
          <p:cNvSpPr txBox="1"/>
          <p:nvPr/>
        </p:nvSpPr>
        <p:spPr>
          <a:xfrm>
            <a:off x="4825511" y="2975983"/>
            <a:ext cx="255367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tr-TR" sz="2400" b="1" spc="-45" dirty="0" err="1">
                <a:solidFill>
                  <a:srgbClr val="FFFFFF"/>
                </a:solidFill>
                <a:latin typeface="Tahoma"/>
                <a:cs typeface="Tahoma"/>
              </a:rPr>
              <a:t>Thank</a:t>
            </a:r>
            <a:r>
              <a:rPr lang="tr-TR" sz="2400" b="1" spc="-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tr-TR" sz="2400" b="1" spc="-114" dirty="0" err="1">
                <a:solidFill>
                  <a:srgbClr val="FFFFFF"/>
                </a:solidFill>
                <a:latin typeface="Tahoma"/>
                <a:cs typeface="Tahoma"/>
              </a:rPr>
              <a:t>You</a:t>
            </a:r>
            <a:r>
              <a:rPr lang="tr-TR" sz="2400" b="1" spc="-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tr-TR" sz="2400" b="1" spc="-114" dirty="0" err="1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lang="tr-TR" sz="2400" b="1" spc="-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tr-TR" sz="2400" b="1" spc="-114" dirty="0" err="1">
                <a:solidFill>
                  <a:srgbClr val="FFFFFF"/>
                </a:solidFill>
                <a:latin typeface="Tahoma"/>
                <a:cs typeface="Tahoma"/>
              </a:rPr>
              <a:t>Your</a:t>
            </a:r>
            <a:r>
              <a:rPr lang="tr-TR" sz="2400" b="1" spc="-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tr-TR" sz="2400" b="1" spc="-114" dirty="0" err="1">
                <a:solidFill>
                  <a:srgbClr val="FFFFFF"/>
                </a:solidFill>
                <a:latin typeface="Tahoma"/>
                <a:cs typeface="Tahoma"/>
              </a:rPr>
              <a:t>Attention</a:t>
            </a:r>
            <a:r>
              <a:rPr lang="tr-TR" sz="2400" b="1" spc="-114" dirty="0">
                <a:solidFill>
                  <a:srgbClr val="FFFFFF"/>
                </a:solidFill>
                <a:latin typeface="Tahoma"/>
                <a:cs typeface="Tahoma"/>
              </a:rPr>
              <a:t>!</a:t>
            </a:r>
            <a:endParaRPr lang="tr-TR" sz="2400" dirty="0">
              <a:latin typeface="Tahoma"/>
              <a:cs typeface="Tahom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696566-629B-810F-6EC1-F114725C6F81}"/>
              </a:ext>
            </a:extLst>
          </p:cNvPr>
          <p:cNvSpPr txBox="1"/>
          <p:nvPr/>
        </p:nvSpPr>
        <p:spPr>
          <a:xfrm>
            <a:off x="4121150" y="4464137"/>
            <a:ext cx="350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22325">
              <a:lnSpc>
                <a:spcPct val="100000"/>
              </a:lnSpc>
              <a:spcBef>
                <a:spcPts val="1250"/>
              </a:spcBef>
            </a:pPr>
            <a:r>
              <a:rPr lang="en-US" sz="1800" b="1" spc="-100" dirty="0">
                <a:solidFill>
                  <a:srgbClr val="FFFFFF"/>
                </a:solidFill>
                <a:latin typeface="Trebuchet MS"/>
                <a:cs typeface="Trebuchet MS"/>
              </a:rPr>
              <a:t>Questions</a:t>
            </a:r>
            <a:r>
              <a:rPr lang="en-US" sz="1800" b="1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1800" b="1" spc="-190" dirty="0">
                <a:solidFill>
                  <a:srgbClr val="FFFFFF"/>
                </a:solidFill>
                <a:latin typeface="Trebuchet MS"/>
                <a:cs typeface="Trebuchet MS"/>
              </a:rPr>
              <a:t>&amp;</a:t>
            </a:r>
            <a:r>
              <a:rPr lang="en-US" sz="1800" b="1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1800" b="1" spc="-10" dirty="0">
                <a:solidFill>
                  <a:srgbClr val="FFFFFF"/>
                </a:solidFill>
                <a:latin typeface="Trebuchet MS"/>
                <a:cs typeface="Trebuchet MS"/>
              </a:rPr>
              <a:t>Answers</a:t>
            </a:r>
            <a:endParaRPr lang="en-US" sz="1800" dirty="0">
              <a:latin typeface="Trebuchet MS"/>
              <a:cs typeface="Trebuchet MS"/>
            </a:endParaRPr>
          </a:p>
        </p:txBody>
      </p:sp>
      <p:pic>
        <p:nvPicPr>
          <p:cNvPr id="73" name="object 7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02150" y="4629607"/>
            <a:ext cx="171450" cy="17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5641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294</TotalTime>
  <Words>1442</Words>
  <Application>Microsoft Office PowerPoint</Application>
  <PresentationFormat>Custom</PresentationFormat>
  <Paragraphs>434</Paragraphs>
  <Slides>30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3" baseType="lpstr">
      <vt:lpstr>Malgun Gothic</vt:lpstr>
      <vt:lpstr>Aptos</vt:lpstr>
      <vt:lpstr>Arial</vt:lpstr>
      <vt:lpstr>Arial MT</vt:lpstr>
      <vt:lpstr>Courier New</vt:lpstr>
      <vt:lpstr>Gadugi</vt:lpstr>
      <vt:lpstr>Microsoft Sans Serif</vt:lpstr>
      <vt:lpstr>Roboto</vt:lpstr>
      <vt:lpstr>Roboto Lt</vt:lpstr>
      <vt:lpstr>Tahoma</vt:lpstr>
      <vt:lpstr>Trebuchet MS</vt:lpstr>
      <vt:lpstr>Verdana</vt:lpstr>
      <vt:lpstr>Office Theme</vt:lpstr>
      <vt:lpstr>Performance Benchmarking of  YOLO Architectures for Real-Time Object Detection</vt:lpstr>
      <vt:lpstr>Presentation Outline</vt:lpstr>
      <vt:lpstr>Team &amp; Roles</vt:lpstr>
      <vt:lpstr>Abstract</vt:lpstr>
      <vt:lpstr>Problem Statement</vt:lpstr>
      <vt:lpstr>Goals &amp; Success Criteria</vt:lpstr>
      <vt:lpstr>Background: Object Detection vs Classification</vt:lpstr>
      <vt:lpstr>Why YOLO?</vt:lpstr>
      <vt:lpstr>YOLO Architecture</vt:lpstr>
      <vt:lpstr>Dataset Overview</vt:lpstr>
      <vt:lpstr>Annotation Format</vt:lpstr>
      <vt:lpstr>Methodology Pipeline</vt:lpstr>
      <vt:lpstr>Training Setup</vt:lpstr>
      <vt:lpstr>YOLOv5 Results</vt:lpstr>
      <vt:lpstr>YOLOv5 Results</vt:lpstr>
      <vt:lpstr>YOLOv8 Results</vt:lpstr>
      <vt:lpstr>YOLOv8 Results</vt:lpstr>
      <vt:lpstr>YOLOv11 Results</vt:lpstr>
      <vt:lpstr>YOLOv11 Results</vt:lpstr>
      <vt:lpstr>Model Comparison</vt:lpstr>
      <vt:lpstr>Deployment Architecture</vt:lpstr>
      <vt:lpstr>Web Application - Overview &amp; Live Detection</vt:lpstr>
      <vt:lpstr>Web Application - Overview &amp; Live Detection</vt:lpstr>
      <vt:lpstr>Web Application - Overview &amp; Live Detection</vt:lpstr>
      <vt:lpstr>Web Application - Overview &amp; Live Detection</vt:lpstr>
      <vt:lpstr>Challenges &amp; Limitations</vt:lpstr>
      <vt:lpstr>Backup Plan &amp; Risk Mitigation</vt:lpstr>
      <vt:lpstr>Conclusion</vt:lpstr>
      <vt:lpstr>Future Work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ABDELRAHMAN MOHAMED</cp:lastModifiedBy>
  <cp:revision>19</cp:revision>
  <dcterms:created xsi:type="dcterms:W3CDTF">2025-12-31T18:48:35Z</dcterms:created>
  <dcterms:modified xsi:type="dcterms:W3CDTF">2026-01-02T11:27:22Z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2025-12-31T00:00:00Z</vt:filetime>
  </property>
  <property fmtid="{D5CDD505-2E9C-101B-9397-08002B2CF9AE}" pid="3" name="LastSaved">
    <vt:filetime>2025-12-31T00:00:00Z</vt:filetime>
  </property>
</Properties>
</file>